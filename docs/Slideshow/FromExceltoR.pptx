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4"/>
  </p:notesMasterIdLst>
  <p:sldIdLst>
    <p:sldId id="256" r:id="rId5"/>
    <p:sldId id="257" r:id="rId6"/>
    <p:sldId id="339" r:id="rId7"/>
    <p:sldId id="258" r:id="rId8"/>
    <p:sldId id="259" r:id="rId9"/>
    <p:sldId id="305" r:id="rId10"/>
    <p:sldId id="327" r:id="rId11"/>
    <p:sldId id="264" r:id="rId12"/>
    <p:sldId id="265" r:id="rId13"/>
    <p:sldId id="307" r:id="rId14"/>
    <p:sldId id="318" r:id="rId15"/>
    <p:sldId id="333" r:id="rId16"/>
    <p:sldId id="308" r:id="rId17"/>
    <p:sldId id="269" r:id="rId18"/>
    <p:sldId id="310" r:id="rId19"/>
    <p:sldId id="309" r:id="rId20"/>
    <p:sldId id="270" r:id="rId21"/>
    <p:sldId id="335" r:id="rId22"/>
    <p:sldId id="311" r:id="rId23"/>
    <p:sldId id="334" r:id="rId24"/>
    <p:sldId id="276" r:id="rId25"/>
    <p:sldId id="277" r:id="rId26"/>
    <p:sldId id="312" r:id="rId27"/>
    <p:sldId id="278" r:id="rId28"/>
    <p:sldId id="279" r:id="rId29"/>
    <p:sldId id="285" r:id="rId30"/>
    <p:sldId id="332" r:id="rId31"/>
    <p:sldId id="326" r:id="rId32"/>
    <p:sldId id="314" r:id="rId33"/>
    <p:sldId id="290" r:id="rId34"/>
    <p:sldId id="313" r:id="rId35"/>
    <p:sldId id="292" r:id="rId36"/>
    <p:sldId id="293" r:id="rId37"/>
    <p:sldId id="294" r:id="rId38"/>
    <p:sldId id="319" r:id="rId39"/>
    <p:sldId id="295" r:id="rId40"/>
    <p:sldId id="336" r:id="rId41"/>
    <p:sldId id="297" r:id="rId42"/>
    <p:sldId id="317" r:id="rId43"/>
    <p:sldId id="298" r:id="rId44"/>
    <p:sldId id="299" r:id="rId45"/>
    <p:sldId id="300" r:id="rId46"/>
    <p:sldId id="301" r:id="rId47"/>
    <p:sldId id="302" r:id="rId48"/>
    <p:sldId id="303" r:id="rId49"/>
    <p:sldId id="260" r:id="rId50"/>
    <p:sldId id="316" r:id="rId51"/>
    <p:sldId id="304" r:id="rId52"/>
    <p:sldId id="337" r:id="rId53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914216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1828434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2742651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3656868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4571085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5485302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6399519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7313737" algn="l" defTabSz="182843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999999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4296" userDrawn="1">
          <p15:clr>
            <a:srgbClr val="A4A3A4"/>
          </p15:clr>
        </p15:guide>
        <p15:guide id="2" pos="112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4A5A"/>
    <a:srgbClr val="374556"/>
    <a:srgbClr val="407B9D"/>
    <a:srgbClr val="81A489"/>
    <a:srgbClr val="C0C0C0"/>
    <a:srgbClr val="7893B7"/>
    <a:srgbClr val="407B9E"/>
    <a:srgbClr val="525067"/>
    <a:srgbClr val="5A5C66"/>
    <a:srgbClr val="747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6" dt="2026-09-28T10:22:21.701"/>
    <p1510:client id="{31205B79-D0E5-D4DD-012E-A057315E5C93}" v="154" dt="2026-09-28T09:56:03.406"/>
    <p1510:client id="{7C4D0F13-6512-82FA-A438-32B343E9E783}" v="205" dt="2026-09-28T10:13:30.823"/>
    <p1510:client id="{DD00F1DC-60ED-CD16-6848-CFBC368288F1}" v="15" dt="2026-09-28T10:24:14.943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999999"/>
        </a:fontRef>
        <a:srgbClr val="99999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9E2"/>
          </a:solidFill>
        </a:fill>
      </a:tcStyle>
    </a:wholeTbl>
    <a:band2H>
      <a:tcTxStyle/>
      <a:tcStyle>
        <a:tcBdr/>
        <a:fill>
          <a:solidFill>
            <a:srgbClr val="E6ED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87AA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87AA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87AA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17"/>
  </p:normalViewPr>
  <p:slideViewPr>
    <p:cSldViewPr snapToGrid="0">
      <p:cViewPr>
        <p:scale>
          <a:sx n="35" d="100"/>
          <a:sy n="35" d="100"/>
        </p:scale>
        <p:origin x="2272" y="1320"/>
      </p:cViewPr>
      <p:guideLst>
        <p:guide orient="horz" pos="4296"/>
        <p:guide pos="112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Andrejeva" userId="S::pbj825@ku.dk::8eebf336-d013-4cf1-92e5-a31e56f61c99" providerId="AD" clId="Web-{00000000-0000-0000-0000-000000000000}"/>
    <pc:docChg chg="modSld">
      <pc:chgData name="Diana Andrejeva" userId="S::pbj825@ku.dk::8eebf336-d013-4cf1-92e5-a31e56f61c99" providerId="AD" clId="Web-{00000000-0000-0000-0000-000000000000}" dt="2026-09-28T10:22:21.701" v="93" actId="14100"/>
      <pc:docMkLst>
        <pc:docMk/>
      </pc:docMkLst>
      <pc:sldChg chg="addSp delSp modSp">
        <pc:chgData name="Diana Andrejeva" userId="S::pbj825@ku.dk::8eebf336-d013-4cf1-92e5-a31e56f61c99" providerId="AD" clId="Web-{00000000-0000-0000-0000-000000000000}" dt="2026-09-28T10:22:21.701" v="93" actId="14100"/>
        <pc:sldMkLst>
          <pc:docMk/>
          <pc:sldMk cId="0" sldId="257"/>
        </pc:sldMkLst>
        <pc:spChg chg="mod">
          <ac:chgData name="Diana Andrejeva" userId="S::pbj825@ku.dk::8eebf336-d013-4cf1-92e5-a31e56f61c99" providerId="AD" clId="Web-{00000000-0000-0000-0000-000000000000}" dt="2026-09-28T10:19:45.990" v="83" actId="1076"/>
          <ac:spMkLst>
            <pc:docMk/>
            <pc:sldMk cId="0" sldId="257"/>
            <ac:spMk id="2" creationId="{8E3691FF-79C8-B2D0-A9AA-F7B125829487}"/>
          </ac:spMkLst>
        </pc:spChg>
        <pc:spChg chg="add del mod">
          <ac:chgData name="Diana Andrejeva" userId="S::pbj825@ku.dk::8eebf336-d013-4cf1-92e5-a31e56f61c99" providerId="AD" clId="Web-{00000000-0000-0000-0000-000000000000}" dt="2026-09-28T10:15:43.322" v="20"/>
          <ac:spMkLst>
            <pc:docMk/>
            <pc:sldMk cId="0" sldId="257"/>
            <ac:spMk id="4" creationId="{8BD1EADF-DEB8-A5D0-158A-C3263222CBBF}"/>
          </ac:spMkLst>
        </pc:spChg>
        <pc:spChg chg="mod">
          <ac:chgData name="Diana Andrejeva" userId="S::pbj825@ku.dk::8eebf336-d013-4cf1-92e5-a31e56f61c99" providerId="AD" clId="Web-{00000000-0000-0000-0000-000000000000}" dt="2026-09-28T10:19:04.660" v="68" actId="14100"/>
          <ac:spMkLst>
            <pc:docMk/>
            <pc:sldMk cId="0" sldId="257"/>
            <ac:spMk id="6" creationId="{68FACB35-D14C-4011-58D1-D763D8464771}"/>
          </ac:spMkLst>
        </pc:spChg>
        <pc:spChg chg="mod">
          <ac:chgData name="Diana Andrejeva" userId="S::pbj825@ku.dk::8eebf336-d013-4cf1-92e5-a31e56f61c99" providerId="AD" clId="Web-{00000000-0000-0000-0000-000000000000}" dt="2026-09-28T10:19:45.943" v="81" actId="1076"/>
          <ac:spMkLst>
            <pc:docMk/>
            <pc:sldMk cId="0" sldId="257"/>
            <ac:spMk id="8" creationId="{C1F2FE68-24DA-5FC6-2024-EF7CE4D31C43}"/>
          </ac:spMkLst>
        </pc:spChg>
        <pc:spChg chg="mod">
          <ac:chgData name="Diana Andrejeva" userId="S::pbj825@ku.dk::8eebf336-d013-4cf1-92e5-a31e56f61c99" providerId="AD" clId="Web-{00000000-0000-0000-0000-000000000000}" dt="2026-09-28T10:21:10.057" v="91" actId="1076"/>
          <ac:spMkLst>
            <pc:docMk/>
            <pc:sldMk cId="0" sldId="257"/>
            <ac:spMk id="9" creationId="{4D65C4A4-C756-0527-A137-264FC779CC70}"/>
          </ac:spMkLst>
        </pc:spChg>
        <pc:spChg chg="add mod">
          <ac:chgData name="Diana Andrejeva" userId="S::pbj825@ku.dk::8eebf336-d013-4cf1-92e5-a31e56f61c99" providerId="AD" clId="Web-{00000000-0000-0000-0000-000000000000}" dt="2026-09-28T10:19:15.848" v="70" actId="1076"/>
          <ac:spMkLst>
            <pc:docMk/>
            <pc:sldMk cId="0" sldId="257"/>
            <ac:spMk id="11" creationId="{67D961B5-6FEE-B995-5053-BA2EE424BF0A}"/>
          </ac:spMkLst>
        </pc:spChg>
        <pc:spChg chg="mod">
          <ac:chgData name="Diana Andrejeva" userId="S::pbj825@ku.dk::8eebf336-d013-4cf1-92e5-a31e56f61c99" providerId="AD" clId="Web-{00000000-0000-0000-0000-000000000000}" dt="2026-09-28T10:19:32.833" v="76" actId="14100"/>
          <ac:spMkLst>
            <pc:docMk/>
            <pc:sldMk cId="0" sldId="257"/>
            <ac:spMk id="91" creationId="{00000000-0000-0000-0000-000000000000}"/>
          </ac:spMkLst>
        </pc:spChg>
        <pc:spChg chg="mod">
          <ac:chgData name="Diana Andrejeva" userId="S::pbj825@ku.dk::8eebf336-d013-4cf1-92e5-a31e56f61c99" providerId="AD" clId="Web-{00000000-0000-0000-0000-000000000000}" dt="2026-09-28T10:19:35.880" v="77" actId="14100"/>
          <ac:spMkLst>
            <pc:docMk/>
            <pc:sldMk cId="0" sldId="257"/>
            <ac:spMk id="92" creationId="{00000000-0000-0000-0000-000000000000}"/>
          </ac:spMkLst>
        </pc:spChg>
        <pc:spChg chg="mod">
          <ac:chgData name="Diana Andrejeva" userId="S::pbj825@ku.dk::8eebf336-d013-4cf1-92e5-a31e56f61c99" providerId="AD" clId="Web-{00000000-0000-0000-0000-000000000000}" dt="2026-09-28T10:19:07.910" v="69" actId="20577"/>
          <ac:spMkLst>
            <pc:docMk/>
            <pc:sldMk cId="0" sldId="257"/>
            <ac:spMk id="99" creationId="{00000000-0000-0000-0000-000000000000}"/>
          </ac:spMkLst>
        </pc:spChg>
        <pc:spChg chg="mod">
          <ac:chgData name="Diana Andrejeva" userId="S::pbj825@ku.dk::8eebf336-d013-4cf1-92e5-a31e56f61c99" providerId="AD" clId="Web-{00000000-0000-0000-0000-000000000000}" dt="2026-09-28T10:19:45.896" v="78" actId="1076"/>
          <ac:spMkLst>
            <pc:docMk/>
            <pc:sldMk cId="0" sldId="257"/>
            <ac:spMk id="102" creationId="{00000000-0000-0000-0000-000000000000}"/>
          </ac:spMkLst>
        </pc:spChg>
        <pc:spChg chg="del">
          <ac:chgData name="Diana Andrejeva" userId="S::pbj825@ku.dk::8eebf336-d013-4cf1-92e5-a31e56f61c99" providerId="AD" clId="Web-{00000000-0000-0000-0000-000000000000}" dt="2026-09-28T10:14:22.849" v="14"/>
          <ac:spMkLst>
            <pc:docMk/>
            <pc:sldMk cId="0" sldId="257"/>
            <ac:spMk id="107" creationId="{00000000-0000-0000-0000-000000000000}"/>
          </ac:spMkLst>
        </pc:spChg>
        <pc:picChg chg="mod">
          <ac:chgData name="Diana Andrejeva" userId="S::pbj825@ku.dk::8eebf336-d013-4cf1-92e5-a31e56f61c99" providerId="AD" clId="Web-{00000000-0000-0000-0000-000000000000}" dt="2026-09-28T10:19:45.928" v="80" actId="1076"/>
          <ac:picMkLst>
            <pc:docMk/>
            <pc:sldMk cId="0" sldId="257"/>
            <ac:picMk id="3" creationId="{B6CE5E4E-BB65-3912-A906-CBE1E32ABA2E}"/>
          </ac:picMkLst>
        </pc:picChg>
        <pc:picChg chg="mod">
          <ac:chgData name="Diana Andrejeva" userId="S::pbj825@ku.dk::8eebf336-d013-4cf1-92e5-a31e56f61c99" providerId="AD" clId="Web-{00000000-0000-0000-0000-000000000000}" dt="2026-09-28T10:19:45.912" v="79" actId="1076"/>
          <ac:picMkLst>
            <pc:docMk/>
            <pc:sldMk cId="0" sldId="257"/>
            <ac:picMk id="5" creationId="{C6FED71E-DA9B-153A-1C08-E45C5B89C740}"/>
          </ac:picMkLst>
        </pc:picChg>
        <pc:picChg chg="add del mod">
          <ac:chgData name="Diana Andrejeva" userId="S::pbj825@ku.dk::8eebf336-d013-4cf1-92e5-a31e56f61c99" providerId="AD" clId="Web-{00000000-0000-0000-0000-000000000000}" dt="2026-09-28T10:16:52.310" v="30"/>
          <ac:picMkLst>
            <pc:docMk/>
            <pc:sldMk cId="0" sldId="257"/>
            <ac:picMk id="7" creationId="{3B037332-B286-CEE4-A0AF-2C3F8509AC0E}"/>
          </ac:picMkLst>
        </pc:picChg>
        <pc:picChg chg="mod">
          <ac:chgData name="Diana Andrejeva" userId="S::pbj825@ku.dk::8eebf336-d013-4cf1-92e5-a31e56f61c99" providerId="AD" clId="Web-{00000000-0000-0000-0000-000000000000}" dt="2026-09-28T10:19:22.129" v="74" actId="1076"/>
          <ac:picMkLst>
            <pc:docMk/>
            <pc:sldMk cId="0" sldId="257"/>
            <ac:picMk id="10" creationId="{6B861692-188D-78B3-C768-87DCF3373EF4}"/>
          </ac:picMkLst>
        </pc:picChg>
        <pc:picChg chg="add del mod">
          <ac:chgData name="Diana Andrejeva" userId="S::pbj825@ku.dk::8eebf336-d013-4cf1-92e5-a31e56f61c99" providerId="AD" clId="Web-{00000000-0000-0000-0000-000000000000}" dt="2026-09-28T10:20:05.866" v="85"/>
          <ac:picMkLst>
            <pc:docMk/>
            <pc:sldMk cId="0" sldId="257"/>
            <ac:picMk id="12" creationId="{04BED96D-F009-455E-A696-CD4D0A9AF23F}"/>
          </ac:picMkLst>
        </pc:picChg>
        <pc:picChg chg="add del mod modCrop">
          <ac:chgData name="Diana Andrejeva" userId="S::pbj825@ku.dk::8eebf336-d013-4cf1-92e5-a31e56f61c99" providerId="AD" clId="Web-{00000000-0000-0000-0000-000000000000}" dt="2026-09-28T10:20:47.087" v="90"/>
          <ac:picMkLst>
            <pc:docMk/>
            <pc:sldMk cId="0" sldId="257"/>
            <ac:picMk id="13" creationId="{5BC522F6-425D-7C2B-7A4D-A0041B5AC5EF}"/>
          </ac:picMkLst>
        </pc:picChg>
        <pc:picChg chg="add mod">
          <ac:chgData name="Diana Andrejeva" userId="S::pbj825@ku.dk::8eebf336-d013-4cf1-92e5-a31e56f61c99" providerId="AD" clId="Web-{00000000-0000-0000-0000-000000000000}" dt="2026-09-28T10:22:21.701" v="93" actId="14100"/>
          <ac:picMkLst>
            <pc:docMk/>
            <pc:sldMk cId="0" sldId="257"/>
            <ac:picMk id="14" creationId="{4E494490-25A1-407A-C967-2EBBCCB4CAA7}"/>
          </ac:picMkLst>
        </pc:picChg>
        <pc:picChg chg="mod">
          <ac:chgData name="Diana Andrejeva" userId="S::pbj825@ku.dk::8eebf336-d013-4cf1-92e5-a31e56f61c99" providerId="AD" clId="Web-{00000000-0000-0000-0000-000000000000}" dt="2026-09-28T10:19:45.974" v="82" actId="1076"/>
          <ac:picMkLst>
            <pc:docMk/>
            <pc:sldMk cId="0" sldId="257"/>
            <ac:picMk id="1026" creationId="{1089059B-BEE0-84FB-4161-BE9621677AE9}"/>
          </ac:picMkLst>
        </pc:picChg>
      </pc:sldChg>
      <pc:sldChg chg="modSp">
        <pc:chgData name="Diana Andrejeva" userId="S::pbj825@ku.dk::8eebf336-d013-4cf1-92e5-a31e56f61c99" providerId="AD" clId="Web-{00000000-0000-0000-0000-000000000000}" dt="2026-09-28T10:17:59.407" v="44" actId="14100"/>
        <pc:sldMkLst>
          <pc:docMk/>
          <pc:sldMk cId="1477482724" sldId="339"/>
        </pc:sldMkLst>
        <pc:spChg chg="mod">
          <ac:chgData name="Diana Andrejeva" userId="S::pbj825@ku.dk::8eebf336-d013-4cf1-92e5-a31e56f61c99" providerId="AD" clId="Web-{00000000-0000-0000-0000-000000000000}" dt="2026-09-28T10:17:52.297" v="42" actId="14100"/>
          <ac:spMkLst>
            <pc:docMk/>
            <pc:sldMk cId="1477482724" sldId="339"/>
            <ac:spMk id="2" creationId="{4012C783-18D8-AA5B-A998-D1ACCD53B412}"/>
          </ac:spMkLst>
        </pc:spChg>
        <pc:spChg chg="mod">
          <ac:chgData name="Diana Andrejeva" userId="S::pbj825@ku.dk::8eebf336-d013-4cf1-92e5-a31e56f61c99" providerId="AD" clId="Web-{00000000-0000-0000-0000-000000000000}" dt="2026-09-28T10:17:59.407" v="44" actId="14100"/>
          <ac:spMkLst>
            <pc:docMk/>
            <pc:sldMk cId="1477482724" sldId="339"/>
            <ac:spMk id="51" creationId="{2305B92B-AB7D-6D5C-A4A0-D4D7641C581D}"/>
          </ac:spMkLst>
        </pc:spChg>
        <pc:grpChg chg="mod">
          <ac:chgData name="Diana Andrejeva" userId="S::pbj825@ku.dk::8eebf336-d013-4cf1-92e5-a31e56f61c99" providerId="AD" clId="Web-{00000000-0000-0000-0000-000000000000}" dt="2026-09-28T10:17:49.984" v="38" actId="1076"/>
          <ac:grpSpMkLst>
            <pc:docMk/>
            <pc:sldMk cId="1477482724" sldId="339"/>
            <ac:grpSpMk id="14" creationId="{2E2C44CC-2630-34F5-25EA-16CC0BD2C2E0}"/>
          </ac:grpSpMkLst>
        </pc:grpChg>
        <pc:grpChg chg="mod">
          <ac:chgData name="Diana Andrejeva" userId="S::pbj825@ku.dk::8eebf336-d013-4cf1-92e5-a31e56f61c99" providerId="AD" clId="Web-{00000000-0000-0000-0000-000000000000}" dt="2026-09-28T10:17:50.062" v="39" actId="1076"/>
          <ac:grpSpMkLst>
            <pc:docMk/>
            <pc:sldMk cId="1477482724" sldId="339"/>
            <ac:grpSpMk id="23" creationId="{E25CC760-463D-BE89-A608-4F6A9B8E1F9C}"/>
          </ac:grpSpMkLst>
        </pc:grpChg>
        <pc:grpChg chg="mod">
          <ac:chgData name="Diana Andrejeva" userId="S::pbj825@ku.dk::8eebf336-d013-4cf1-92e5-a31e56f61c99" providerId="AD" clId="Web-{00000000-0000-0000-0000-000000000000}" dt="2026-09-28T10:17:50.141" v="40" actId="1076"/>
          <ac:grpSpMkLst>
            <pc:docMk/>
            <pc:sldMk cId="1477482724" sldId="339"/>
            <ac:grpSpMk id="33" creationId="{34781529-5E4F-EC55-C285-29643A50EB08}"/>
          </ac:grpSpMkLst>
        </pc:grpChg>
        <pc:grpChg chg="mod">
          <ac:chgData name="Diana Andrejeva" userId="S::pbj825@ku.dk::8eebf336-d013-4cf1-92e5-a31e56f61c99" providerId="AD" clId="Web-{00000000-0000-0000-0000-000000000000}" dt="2026-09-28T10:17:50.203" v="41" actId="1076"/>
          <ac:grpSpMkLst>
            <pc:docMk/>
            <pc:sldMk cId="1477482724" sldId="339"/>
            <ac:grpSpMk id="42" creationId="{0FAF30F7-CB13-0AE5-3D0D-08AAEBB3CB07}"/>
          </ac:grpSpMkLst>
        </pc:grpChg>
      </pc:sldChg>
    </pc:docChg>
  </pc:docChgLst>
  <pc:docChgLst>
    <pc:chgData name="Diana Andrejeva" userId="S::pbj825@ku.dk::8eebf336-d013-4cf1-92e5-a31e56f61c99" providerId="AD" clId="Web-{7C4D0F13-6512-82FA-A438-32B343E9E783}"/>
    <pc:docChg chg="modSld">
      <pc:chgData name="Diana Andrejeva" userId="S::pbj825@ku.dk::8eebf336-d013-4cf1-92e5-a31e56f61c99" providerId="AD" clId="Web-{7C4D0F13-6512-82FA-A438-32B343E9E783}" dt="2026-09-28T10:13:30.823" v="199" actId="1076"/>
      <pc:docMkLst>
        <pc:docMk/>
      </pc:docMkLst>
      <pc:sldChg chg="addSp delSp modSp">
        <pc:chgData name="Diana Andrejeva" userId="S::pbj825@ku.dk::8eebf336-d013-4cf1-92e5-a31e56f61c99" providerId="AD" clId="Web-{7C4D0F13-6512-82FA-A438-32B343E9E783}" dt="2026-09-28T10:03:31.740" v="78" actId="20577"/>
        <pc:sldMkLst>
          <pc:docMk/>
          <pc:sldMk cId="0" sldId="257"/>
        </pc:sldMkLst>
        <pc:spChg chg="mod">
          <ac:chgData name="Diana Andrejeva" userId="S::pbj825@ku.dk::8eebf336-d013-4cf1-92e5-a31e56f61c99" providerId="AD" clId="Web-{7C4D0F13-6512-82FA-A438-32B343E9E783}" dt="2026-09-28T10:00:53.361" v="36" actId="1076"/>
          <ac:spMkLst>
            <pc:docMk/>
            <pc:sldMk cId="0" sldId="257"/>
            <ac:spMk id="2" creationId="{8E3691FF-79C8-B2D0-A9AA-F7B125829487}"/>
          </ac:spMkLst>
        </pc:spChg>
        <pc:spChg chg="add mod">
          <ac:chgData name="Diana Andrejeva" userId="S::pbj825@ku.dk::8eebf336-d013-4cf1-92e5-a31e56f61c99" providerId="AD" clId="Web-{7C4D0F13-6512-82FA-A438-32B343E9E783}" dt="2026-09-28T10:01:13.283" v="40" actId="1076"/>
          <ac:spMkLst>
            <pc:docMk/>
            <pc:sldMk cId="0" sldId="257"/>
            <ac:spMk id="6" creationId="{68FACB35-D14C-4011-58D1-D763D8464771}"/>
          </ac:spMkLst>
        </pc:spChg>
        <pc:spChg chg="mod">
          <ac:chgData name="Diana Andrejeva" userId="S::pbj825@ku.dk::8eebf336-d013-4cf1-92e5-a31e56f61c99" providerId="AD" clId="Web-{7C4D0F13-6512-82FA-A438-32B343E9E783}" dt="2026-09-28T10:00:53.298" v="34" actId="1076"/>
          <ac:spMkLst>
            <pc:docMk/>
            <pc:sldMk cId="0" sldId="257"/>
            <ac:spMk id="8" creationId="{C1F2FE68-24DA-5FC6-2024-EF7CE4D31C43}"/>
          </ac:spMkLst>
        </pc:spChg>
        <pc:spChg chg="add mod">
          <ac:chgData name="Diana Andrejeva" userId="S::pbj825@ku.dk::8eebf336-d013-4cf1-92e5-a31e56f61c99" providerId="AD" clId="Web-{7C4D0F13-6512-82FA-A438-32B343E9E783}" dt="2026-09-28T10:01:13.361" v="41" actId="1076"/>
          <ac:spMkLst>
            <pc:docMk/>
            <pc:sldMk cId="0" sldId="257"/>
            <ac:spMk id="9" creationId="{4D65C4A4-C756-0527-A137-264FC779CC70}"/>
          </ac:spMkLst>
        </pc:spChg>
        <pc:spChg chg="mod">
          <ac:chgData name="Diana Andrejeva" userId="S::pbj825@ku.dk::8eebf336-d013-4cf1-92e5-a31e56f61c99" providerId="AD" clId="Web-{7C4D0F13-6512-82FA-A438-32B343E9E783}" dt="2026-09-28T10:01:13.252" v="39" actId="1076"/>
          <ac:spMkLst>
            <pc:docMk/>
            <pc:sldMk cId="0" sldId="257"/>
            <ac:spMk id="92" creationId="{00000000-0000-0000-0000-000000000000}"/>
          </ac:spMkLst>
        </pc:spChg>
        <pc:spChg chg="mod">
          <ac:chgData name="Diana Andrejeva" userId="S::pbj825@ku.dk::8eebf336-d013-4cf1-92e5-a31e56f61c99" providerId="AD" clId="Web-{7C4D0F13-6512-82FA-A438-32B343E9E783}" dt="2026-09-28T10:03:31.740" v="78" actId="20577"/>
          <ac:spMkLst>
            <pc:docMk/>
            <pc:sldMk cId="0" sldId="257"/>
            <ac:spMk id="99" creationId="{00000000-0000-0000-0000-000000000000}"/>
          </ac:spMkLst>
        </pc:spChg>
        <pc:spChg chg="mod">
          <ac:chgData name="Diana Andrejeva" userId="S::pbj825@ku.dk::8eebf336-d013-4cf1-92e5-a31e56f61c99" providerId="AD" clId="Web-{7C4D0F13-6512-82FA-A438-32B343E9E783}" dt="2026-09-28T10:00:53.236" v="32" actId="1076"/>
          <ac:spMkLst>
            <pc:docMk/>
            <pc:sldMk cId="0" sldId="257"/>
            <ac:spMk id="102" creationId="{00000000-0000-0000-0000-000000000000}"/>
          </ac:spMkLst>
        </pc:spChg>
        <pc:spChg chg="del mod">
          <ac:chgData name="Diana Andrejeva" userId="S::pbj825@ku.dk::8eebf336-d013-4cf1-92e5-a31e56f61c99" providerId="AD" clId="Web-{7C4D0F13-6512-82FA-A438-32B343E9E783}" dt="2026-09-28T10:03:27.083" v="73"/>
          <ac:spMkLst>
            <pc:docMk/>
            <pc:sldMk cId="0" sldId="257"/>
            <ac:spMk id="103" creationId="{00000000-0000-0000-0000-000000000000}"/>
          </ac:spMkLst>
        </pc:spChg>
        <pc:picChg chg="mod">
          <ac:chgData name="Diana Andrejeva" userId="S::pbj825@ku.dk::8eebf336-d013-4cf1-92e5-a31e56f61c99" providerId="AD" clId="Web-{7C4D0F13-6512-82FA-A438-32B343E9E783}" dt="2026-09-28T10:00:57.345" v="37" actId="1076"/>
          <ac:picMkLst>
            <pc:docMk/>
            <pc:sldMk cId="0" sldId="257"/>
            <ac:picMk id="3" creationId="{B6CE5E4E-BB65-3912-A906-CBE1E32ABA2E}"/>
          </ac:picMkLst>
        </pc:picChg>
        <pc:picChg chg="mod">
          <ac:chgData name="Diana Andrejeva" userId="S::pbj825@ku.dk::8eebf336-d013-4cf1-92e5-a31e56f61c99" providerId="AD" clId="Web-{7C4D0F13-6512-82FA-A438-32B343E9E783}" dt="2026-09-28T10:00:53.267" v="33" actId="1076"/>
          <ac:picMkLst>
            <pc:docMk/>
            <pc:sldMk cId="0" sldId="257"/>
            <ac:picMk id="5" creationId="{C6FED71E-DA9B-153A-1C08-E45C5B89C740}"/>
          </ac:picMkLst>
        </pc:picChg>
        <pc:picChg chg="add mod">
          <ac:chgData name="Diana Andrejeva" userId="S::pbj825@ku.dk::8eebf336-d013-4cf1-92e5-a31e56f61c99" providerId="AD" clId="Web-{7C4D0F13-6512-82FA-A438-32B343E9E783}" dt="2026-09-28T10:01:13.439" v="42" actId="1076"/>
          <ac:picMkLst>
            <pc:docMk/>
            <pc:sldMk cId="0" sldId="257"/>
            <ac:picMk id="10" creationId="{6B861692-188D-78B3-C768-87DCF3373EF4}"/>
          </ac:picMkLst>
        </pc:picChg>
        <pc:picChg chg="add del mod">
          <ac:chgData name="Diana Andrejeva" userId="S::pbj825@ku.dk::8eebf336-d013-4cf1-92e5-a31e56f61c99" providerId="AD" clId="Web-{7C4D0F13-6512-82FA-A438-32B343E9E783}" dt="2026-09-28T10:02:13.426" v="45"/>
          <ac:picMkLst>
            <pc:docMk/>
            <pc:sldMk cId="0" sldId="257"/>
            <ac:picMk id="11" creationId="{CBDB6963-7926-991A-6B52-5688E4297F66}"/>
          </ac:picMkLst>
        </pc:picChg>
        <pc:picChg chg="add del mod">
          <ac:chgData name="Diana Andrejeva" userId="S::pbj825@ku.dk::8eebf336-d013-4cf1-92e5-a31e56f61c99" providerId="AD" clId="Web-{7C4D0F13-6512-82FA-A438-32B343E9E783}" dt="2026-09-28T10:02:23.707" v="48"/>
          <ac:picMkLst>
            <pc:docMk/>
            <pc:sldMk cId="0" sldId="257"/>
            <ac:picMk id="12" creationId="{43C880BB-833F-E547-4860-1DF1DB8592F8}"/>
          </ac:picMkLst>
        </pc:picChg>
        <pc:picChg chg="add del mod">
          <ac:chgData name="Diana Andrejeva" userId="S::pbj825@ku.dk::8eebf336-d013-4cf1-92e5-a31e56f61c99" providerId="AD" clId="Web-{7C4D0F13-6512-82FA-A438-32B343E9E783}" dt="2026-09-28T10:03:17.208" v="70"/>
          <ac:picMkLst>
            <pc:docMk/>
            <pc:sldMk cId="0" sldId="257"/>
            <ac:picMk id="13" creationId="{3F991C14-3589-5BDF-4983-C0F886BBF934}"/>
          </ac:picMkLst>
        </pc:picChg>
        <pc:picChg chg="add del">
          <ac:chgData name="Diana Andrejeva" userId="S::pbj825@ku.dk::8eebf336-d013-4cf1-92e5-a31e56f61c99" providerId="AD" clId="Web-{7C4D0F13-6512-82FA-A438-32B343E9E783}" dt="2026-09-28T10:03:13.349" v="69"/>
          <ac:picMkLst>
            <pc:docMk/>
            <pc:sldMk cId="0" sldId="257"/>
            <ac:picMk id="90" creationId="{00000000-0000-0000-0000-000000000000}"/>
          </ac:picMkLst>
        </pc:picChg>
        <pc:picChg chg="mod">
          <ac:chgData name="Diana Andrejeva" userId="S::pbj825@ku.dk::8eebf336-d013-4cf1-92e5-a31e56f61c99" providerId="AD" clId="Web-{7C4D0F13-6512-82FA-A438-32B343E9E783}" dt="2026-09-28T10:00:53.329" v="35" actId="1076"/>
          <ac:picMkLst>
            <pc:docMk/>
            <pc:sldMk cId="0" sldId="257"/>
            <ac:picMk id="1026" creationId="{1089059B-BEE0-84FB-4161-BE9621677AE9}"/>
          </ac:picMkLst>
        </pc:picChg>
      </pc:sldChg>
      <pc:sldChg chg="modSp">
        <pc:chgData name="Diana Andrejeva" userId="S::pbj825@ku.dk::8eebf336-d013-4cf1-92e5-a31e56f61c99" providerId="AD" clId="Web-{7C4D0F13-6512-82FA-A438-32B343E9E783}" dt="2026-09-28T10:13:30.823" v="199" actId="1076"/>
        <pc:sldMkLst>
          <pc:docMk/>
          <pc:sldMk cId="736094683" sldId="260"/>
        </pc:sldMkLst>
        <pc:spChg chg="mod">
          <ac:chgData name="Diana Andrejeva" userId="S::pbj825@ku.dk::8eebf336-d013-4cf1-92e5-a31e56f61c99" providerId="AD" clId="Web-{7C4D0F13-6512-82FA-A438-32B343E9E783}" dt="2026-09-28T10:11:10.599" v="155" actId="1076"/>
          <ac:spMkLst>
            <pc:docMk/>
            <pc:sldMk cId="736094683" sldId="260"/>
            <ac:spMk id="7" creationId="{0EF5FE3F-D3E7-D8E1-5D64-520F23176A97}"/>
          </ac:spMkLst>
        </pc:spChg>
        <pc:spChg chg="mod">
          <ac:chgData name="Diana Andrejeva" userId="S::pbj825@ku.dk::8eebf336-d013-4cf1-92e5-a31e56f61c99" providerId="AD" clId="Web-{7C4D0F13-6512-82FA-A438-32B343E9E783}" dt="2026-09-28T10:13:10.870" v="197"/>
          <ac:spMkLst>
            <pc:docMk/>
            <pc:sldMk cId="736094683" sldId="260"/>
            <ac:spMk id="8" creationId="{0C32C840-EA9A-6F1D-1CD6-4DA520B56003}"/>
          </ac:spMkLst>
        </pc:spChg>
        <pc:spChg chg="mod">
          <ac:chgData name="Diana Andrejeva" userId="S::pbj825@ku.dk::8eebf336-d013-4cf1-92e5-a31e56f61c99" providerId="AD" clId="Web-{7C4D0F13-6512-82FA-A438-32B343E9E783}" dt="2026-09-28T10:11:10.678" v="158" actId="1076"/>
          <ac:spMkLst>
            <pc:docMk/>
            <pc:sldMk cId="736094683" sldId="260"/>
            <ac:spMk id="10" creationId="{1E768698-7976-1D2F-7F6B-151FD8C5AAEA}"/>
          </ac:spMkLst>
        </pc:spChg>
        <pc:spChg chg="mod">
          <ac:chgData name="Diana Andrejeva" userId="S::pbj825@ku.dk::8eebf336-d013-4cf1-92e5-a31e56f61c99" providerId="AD" clId="Web-{7C4D0F13-6512-82FA-A438-32B343E9E783}" dt="2026-09-28T10:13:10.870" v="196"/>
          <ac:spMkLst>
            <pc:docMk/>
            <pc:sldMk cId="736094683" sldId="260"/>
            <ac:spMk id="11" creationId="{F33DEFB2-D509-9E92-BC03-C4FDBB5197E3}"/>
          </ac:spMkLst>
        </pc:spChg>
        <pc:spChg chg="mod">
          <ac:chgData name="Diana Andrejeva" userId="S::pbj825@ku.dk::8eebf336-d013-4cf1-92e5-a31e56f61c99" providerId="AD" clId="Web-{7C4D0F13-6512-82FA-A438-32B343E9E783}" dt="2026-09-28T10:11:05.521" v="149" actId="1076"/>
          <ac:spMkLst>
            <pc:docMk/>
            <pc:sldMk cId="736094683" sldId="260"/>
            <ac:spMk id="13" creationId="{5A35B9A1-6030-CCC9-8EE0-A85F4E608F57}"/>
          </ac:spMkLst>
        </pc:spChg>
        <pc:spChg chg="mod">
          <ac:chgData name="Diana Andrejeva" userId="S::pbj825@ku.dk::8eebf336-d013-4cf1-92e5-a31e56f61c99" providerId="AD" clId="Web-{7C4D0F13-6512-82FA-A438-32B343E9E783}" dt="2026-09-28T10:13:10.870" v="195"/>
          <ac:spMkLst>
            <pc:docMk/>
            <pc:sldMk cId="736094683" sldId="260"/>
            <ac:spMk id="14" creationId="{0D5C60AE-B57A-3598-B225-8A9093D98D5B}"/>
          </ac:spMkLst>
        </pc:spChg>
        <pc:spChg chg="mod">
          <ac:chgData name="Diana Andrejeva" userId="S::pbj825@ku.dk::8eebf336-d013-4cf1-92e5-a31e56f61c99" providerId="AD" clId="Web-{7C4D0F13-6512-82FA-A438-32B343E9E783}" dt="2026-09-28T10:11:32.960" v="170" actId="20577"/>
          <ac:spMkLst>
            <pc:docMk/>
            <pc:sldMk cId="736094683" sldId="260"/>
            <ac:spMk id="16" creationId="{AF0EF43D-5E5C-7AB0-C25A-405F2A3F9E1C}"/>
          </ac:spMkLst>
        </pc:spChg>
        <pc:spChg chg="mod">
          <ac:chgData name="Diana Andrejeva" userId="S::pbj825@ku.dk::8eebf336-d013-4cf1-92e5-a31e56f61c99" providerId="AD" clId="Web-{7C4D0F13-6512-82FA-A438-32B343E9E783}" dt="2026-09-28T10:13:10.870" v="194"/>
          <ac:spMkLst>
            <pc:docMk/>
            <pc:sldMk cId="736094683" sldId="260"/>
            <ac:spMk id="17" creationId="{6025D1BE-52E3-539F-1FD6-5EE63C0F1382}"/>
          </ac:spMkLst>
        </pc:spChg>
        <pc:grpChg chg="mod">
          <ac:chgData name="Diana Andrejeva" userId="S::pbj825@ku.dk::8eebf336-d013-4cf1-92e5-a31e56f61c99" providerId="AD" clId="Web-{7C4D0F13-6512-82FA-A438-32B343E9E783}" dt="2026-09-28T10:10:49.083" v="135" actId="1076"/>
          <ac:grpSpMkLst>
            <pc:docMk/>
            <pc:sldMk cId="736094683" sldId="260"/>
            <ac:grpSpMk id="36" creationId="{C80DFFFB-3164-EFF7-C9ED-9255B28E59F9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130" v="136" actId="1076"/>
          <ac:grpSpMkLst>
            <pc:docMk/>
            <pc:sldMk cId="736094683" sldId="260"/>
            <ac:grpSpMk id="37" creationId="{1BB12028-39AF-2C2F-3CD9-1DD6AF481E99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177" v="137" actId="1076"/>
          <ac:grpSpMkLst>
            <pc:docMk/>
            <pc:sldMk cId="736094683" sldId="260"/>
            <ac:grpSpMk id="43" creationId="{FD2688E5-34A2-BC88-7B94-D7A2E412040A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036" v="134" actId="1076"/>
          <ac:grpSpMkLst>
            <pc:docMk/>
            <pc:sldMk cId="736094683" sldId="260"/>
            <ac:grpSpMk id="49" creationId="{7B06C644-CC6D-ABB5-078C-AC4D0ED88D15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255" v="138" actId="1076"/>
          <ac:grpSpMkLst>
            <pc:docMk/>
            <pc:sldMk cId="736094683" sldId="260"/>
            <ac:grpSpMk id="59" creationId="{447E3A38-C2A3-4AEC-B690-39E829C0796C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333" v="139" actId="1076"/>
          <ac:grpSpMkLst>
            <pc:docMk/>
            <pc:sldMk cId="736094683" sldId="260"/>
            <ac:grpSpMk id="60" creationId="{CFF18762-7DA1-8069-2C0E-F3965A2DD961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442" v="140" actId="1076"/>
          <ac:grpSpMkLst>
            <pc:docMk/>
            <pc:sldMk cId="736094683" sldId="260"/>
            <ac:grpSpMk id="63" creationId="{26E5E6A0-A6B1-3B84-0310-8972B8D99FA0}"/>
          </ac:grpSpMkLst>
        </pc:grpChg>
        <pc:grpChg chg="mod">
          <ac:chgData name="Diana Andrejeva" userId="S::pbj825@ku.dk::8eebf336-d013-4cf1-92e5-a31e56f61c99" providerId="AD" clId="Web-{7C4D0F13-6512-82FA-A438-32B343E9E783}" dt="2026-09-28T10:10:49.583" v="141" actId="1076"/>
          <ac:grpSpMkLst>
            <pc:docMk/>
            <pc:sldMk cId="736094683" sldId="260"/>
            <ac:grpSpMk id="66" creationId="{23975F5E-EC79-4E55-DECA-C455F8A7DE9B}"/>
          </ac:grpSpMkLst>
        </pc:grpChg>
        <pc:grpChg chg="mod">
          <ac:chgData name="Diana Andrejeva" userId="S::pbj825@ku.dk::8eebf336-d013-4cf1-92e5-a31e56f61c99" providerId="AD" clId="Web-{7C4D0F13-6512-82FA-A438-32B343E9E783}" dt="2026-09-28T10:11:05.662" v="152" actId="1076"/>
          <ac:grpSpMkLst>
            <pc:docMk/>
            <pc:sldMk cId="736094683" sldId="260"/>
            <ac:grpSpMk id="76" creationId="{0ADED6F6-2DC1-EE9B-6686-7134DF4BEA68}"/>
          </ac:grpSpMkLst>
        </pc:grpChg>
        <pc:grpChg chg="mod">
          <ac:chgData name="Diana Andrejeva" userId="S::pbj825@ku.dk::8eebf336-d013-4cf1-92e5-a31e56f61c99" providerId="AD" clId="Web-{7C4D0F13-6512-82FA-A438-32B343E9E783}" dt="2026-09-28T10:11:10.756" v="161" actId="1076"/>
          <ac:grpSpMkLst>
            <pc:docMk/>
            <pc:sldMk cId="736094683" sldId="260"/>
            <ac:grpSpMk id="79" creationId="{B64EBE2B-19F0-F4E8-4125-651CBC3A452C}"/>
          </ac:grpSpMkLst>
        </pc:grpChg>
        <pc:grpChg chg="mod">
          <ac:chgData name="Diana Andrejeva" userId="S::pbj825@ku.dk::8eebf336-d013-4cf1-92e5-a31e56f61c99" providerId="AD" clId="Web-{7C4D0F13-6512-82FA-A438-32B343E9E783}" dt="2026-09-28T10:11:10.787" v="162" actId="1076"/>
          <ac:grpSpMkLst>
            <pc:docMk/>
            <pc:sldMk cId="736094683" sldId="260"/>
            <ac:grpSpMk id="82" creationId="{FD9626DC-732F-12DB-3A7C-235BF2D03309}"/>
          </ac:grpSpMkLst>
        </pc:grpChg>
        <pc:picChg chg="mod">
          <ac:chgData name="Diana Andrejeva" userId="S::pbj825@ku.dk::8eebf336-d013-4cf1-92e5-a31e56f61c99" providerId="AD" clId="Web-{7C4D0F13-6512-82FA-A438-32B343E9E783}" dt="2026-09-28T10:11:10.662" v="157" actId="1076"/>
          <ac:picMkLst>
            <pc:docMk/>
            <pc:sldMk cId="736094683" sldId="260"/>
            <ac:picMk id="9" creationId="{7BD922BD-0C1D-DEA5-BBD4-423BBC526C7B}"/>
          </ac:picMkLst>
        </pc:picChg>
        <pc:picChg chg="mod">
          <ac:chgData name="Diana Andrejeva" userId="S::pbj825@ku.dk::8eebf336-d013-4cf1-92e5-a31e56f61c99" providerId="AD" clId="Web-{7C4D0F13-6512-82FA-A438-32B343E9E783}" dt="2026-09-28T10:11:10.740" v="160" actId="1076"/>
          <ac:picMkLst>
            <pc:docMk/>
            <pc:sldMk cId="736094683" sldId="260"/>
            <ac:picMk id="12" creationId="{A7F6A536-AF1C-D11C-BF50-177A2FE15E2D}"/>
          </ac:picMkLst>
        </pc:picChg>
        <pc:picChg chg="mod">
          <ac:chgData name="Diana Andrejeva" userId="S::pbj825@ku.dk::8eebf336-d013-4cf1-92e5-a31e56f61c99" providerId="AD" clId="Web-{7C4D0F13-6512-82FA-A438-32B343E9E783}" dt="2026-09-28T10:11:05.631" v="151" actId="1076"/>
          <ac:picMkLst>
            <pc:docMk/>
            <pc:sldMk cId="736094683" sldId="260"/>
            <ac:picMk id="15" creationId="{EEF859FE-BAED-70A6-3FAC-C7D018A8E856}"/>
          </ac:picMkLst>
        </pc:picChg>
        <pc:cxnChg chg="mod">
          <ac:chgData name="Diana Andrejeva" userId="S::pbj825@ku.dk::8eebf336-d013-4cf1-92e5-a31e56f61c99" providerId="AD" clId="Web-{7C4D0F13-6512-82FA-A438-32B343E9E783}" dt="2026-09-28T10:10:49.333" v="139" actId="1076"/>
          <ac:cxnSpMkLst>
            <pc:docMk/>
            <pc:sldMk cId="736094683" sldId="260"/>
            <ac:cxnSpMk id="33" creationId="{14BDE685-1D51-CA51-38BC-9A7E8EC5D055}"/>
          </ac:cxnSpMkLst>
        </pc:cxnChg>
        <pc:cxnChg chg="mod">
          <ac:chgData name="Diana Andrejeva" userId="S::pbj825@ku.dk::8eebf336-d013-4cf1-92e5-a31e56f61c99" providerId="AD" clId="Web-{7C4D0F13-6512-82FA-A438-32B343E9E783}" dt="2026-09-28T10:10:49.442" v="140" actId="1076"/>
          <ac:cxnSpMkLst>
            <pc:docMk/>
            <pc:sldMk cId="736094683" sldId="260"/>
            <ac:cxnSpMk id="41" creationId="{987D0A94-E2C7-0562-0187-6EEDAA124427}"/>
          </ac:cxnSpMkLst>
        </pc:cxnChg>
        <pc:cxnChg chg="mod">
          <ac:chgData name="Diana Andrejeva" userId="S::pbj825@ku.dk::8eebf336-d013-4cf1-92e5-a31e56f61c99" providerId="AD" clId="Web-{7C4D0F13-6512-82FA-A438-32B343E9E783}" dt="2026-09-28T10:10:49.583" v="141" actId="1076"/>
          <ac:cxnSpMkLst>
            <pc:docMk/>
            <pc:sldMk cId="736094683" sldId="260"/>
            <ac:cxnSpMk id="47" creationId="{3EAA8039-423B-B28A-8498-44A40B2952C2}"/>
          </ac:cxnSpMkLst>
        </pc:cxnChg>
        <pc:cxnChg chg="mod">
          <ac:chgData name="Diana Andrejeva" userId="S::pbj825@ku.dk::8eebf336-d013-4cf1-92e5-a31e56f61c99" providerId="AD" clId="Web-{7C4D0F13-6512-82FA-A438-32B343E9E783}" dt="2026-09-28T10:13:30.823" v="199" actId="1076"/>
          <ac:cxnSpMkLst>
            <pc:docMk/>
            <pc:sldMk cId="736094683" sldId="260"/>
            <ac:cxnSpMk id="53" creationId="{0F5FBC26-20BE-F193-EF96-FD81894989B1}"/>
          </ac:cxnSpMkLst>
        </pc:cxnChg>
      </pc:sldChg>
      <pc:sldChg chg="addSp delSp modSp">
        <pc:chgData name="Diana Andrejeva" userId="S::pbj825@ku.dk::8eebf336-d013-4cf1-92e5-a31e56f61c99" providerId="AD" clId="Web-{7C4D0F13-6512-82FA-A438-32B343E9E783}" dt="2026-09-28T09:59:16.685" v="14" actId="1076"/>
        <pc:sldMkLst>
          <pc:docMk/>
          <pc:sldMk cId="1168933078" sldId="316"/>
        </pc:sldMkLst>
        <pc:picChg chg="add mod">
          <ac:chgData name="Diana Andrejeva" userId="S::pbj825@ku.dk::8eebf336-d013-4cf1-92e5-a31e56f61c99" providerId="AD" clId="Web-{7C4D0F13-6512-82FA-A438-32B343E9E783}" dt="2026-09-28T09:59:16.685" v="14" actId="1076"/>
          <ac:picMkLst>
            <pc:docMk/>
            <pc:sldMk cId="1168933078" sldId="316"/>
            <ac:picMk id="3" creationId="{9C1969AD-CEC4-3328-3107-101BB8073CD8}"/>
          </ac:picMkLst>
        </pc:picChg>
        <pc:picChg chg="del">
          <ac:chgData name="Diana Andrejeva" userId="S::pbj825@ku.dk::8eebf336-d013-4cf1-92e5-a31e56f61c99" providerId="AD" clId="Web-{7C4D0F13-6512-82FA-A438-32B343E9E783}" dt="2026-09-28T09:58:51.747" v="6"/>
          <ac:picMkLst>
            <pc:docMk/>
            <pc:sldMk cId="1168933078" sldId="316"/>
            <ac:picMk id="14" creationId="{F75F8D6F-501D-F434-9C0F-718BF8D4D51A}"/>
          </ac:picMkLst>
        </pc:picChg>
      </pc:sldChg>
      <pc:sldChg chg="addSp modSp">
        <pc:chgData name="Diana Andrejeva" userId="S::pbj825@ku.dk::8eebf336-d013-4cf1-92e5-a31e56f61c99" providerId="AD" clId="Web-{7C4D0F13-6512-82FA-A438-32B343E9E783}" dt="2026-09-28T09:57:28.057" v="5" actId="1076"/>
        <pc:sldMkLst>
          <pc:docMk/>
          <pc:sldMk cId="1477482724" sldId="339"/>
        </pc:sldMkLst>
        <pc:spChg chg="add mod">
          <ac:chgData name="Diana Andrejeva" userId="S::pbj825@ku.dk::8eebf336-d013-4cf1-92e5-a31e56f61c99" providerId="AD" clId="Web-{7C4D0F13-6512-82FA-A438-32B343E9E783}" dt="2026-09-28T09:57:28.057" v="5" actId="1076"/>
          <ac:spMkLst>
            <pc:docMk/>
            <pc:sldMk cId="1477482724" sldId="339"/>
            <ac:spMk id="2" creationId="{4012C783-18D8-AA5B-A998-D1ACCD53B412}"/>
          </ac:spMkLst>
        </pc:spChg>
        <pc:spChg chg="mod">
          <ac:chgData name="Diana Andrejeva" userId="S::pbj825@ku.dk::8eebf336-d013-4cf1-92e5-a31e56f61c99" providerId="AD" clId="Web-{7C4D0F13-6512-82FA-A438-32B343E9E783}" dt="2026-09-28T09:57:13.228" v="2" actId="1076"/>
          <ac:spMkLst>
            <pc:docMk/>
            <pc:sldMk cId="1477482724" sldId="339"/>
            <ac:spMk id="51" creationId="{2305B92B-AB7D-6D5C-A4A0-D4D7641C581D}"/>
          </ac:spMkLst>
        </pc:spChg>
      </pc:sldChg>
    </pc:docChg>
  </pc:docChgLst>
  <pc:docChgLst>
    <pc:chgData name="Diana Andrejeva" userId="S::pbj825@ku.dk::8eebf336-d013-4cf1-92e5-a31e56f61c99" providerId="AD" clId="Web-{31205B79-D0E5-D4DD-012E-A057315E5C93}"/>
    <pc:docChg chg="addSld delSld modSld">
      <pc:chgData name="Diana Andrejeva" userId="S::pbj825@ku.dk::8eebf336-d013-4cf1-92e5-a31e56f61c99" providerId="AD" clId="Web-{31205B79-D0E5-D4DD-012E-A057315E5C93}" dt="2026-09-28T09:56:03.406" v="165"/>
      <pc:docMkLst>
        <pc:docMk/>
      </pc:docMkLst>
      <pc:sldChg chg="delSp modSp">
        <pc:chgData name="Diana Andrejeva" userId="S::pbj825@ku.dk::8eebf336-d013-4cf1-92e5-a31e56f61c99" providerId="AD" clId="Web-{31205B79-D0E5-D4DD-012E-A057315E5C93}" dt="2026-09-28T09:55:27.812" v="155" actId="1076"/>
        <pc:sldMkLst>
          <pc:docMk/>
          <pc:sldMk cId="0" sldId="257"/>
        </pc:sldMkLst>
        <pc:spChg chg="del">
          <ac:chgData name="Diana Andrejeva" userId="S::pbj825@ku.dk::8eebf336-d013-4cf1-92e5-a31e56f61c99" providerId="AD" clId="Web-{31205B79-D0E5-D4DD-012E-A057315E5C93}" dt="2026-09-28T09:50:52.638" v="59"/>
          <ac:spMkLst>
            <pc:docMk/>
            <pc:sldMk cId="0" sldId="257"/>
            <ac:spMk id="97" creationId="{00000000-0000-0000-0000-000000000000}"/>
          </ac:spMkLst>
        </pc:spChg>
        <pc:picChg chg="mod">
          <ac:chgData name="Diana Andrejeva" userId="S::pbj825@ku.dk::8eebf336-d013-4cf1-92e5-a31e56f61c99" providerId="AD" clId="Web-{31205B79-D0E5-D4DD-012E-A057315E5C93}" dt="2026-09-28T09:55:24.984" v="154" actId="1076"/>
          <ac:picMkLst>
            <pc:docMk/>
            <pc:sldMk cId="0" sldId="257"/>
            <ac:picMk id="3" creationId="{B6CE5E4E-BB65-3912-A906-CBE1E32ABA2E}"/>
          </ac:picMkLst>
        </pc:picChg>
        <pc:picChg chg="mod">
          <ac:chgData name="Diana Andrejeva" userId="S::pbj825@ku.dk::8eebf336-d013-4cf1-92e5-a31e56f61c99" providerId="AD" clId="Web-{31205B79-D0E5-D4DD-012E-A057315E5C93}" dt="2026-09-28T09:55:22.218" v="151" actId="1076"/>
          <ac:picMkLst>
            <pc:docMk/>
            <pc:sldMk cId="0" sldId="257"/>
            <ac:picMk id="5" creationId="{C6FED71E-DA9B-153A-1C08-E45C5B89C740}"/>
          </ac:picMkLst>
        </pc:picChg>
        <pc:picChg chg="mod">
          <ac:chgData name="Diana Andrejeva" userId="S::pbj825@ku.dk::8eebf336-d013-4cf1-92e5-a31e56f61c99" providerId="AD" clId="Web-{31205B79-D0E5-D4DD-012E-A057315E5C93}" dt="2026-09-28T09:55:27.812" v="155" actId="1076"/>
          <ac:picMkLst>
            <pc:docMk/>
            <pc:sldMk cId="0" sldId="257"/>
            <ac:picMk id="1026" creationId="{1089059B-BEE0-84FB-4161-BE9621677AE9}"/>
          </ac:picMkLst>
        </pc:picChg>
      </pc:sldChg>
      <pc:sldChg chg="modSp">
        <pc:chgData name="Diana Andrejeva" userId="S::pbj825@ku.dk::8eebf336-d013-4cf1-92e5-a31e56f61c99" providerId="AD" clId="Web-{31205B79-D0E5-D4DD-012E-A057315E5C93}" dt="2026-09-28T09:45:37.432" v="7" actId="20577"/>
        <pc:sldMkLst>
          <pc:docMk/>
          <pc:sldMk cId="736094683" sldId="260"/>
        </pc:sldMkLst>
        <pc:spChg chg="mod">
          <ac:chgData name="Diana Andrejeva" userId="S::pbj825@ku.dk::8eebf336-d013-4cf1-92e5-a31e56f61c99" providerId="AD" clId="Web-{31205B79-D0E5-D4DD-012E-A057315E5C93}" dt="2026-09-28T09:45:37.432" v="7" actId="20577"/>
          <ac:spMkLst>
            <pc:docMk/>
            <pc:sldMk cId="736094683" sldId="260"/>
            <ac:spMk id="14" creationId="{0D5C60AE-B57A-3598-B225-8A9093D98D5B}"/>
          </ac:spMkLst>
        </pc:spChg>
      </pc:sldChg>
      <pc:sldChg chg="addSp delSp modSp add del">
        <pc:chgData name="Diana Andrejeva" userId="S::pbj825@ku.dk::8eebf336-d013-4cf1-92e5-a31e56f61c99" providerId="AD" clId="Web-{31205B79-D0E5-D4DD-012E-A057315E5C93}" dt="2026-09-28T09:56:02.781" v="164"/>
        <pc:sldMkLst>
          <pc:docMk/>
          <pc:sldMk cId="0" sldId="266"/>
        </pc:sldMkLst>
        <pc:spChg chg="add mod ord">
          <ac:chgData name="Diana Andrejeva" userId="S::pbj825@ku.dk::8eebf336-d013-4cf1-92e5-a31e56f61c99" providerId="AD" clId="Web-{31205B79-D0E5-D4DD-012E-A057315E5C93}" dt="2026-09-28T09:48:37.918" v="43" actId="14100"/>
          <ac:spMkLst>
            <pc:docMk/>
            <pc:sldMk cId="0" sldId="266"/>
            <ac:spMk id="3" creationId="{0D423DB3-747F-E126-7A55-54388292E978}"/>
          </ac:spMkLst>
        </pc:spChg>
        <pc:spChg chg="add mod">
          <ac:chgData name="Diana Andrejeva" userId="S::pbj825@ku.dk::8eebf336-d013-4cf1-92e5-a31e56f61c99" providerId="AD" clId="Web-{31205B79-D0E5-D4DD-012E-A057315E5C93}" dt="2026-09-28T09:48:41.715" v="44" actId="1076"/>
          <ac:spMkLst>
            <pc:docMk/>
            <pc:sldMk cId="0" sldId="266"/>
            <ac:spMk id="5" creationId="{C36B474E-426F-DB81-493C-1A670794CC42}"/>
          </ac:spMkLst>
        </pc:spChg>
        <pc:spChg chg="add del">
          <ac:chgData name="Diana Andrejeva" userId="S::pbj825@ku.dk::8eebf336-d013-4cf1-92e5-a31e56f61c99" providerId="AD" clId="Web-{31205B79-D0E5-D4DD-012E-A057315E5C93}" dt="2026-09-28T09:48:54.637" v="46"/>
          <ac:spMkLst>
            <pc:docMk/>
            <pc:sldMk cId="0" sldId="266"/>
            <ac:spMk id="7" creationId="{D53BFC82-8905-D47C-469C-7E5AE100FD43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2"/>
          <ac:spMkLst>
            <pc:docMk/>
            <pc:sldMk cId="0" sldId="266"/>
            <ac:spMk id="312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3"/>
          <ac:spMkLst>
            <pc:docMk/>
            <pc:sldMk cId="0" sldId="266"/>
            <ac:spMk id="313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4"/>
          <ac:spMkLst>
            <pc:docMk/>
            <pc:sldMk cId="0" sldId="266"/>
            <ac:spMk id="314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5"/>
          <ac:spMkLst>
            <pc:docMk/>
            <pc:sldMk cId="0" sldId="266"/>
            <ac:spMk id="315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6"/>
          <ac:spMkLst>
            <pc:docMk/>
            <pc:sldMk cId="0" sldId="266"/>
            <ac:spMk id="316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7"/>
          <ac:spMkLst>
            <pc:docMk/>
            <pc:sldMk cId="0" sldId="266"/>
            <ac:spMk id="317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8"/>
          <ac:spMkLst>
            <pc:docMk/>
            <pc:sldMk cId="0" sldId="266"/>
            <ac:spMk id="318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19"/>
          <ac:spMkLst>
            <pc:docMk/>
            <pc:sldMk cId="0" sldId="266"/>
            <ac:spMk id="320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0"/>
          <ac:spMkLst>
            <pc:docMk/>
            <pc:sldMk cId="0" sldId="266"/>
            <ac:spMk id="321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1"/>
          <ac:spMkLst>
            <pc:docMk/>
            <pc:sldMk cId="0" sldId="266"/>
            <ac:spMk id="322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2"/>
          <ac:spMkLst>
            <pc:docMk/>
            <pc:sldMk cId="0" sldId="266"/>
            <ac:spMk id="323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3"/>
          <ac:spMkLst>
            <pc:docMk/>
            <pc:sldMk cId="0" sldId="266"/>
            <ac:spMk id="324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4"/>
          <ac:spMkLst>
            <pc:docMk/>
            <pc:sldMk cId="0" sldId="266"/>
            <ac:spMk id="325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5"/>
          <ac:spMkLst>
            <pc:docMk/>
            <pc:sldMk cId="0" sldId="266"/>
            <ac:spMk id="326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6"/>
          <ac:spMkLst>
            <pc:docMk/>
            <pc:sldMk cId="0" sldId="266"/>
            <ac:spMk id="328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7"/>
          <ac:spMkLst>
            <pc:docMk/>
            <pc:sldMk cId="0" sldId="266"/>
            <ac:spMk id="329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8"/>
          <ac:spMkLst>
            <pc:docMk/>
            <pc:sldMk cId="0" sldId="266"/>
            <ac:spMk id="330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29"/>
          <ac:spMkLst>
            <pc:docMk/>
            <pc:sldMk cId="0" sldId="266"/>
            <ac:spMk id="331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0"/>
          <ac:spMkLst>
            <pc:docMk/>
            <pc:sldMk cId="0" sldId="266"/>
            <ac:spMk id="332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1"/>
          <ac:spMkLst>
            <pc:docMk/>
            <pc:sldMk cId="0" sldId="266"/>
            <ac:spMk id="333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2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3"/>
          <ac:spMkLst>
            <pc:docMk/>
            <pc:sldMk cId="0" sldId="266"/>
            <ac:spMk id="335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4"/>
          <ac:spMkLst>
            <pc:docMk/>
            <pc:sldMk cId="0" sldId="266"/>
            <ac:spMk id="337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5"/>
          <ac:spMkLst>
            <pc:docMk/>
            <pc:sldMk cId="0" sldId="266"/>
            <ac:spMk id="338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495" v="36"/>
          <ac:spMkLst>
            <pc:docMk/>
            <pc:sldMk cId="0" sldId="266"/>
            <ac:spMk id="339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511" v="37"/>
          <ac:spMkLst>
            <pc:docMk/>
            <pc:sldMk cId="0" sldId="266"/>
            <ac:spMk id="340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511" v="38"/>
          <ac:spMkLst>
            <pc:docMk/>
            <pc:sldMk cId="0" sldId="266"/>
            <ac:spMk id="341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511" v="39"/>
          <ac:spMkLst>
            <pc:docMk/>
            <pc:sldMk cId="0" sldId="266"/>
            <ac:spMk id="342" creationId="{00000000-0000-0000-0000-000000000000}"/>
          </ac:spMkLst>
        </pc:spChg>
        <pc:spChg chg="mod">
          <ac:chgData name="Diana Andrejeva" userId="S::pbj825@ku.dk::8eebf336-d013-4cf1-92e5-a31e56f61c99" providerId="AD" clId="Web-{31205B79-D0E5-D4DD-012E-A057315E5C93}" dt="2026-09-28T09:47:30.652" v="40"/>
          <ac:spMkLst>
            <pc:docMk/>
            <pc:sldMk cId="0" sldId="266"/>
            <ac:spMk id="343" creationId="{00000000-0000-0000-0000-000000000000}"/>
          </ac:spMkLst>
        </pc:spChg>
        <pc:grpChg chg="mod">
          <ac:chgData name="Diana Andrejeva" userId="S::pbj825@ku.dk::8eebf336-d013-4cf1-92e5-a31e56f61c99" providerId="AD" clId="Web-{31205B79-D0E5-D4DD-012E-A057315E5C93}" dt="2026-09-28T09:47:52.167" v="41" actId="1076"/>
          <ac:grpSpMkLst>
            <pc:docMk/>
            <pc:sldMk cId="0" sldId="266"/>
            <ac:grpSpMk id="311" creationId="{00000000-0000-0000-0000-000000000000}"/>
          </ac:grpSpMkLst>
        </pc:grpChg>
      </pc:sldChg>
      <pc:sldChg chg="addSp delSp modSp">
        <pc:chgData name="Diana Andrejeva" userId="S::pbj825@ku.dk::8eebf336-d013-4cf1-92e5-a31e56f61c99" providerId="AD" clId="Web-{31205B79-D0E5-D4DD-012E-A057315E5C93}" dt="2026-09-28T09:45:06.494" v="5" actId="1076"/>
        <pc:sldMkLst>
          <pc:docMk/>
          <pc:sldMk cId="1168933078" sldId="316"/>
        </pc:sldMkLst>
        <pc:picChg chg="add mod">
          <ac:chgData name="Diana Andrejeva" userId="S::pbj825@ku.dk::8eebf336-d013-4cf1-92e5-a31e56f61c99" providerId="AD" clId="Web-{31205B79-D0E5-D4DD-012E-A057315E5C93}" dt="2026-09-28T09:45:06.494" v="5" actId="1076"/>
          <ac:picMkLst>
            <pc:docMk/>
            <pc:sldMk cId="1168933078" sldId="316"/>
            <ac:picMk id="2" creationId="{522CC8BE-8510-FF88-E2B4-473D30775307}"/>
          </ac:picMkLst>
        </pc:picChg>
        <pc:picChg chg="del">
          <ac:chgData name="Diana Andrejeva" userId="S::pbj825@ku.dk::8eebf336-d013-4cf1-92e5-a31e56f61c99" providerId="AD" clId="Web-{31205B79-D0E5-D4DD-012E-A057315E5C93}" dt="2026-09-28T09:44:57.494" v="1"/>
          <ac:picMkLst>
            <pc:docMk/>
            <pc:sldMk cId="1168933078" sldId="316"/>
            <ac:picMk id="15" creationId="{0A10483D-6041-9409-DFA8-7BCA90FB1598}"/>
          </ac:picMkLst>
        </pc:picChg>
        <pc:picChg chg="del">
          <ac:chgData name="Diana Andrejeva" userId="S::pbj825@ku.dk::8eebf336-d013-4cf1-92e5-a31e56f61c99" providerId="AD" clId="Web-{31205B79-D0E5-D4DD-012E-A057315E5C93}" dt="2026-09-28T09:44:55.588" v="0"/>
          <ac:picMkLst>
            <pc:docMk/>
            <pc:sldMk cId="1168933078" sldId="316"/>
            <ac:picMk id="18" creationId="{DB4CE662-613C-A855-78B8-F93E9439C454}"/>
          </ac:picMkLst>
        </pc:picChg>
      </pc:sldChg>
      <pc:sldChg chg="addSp delSp modSp add del">
        <pc:chgData name="Diana Andrejeva" userId="S::pbj825@ku.dk::8eebf336-d013-4cf1-92e5-a31e56f61c99" providerId="AD" clId="Web-{31205B79-D0E5-D4DD-012E-A057315E5C93}" dt="2026-09-28T09:56:03.406" v="165"/>
        <pc:sldMkLst>
          <pc:docMk/>
          <pc:sldMk cId="2002045570" sldId="338"/>
        </pc:sldMkLst>
        <pc:spChg chg="add del mod">
          <ac:chgData name="Diana Andrejeva" userId="S::pbj825@ku.dk::8eebf336-d013-4cf1-92e5-a31e56f61c99" providerId="AD" clId="Web-{31205B79-D0E5-D4DD-012E-A057315E5C93}" dt="2026-09-28T09:50:30.512" v="55"/>
          <ac:spMkLst>
            <pc:docMk/>
            <pc:sldMk cId="2002045570" sldId="338"/>
            <ac:spMk id="3" creationId="{7109A303-E737-7682-6FF4-4C44EF9429C4}"/>
          </ac:spMkLst>
        </pc:spChg>
        <pc:spChg chg="add del">
          <ac:chgData name="Diana Andrejeva" userId="S::pbj825@ku.dk::8eebf336-d013-4cf1-92e5-a31e56f61c99" providerId="AD" clId="Web-{31205B79-D0E5-D4DD-012E-A057315E5C93}" dt="2026-09-28T09:50:36.778" v="57"/>
          <ac:spMkLst>
            <pc:docMk/>
            <pc:sldMk cId="2002045570" sldId="338"/>
            <ac:spMk id="5" creationId="{C4BD9B22-997C-3D38-98FB-9C2FDD811896}"/>
          </ac:spMkLst>
        </pc:spChg>
      </pc:sldChg>
      <pc:sldChg chg="addSp delSp modSp add replId">
        <pc:chgData name="Diana Andrejeva" userId="S::pbj825@ku.dk::8eebf336-d013-4cf1-92e5-a31e56f61c99" providerId="AD" clId="Web-{31205B79-D0E5-D4DD-012E-A057315E5C93}" dt="2026-09-28T09:55:58.390" v="163" actId="14100"/>
        <pc:sldMkLst>
          <pc:docMk/>
          <pc:sldMk cId="1477482724" sldId="339"/>
        </pc:sldMkLst>
        <pc:spChg chg="del">
          <ac:chgData name="Diana Andrejeva" userId="S::pbj825@ku.dk::8eebf336-d013-4cf1-92e5-a31e56f61c99" providerId="AD" clId="Web-{31205B79-D0E5-D4DD-012E-A057315E5C93}" dt="2026-09-28T09:51:57.763" v="86"/>
          <ac:spMkLst>
            <pc:docMk/>
            <pc:sldMk cId="1477482724" sldId="339"/>
            <ac:spMk id="2" creationId="{B1CCE3E6-8983-F6A4-FF8E-187C62962616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06"/>
          <ac:spMkLst>
            <pc:docMk/>
            <pc:sldMk cId="1477482724" sldId="339"/>
            <ac:spMk id="6" creationId="{61DCEAE4-0D69-6A7E-E8BF-92FC15D13030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07"/>
          <ac:spMkLst>
            <pc:docMk/>
            <pc:sldMk cId="1477482724" sldId="339"/>
            <ac:spMk id="7" creationId="{DCC4A7A6-D729-1FF6-3692-6E87D1809FE2}"/>
          </ac:spMkLst>
        </pc:spChg>
        <pc:spChg chg="del">
          <ac:chgData name="Diana Andrejeva" userId="S::pbj825@ku.dk::8eebf336-d013-4cf1-92e5-a31e56f61c99" providerId="AD" clId="Web-{31205B79-D0E5-D4DD-012E-A057315E5C93}" dt="2026-09-28T09:51:57.763" v="87"/>
          <ac:spMkLst>
            <pc:docMk/>
            <pc:sldMk cId="1477482724" sldId="339"/>
            <ac:spMk id="8" creationId="{F6EF9147-3085-E176-D5B0-00C0A492E582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08"/>
          <ac:spMkLst>
            <pc:docMk/>
            <pc:sldMk cId="1477482724" sldId="339"/>
            <ac:spMk id="9" creationId="{999B5729-AF04-3466-E678-E6E037F48163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09"/>
          <ac:spMkLst>
            <pc:docMk/>
            <pc:sldMk cId="1477482724" sldId="339"/>
            <ac:spMk id="10" creationId="{B96F0BDF-95D1-847E-145C-28424A21C617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0"/>
          <ac:spMkLst>
            <pc:docMk/>
            <pc:sldMk cId="1477482724" sldId="339"/>
            <ac:spMk id="11" creationId="{B8DD02AB-B40A-2F1C-997C-34F62B9EA60F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1"/>
          <ac:spMkLst>
            <pc:docMk/>
            <pc:sldMk cId="1477482724" sldId="339"/>
            <ac:spMk id="12" creationId="{CE87106A-4F05-DBCF-D1A6-BE951A069DE4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2"/>
          <ac:spMkLst>
            <pc:docMk/>
            <pc:sldMk cId="1477482724" sldId="339"/>
            <ac:spMk id="13" creationId="{C7F23990-3B39-163B-F042-8A1AD42B6875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3"/>
          <ac:spMkLst>
            <pc:docMk/>
            <pc:sldMk cId="1477482724" sldId="339"/>
            <ac:spMk id="16" creationId="{914B295F-249B-7E69-808A-C1E4BBCD6D0F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4"/>
          <ac:spMkLst>
            <pc:docMk/>
            <pc:sldMk cId="1477482724" sldId="339"/>
            <ac:spMk id="17" creationId="{A0B6174A-91B6-3AB8-E453-69D0DFBF1AAE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5"/>
          <ac:spMkLst>
            <pc:docMk/>
            <pc:sldMk cId="1477482724" sldId="339"/>
            <ac:spMk id="18" creationId="{15728380-8E5D-5DB4-CEE5-D727E43AD88D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6"/>
          <ac:spMkLst>
            <pc:docMk/>
            <pc:sldMk cId="1477482724" sldId="339"/>
            <ac:spMk id="19" creationId="{2C19F321-FE90-7094-6DA7-5CE67C8A1D1C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7"/>
          <ac:spMkLst>
            <pc:docMk/>
            <pc:sldMk cId="1477482724" sldId="339"/>
            <ac:spMk id="20" creationId="{CDCCDDD0-7779-6B0C-C181-DCE50BFC320D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8"/>
          <ac:spMkLst>
            <pc:docMk/>
            <pc:sldMk cId="1477482724" sldId="339"/>
            <ac:spMk id="21" creationId="{AD9D54B2-B937-241F-5AD4-D78E350A3187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19"/>
          <ac:spMkLst>
            <pc:docMk/>
            <pc:sldMk cId="1477482724" sldId="339"/>
            <ac:spMk id="22" creationId="{A0B6C21F-5F71-C94E-76A4-DE6CD78612AA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20"/>
          <ac:spMkLst>
            <pc:docMk/>
            <pc:sldMk cId="1477482724" sldId="339"/>
            <ac:spMk id="25" creationId="{29CF27B3-06D5-6923-54AC-10F2A5B26932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21"/>
          <ac:spMkLst>
            <pc:docMk/>
            <pc:sldMk cId="1477482724" sldId="339"/>
            <ac:spMk id="26" creationId="{DE111D3C-4248-9BF7-4151-DF28F7F2A4AC}"/>
          </ac:spMkLst>
        </pc:spChg>
        <pc:spChg chg="mod">
          <ac:chgData name="Diana Andrejeva" userId="S::pbj825@ku.dk::8eebf336-d013-4cf1-92e5-a31e56f61c99" providerId="AD" clId="Web-{31205B79-D0E5-D4DD-012E-A057315E5C93}" dt="2026-09-28T09:53:34.998" v="122"/>
          <ac:spMkLst>
            <pc:docMk/>
            <pc:sldMk cId="1477482724" sldId="339"/>
            <ac:spMk id="27" creationId="{B2E465AF-19D7-F666-1B07-2EEC4A63271A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3"/>
          <ac:spMkLst>
            <pc:docMk/>
            <pc:sldMk cId="1477482724" sldId="339"/>
            <ac:spMk id="28" creationId="{9836BDB6-386C-8FA0-DB0A-9DDA120EE6FD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4"/>
          <ac:spMkLst>
            <pc:docMk/>
            <pc:sldMk cId="1477482724" sldId="339"/>
            <ac:spMk id="29" creationId="{D322BABB-65B0-81CB-48DF-1A56AB97F4C3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5"/>
          <ac:spMkLst>
            <pc:docMk/>
            <pc:sldMk cId="1477482724" sldId="339"/>
            <ac:spMk id="30" creationId="{B5E72572-44B1-DC1F-2004-2AD43BA11630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6"/>
          <ac:spMkLst>
            <pc:docMk/>
            <pc:sldMk cId="1477482724" sldId="339"/>
            <ac:spMk id="31" creationId="{B5DDDF8A-AEEE-128F-8166-2084302271A1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7"/>
          <ac:spMkLst>
            <pc:docMk/>
            <pc:sldMk cId="1477482724" sldId="339"/>
            <ac:spMk id="32" creationId="{716E2797-FBE1-9D4A-4CCC-7B23D980F17B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8"/>
          <ac:spMkLst>
            <pc:docMk/>
            <pc:sldMk cId="1477482724" sldId="339"/>
            <ac:spMk id="35" creationId="{3F567AA7-664A-6647-F41A-9C4AFA969436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29"/>
          <ac:spMkLst>
            <pc:docMk/>
            <pc:sldMk cId="1477482724" sldId="339"/>
            <ac:spMk id="36" creationId="{600155B0-394F-E080-1657-2FB8ABF4E40A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30"/>
          <ac:spMkLst>
            <pc:docMk/>
            <pc:sldMk cId="1477482724" sldId="339"/>
            <ac:spMk id="37" creationId="{4815624D-7592-EF6F-D19E-E1CC7912C362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31"/>
          <ac:spMkLst>
            <pc:docMk/>
            <pc:sldMk cId="1477482724" sldId="339"/>
            <ac:spMk id="38" creationId="{D9A4DA66-8A50-BB74-FA63-E3CFA3B7B8D7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32"/>
          <ac:spMkLst>
            <pc:docMk/>
            <pc:sldMk cId="1477482724" sldId="339"/>
            <ac:spMk id="39" creationId="{5CE84260-A747-A9CB-965E-80E0163B8377}"/>
          </ac:spMkLst>
        </pc:spChg>
        <pc:spChg chg="mod">
          <ac:chgData name="Diana Andrejeva" userId="S::pbj825@ku.dk::8eebf336-d013-4cf1-92e5-a31e56f61c99" providerId="AD" clId="Web-{31205B79-D0E5-D4DD-012E-A057315E5C93}" dt="2026-09-28T09:53:35.014" v="133"/>
          <ac:spMkLst>
            <pc:docMk/>
            <pc:sldMk cId="1477482724" sldId="339"/>
            <ac:spMk id="40" creationId="{538DD8ED-B566-44A3-E702-ED5F57D46453}"/>
          </ac:spMkLst>
        </pc:spChg>
        <pc:spChg chg="mod">
          <ac:chgData name="Diana Andrejeva" userId="S::pbj825@ku.dk::8eebf336-d013-4cf1-92e5-a31e56f61c99" providerId="AD" clId="Web-{31205B79-D0E5-D4DD-012E-A057315E5C93}" dt="2026-09-28T09:53:35.186" v="134"/>
          <ac:spMkLst>
            <pc:docMk/>
            <pc:sldMk cId="1477482724" sldId="339"/>
            <ac:spMk id="41" creationId="{4A737D14-C977-6F13-ECAD-566908E71858}"/>
          </ac:spMkLst>
        </pc:spChg>
        <pc:spChg chg="add del">
          <ac:chgData name="Diana Andrejeva" userId="S::pbj825@ku.dk::8eebf336-d013-4cf1-92e5-a31e56f61c99" providerId="AD" clId="Web-{31205B79-D0E5-D4DD-012E-A057315E5C93}" dt="2026-09-28T09:55:37.359" v="157"/>
          <ac:spMkLst>
            <pc:docMk/>
            <pc:sldMk cId="1477482724" sldId="339"/>
            <ac:spMk id="49" creationId="{F09468C8-5D28-B676-1306-3B1634795F60}"/>
          </ac:spMkLst>
        </pc:spChg>
        <pc:spChg chg="add mod">
          <ac:chgData name="Diana Andrejeva" userId="S::pbj825@ku.dk::8eebf336-d013-4cf1-92e5-a31e56f61c99" providerId="AD" clId="Web-{31205B79-D0E5-D4DD-012E-A057315E5C93}" dt="2026-09-28T09:55:58.390" v="163" actId="14100"/>
          <ac:spMkLst>
            <pc:docMk/>
            <pc:sldMk cId="1477482724" sldId="339"/>
            <ac:spMk id="51" creationId="{2305B92B-AB7D-6D5C-A4A0-D4D7641C581D}"/>
          </ac:spMkLst>
        </pc:spChg>
        <pc:spChg chg="add del mod">
          <ac:chgData name="Diana Andrejeva" userId="S::pbj825@ku.dk::8eebf336-d013-4cf1-92e5-a31e56f61c99" providerId="AD" clId="Web-{31205B79-D0E5-D4DD-012E-A057315E5C93}" dt="2026-09-28T09:54:27.015" v="139"/>
          <ac:spMkLst>
            <pc:docMk/>
            <pc:sldMk cId="1477482724" sldId="339"/>
            <ac:spMk id="91" creationId="{8D980AEA-2D25-10F4-6A44-F0B31DDAD7F1}"/>
          </ac:spMkLst>
        </pc:spChg>
        <pc:spChg chg="add del mod">
          <ac:chgData name="Diana Andrejeva" userId="S::pbj825@ku.dk::8eebf336-d013-4cf1-92e5-a31e56f61c99" providerId="AD" clId="Web-{31205B79-D0E5-D4DD-012E-A057315E5C93}" dt="2026-09-28T09:54:30.421" v="140"/>
          <ac:spMkLst>
            <pc:docMk/>
            <pc:sldMk cId="1477482724" sldId="339"/>
            <ac:spMk id="92" creationId="{1BB56525-9793-CF6A-04DD-54653B65265D}"/>
          </ac:spMkLst>
        </pc:spChg>
        <pc:spChg chg="mod">
          <ac:chgData name="Diana Andrejeva" userId="S::pbj825@ku.dk::8eebf336-d013-4cf1-92e5-a31e56f61c99" providerId="AD" clId="Web-{31205B79-D0E5-D4DD-012E-A057315E5C93}" dt="2026-09-28T09:54:48.577" v="144" actId="20577"/>
          <ac:spMkLst>
            <pc:docMk/>
            <pc:sldMk cId="1477482724" sldId="339"/>
            <ac:spMk id="93" creationId="{E614FF89-86FC-4A9A-D59A-3AA48E4CD2C8}"/>
          </ac:spMkLst>
        </pc:spChg>
        <pc:spChg chg="mod">
          <ac:chgData name="Diana Andrejeva" userId="S::pbj825@ku.dk::8eebf336-d013-4cf1-92e5-a31e56f61c99" providerId="AD" clId="Web-{31205B79-D0E5-D4DD-012E-A057315E5C93}" dt="2026-09-28T09:54:48.608" v="145" actId="20577"/>
          <ac:spMkLst>
            <pc:docMk/>
            <pc:sldMk cId="1477482724" sldId="339"/>
            <ac:spMk id="94" creationId="{0E8B0572-9A3C-2AF0-E85E-C0FF1067F19F}"/>
          </ac:spMkLst>
        </pc:spChg>
        <pc:spChg chg="mod">
          <ac:chgData name="Diana Andrejeva" userId="S::pbj825@ku.dk::8eebf336-d013-4cf1-92e5-a31e56f61c99" providerId="AD" clId="Web-{31205B79-D0E5-D4DD-012E-A057315E5C93}" dt="2026-09-28T09:54:52.499" v="146"/>
          <ac:spMkLst>
            <pc:docMk/>
            <pc:sldMk cId="1477482724" sldId="339"/>
            <ac:spMk id="95" creationId="{99C56531-B120-8A75-9A83-F4C44EF52C9C}"/>
          </ac:spMkLst>
        </pc:spChg>
        <pc:spChg chg="add del">
          <ac:chgData name="Diana Andrejeva" userId="S::pbj825@ku.dk::8eebf336-d013-4cf1-92e5-a31e56f61c99" providerId="AD" clId="Web-{31205B79-D0E5-D4DD-012E-A057315E5C93}" dt="2026-09-28T09:51:51.857" v="82"/>
          <ac:spMkLst>
            <pc:docMk/>
            <pc:sldMk cId="1477482724" sldId="339"/>
            <ac:spMk id="97" creationId="{BC37F4EA-95CC-B8AB-CD20-5D78DF63959D}"/>
          </ac:spMkLst>
        </pc:spChg>
        <pc:spChg chg="add del mod">
          <ac:chgData name="Diana Andrejeva" userId="S::pbj825@ku.dk::8eebf336-d013-4cf1-92e5-a31e56f61c99" providerId="AD" clId="Web-{31205B79-D0E5-D4DD-012E-A057315E5C93}" dt="2026-09-28T09:51:49.560" v="81"/>
          <ac:spMkLst>
            <pc:docMk/>
            <pc:sldMk cId="1477482724" sldId="339"/>
            <ac:spMk id="99" creationId="{2180172A-1B0D-D2D1-72DD-A25DF970F8BF}"/>
          </ac:spMkLst>
        </pc:spChg>
        <pc:spChg chg="add del">
          <ac:chgData name="Diana Andrejeva" userId="S::pbj825@ku.dk::8eebf336-d013-4cf1-92e5-a31e56f61c99" providerId="AD" clId="Web-{31205B79-D0E5-D4DD-012E-A057315E5C93}" dt="2026-09-28T09:51:57.779" v="88"/>
          <ac:spMkLst>
            <pc:docMk/>
            <pc:sldMk cId="1477482724" sldId="339"/>
            <ac:spMk id="102" creationId="{3EDF8ABD-A3D6-C3B4-4CB6-4A3E84133C95}"/>
          </ac:spMkLst>
        </pc:spChg>
        <pc:spChg chg="add del mod">
          <ac:chgData name="Diana Andrejeva" userId="S::pbj825@ku.dk::8eebf336-d013-4cf1-92e5-a31e56f61c99" providerId="AD" clId="Web-{31205B79-D0E5-D4DD-012E-A057315E5C93}" dt="2026-09-28T09:52:02.263" v="92"/>
          <ac:spMkLst>
            <pc:docMk/>
            <pc:sldMk cId="1477482724" sldId="339"/>
            <ac:spMk id="103" creationId="{39A0293B-9F40-69FE-C14E-8E60061EB8E5}"/>
          </ac:spMkLst>
        </pc:spChg>
        <pc:spChg chg="add del">
          <ac:chgData name="Diana Andrejeva" userId="S::pbj825@ku.dk::8eebf336-d013-4cf1-92e5-a31e56f61c99" providerId="AD" clId="Web-{31205B79-D0E5-D4DD-012E-A057315E5C93}" dt="2026-09-28T09:52:07.201" v="93"/>
          <ac:spMkLst>
            <pc:docMk/>
            <pc:sldMk cId="1477482724" sldId="339"/>
            <ac:spMk id="107" creationId="{1AEE8108-0725-5EE1-AEFF-B04EE9C2B747}"/>
          </ac:spMkLst>
        </pc:spChg>
        <pc:grpChg chg="add">
          <ac:chgData name="Diana Andrejeva" userId="S::pbj825@ku.dk::8eebf336-d013-4cf1-92e5-a31e56f61c99" providerId="AD" clId="Web-{31205B79-D0E5-D4DD-012E-A057315E5C93}" dt="2026-09-28T09:52:29.185" v="96"/>
          <ac:grpSpMkLst>
            <pc:docMk/>
            <pc:sldMk cId="1477482724" sldId="339"/>
            <ac:grpSpMk id="14" creationId="{2E2C44CC-2630-34F5-25EA-16CC0BD2C2E0}"/>
          </ac:grpSpMkLst>
        </pc:grpChg>
        <pc:grpChg chg="add">
          <ac:chgData name="Diana Andrejeva" userId="S::pbj825@ku.dk::8eebf336-d013-4cf1-92e5-a31e56f61c99" providerId="AD" clId="Web-{31205B79-D0E5-D4DD-012E-A057315E5C93}" dt="2026-09-28T09:52:29.248" v="97"/>
          <ac:grpSpMkLst>
            <pc:docMk/>
            <pc:sldMk cId="1477482724" sldId="339"/>
            <ac:grpSpMk id="23" creationId="{E25CC760-463D-BE89-A608-4F6A9B8E1F9C}"/>
          </ac:grpSpMkLst>
        </pc:grpChg>
        <pc:grpChg chg="add">
          <ac:chgData name="Diana Andrejeva" userId="S::pbj825@ku.dk::8eebf336-d013-4cf1-92e5-a31e56f61c99" providerId="AD" clId="Web-{31205B79-D0E5-D4DD-012E-A057315E5C93}" dt="2026-09-28T09:52:29.326" v="98"/>
          <ac:grpSpMkLst>
            <pc:docMk/>
            <pc:sldMk cId="1477482724" sldId="339"/>
            <ac:grpSpMk id="33" creationId="{34781529-5E4F-EC55-C285-29643A50EB08}"/>
          </ac:grpSpMkLst>
        </pc:grpChg>
        <pc:grpChg chg="add">
          <ac:chgData name="Diana Andrejeva" userId="S::pbj825@ku.dk::8eebf336-d013-4cf1-92e5-a31e56f61c99" providerId="AD" clId="Web-{31205B79-D0E5-D4DD-012E-A057315E5C93}" dt="2026-09-28T09:52:29.404" v="99"/>
          <ac:grpSpMkLst>
            <pc:docMk/>
            <pc:sldMk cId="1477482724" sldId="339"/>
            <ac:grpSpMk id="42" creationId="{0FAF30F7-CB13-0AE5-3D0D-08AAEBB3CB07}"/>
          </ac:grpSpMkLst>
        </pc:grpChg>
        <pc:grpChg chg="add del mod">
          <ac:chgData name="Diana Andrejeva" userId="S::pbj825@ku.dk::8eebf336-d013-4cf1-92e5-a31e56f61c99" providerId="AD" clId="Web-{31205B79-D0E5-D4DD-012E-A057315E5C93}" dt="2026-09-28T09:54:55.530" v="147"/>
          <ac:grpSpMkLst>
            <pc:docMk/>
            <pc:sldMk cId="1477482724" sldId="339"/>
            <ac:grpSpMk id="47" creationId="{8A68FC64-14A6-2F21-E4D3-AF26C27E64B5}"/>
          </ac:grpSpMkLst>
        </pc:grpChg>
        <pc:picChg chg="del">
          <ac:chgData name="Diana Andrejeva" userId="S::pbj825@ku.dk::8eebf336-d013-4cf1-92e5-a31e56f61c99" providerId="AD" clId="Web-{31205B79-D0E5-D4DD-012E-A057315E5C93}" dt="2026-09-28T09:51:54.451" v="84"/>
          <ac:picMkLst>
            <pc:docMk/>
            <pc:sldMk cId="1477482724" sldId="339"/>
            <ac:picMk id="3" creationId="{5D23258B-1053-04D7-B362-14DD87EF6310}"/>
          </ac:picMkLst>
        </pc:picChg>
        <pc:picChg chg="del">
          <ac:chgData name="Diana Andrejeva" userId="S::pbj825@ku.dk::8eebf336-d013-4cf1-92e5-a31e56f61c99" providerId="AD" clId="Web-{31205B79-D0E5-D4DD-012E-A057315E5C93}" dt="2026-09-28T09:51:54.451" v="85"/>
          <ac:picMkLst>
            <pc:docMk/>
            <pc:sldMk cId="1477482724" sldId="339"/>
            <ac:picMk id="5" creationId="{B7E1AADB-8887-6B45-4654-F6560F16D617}"/>
          </ac:picMkLst>
        </pc:picChg>
        <pc:picChg chg="del">
          <ac:chgData name="Diana Andrejeva" userId="S::pbj825@ku.dk::8eebf336-d013-4cf1-92e5-a31e56f61c99" providerId="AD" clId="Web-{31205B79-D0E5-D4DD-012E-A057315E5C93}" dt="2026-09-28T09:52:38.060" v="100"/>
          <ac:picMkLst>
            <pc:docMk/>
            <pc:sldMk cId="1477482724" sldId="339"/>
            <ac:picMk id="90" creationId="{33E39C86-263C-3CE3-BAE9-DAF5460207E5}"/>
          </ac:picMkLst>
        </pc:picChg>
        <pc:picChg chg="del">
          <ac:chgData name="Diana Andrejeva" userId="S::pbj825@ku.dk::8eebf336-d013-4cf1-92e5-a31e56f61c99" providerId="AD" clId="Web-{31205B79-D0E5-D4DD-012E-A057315E5C93}" dt="2026-09-28T09:51:54.451" v="83"/>
          <ac:picMkLst>
            <pc:docMk/>
            <pc:sldMk cId="1477482724" sldId="339"/>
            <ac:picMk id="1026" creationId="{9F1DE3B0-0FD0-252D-AC22-11D59FAC83B0}"/>
          </ac:picMkLst>
        </pc:picChg>
      </pc:sldChg>
    </pc:docChg>
  </pc:docChgLst>
  <pc:docChgLst>
    <pc:chgData name="Diana Andrejeva" userId="S::pbj825@ku.dk::8eebf336-d013-4cf1-92e5-a31e56f61c99" providerId="AD" clId="Web-{DD00F1DC-60ED-CD16-6848-CFBC368288F1}"/>
    <pc:docChg chg="modSld">
      <pc:chgData name="Diana Andrejeva" userId="S::pbj825@ku.dk::8eebf336-d013-4cf1-92e5-a31e56f61c99" providerId="AD" clId="Web-{DD00F1DC-60ED-CD16-6848-CFBC368288F1}" dt="2026-09-28T10:24:14.943" v="13" actId="1076"/>
      <pc:docMkLst>
        <pc:docMk/>
      </pc:docMkLst>
      <pc:sldChg chg="modSp">
        <pc:chgData name="Diana Andrejeva" userId="S::pbj825@ku.dk::8eebf336-d013-4cf1-92e5-a31e56f61c99" providerId="AD" clId="Web-{DD00F1DC-60ED-CD16-6848-CFBC368288F1}" dt="2026-09-28T10:24:14.943" v="13" actId="1076"/>
        <pc:sldMkLst>
          <pc:docMk/>
          <pc:sldMk cId="0" sldId="257"/>
        </pc:sldMkLst>
        <pc:spChg chg="mod">
          <ac:chgData name="Diana Andrejeva" userId="S::pbj825@ku.dk::8eebf336-d013-4cf1-92e5-a31e56f61c99" providerId="AD" clId="Web-{DD00F1DC-60ED-CD16-6848-CFBC368288F1}" dt="2026-09-28T10:24:08.552" v="12"/>
          <ac:spMkLst>
            <pc:docMk/>
            <pc:sldMk cId="0" sldId="257"/>
            <ac:spMk id="2" creationId="{8E3691FF-79C8-B2D0-A9AA-F7B125829487}"/>
          </ac:spMkLst>
        </pc:spChg>
        <pc:spChg chg="mod">
          <ac:chgData name="Diana Andrejeva" userId="S::pbj825@ku.dk::8eebf336-d013-4cf1-92e5-a31e56f61c99" providerId="AD" clId="Web-{DD00F1DC-60ED-CD16-6848-CFBC368288F1}" dt="2026-09-28T10:24:14.943" v="13" actId="1076"/>
          <ac:spMkLst>
            <pc:docMk/>
            <pc:sldMk cId="0" sldId="257"/>
            <ac:spMk id="8" creationId="{C1F2FE68-24DA-5FC6-2024-EF7CE4D31C43}"/>
          </ac:spMkLst>
        </pc:spChg>
        <pc:spChg chg="mod">
          <ac:chgData name="Diana Andrejeva" userId="S::pbj825@ku.dk::8eebf336-d013-4cf1-92e5-a31e56f61c99" providerId="AD" clId="Web-{DD00F1DC-60ED-CD16-6848-CFBC368288F1}" dt="2026-09-28T10:24:08.521" v="10"/>
          <ac:spMkLst>
            <pc:docMk/>
            <pc:sldMk cId="0" sldId="257"/>
            <ac:spMk id="102" creationId="{00000000-0000-0000-0000-000000000000}"/>
          </ac:spMkLst>
        </pc:spChg>
        <pc:picChg chg="mod">
          <ac:chgData name="Diana Andrejeva" userId="S::pbj825@ku.dk::8eebf336-d013-4cf1-92e5-a31e56f61c99" providerId="AD" clId="Web-{DD00F1DC-60ED-CD16-6848-CFBC368288F1}" dt="2026-09-28T10:23:56.864" v="9" actId="1076"/>
          <ac:picMkLst>
            <pc:docMk/>
            <pc:sldMk cId="0" sldId="257"/>
            <ac:picMk id="14" creationId="{4E494490-25A1-407A-C967-2EBBCCB4CAA7}"/>
          </ac:picMkLst>
        </pc:picChg>
      </pc:sldChg>
      <pc:sldChg chg="modSp">
        <pc:chgData name="Diana Andrejeva" userId="S::pbj825@ku.dk::8eebf336-d013-4cf1-92e5-a31e56f61c99" providerId="AD" clId="Web-{DD00F1DC-60ED-CD16-6848-CFBC368288F1}" dt="2026-09-28T10:23:22.035" v="6" actId="1076"/>
        <pc:sldMkLst>
          <pc:docMk/>
          <pc:sldMk cId="736094683" sldId="260"/>
        </pc:sldMkLst>
        <pc:spChg chg="mod">
          <ac:chgData name="Diana Andrejeva" userId="S::pbj825@ku.dk::8eebf336-d013-4cf1-92e5-a31e56f61c99" providerId="AD" clId="Web-{DD00F1DC-60ED-CD16-6848-CFBC368288F1}" dt="2026-09-28T10:23:18.706" v="5" actId="1076"/>
          <ac:spMkLst>
            <pc:docMk/>
            <pc:sldMk cId="736094683" sldId="260"/>
            <ac:spMk id="13" creationId="{5A35B9A1-6030-CCC9-8EE0-A85F4E608F57}"/>
          </ac:spMkLst>
        </pc:spChg>
        <pc:spChg chg="mod">
          <ac:chgData name="Diana Andrejeva" userId="S::pbj825@ku.dk::8eebf336-d013-4cf1-92e5-a31e56f61c99" providerId="AD" clId="Web-{DD00F1DC-60ED-CD16-6848-CFBC368288F1}" dt="2026-09-28T10:23:22.035" v="6" actId="1076"/>
          <ac:spMkLst>
            <pc:docMk/>
            <pc:sldMk cId="736094683" sldId="260"/>
            <ac:spMk id="14" creationId="{0D5C60AE-B57A-3598-B225-8A9093D98D5B}"/>
          </ac:spMkLst>
        </pc:spChg>
        <pc:spChg chg="mod">
          <ac:chgData name="Diana Andrejeva" userId="S::pbj825@ku.dk::8eebf336-d013-4cf1-92e5-a31e56f61c99" providerId="AD" clId="Web-{DD00F1DC-60ED-CD16-6848-CFBC368288F1}" dt="2026-09-28T10:23:07.190" v="4" actId="20577"/>
          <ac:spMkLst>
            <pc:docMk/>
            <pc:sldMk cId="736094683" sldId="260"/>
            <ac:spMk id="17" creationId="{6025D1BE-52E3-539F-1FD6-5EE63C0F1382}"/>
          </ac:spMkLst>
        </pc:spChg>
        <pc:cxnChg chg="mod">
          <ac:chgData name="Diana Andrejeva" userId="S::pbj825@ku.dk::8eebf336-d013-4cf1-92e5-a31e56f61c99" providerId="AD" clId="Web-{DD00F1DC-60ED-CD16-6848-CFBC368288F1}" dt="2026-09-28T10:22:49.534" v="0" actId="1076"/>
          <ac:cxnSpMkLst>
            <pc:docMk/>
            <pc:sldMk cId="736094683" sldId="260"/>
            <ac:cxnSpMk id="33" creationId="{14BDE685-1D51-CA51-38BC-9A7E8EC5D055}"/>
          </ac:cxnSpMkLst>
        </pc:cxnChg>
        <pc:cxnChg chg="mod">
          <ac:chgData name="Diana Andrejeva" userId="S::pbj825@ku.dk::8eebf336-d013-4cf1-92e5-a31e56f61c99" providerId="AD" clId="Web-{DD00F1DC-60ED-CD16-6848-CFBC368288F1}" dt="2026-09-28T10:22:53.456" v="1" actId="1076"/>
          <ac:cxnSpMkLst>
            <pc:docMk/>
            <pc:sldMk cId="736094683" sldId="260"/>
            <ac:cxnSpMk id="41" creationId="{987D0A94-E2C7-0562-0187-6EEDAA124427}"/>
          </ac:cxnSpMkLst>
        </pc:cxnChg>
        <pc:cxnChg chg="mod">
          <ac:chgData name="Diana Andrejeva" userId="S::pbj825@ku.dk::8eebf336-d013-4cf1-92e5-a31e56f61c99" providerId="AD" clId="Web-{DD00F1DC-60ED-CD16-6848-CFBC368288F1}" dt="2026-09-28T10:22:58.143" v="2" actId="1076"/>
          <ac:cxnSpMkLst>
            <pc:docMk/>
            <pc:sldMk cId="736094683" sldId="260"/>
            <ac:cxnSpMk id="47" creationId="{3EAA8039-423B-B28A-8498-44A40B2952C2}"/>
          </ac:cxnSpMkLst>
        </pc:cxnChg>
        <pc:cxnChg chg="mod">
          <ac:chgData name="Diana Andrejeva" userId="S::pbj825@ku.dk::8eebf336-d013-4cf1-92e5-a31e56f61c99" providerId="AD" clId="Web-{DD00F1DC-60ED-CD16-6848-CFBC368288F1}" dt="2026-09-28T10:23:02.550" v="3" actId="1076"/>
          <ac:cxnSpMkLst>
            <pc:docMk/>
            <pc:sldMk cId="736094683" sldId="260"/>
            <ac:cxnSpMk id="53" creationId="{0F5FBC26-20BE-F193-EF96-FD81894989B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7" name="Shape 7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411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First time running this course. There will be an evaluation, please be patient with us, we are not quite sure how this will go :-)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0BA9A-F6C7-8AC6-E730-5F242B88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>
            <a:extLst>
              <a:ext uri="{FF2B5EF4-FFF2-40B4-BE49-F238E27FC236}">
                <a16:creationId xmlns:a16="http://schemas.microsoft.com/office/drawing/2014/main" id="{3DE78A88-7E92-CAC4-8CCA-0DEEFABA7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Shape 114">
            <a:extLst>
              <a:ext uri="{FF2B5EF4-FFF2-40B4-BE49-F238E27FC236}">
                <a16:creationId xmlns:a16="http://schemas.microsoft.com/office/drawing/2014/main" id="{FCFB342B-1BE9-E275-2624-C13D6D3AD25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First time running this course. There will be an evaluation, please be patient with us, we are not quite sure how this will go :-)</a:t>
            </a:r>
          </a:p>
        </p:txBody>
      </p:sp>
    </p:spTree>
    <p:extLst>
      <p:ext uri="{BB962C8B-B14F-4D97-AF65-F5344CB8AC3E}">
        <p14:creationId xmlns:p14="http://schemas.microsoft.com/office/powerpoint/2010/main" val="1374148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1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[Talk </a:t>
            </a:r>
            <a:r>
              <a:rPr lang="da-DK" err="1"/>
              <a:t>shortly</a:t>
            </a:r>
            <a:r>
              <a:rPr lang="da-DK"/>
              <a:t> </a:t>
            </a:r>
            <a:r>
              <a:rPr lang="da-DK" err="1"/>
              <a:t>about</a:t>
            </a:r>
            <a:r>
              <a:rPr lang="da-DK"/>
              <a:t> </a:t>
            </a:r>
            <a:r>
              <a:rPr lang="da-DK" err="1"/>
              <a:t>why</a:t>
            </a:r>
            <a:r>
              <a:rPr lang="da-DK"/>
              <a:t> </a:t>
            </a:r>
            <a:r>
              <a:rPr lang="da-DK" err="1"/>
              <a:t>here</a:t>
            </a:r>
            <a:r>
              <a:rPr lang="da-DK"/>
              <a:t>. Open source, </a:t>
            </a:r>
            <a:r>
              <a:rPr lang="da-DK" err="1"/>
              <a:t>easy</a:t>
            </a:r>
            <a:r>
              <a:rPr lang="da-DK"/>
              <a:t> and </a:t>
            </a:r>
            <a:r>
              <a:rPr lang="da-DK" err="1"/>
              <a:t>intuative</a:t>
            </a:r>
            <a:r>
              <a:rPr lang="da-DK"/>
              <a:t> for data </a:t>
            </a:r>
            <a:r>
              <a:rPr lang="da-DK" err="1"/>
              <a:t>wrangling</a:t>
            </a:r>
            <a:r>
              <a:rPr lang="da-DK"/>
              <a:t> and plotting </a:t>
            </a:r>
            <a:r>
              <a:rPr lang="da-DK" err="1"/>
              <a:t>which</a:t>
            </a:r>
            <a:r>
              <a:rPr lang="da-DK"/>
              <a:t> </a:t>
            </a:r>
            <a:r>
              <a:rPr lang="da-DK" err="1"/>
              <a:t>are</a:t>
            </a:r>
            <a:r>
              <a:rPr lang="da-DK"/>
              <a:t> the </a:t>
            </a:r>
            <a:r>
              <a:rPr lang="da-DK" err="1"/>
              <a:t>first</a:t>
            </a:r>
            <a:r>
              <a:rPr lang="da-DK"/>
              <a:t> steps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will</a:t>
            </a:r>
            <a:r>
              <a:rPr lang="da-DK"/>
              <a:t> </a:t>
            </a:r>
            <a:r>
              <a:rPr lang="da-DK" err="1"/>
              <a:t>need</a:t>
            </a:r>
            <a:r>
              <a:rPr lang="da-DK"/>
              <a:t> to do to </a:t>
            </a:r>
            <a:r>
              <a:rPr lang="da-DK" err="1"/>
              <a:t>your</a:t>
            </a:r>
            <a:r>
              <a:rPr lang="da-DK"/>
              <a:t> data]</a:t>
            </a:r>
          </a:p>
        </p:txBody>
      </p:sp>
    </p:spTree>
    <p:extLst>
      <p:ext uri="{BB962C8B-B14F-4D97-AF65-F5344CB8AC3E}">
        <p14:creationId xmlns:p14="http://schemas.microsoft.com/office/powerpoint/2010/main" val="874725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[</a:t>
            </a:r>
            <a:r>
              <a:rPr lang="da-DK" err="1"/>
              <a:t>Copy</a:t>
            </a:r>
            <a:r>
              <a:rPr lang="da-DK"/>
              <a:t> of </a:t>
            </a:r>
            <a:r>
              <a:rPr lang="da-DK" err="1"/>
              <a:t>previous</a:t>
            </a:r>
            <a:r>
              <a:rPr lang="da-DK"/>
              <a:t> slide but with potential </a:t>
            </a:r>
            <a:r>
              <a:rPr lang="da-DK" err="1"/>
              <a:t>update</a:t>
            </a:r>
            <a:r>
              <a:rPr lang="da-DK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70550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986A2-C413-8D9D-9C06-178F5F68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CC43AE-8E97-43AD-E3DD-BB3A2484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4C911E4-B4AA-B23B-D053-E50B408EA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Possibility</a:t>
            </a:r>
            <a:r>
              <a:rPr lang="da-DK"/>
              <a:t> to bring </a:t>
            </a:r>
            <a:r>
              <a:rPr lang="da-DK" err="1"/>
              <a:t>your</a:t>
            </a:r>
            <a:r>
              <a:rPr lang="da-DK"/>
              <a:t> </a:t>
            </a:r>
            <a:r>
              <a:rPr lang="da-DK" err="1"/>
              <a:t>own</a:t>
            </a:r>
            <a:r>
              <a:rPr lang="da-DK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2684263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1" name="Shape 4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Markdown is a plain text language with formatting syntax designed so that it can be converted to HTML and many other formats.</a:t>
            </a:r>
          </a:p>
          <a:p>
            <a:endParaRPr/>
          </a:p>
          <a:p>
            <a:r>
              <a:t>They are written using an extension of markdown syntax that enables R code to be embedded in them in a way which can later be executed.  </a:t>
            </a:r>
          </a:p>
          <a:p>
            <a:endParaRPr/>
          </a:p>
          <a:p>
            <a:r>
              <a:rPr err="1"/>
              <a:t>Knitr</a:t>
            </a:r>
            <a:r>
              <a:t> takes a plain text document with embedded code, executes the code and 'knits' the results back into the document.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8" name="Shape 5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t>A double is a double-precision, 64-bit floating-point data type. It accommodates 15 to 16 digits, with a range of approximately 5.0 × 10−345 to 1.7 × 10308</a:t>
            </a:r>
          </a:p>
        </p:txBody>
      </p:sp>
    </p:spTree>
    <p:extLst>
      <p:ext uri="{BB962C8B-B14F-4D97-AF65-F5344CB8AC3E}">
        <p14:creationId xmlns:p14="http://schemas.microsoft.com/office/powerpoint/2010/main" val="3135128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F99C-8A53-E2EE-9B01-FAE8421E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1104">
            <a:extLst>
              <a:ext uri="{FF2B5EF4-FFF2-40B4-BE49-F238E27FC236}">
                <a16:creationId xmlns:a16="http://schemas.microsoft.com/office/drawing/2014/main" id="{2C546592-F213-F285-6921-09DF101D5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5" name="Shape 1105">
            <a:extLst>
              <a:ext uri="{FF2B5EF4-FFF2-40B4-BE49-F238E27FC236}">
                <a16:creationId xmlns:a16="http://schemas.microsoft.com/office/drawing/2014/main" id="{6A3B009F-A1F7-AD56-9381-890EB352297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a-DK"/>
              <a:t>First </a:t>
            </a:r>
            <a:r>
              <a:rPr lang="da-DK" err="1"/>
              <a:t>we</a:t>
            </a:r>
            <a:r>
              <a:rPr lang="da-DK"/>
              <a:t> </a:t>
            </a:r>
            <a:r>
              <a:rPr lang="da-DK" err="1"/>
              <a:t>need</a:t>
            </a:r>
            <a:r>
              <a:rPr lang="da-DK"/>
              <a:t> to </a:t>
            </a:r>
            <a:r>
              <a:rPr lang="da-DK" err="1"/>
              <a:t>make</a:t>
            </a:r>
            <a:r>
              <a:rPr lang="da-DK"/>
              <a:t> sure </a:t>
            </a:r>
            <a:r>
              <a:rPr lang="da-DK" err="1"/>
              <a:t>that</a:t>
            </a:r>
            <a:r>
              <a:rPr lang="da-DK"/>
              <a:t> </a:t>
            </a:r>
            <a:r>
              <a:rPr lang="da-DK" err="1"/>
              <a:t>our</a:t>
            </a:r>
            <a:r>
              <a:rPr lang="da-DK"/>
              <a:t> files </a:t>
            </a:r>
            <a:r>
              <a:rPr lang="da-DK" err="1"/>
              <a:t>are</a:t>
            </a:r>
            <a:r>
              <a:rPr lang="da-DK"/>
              <a:t> in </a:t>
            </a:r>
            <a:r>
              <a:rPr lang="da-DK" err="1"/>
              <a:t>order</a:t>
            </a:r>
            <a:r>
              <a:rPr lang="da-DK"/>
              <a:t>. It is </a:t>
            </a:r>
            <a:r>
              <a:rPr lang="da-DK" err="1"/>
              <a:t>very</a:t>
            </a:r>
            <a:r>
              <a:rPr lang="da-DK"/>
              <a:t> </a:t>
            </a:r>
            <a:r>
              <a:rPr lang="da-DK" err="1"/>
              <a:t>important</a:t>
            </a:r>
            <a:r>
              <a:rPr lang="da-DK"/>
              <a:t> to have a </a:t>
            </a:r>
            <a:r>
              <a:rPr lang="da-DK" err="1"/>
              <a:t>good</a:t>
            </a:r>
            <a:r>
              <a:rPr lang="da-DK"/>
              <a:t> </a:t>
            </a:r>
            <a:r>
              <a:rPr lang="da-DK" err="1"/>
              <a:t>structure</a:t>
            </a:r>
            <a:r>
              <a:rPr lang="da-DK"/>
              <a:t> </a:t>
            </a:r>
            <a:r>
              <a:rPr lang="da-DK" err="1"/>
              <a:t>when</a:t>
            </a:r>
            <a:r>
              <a:rPr lang="da-DK"/>
              <a:t> </a:t>
            </a:r>
            <a:r>
              <a:rPr lang="da-DK" err="1"/>
              <a:t>coding</a:t>
            </a:r>
            <a:r>
              <a:rPr lang="da-DK"/>
              <a:t>. </a:t>
            </a:r>
          </a:p>
          <a:p>
            <a:r>
              <a:rPr lang="da-DK"/>
              <a:t>Go </a:t>
            </a:r>
            <a:r>
              <a:rPr lang="da-DK" err="1"/>
              <a:t>through</a:t>
            </a:r>
            <a:r>
              <a:rPr lang="da-DK"/>
              <a:t> </a:t>
            </a:r>
            <a:r>
              <a:rPr lang="da-DK" err="1"/>
              <a:t>exercise</a:t>
            </a:r>
            <a:r>
              <a:rPr lang="da-DK"/>
              <a:t> 0.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9975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Now </a:t>
            </a:r>
            <a:r>
              <a:rPr lang="da-DK" err="1"/>
              <a:t>that</a:t>
            </a:r>
            <a:r>
              <a:rPr lang="da-DK"/>
              <a:t> </a:t>
            </a:r>
            <a:r>
              <a:rPr lang="da-DK" err="1"/>
              <a:t>we</a:t>
            </a:r>
            <a:r>
              <a:rPr lang="da-DK"/>
              <a:t> have </a:t>
            </a:r>
            <a:r>
              <a:rPr lang="da-DK" err="1"/>
              <a:t>our</a:t>
            </a:r>
            <a:r>
              <a:rPr lang="da-DK"/>
              <a:t> file </a:t>
            </a:r>
            <a:r>
              <a:rPr lang="da-DK" err="1"/>
              <a:t>tree</a:t>
            </a:r>
            <a:r>
              <a:rPr lang="da-DK"/>
              <a:t> in </a:t>
            </a:r>
            <a:r>
              <a:rPr lang="da-DK" err="1"/>
              <a:t>order</a:t>
            </a:r>
            <a:r>
              <a:rPr lang="da-DK"/>
              <a:t> – </a:t>
            </a:r>
            <a:r>
              <a:rPr lang="da-DK" err="1"/>
              <a:t>let’s</a:t>
            </a:r>
            <a:r>
              <a:rPr lang="da-DK"/>
              <a:t> go </a:t>
            </a:r>
            <a:r>
              <a:rPr lang="da-DK" err="1"/>
              <a:t>through</a:t>
            </a:r>
            <a:r>
              <a:rPr lang="da-DK"/>
              <a:t> </a:t>
            </a:r>
            <a:r>
              <a:rPr lang="da-DK" err="1"/>
              <a:t>presentation</a:t>
            </a:r>
            <a:r>
              <a:rPr lang="da-DK"/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750538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6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Second slide intermezzo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8537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9374-B1BD-2D68-85FE-2387587E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1104">
            <a:extLst>
              <a:ext uri="{FF2B5EF4-FFF2-40B4-BE49-F238E27FC236}">
                <a16:creationId xmlns:a16="http://schemas.microsoft.com/office/drawing/2014/main" id="{9DEE142A-3565-7F46-F0B7-B6D6C83C4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5" name="Shape 1105">
            <a:extLst>
              <a:ext uri="{FF2B5EF4-FFF2-40B4-BE49-F238E27FC236}">
                <a16:creationId xmlns:a16="http://schemas.microsoft.com/office/drawing/2014/main" id="{B6F81F08-5E21-691E-89B9-E8C01D0172D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a-DK"/>
              <a:t>First slide intermezzo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4773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Shape 822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23" name="Shape 82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Second slide intermezzo</a:t>
            </a:r>
          </a:p>
          <a:p>
            <a:endParaRPr lang="da-DK"/>
          </a:p>
          <a:p>
            <a:r>
              <a:t>A double is a double-precision, 64-bit floating-point data type. It accommodates 15 to 16 digits, with a range of approximately 5.0 × 10−345 to 1.7 × 10308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First slide intermezzo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323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1104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5" name="Shape 11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dpyr functions are like lego. You can add them however you want (in theory).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6374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7691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Plots to </a:t>
            </a:r>
            <a:r>
              <a:rPr lang="da-DK" err="1"/>
              <a:t>visualize</a:t>
            </a:r>
            <a:r>
              <a:rPr lang="da-DK"/>
              <a:t> data</a:t>
            </a:r>
          </a:p>
          <a:p>
            <a:endParaRPr lang="da-DK"/>
          </a:p>
          <a:p>
            <a:r>
              <a:rPr lang="da-DK" err="1"/>
              <a:t>Additive</a:t>
            </a:r>
            <a:r>
              <a:rPr lang="da-DK"/>
              <a:t> </a:t>
            </a:r>
            <a:r>
              <a:rPr lang="da-DK" err="1"/>
              <a:t>structure</a:t>
            </a:r>
            <a:r>
              <a:rPr lang="da-DK"/>
              <a:t>: </a:t>
            </a:r>
            <a:r>
              <a:rPr lang="da-DK" err="1"/>
              <a:t>Build</a:t>
            </a:r>
            <a:r>
              <a:rPr lang="da-DK"/>
              <a:t> a plot </a:t>
            </a:r>
            <a:r>
              <a:rPr lang="da-DK" err="1"/>
              <a:t>layer</a:t>
            </a:r>
            <a:r>
              <a:rPr lang="da-DK"/>
              <a:t> by </a:t>
            </a:r>
            <a:r>
              <a:rPr lang="da-DK" err="1"/>
              <a:t>layer</a:t>
            </a:r>
            <a:r>
              <a:rPr lang="da-DK"/>
              <a:t> </a:t>
            </a:r>
            <a:r>
              <a:rPr lang="da-DK" err="1"/>
              <a:t>where</a:t>
            </a:r>
            <a:r>
              <a:rPr lang="da-DK"/>
              <a:t> </a:t>
            </a:r>
            <a:r>
              <a:rPr lang="da-DK" err="1"/>
              <a:t>each</a:t>
            </a:r>
            <a:r>
              <a:rPr lang="da-DK"/>
              <a:t> </a:t>
            </a:r>
            <a:r>
              <a:rPr lang="da-DK" err="1"/>
              <a:t>layer</a:t>
            </a:r>
            <a:r>
              <a:rPr lang="da-DK"/>
              <a:t> </a:t>
            </a:r>
            <a:r>
              <a:rPr lang="da-DK" err="1"/>
              <a:t>enhances</a:t>
            </a:r>
            <a:r>
              <a:rPr lang="da-DK"/>
              <a:t> the plot. This </a:t>
            </a:r>
            <a:r>
              <a:rPr lang="da-DK" err="1"/>
              <a:t>makes</a:t>
            </a:r>
            <a:r>
              <a:rPr lang="da-DK"/>
              <a:t> plots </a:t>
            </a:r>
            <a:r>
              <a:rPr lang="da-DK" err="1"/>
              <a:t>easily</a:t>
            </a:r>
            <a:r>
              <a:rPr lang="da-DK"/>
              <a:t> </a:t>
            </a:r>
            <a:r>
              <a:rPr lang="da-DK" err="1"/>
              <a:t>customizable</a:t>
            </a:r>
            <a:r>
              <a:rPr lang="da-DK"/>
              <a:t>. </a:t>
            </a:r>
          </a:p>
          <a:p>
            <a:endParaRPr lang="da-DK"/>
          </a:p>
          <a:p>
            <a:r>
              <a:rPr lang="da-DK" err="1"/>
              <a:t>Tidydata</a:t>
            </a:r>
            <a:r>
              <a:rPr lang="da-DK"/>
              <a:t>: One </a:t>
            </a:r>
            <a:r>
              <a:rPr lang="da-DK" err="1"/>
              <a:t>row</a:t>
            </a:r>
            <a:r>
              <a:rPr lang="da-DK"/>
              <a:t> per observation, </a:t>
            </a:r>
            <a:r>
              <a:rPr lang="da-DK" err="1"/>
              <a:t>one</a:t>
            </a:r>
            <a:r>
              <a:rPr lang="da-DK"/>
              <a:t> variable per feature. </a:t>
            </a:r>
          </a:p>
          <a:p>
            <a:endParaRPr lang="da-DK"/>
          </a:p>
          <a:p>
            <a:r>
              <a:rPr lang="da-DK" err="1"/>
              <a:t>ChatGPT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3862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3F44-D914-F478-2233-DB8BCCBD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FB2E3-B159-B57B-2592-AB28284D5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934F2-4F37-0760-6944-346CA8788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1E5ED-D170-FBF0-77B1-B992C45A7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E666B-80FC-FD45-8AEF-7BAAE77D83D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7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5F4B-222E-C044-E421-0BE4CC14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D6DE4-BF24-D8FF-C772-2A92C6286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722C6-92E7-D3C4-CAE9-44A679EF8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419A5-EF33-CA95-26D7-D709CCF68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E666B-80FC-FD45-8AEF-7BAAE77D83D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05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1367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223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524F-CFAA-970D-63D9-637C19D2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9A84165-B4D7-9301-1EEA-22D9481E6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21486DA-73A9-C1DF-542D-4FC4543B6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23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675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46912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485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92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28DA-942F-26CD-0154-8ED25907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8E201-9EC6-9DFD-19AB-7A2E07D8F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E1AE2-3C58-A2C8-9E23-58E4B9E7F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63B8-3AF5-9494-78D6-7E6F8298C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633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Always</a:t>
            </a:r>
            <a:r>
              <a:rPr lang="da-DK"/>
              <a:t> </a:t>
            </a:r>
            <a:r>
              <a:rPr lang="da-DK" err="1"/>
              <a:t>free</a:t>
            </a:r>
            <a:r>
              <a:rPr lang="da-DK"/>
              <a:t> to book a meeting with </a:t>
            </a:r>
            <a:r>
              <a:rPr lang="da-DK" err="1"/>
              <a:t>us</a:t>
            </a:r>
            <a:r>
              <a:rPr lang="da-DK"/>
              <a:t> to </a:t>
            </a:r>
            <a:r>
              <a:rPr lang="da-DK" err="1"/>
              <a:t>dicuss</a:t>
            </a:r>
            <a:r>
              <a:rPr lang="da-DK"/>
              <a:t> </a:t>
            </a:r>
            <a:r>
              <a:rPr lang="da-DK" err="1"/>
              <a:t>your</a:t>
            </a:r>
            <a:r>
              <a:rPr lang="da-DK"/>
              <a:t> </a:t>
            </a:r>
            <a:r>
              <a:rPr lang="da-DK" err="1"/>
              <a:t>project</a:t>
            </a:r>
            <a:r>
              <a:rPr lang="da-DK"/>
              <a:t> and </a:t>
            </a:r>
            <a:r>
              <a:rPr lang="da-DK" err="1"/>
              <a:t>how</a:t>
            </a:r>
            <a:r>
              <a:rPr lang="da-DK"/>
              <a:t> </a:t>
            </a:r>
            <a:r>
              <a:rPr lang="da-DK" err="1"/>
              <a:t>we</a:t>
            </a:r>
            <a:r>
              <a:rPr lang="da-DK"/>
              <a:t> </a:t>
            </a:r>
            <a:r>
              <a:rPr lang="da-DK" err="1"/>
              <a:t>can</a:t>
            </a:r>
            <a:r>
              <a:rPr lang="da-DK"/>
              <a:t> </a:t>
            </a:r>
            <a:r>
              <a:rPr lang="da-DK" err="1"/>
              <a:t>help</a:t>
            </a:r>
            <a:r>
              <a:rPr lang="da-DK"/>
              <a:t>. </a:t>
            </a:r>
          </a:p>
          <a:p>
            <a:r>
              <a:rPr lang="da-DK" err="1"/>
              <a:t>Decide</a:t>
            </a:r>
            <a:r>
              <a:rPr lang="da-DK"/>
              <a:t> on a </a:t>
            </a:r>
            <a:r>
              <a:rPr lang="da-DK" err="1"/>
              <a:t>working</a:t>
            </a:r>
            <a:r>
              <a:rPr lang="da-DK"/>
              <a:t> model </a:t>
            </a:r>
            <a:r>
              <a:rPr lang="da-DK" err="1"/>
              <a:t>that</a:t>
            </a:r>
            <a:r>
              <a:rPr lang="da-DK"/>
              <a:t> </a:t>
            </a:r>
            <a:r>
              <a:rPr lang="da-DK" err="1"/>
              <a:t>works</a:t>
            </a:r>
            <a:r>
              <a:rPr lang="da-DK"/>
              <a:t> for the </a:t>
            </a:r>
            <a:r>
              <a:rPr lang="da-DK" err="1"/>
              <a:t>project</a:t>
            </a:r>
            <a:r>
              <a:rPr lang="da-DK"/>
              <a:t>. </a:t>
            </a:r>
          </a:p>
          <a:p>
            <a:endParaRPr lang="da-DK"/>
          </a:p>
          <a:p>
            <a:r>
              <a:rPr lang="da-DK" err="1"/>
              <a:t>PhD</a:t>
            </a:r>
            <a:r>
              <a:rPr lang="da-DK"/>
              <a:t> students </a:t>
            </a:r>
            <a:r>
              <a:rPr lang="da-DK" err="1"/>
              <a:t>gets</a:t>
            </a:r>
            <a:r>
              <a:rPr lang="da-DK"/>
              <a:t> 10 </a:t>
            </a:r>
            <a:r>
              <a:rPr lang="da-DK" err="1"/>
              <a:t>hrs</a:t>
            </a:r>
            <a:r>
              <a:rPr lang="da-DK"/>
              <a:t> of supervision for </a:t>
            </a:r>
            <a:r>
              <a:rPr lang="da-DK" err="1"/>
              <a:t>free</a:t>
            </a:r>
            <a:r>
              <a:rPr lang="da-DK"/>
              <a:t>. 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620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mage"/>
          <p:cNvSpPr>
            <a:spLocks noGrp="1"/>
          </p:cNvSpPr>
          <p:nvPr>
            <p:ph type="pic" idx="21"/>
          </p:nvPr>
        </p:nvSpPr>
        <p:spPr>
          <a:xfrm>
            <a:off x="-311148" y="-287382"/>
            <a:ext cx="24999949" cy="1429076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mage"/>
          <p:cNvSpPr>
            <a:spLocks noGrp="1"/>
          </p:cNvSpPr>
          <p:nvPr>
            <p:ph type="pic" sz="half" idx="21"/>
          </p:nvPr>
        </p:nvSpPr>
        <p:spPr>
          <a:xfrm>
            <a:off x="0" y="0"/>
            <a:ext cx="11814048" cy="84209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Image"/>
          <p:cNvSpPr>
            <a:spLocks noGrp="1"/>
          </p:cNvSpPr>
          <p:nvPr>
            <p:ph type="pic" sz="half" idx="21"/>
          </p:nvPr>
        </p:nvSpPr>
        <p:spPr>
          <a:xfrm>
            <a:off x="10751074" y="1624271"/>
            <a:ext cx="12058978" cy="106264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mage"/>
          <p:cNvSpPr>
            <a:spLocks noGrp="1"/>
          </p:cNvSpPr>
          <p:nvPr>
            <p:ph type="pic" sz="quarter" idx="21"/>
          </p:nvPr>
        </p:nvSpPr>
        <p:spPr>
          <a:xfrm>
            <a:off x="1985405" y="1624273"/>
            <a:ext cx="10177925" cy="52337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Image"/>
          <p:cNvSpPr>
            <a:spLocks noGrp="1"/>
          </p:cNvSpPr>
          <p:nvPr>
            <p:ph type="pic" sz="quarter" idx="22"/>
          </p:nvPr>
        </p:nvSpPr>
        <p:spPr>
          <a:xfrm>
            <a:off x="12214320" y="6857997"/>
            <a:ext cx="10177925" cy="5557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Image"/>
          <p:cNvSpPr>
            <a:spLocks noGrp="1"/>
          </p:cNvSpPr>
          <p:nvPr>
            <p:ph type="pic" sz="half" idx="21"/>
          </p:nvPr>
        </p:nvSpPr>
        <p:spPr>
          <a:xfrm>
            <a:off x="7180880" y="1624274"/>
            <a:ext cx="8473649" cy="104742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6413" y="2244726"/>
            <a:ext cx="18278475" cy="4775200"/>
          </a:xfrm>
        </p:spPr>
        <p:txBody>
          <a:bodyPr anchor="b"/>
          <a:lstStyle>
            <a:lvl1pPr algn="ctr">
              <a:defRPr sz="11994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6413" y="7204076"/>
            <a:ext cx="18278475" cy="3311524"/>
          </a:xfrm>
        </p:spPr>
        <p:txBody>
          <a:bodyPr/>
          <a:lstStyle>
            <a:lvl1pPr marL="0" indent="0" algn="ctr">
              <a:buNone/>
              <a:defRPr sz="4798"/>
            </a:lvl1pPr>
            <a:lvl2pPr marL="913943" indent="0" algn="ctr">
              <a:buNone/>
              <a:defRPr sz="3998"/>
            </a:lvl2pPr>
            <a:lvl3pPr marL="1827886" indent="0" algn="ctr">
              <a:buNone/>
              <a:defRPr sz="3598"/>
            </a:lvl3pPr>
            <a:lvl4pPr marL="2741828" indent="0" algn="ctr">
              <a:buNone/>
              <a:defRPr sz="3198"/>
            </a:lvl4pPr>
            <a:lvl5pPr marL="3655771" indent="0" algn="ctr">
              <a:buNone/>
              <a:defRPr sz="3198"/>
            </a:lvl5pPr>
            <a:lvl6pPr marL="4569714" indent="0" algn="ctr">
              <a:buNone/>
              <a:defRPr sz="3198"/>
            </a:lvl6pPr>
            <a:lvl7pPr marL="5483657" indent="0" algn="ctr">
              <a:buNone/>
              <a:defRPr sz="3198"/>
            </a:lvl7pPr>
            <a:lvl8pPr marL="6397600" indent="0" algn="ctr">
              <a:buNone/>
              <a:defRPr sz="3198"/>
            </a:lvl8pPr>
            <a:lvl9pPr marL="7311542" indent="0" algn="ctr">
              <a:buNone/>
              <a:defRPr sz="3198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EB8E-B2DE-C542-8F78-FED744557704}" type="datetimeFigureOut">
              <a:rPr lang="en-DK" smtClean="0"/>
              <a:t>9/28/26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79461" y="12121262"/>
            <a:ext cx="5686638" cy="446276"/>
          </a:xfrm>
        </p:spPr>
        <p:txBody>
          <a:bodyPr/>
          <a:lstStyle/>
          <a:p>
            <a:fld id="{DAA861A7-DAA0-CB4D-93E2-FAF4205865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131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713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71300" cy="13716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9595"/>
          </a:p>
        </p:txBody>
      </p:sp>
    </p:spTree>
    <p:extLst>
      <p:ext uri="{BB962C8B-B14F-4D97-AF65-F5344CB8AC3E}">
        <p14:creationId xmlns:p14="http://schemas.microsoft.com/office/powerpoint/2010/main" val="126873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218564" y="184149"/>
            <a:ext cx="21934171" cy="301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18564" y="3200400"/>
            <a:ext cx="21934171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9461" y="12153113"/>
            <a:ext cx="5686638" cy="38257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2300">
                <a:solidFill>
                  <a:srgbClr val="B9B9B9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hf sldNum="0" hdr="0" ftr="0" dt="0"/>
  <p:txStyles>
    <p:titleStyle>
      <a:lvl1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1828343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999999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0" marR="0" indent="0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914171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828342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2742514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3656684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4570857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5485028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6399199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7313370" algn="l" defTabSz="1828343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999999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828433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12" Type="http://schemas.openxmlformats.org/officeDocument/2006/relationships/hyperlink" Target="https://datalab.science.ku.dk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hyperlink" Target="https://www.linkedin.com/company/ucph-heads/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heads.ku.dk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enter-for-health-data-science.github.io/FromExceltoR/" TargetMode="External"/><Relationship Id="rId5" Type="http://schemas.openxmlformats.org/officeDocument/2006/relationships/hyperlink" Target="https://posit.co/download/rstudio-desktop/" TargetMode="External"/><Relationship Id="rId4" Type="http://schemas.openxmlformats.org/officeDocument/2006/relationships/hyperlink" Target="https://cran.r-project.org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revolutionanalytics.com/" TargetMode="External"/><Relationship Id="rId13" Type="http://schemas.openxmlformats.org/officeDocument/2006/relationships/hyperlink" Target="https://www.datacamp.com/" TargetMode="External"/><Relationship Id="rId3" Type="http://schemas.openxmlformats.org/officeDocument/2006/relationships/hyperlink" Target="https://rseek.org/" TargetMode="External"/><Relationship Id="rId7" Type="http://schemas.openxmlformats.org/officeDocument/2006/relationships/hyperlink" Target="https://github.com/trending/r" TargetMode="External"/><Relationship Id="rId12" Type="http://schemas.openxmlformats.org/officeDocument/2006/relationships/hyperlink" Target="https://www.r-bloggers.com/best-books-to-learn-r-programming/" TargetMode="External"/><Relationship Id="rId2" Type="http://schemas.openxmlformats.org/officeDocument/2006/relationships/notesSlide" Target="../notesSlides/notesSlide12.xml"/><Relationship Id="rId16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tatmethods.net/r-tutorial/index.html" TargetMode="External"/><Relationship Id="rId11" Type="http://schemas.openxmlformats.org/officeDocument/2006/relationships/hyperlink" Target="http://r-statistics.co/Top50-Ggplot2-Visualizations-MasterList-R-Code.html" TargetMode="External"/><Relationship Id="rId5" Type="http://schemas.openxmlformats.org/officeDocument/2006/relationships/hyperlink" Target="http://www.cookbook-r.com/" TargetMode="External"/><Relationship Id="rId15" Type="http://schemas.openxmlformats.org/officeDocument/2006/relationships/hyperlink" Target="https://www.coursera.org/" TargetMode="External"/><Relationship Id="rId10" Type="http://schemas.openxmlformats.org/officeDocument/2006/relationships/hyperlink" Target="https://www.r-graph-gallery.com/" TargetMode="External"/><Relationship Id="rId4" Type="http://schemas.openxmlformats.org/officeDocument/2006/relationships/hyperlink" Target="https://rstudio.com/resources/cheatsheets/" TargetMode="External"/><Relationship Id="rId9" Type="http://schemas.openxmlformats.org/officeDocument/2006/relationships/hyperlink" Target="https://stackoverflow.com/questions/tagged/r" TargetMode="External"/><Relationship Id="rId14" Type="http://schemas.openxmlformats.org/officeDocument/2006/relationships/hyperlink" Target="https://www.codecademy.co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2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rianward1428.medium.com/introduction-to-tidyverse-7b3dbf2337d5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://www.sthda.com/english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sthda.com/english/" TargetMode="Externa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sv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ublichealth.ku.dk/about-the-department/biostat/" TargetMode="Externa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13" Type="http://schemas.openxmlformats.org/officeDocument/2006/relationships/hyperlink" Target="https://cran.r-project.org/web/packages/survminer/survminer.pdf" TargetMode="External"/><Relationship Id="rId18" Type="http://schemas.openxmlformats.org/officeDocument/2006/relationships/hyperlink" Target="https://cran.r-project.org/web/packages/incidence/vignettes/customize_plot.html" TargetMode="External"/><Relationship Id="rId3" Type="http://schemas.openxmlformats.org/officeDocument/2006/relationships/hyperlink" Target="https://cran.r-project.org/web/packages/lme4/vignettes/lmer.pdf" TargetMode="External"/><Relationship Id="rId7" Type="http://schemas.openxmlformats.org/officeDocument/2006/relationships/image" Target="../media/image64.png"/><Relationship Id="rId12" Type="http://schemas.openxmlformats.org/officeDocument/2006/relationships/hyperlink" Target="https://rviews.rstudio.com/2017/09/25/survival-analysis-with-r/" TargetMode="External"/><Relationship Id="rId17" Type="http://schemas.openxmlformats.org/officeDocument/2006/relationships/hyperlink" Target="https://rviews.rstudio.com/2020/03/05/covid-19-epidemiology-with-r/" TargetMode="External"/><Relationship Id="rId2" Type="http://schemas.openxmlformats.org/officeDocument/2006/relationships/notesSlide" Target="../notesSlides/notesSlide28.xml"/><Relationship Id="rId16" Type="http://schemas.openxmlformats.org/officeDocument/2006/relationships/hyperlink" Target="https://cran.r-project.org/web/packages/Epi/index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11" Type="http://schemas.openxmlformats.org/officeDocument/2006/relationships/hyperlink" Target="https://www.datacamp.com/community/tutorials/tutorial-ridge-lasso-elastic-net" TargetMode="External"/><Relationship Id="rId5" Type="http://schemas.openxmlformats.org/officeDocument/2006/relationships/hyperlink" Target="https://cran.r-project.org/web/packages/glmmTMB/index.html" TargetMode="External"/><Relationship Id="rId15" Type="http://schemas.openxmlformats.org/officeDocument/2006/relationships/image" Target="../media/image66.gif"/><Relationship Id="rId10" Type="http://schemas.openxmlformats.org/officeDocument/2006/relationships/hyperlink" Target="https://cran.r-project.org/web/packages/elasticnet/elasticnet.pdf" TargetMode="External"/><Relationship Id="rId4" Type="http://schemas.openxmlformats.org/officeDocument/2006/relationships/hyperlink" Target="https://cran.microsoft.com/snapshot/2017-08-01/web/packages/sjPlot/vignettes/sjplmer.html" TargetMode="External"/><Relationship Id="rId9" Type="http://schemas.openxmlformats.org/officeDocument/2006/relationships/hyperlink" Target="https://cran.r-project.org/web/packages/glmnet/glmnet.pdf" TargetMode="External"/><Relationship Id="rId14" Type="http://schemas.openxmlformats.org/officeDocument/2006/relationships/hyperlink" Target="https://rpkgs.datanovia.com/survminer/" TargetMode="Externa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tensorflow.rstudio.com/" TargetMode="External"/><Relationship Id="rId13" Type="http://schemas.openxmlformats.org/officeDocument/2006/relationships/image" Target="../media/image70.tif"/><Relationship Id="rId18" Type="http://schemas.openxmlformats.org/officeDocument/2006/relationships/image" Target="../media/image75.tif"/><Relationship Id="rId3" Type="http://schemas.openxmlformats.org/officeDocument/2006/relationships/hyperlink" Target="https://bioconductor.org/packages/release/bioc/vignettes/PCAtools/inst/doc/PCAtools.html" TargetMode="External"/><Relationship Id="rId7" Type="http://schemas.openxmlformats.org/officeDocument/2006/relationships/hyperlink" Target="https://keras.rstudio.com/" TargetMode="External"/><Relationship Id="rId12" Type="http://schemas.openxmlformats.org/officeDocument/2006/relationships/image" Target="../media/image69.tif"/><Relationship Id="rId17" Type="http://schemas.openxmlformats.org/officeDocument/2006/relationships/image" Target="../media/image74.tif"/><Relationship Id="rId2" Type="http://schemas.openxmlformats.org/officeDocument/2006/relationships/hyperlink" Target="https://statsandr.com/blog/clustering-analysis-k-means-and-hierarchical-clustering-by-hand-and-in-r/" TargetMode="External"/><Relationship Id="rId16" Type="http://schemas.openxmlformats.org/officeDocument/2006/relationships/image" Target="../media/image73.tif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e1071/vignettes/svmdoc.pdf" TargetMode="External"/><Relationship Id="rId11" Type="http://schemas.openxmlformats.org/officeDocument/2006/relationships/image" Target="../media/image68.tif"/><Relationship Id="rId5" Type="http://schemas.openxmlformats.org/officeDocument/2006/relationships/hyperlink" Target="https://plotly-r.com/d-charts.html" TargetMode="External"/><Relationship Id="rId15" Type="http://schemas.openxmlformats.org/officeDocument/2006/relationships/image" Target="../media/image72.tif"/><Relationship Id="rId10" Type="http://schemas.openxmlformats.org/officeDocument/2006/relationships/hyperlink" Target="https://lgatto.github.io/IntroMachineLearningWithR/an-introduction-to-machine-learning-with-r.html" TargetMode="External"/><Relationship Id="rId19" Type="http://schemas.openxmlformats.org/officeDocument/2006/relationships/image" Target="../media/image76.png"/><Relationship Id="rId4" Type="http://schemas.openxmlformats.org/officeDocument/2006/relationships/hyperlink" Target="https://amices.org/mice/" TargetMode="External"/><Relationship Id="rId9" Type="http://schemas.openxmlformats.org/officeDocument/2006/relationships/image" Target="../media/image67.png"/><Relationship Id="rId14" Type="http://schemas.openxmlformats.org/officeDocument/2006/relationships/image" Target="../media/image71.ti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hyperlink" Target="https://www.uni-regensburg.de/medizin/epidemiologie-praeventivmedizin/genetische-epidemiologie/software/" TargetMode="External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hyperlink" Target="http://www.bioconductor.org/packages/release/BiocViews.html" TargetMode="External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e1071/vignettes/svmdoc.pdf" TargetMode="External"/><Relationship Id="rId11" Type="http://schemas.openxmlformats.org/officeDocument/2006/relationships/image" Target="../media/image82.png"/><Relationship Id="rId5" Type="http://schemas.openxmlformats.org/officeDocument/2006/relationships/hyperlink" Target="http://www.bioconductor.org/packages/release/BiocViews.html#___RNASeq" TargetMode="External"/><Relationship Id="rId15" Type="http://schemas.openxmlformats.org/officeDocument/2006/relationships/hyperlink" Target="https://www.bioconductor.org/packages/release/BiocViews.html#___Proteomics" TargetMode="External"/><Relationship Id="rId10" Type="http://schemas.openxmlformats.org/officeDocument/2006/relationships/image" Target="../media/image81.png"/><Relationship Id="rId4" Type="http://schemas.openxmlformats.org/officeDocument/2006/relationships/hyperlink" Target="https://cran.r-project.org/web/packages/qqman/vignettes/qqman.htm" TargetMode="External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riandconnelly/pushoverr" TargetMode="External"/><Relationship Id="rId13" Type="http://schemas.openxmlformats.org/officeDocument/2006/relationships/hyperlink" Target="https://plotly-r.com/d-charts.html" TargetMode="External"/><Relationship Id="rId18" Type="http://schemas.openxmlformats.org/officeDocument/2006/relationships/image" Target="../media/image67.png"/><Relationship Id="rId3" Type="http://schemas.openxmlformats.org/officeDocument/2006/relationships/image" Target="../media/image77.png"/><Relationship Id="rId7" Type="http://schemas.openxmlformats.org/officeDocument/2006/relationships/image" Target="../media/image90.png"/><Relationship Id="rId12" Type="http://schemas.openxmlformats.org/officeDocument/2006/relationships/hyperlink" Target="https://tensorflow.rstudio.com/" TargetMode="External"/><Relationship Id="rId17" Type="http://schemas.openxmlformats.org/officeDocument/2006/relationships/hyperlink" Target="https://shiny.rstudio.com/" TargetMode="External"/><Relationship Id="rId2" Type="http://schemas.openxmlformats.org/officeDocument/2006/relationships/image" Target="../media/image76.png"/><Relationship Id="rId16" Type="http://schemas.openxmlformats.org/officeDocument/2006/relationships/hyperlink" Target="https://gganimate.com/articles/gganimat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jpeg"/><Relationship Id="rId11" Type="http://schemas.openxmlformats.org/officeDocument/2006/relationships/hyperlink" Target="https://keras.rstudio.com/" TargetMode="External"/><Relationship Id="rId5" Type="http://schemas.openxmlformats.org/officeDocument/2006/relationships/image" Target="../media/image88.png"/><Relationship Id="rId15" Type="http://schemas.openxmlformats.org/officeDocument/2006/relationships/image" Target="../media/image93.gif"/><Relationship Id="rId10" Type="http://schemas.openxmlformats.org/officeDocument/2006/relationships/hyperlink" Target="https://mc-stan.org/users/interfaces/rstan" TargetMode="External"/><Relationship Id="rId4" Type="http://schemas.openxmlformats.org/officeDocument/2006/relationships/image" Target="../media/image87.jpeg"/><Relationship Id="rId9" Type="http://schemas.openxmlformats.org/officeDocument/2006/relationships/image" Target="../media/image91.png"/><Relationship Id="rId14" Type="http://schemas.openxmlformats.org/officeDocument/2006/relationships/image" Target="../media/image9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7.svg"/><Relationship Id="rId5" Type="http://schemas.openxmlformats.org/officeDocument/2006/relationships/image" Target="../media/image96.svg"/><Relationship Id="rId4" Type="http://schemas.openxmlformats.org/officeDocument/2006/relationships/image" Target="../media/image9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heads.ku.dk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hyperlink" Target="https://www.linkedin.com/company/ucph-heads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01_Maersk_Tower_PANFO121_photo_by_Adam_Moerk.jpg" descr="01_Maersk_Tower_PANFO121_photo_by_Adam_Moe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074" y="-149788"/>
            <a:ext cx="12989628" cy="14080942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Rectangle"/>
          <p:cNvSpPr/>
          <p:nvPr/>
        </p:nvSpPr>
        <p:spPr>
          <a:xfrm>
            <a:off x="-635023" y="-149788"/>
            <a:ext cx="14232629" cy="14080942"/>
          </a:xfrm>
          <a:prstGeom prst="rect">
            <a:avLst/>
          </a:prstGeom>
          <a:gradFill>
            <a:gsLst>
              <a:gs pos="0">
                <a:srgbClr val="89C2EA"/>
              </a:gs>
              <a:gs pos="100000">
                <a:srgbClr val="293441"/>
              </a:gs>
            </a:gsLst>
            <a:lin ang="10442512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87" name="Group"/>
          <p:cNvGrpSpPr/>
          <p:nvPr/>
        </p:nvGrpSpPr>
        <p:grpSpPr>
          <a:xfrm>
            <a:off x="986199" y="6016607"/>
            <a:ext cx="11976933" cy="3478582"/>
            <a:chOff x="0" y="0"/>
            <a:chExt cx="11976932" cy="3478581"/>
          </a:xfrm>
        </p:grpSpPr>
        <p:sp>
          <p:nvSpPr>
            <p:cNvPr id="81" name="Group"/>
            <p:cNvSpPr txBox="1"/>
            <p:nvPr/>
          </p:nvSpPr>
          <p:spPr>
            <a:xfrm>
              <a:off x="0" y="0"/>
              <a:ext cx="11976932" cy="34785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8000"/>
                <a:t>FROM</a:t>
              </a:r>
              <a:r>
                <a:t>      </a:t>
              </a:r>
              <a:r>
                <a:rPr sz="8000"/>
                <a:t>EXCEL TO</a:t>
              </a:r>
            </a:p>
          </p:txBody>
        </p:sp>
        <p:pic>
          <p:nvPicPr>
            <p:cNvPr id="82" name="excel-3-xxl.png" descr="excel-3-xxl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3500136" y="166921"/>
              <a:ext cx="1085117" cy="10851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86" name="Group"/>
            <p:cNvGrpSpPr/>
            <p:nvPr/>
          </p:nvGrpSpPr>
          <p:grpSpPr>
            <a:xfrm>
              <a:off x="10217813" y="71206"/>
              <a:ext cx="1218210" cy="1238748"/>
              <a:chOff x="0" y="-12700"/>
              <a:chExt cx="1218208" cy="1238747"/>
            </a:xfrm>
          </p:grpSpPr>
          <p:sp>
            <p:nvSpPr>
              <p:cNvPr id="83" name="Oval"/>
              <p:cNvSpPr/>
              <p:nvPr/>
            </p:nvSpPr>
            <p:spPr>
              <a:xfrm>
                <a:off x="0" y="25039"/>
                <a:ext cx="1218208" cy="1201008"/>
              </a:xfrm>
              <a:prstGeom prst="ellipse">
                <a:avLst/>
              </a:prstGeom>
              <a:solidFill>
                <a:srgbClr val="D6D6D6"/>
              </a:solidFill>
              <a:ln w="12700" cap="flat">
                <a:noFill/>
                <a:miter lim="400000"/>
              </a:ln>
              <a:effectLst>
                <a:outerShdw blurRad="101600" dist="76200" dir="5400000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4" name="Oval"/>
              <p:cNvSpPr/>
              <p:nvPr/>
            </p:nvSpPr>
            <p:spPr>
              <a:xfrm>
                <a:off x="269220" y="59907"/>
                <a:ext cx="679766" cy="400300"/>
              </a:xfrm>
              <a:prstGeom prst="ellipse">
                <a:avLst/>
              </a:prstGeom>
              <a:solidFill>
                <a:srgbClr val="FFFFFF">
                  <a:alpha val="26000"/>
                </a:srgbClr>
              </a:solidFill>
              <a:ln w="12700" cap="flat">
                <a:noFill/>
                <a:miter lim="400000"/>
              </a:ln>
              <a:effectLst>
                <a:reflection stA="50000" endPos="40000" dir="5400000" sy="-100000" algn="bl" rotWithShape="0"/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85" name="R"/>
              <p:cNvSpPr txBox="1"/>
              <p:nvPr/>
            </p:nvSpPr>
            <p:spPr>
              <a:xfrm>
                <a:off x="282053" y="-12700"/>
                <a:ext cx="787336" cy="1194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7800">
                    <a:solidFill>
                      <a:srgbClr val="4578A4"/>
                    </a:solidFill>
                    <a:latin typeface="Source Sans Pro Regular"/>
                    <a:ea typeface="Source Sans Pro Regular"/>
                    <a:cs typeface="Source Sans Pro Regular"/>
                    <a:sym typeface="Source Sans Pro Regular"/>
                  </a:defRPr>
                </a:lvl1pPr>
              </a:lstStyle>
              <a:p>
                <a:r>
                  <a:t>R</a:t>
                </a:r>
              </a:p>
            </p:txBody>
          </p:sp>
        </p:grpSp>
      </p:grpSp>
      <p:sp>
        <p:nvSpPr>
          <p:cNvPr id="88" name="Rectangle"/>
          <p:cNvSpPr/>
          <p:nvPr/>
        </p:nvSpPr>
        <p:spPr>
          <a:xfrm flipH="1">
            <a:off x="12555455" y="-149788"/>
            <a:ext cx="13057246" cy="14080942"/>
          </a:xfrm>
          <a:prstGeom prst="rect">
            <a:avLst/>
          </a:prstGeom>
          <a:gradFill>
            <a:gsLst>
              <a:gs pos="0">
                <a:srgbClr val="82BAE0">
                  <a:alpha val="40250"/>
                </a:srgbClr>
              </a:gs>
              <a:gs pos="100000">
                <a:srgbClr val="293441">
                  <a:alpha val="40250"/>
                </a:srgbClr>
              </a:gs>
            </a:gsLst>
            <a:lin ang="10442512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bioinformatics_illustration_web.jpg" descr="bioinformatics_illustration_web.jpg"/>
          <p:cNvPicPr>
            <a:picLocks noChangeAspect="1"/>
          </p:cNvPicPr>
          <p:nvPr/>
        </p:nvPicPr>
        <p:blipFill>
          <a:blip r:embed="rId3">
            <a:alphaModFix amt="50140"/>
          </a:blip>
          <a:srcRect t="105" r="2318" b="954"/>
          <a:stretch>
            <a:fillRect/>
          </a:stretch>
        </p:blipFill>
        <p:spPr>
          <a:xfrm rot="16200000">
            <a:off x="15022451" y="4320575"/>
            <a:ext cx="13715999" cy="5074848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Rectangle"/>
          <p:cNvSpPr/>
          <p:nvPr/>
        </p:nvSpPr>
        <p:spPr>
          <a:xfrm flipH="1">
            <a:off x="-7374" y="-8615"/>
            <a:ext cx="20048037" cy="13737775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" name="Rectangle"/>
          <p:cNvSpPr/>
          <p:nvPr/>
        </p:nvSpPr>
        <p:spPr>
          <a:xfrm>
            <a:off x="-7374" y="7491095"/>
            <a:ext cx="11886683" cy="42931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AA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96" name="Group"/>
          <p:cNvGrpSpPr/>
          <p:nvPr/>
        </p:nvGrpSpPr>
        <p:grpSpPr>
          <a:xfrm>
            <a:off x="1940441" y="1410051"/>
            <a:ext cx="8053632" cy="2992218"/>
            <a:chOff x="0" y="21905"/>
            <a:chExt cx="8053631" cy="2992215"/>
          </a:xfrm>
        </p:grpSpPr>
        <p:sp>
          <p:nvSpPr>
            <p:cNvPr id="93" name="WHO ARE WE?"/>
            <p:cNvSpPr txBox="1"/>
            <p:nvPr/>
          </p:nvSpPr>
          <p:spPr>
            <a:xfrm>
              <a:off x="0" y="675022"/>
              <a:ext cx="8053631" cy="2339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WHO ARE WE?</a:t>
              </a:r>
            </a:p>
          </p:txBody>
        </p:sp>
        <p:sp>
          <p:nvSpPr>
            <p:cNvPr id="94" name="KU DATA SCIENCE LABS"/>
            <p:cNvSpPr txBox="1"/>
            <p:nvPr/>
          </p:nvSpPr>
          <p:spPr>
            <a:xfrm>
              <a:off x="1806287" y="21905"/>
              <a:ext cx="5494383" cy="574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/>
                <a:t>SUND</a:t>
              </a:r>
              <a:r>
                <a:t> DATA </a:t>
              </a:r>
              <a:r>
                <a:rPr lang="en-US"/>
                <a:t>LAB</a:t>
              </a:r>
              <a:endParaRPr/>
            </a:p>
          </p:txBody>
        </p:sp>
        <p:sp>
          <p:nvSpPr>
            <p:cNvPr id="95" name="Line"/>
            <p:cNvSpPr/>
            <p:nvPr/>
          </p:nvSpPr>
          <p:spPr>
            <a:xfrm>
              <a:off x="94663" y="185306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99" name="1. Center for Health Data Science (HeaDS) - https://heads.ku.dk/…"/>
          <p:cNvSpPr txBox="1"/>
          <p:nvPr/>
        </p:nvSpPr>
        <p:spPr>
          <a:xfrm>
            <a:off x="1940440" y="3787331"/>
            <a:ext cx="11453423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bg1"/>
                </a:solidFill>
              </a:rPr>
              <a:t>Center for Health Data Science (</a:t>
            </a:r>
            <a:r>
              <a:rPr sz="3200" b="1" err="1">
                <a:solidFill>
                  <a:schemeClr val="bg1"/>
                </a:solidFill>
              </a:rPr>
              <a:t>HeaDS</a:t>
            </a:r>
            <a:r>
              <a:rPr sz="3200">
                <a:solidFill>
                  <a:schemeClr val="bg1"/>
                </a:solidFill>
              </a:rPr>
              <a:t>)</a:t>
            </a:r>
            <a:r>
              <a:rPr lang="en-US" sz="3200">
                <a:solidFill>
                  <a:schemeClr val="bg1"/>
                </a:solidFill>
              </a:rPr>
              <a:t>: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102" name="Adrija Kalvisa 2"/>
          <p:cNvSpPr txBox="1"/>
          <p:nvPr/>
        </p:nvSpPr>
        <p:spPr>
          <a:xfrm>
            <a:off x="13143240" y="6859476"/>
            <a:ext cx="1397819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solidFill>
                  <a:srgbClr val="EBEBEB"/>
                </a:solidFill>
              </a:defRPr>
            </a:pPr>
            <a:r>
              <a:rPr lang="en-US" sz="3200"/>
              <a:t>Chelsea</a:t>
            </a:r>
            <a:endParaRPr sz="3200">
              <a:solidFill>
                <a:srgbClr val="000000"/>
              </a:solidFill>
            </a:endParaRPr>
          </a:p>
        </p:txBody>
      </p:sp>
      <p:pic>
        <p:nvPicPr>
          <p:cNvPr id="5" name="Picture 4" descr="A person smiling at camera&#10;&#10;Description automatically generated">
            <a:extLst>
              <a:ext uri="{FF2B5EF4-FFF2-40B4-BE49-F238E27FC236}">
                <a16:creationId xmlns:a16="http://schemas.microsoft.com/office/drawing/2014/main" id="{C6FED71E-DA9B-153A-1C08-E45C5B89C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166" r="31085" b="22575"/>
          <a:stretch/>
        </p:blipFill>
        <p:spPr>
          <a:xfrm>
            <a:off x="12118403" y="3290318"/>
            <a:ext cx="3275595" cy="3268468"/>
          </a:xfrm>
          <a:prstGeom prst="ellipse">
            <a:avLst/>
          </a:prstGeom>
        </p:spPr>
      </p:pic>
      <p:pic>
        <p:nvPicPr>
          <p:cNvPr id="3" name="Andrejeva_1100x600_Site_crop.png" descr="Andrejeva_1100x600_Site_crop.png">
            <a:extLst>
              <a:ext uri="{FF2B5EF4-FFF2-40B4-BE49-F238E27FC236}">
                <a16:creationId xmlns:a16="http://schemas.microsoft.com/office/drawing/2014/main" id="{B6CE5E4E-BB65-3912-A906-CBE1E32ABA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28" t="2185" r="12134" b="948"/>
          <a:stretch>
            <a:fillRect/>
          </a:stretch>
        </p:blipFill>
        <p:spPr>
          <a:xfrm>
            <a:off x="16122760" y="3303437"/>
            <a:ext cx="3275595" cy="32751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4"/>
                  <a:pt x="2881" y="3015"/>
                </a:cubicBezTo>
                <a:cubicBezTo>
                  <a:pt x="-961" y="7036"/>
                  <a:pt x="-961" y="13558"/>
                  <a:pt x="2881" y="17579"/>
                </a:cubicBezTo>
                <a:cubicBezTo>
                  <a:pt x="6723" y="21600"/>
                  <a:pt x="12955" y="21600"/>
                  <a:pt x="16797" y="17579"/>
                </a:cubicBezTo>
                <a:cubicBezTo>
                  <a:pt x="20639" y="13558"/>
                  <a:pt x="20639" y="7036"/>
                  <a:pt x="16797" y="3015"/>
                </a:cubicBezTo>
                <a:cubicBezTo>
                  <a:pt x="14876" y="1004"/>
                  <a:pt x="12357" y="0"/>
                  <a:pt x="9839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8" name="Thilde Terkelsen 1">
            <a:extLst>
              <a:ext uri="{FF2B5EF4-FFF2-40B4-BE49-F238E27FC236}">
                <a16:creationId xmlns:a16="http://schemas.microsoft.com/office/drawing/2014/main" id="{C1F2FE68-24DA-5FC6-2024-EF7CE4D31C43}"/>
              </a:ext>
            </a:extLst>
          </p:cNvPr>
          <p:cNvSpPr txBox="1"/>
          <p:nvPr/>
        </p:nvSpPr>
        <p:spPr>
          <a:xfrm>
            <a:off x="17196178" y="6879701"/>
            <a:ext cx="1061188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000">
                <a:solidFill>
                  <a:srgbClr val="FFFFFF"/>
                </a:solidFill>
              </a:defRPr>
            </a:pPr>
            <a:r>
              <a:rPr lang="da-DK" sz="3200"/>
              <a:t>Diana</a:t>
            </a:r>
            <a:endParaRPr sz="3200" baseline="31999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89059B-BEE0-84FB-4161-BE9621677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759" t="-855" r="22141" b="855"/>
          <a:stretch>
            <a:fillRect/>
          </a:stretch>
        </p:blipFill>
        <p:spPr bwMode="auto">
          <a:xfrm>
            <a:off x="14038789" y="7586000"/>
            <a:ext cx="3274454" cy="324658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hilde Terkelsen 1">
            <a:extLst>
              <a:ext uri="{FF2B5EF4-FFF2-40B4-BE49-F238E27FC236}">
                <a16:creationId xmlns:a16="http://schemas.microsoft.com/office/drawing/2014/main" id="{8E3691FF-79C8-B2D0-A9AA-F7B125829487}"/>
              </a:ext>
            </a:extLst>
          </p:cNvPr>
          <p:cNvSpPr txBox="1"/>
          <p:nvPr/>
        </p:nvSpPr>
        <p:spPr>
          <a:xfrm>
            <a:off x="15239164" y="11121704"/>
            <a:ext cx="873637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000">
                <a:solidFill>
                  <a:srgbClr val="FFFFFF"/>
                </a:solidFill>
              </a:defRPr>
            </a:pPr>
            <a:r>
              <a:rPr lang="da-DK" sz="3200" err="1"/>
              <a:t>Suze</a:t>
            </a:r>
            <a:endParaRPr sz="3200" baseline="31999"/>
          </a:p>
        </p:txBody>
      </p:sp>
      <p:sp>
        <p:nvSpPr>
          <p:cNvPr id="6" name="Tekstfelt 3">
            <a:extLst>
              <a:ext uri="{FF2B5EF4-FFF2-40B4-BE49-F238E27FC236}">
                <a16:creationId xmlns:a16="http://schemas.microsoft.com/office/drawing/2014/main" id="{68FACB35-D14C-4011-58D1-D763D8464771}"/>
              </a:ext>
            </a:extLst>
          </p:cNvPr>
          <p:cNvSpPr txBox="1"/>
          <p:nvPr/>
        </p:nvSpPr>
        <p:spPr>
          <a:xfrm>
            <a:off x="1949313" y="4544822"/>
            <a:ext cx="8631026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a-DK" b="1">
                <a:solidFill>
                  <a:srgbClr val="FFFFFF"/>
                </a:solidFill>
                <a:latin typeface="Helvetica" pitchFamily="2" charset="0"/>
              </a:rPr>
              <a:t>Read more on </a:t>
            </a:r>
            <a:r>
              <a:rPr lang="da-DK" b="1" err="1">
                <a:solidFill>
                  <a:srgbClr val="FFFFFF"/>
                </a:solidFill>
                <a:latin typeface="Helvetica" pitchFamily="2" charset="0"/>
              </a:rPr>
              <a:t>HeaDS</a:t>
            </a:r>
            <a:r>
              <a:rPr lang="da-DK" b="1">
                <a:solidFill>
                  <a:srgbClr val="FFFFFF"/>
                </a:solidFill>
                <a:latin typeface="Helvetica" pitchFamily="2" charset="0"/>
              </a:rPr>
              <a:t> Website!</a:t>
            </a:r>
          </a:p>
          <a:p>
            <a:r>
              <a:rPr lang="da-DK" sz="2400" b="1">
                <a:solidFill>
                  <a:srgbClr val="FFFFFF"/>
                </a:solidFill>
                <a:latin typeface="Helvetica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https://heads.ku.dk</a:t>
            </a:r>
            <a:r>
              <a:rPr lang="da-DK" sz="2400" b="1">
                <a:solidFill>
                  <a:srgbClr val="FFFFFF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9" name="Tekstfelt 7">
            <a:extLst>
              <a:ext uri="{FF2B5EF4-FFF2-40B4-BE49-F238E27FC236}">
                <a16:creationId xmlns:a16="http://schemas.microsoft.com/office/drawing/2014/main" id="{4D65C4A4-C756-0527-A137-264FC779CC70}"/>
              </a:ext>
            </a:extLst>
          </p:cNvPr>
          <p:cNvSpPr txBox="1"/>
          <p:nvPr/>
        </p:nvSpPr>
        <p:spPr>
          <a:xfrm>
            <a:off x="5145512" y="8717332"/>
            <a:ext cx="616284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a-DK" b="1" err="1">
                <a:solidFill>
                  <a:srgbClr val="374556"/>
                </a:solidFill>
                <a:latin typeface="Helvetica" pitchFamily="2" charset="0"/>
              </a:rPr>
              <a:t>Follow</a:t>
            </a:r>
            <a:r>
              <a:rPr lang="da-DK" b="1">
                <a:solidFill>
                  <a:srgbClr val="374556"/>
                </a:solidFill>
                <a:latin typeface="Helvetica" pitchFamily="2" charset="0"/>
              </a:rPr>
              <a:t> </a:t>
            </a:r>
            <a:r>
              <a:rPr lang="da-DK" b="1" err="1">
                <a:solidFill>
                  <a:srgbClr val="374556"/>
                </a:solidFill>
                <a:latin typeface="Helvetica" pitchFamily="2" charset="0"/>
              </a:rPr>
              <a:t>HeaDS</a:t>
            </a:r>
            <a:r>
              <a:rPr lang="da-DK" b="1">
                <a:solidFill>
                  <a:srgbClr val="374556"/>
                </a:solidFill>
                <a:latin typeface="Helvetica" pitchFamily="2" charset="0"/>
              </a:rPr>
              <a:t> on LinkedIn!</a:t>
            </a:r>
          </a:p>
          <a:p>
            <a:pPr algn="ctr"/>
            <a:r>
              <a:rPr lang="da-DK" sz="2400" b="1">
                <a:solidFill>
                  <a:srgbClr val="374556"/>
                </a:solidFill>
                <a:latin typeface="Helvetica" pitchFamily="2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https://www.linkedin.com/company/ucph-heads/</a:t>
            </a:r>
            <a:r>
              <a:rPr lang="da-DK" sz="2400" b="1">
                <a:solidFill>
                  <a:srgbClr val="374556"/>
                </a:solidFill>
                <a:latin typeface="Helvetica" pitchFamily="2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861692-188D-78B3-C768-87DCF3373E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761" y="7500627"/>
            <a:ext cx="4288278" cy="4286250"/>
          </a:xfrm>
          <a:prstGeom prst="rect">
            <a:avLst/>
          </a:prstGeom>
        </p:spPr>
      </p:pic>
      <p:sp>
        <p:nvSpPr>
          <p:cNvPr id="11" name="1. Center for Health Data Science (HeaDS) - https://heads.ku.dk/…">
            <a:extLst>
              <a:ext uri="{FF2B5EF4-FFF2-40B4-BE49-F238E27FC236}">
                <a16:creationId xmlns:a16="http://schemas.microsoft.com/office/drawing/2014/main" id="{67D961B5-6FEE-B995-5053-BA2EE424BF0A}"/>
              </a:ext>
            </a:extLst>
          </p:cNvPr>
          <p:cNvSpPr txBox="1"/>
          <p:nvPr/>
        </p:nvSpPr>
        <p:spPr>
          <a:xfrm>
            <a:off x="1958896" y="12112213"/>
            <a:ext cx="11453423" cy="105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3200">
              <a:solidFill>
                <a:srgbClr val="EBEBEB"/>
              </a:solidFill>
            </a:endParaRP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000" i="1">
                <a:solidFill>
                  <a:srgbClr val="EBEBEB"/>
                </a:solidFill>
              </a:rPr>
              <a:t>Data Science Laboratory (DSL) -  </a:t>
            </a:r>
            <a:r>
              <a:rPr lang="en-US" sz="3000" i="1">
                <a:solidFill>
                  <a:schemeClr val="bg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https://datalab.science.ku.dk/</a:t>
            </a:r>
            <a:r>
              <a:rPr lang="en-US" sz="3000" i="1">
                <a:solidFill>
                  <a:schemeClr val="bg1"/>
                </a:solidFill>
              </a:rPr>
              <a:t> </a:t>
            </a:r>
            <a:endParaRPr lang="en-US" sz="300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494490-25A1-407A-C967-2EBBCCB4CA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15912" y="9915101"/>
            <a:ext cx="3572091" cy="353165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6CA0-F259-1E0E-D974-26E910A9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">
            <a:extLst>
              <a:ext uri="{FF2B5EF4-FFF2-40B4-BE49-F238E27FC236}">
                <a16:creationId xmlns:a16="http://schemas.microsoft.com/office/drawing/2014/main" id="{24AB4F36-192B-AD05-3A68-BF1CF6BC41D0}"/>
              </a:ext>
            </a:extLst>
          </p:cNvPr>
          <p:cNvGrpSpPr/>
          <p:nvPr/>
        </p:nvGrpSpPr>
        <p:grpSpPr>
          <a:xfrm>
            <a:off x="1940441" y="1410051"/>
            <a:ext cx="8053632" cy="2992217"/>
            <a:chOff x="0" y="21905"/>
            <a:chExt cx="8053631" cy="2992215"/>
          </a:xfrm>
        </p:grpSpPr>
        <p:sp>
          <p:nvSpPr>
            <p:cNvPr id="93" name="WHO ARE WE?">
              <a:extLst>
                <a:ext uri="{FF2B5EF4-FFF2-40B4-BE49-F238E27FC236}">
                  <a16:creationId xmlns:a16="http://schemas.microsoft.com/office/drawing/2014/main" id="{E614FF89-86FC-4A9A-D59A-3AA48E4CD2C8}"/>
                </a:ext>
              </a:extLst>
            </p:cNvPr>
            <p:cNvSpPr txBox="1"/>
            <p:nvPr/>
          </p:nvSpPr>
          <p:spPr>
            <a:xfrm>
              <a:off x="0" y="675022"/>
              <a:ext cx="8053631" cy="23390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>
                  <a:solidFill>
                    <a:srgbClr val="3C4A5A"/>
                  </a:solidFill>
                </a:rPr>
                <a:t>WHAT WE DO?</a:t>
              </a:r>
            </a:p>
          </p:txBody>
        </p:sp>
        <p:sp>
          <p:nvSpPr>
            <p:cNvPr id="94" name="KU DATA SCIENCE LABS">
              <a:extLst>
                <a:ext uri="{FF2B5EF4-FFF2-40B4-BE49-F238E27FC236}">
                  <a16:creationId xmlns:a16="http://schemas.microsoft.com/office/drawing/2014/main" id="{0E8B0572-9A3C-2AF0-E85E-C0FF1067F19F}"/>
                </a:ext>
              </a:extLst>
            </p:cNvPr>
            <p:cNvSpPr txBox="1"/>
            <p:nvPr/>
          </p:nvSpPr>
          <p:spPr>
            <a:xfrm>
              <a:off x="1806287" y="21905"/>
              <a:ext cx="5494383" cy="574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>
                  <a:solidFill>
                    <a:srgbClr val="3C4A5A"/>
                  </a:solidFill>
                </a:rPr>
                <a:t>SUND</a:t>
              </a:r>
              <a:r>
                <a:rPr>
                  <a:solidFill>
                    <a:srgbClr val="3C4A5A"/>
                  </a:solidFill>
                </a:rPr>
                <a:t> DATA </a:t>
              </a:r>
              <a:r>
                <a:rPr lang="en-US">
                  <a:solidFill>
                    <a:srgbClr val="3C4A5A"/>
                  </a:solidFill>
                </a:rPr>
                <a:t>LAB</a:t>
              </a:r>
            </a:p>
          </p:txBody>
        </p:sp>
        <p:sp>
          <p:nvSpPr>
            <p:cNvPr id="95" name="Line">
              <a:extLst>
                <a:ext uri="{FF2B5EF4-FFF2-40B4-BE49-F238E27FC236}">
                  <a16:creationId xmlns:a16="http://schemas.microsoft.com/office/drawing/2014/main" id="{99C56531-B120-8A75-9A83-F4C44EF52C9C}"/>
                </a:ext>
              </a:extLst>
            </p:cNvPr>
            <p:cNvSpPr/>
            <p:nvPr/>
          </p:nvSpPr>
          <p:spPr>
            <a:xfrm>
              <a:off x="94663" y="185306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3C4A5A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lang="en-US">
                <a:solidFill>
                  <a:srgbClr val="3C4A5A"/>
                </a:solidFill>
              </a:endParaRPr>
            </a:p>
          </p:txBody>
        </p:sp>
      </p:grpSp>
      <p:grpSp>
        <p:nvGrpSpPr>
          <p:cNvPr id="14" name="Group">
            <a:extLst>
              <a:ext uri="{FF2B5EF4-FFF2-40B4-BE49-F238E27FC236}">
                <a16:creationId xmlns:a16="http://schemas.microsoft.com/office/drawing/2014/main" id="{2E2C44CC-2630-34F5-25EA-16CC0BD2C2E0}"/>
              </a:ext>
            </a:extLst>
          </p:cNvPr>
          <p:cNvGrpSpPr/>
          <p:nvPr/>
        </p:nvGrpSpPr>
        <p:grpSpPr>
          <a:xfrm>
            <a:off x="11115307" y="3008593"/>
            <a:ext cx="12944501" cy="1996168"/>
            <a:chOff x="0" y="-4242"/>
            <a:chExt cx="12944501" cy="1996167"/>
          </a:xfrm>
        </p:grpSpPr>
        <p:sp>
          <p:nvSpPr>
            <p:cNvPr id="6" name="Freeform 65">
              <a:extLst>
                <a:ext uri="{FF2B5EF4-FFF2-40B4-BE49-F238E27FC236}">
                  <a16:creationId xmlns:a16="http://schemas.microsoft.com/office/drawing/2014/main" id="{61DCEAE4-0D69-6A7E-E8BF-92FC15D13030}"/>
                </a:ext>
              </a:extLst>
            </p:cNvPr>
            <p:cNvSpPr/>
            <p:nvPr/>
          </p:nvSpPr>
          <p:spPr>
            <a:xfrm>
              <a:off x="3486356" y="0"/>
              <a:ext cx="1962702" cy="197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BDB8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7" name="Freeform 56">
              <a:extLst>
                <a:ext uri="{FF2B5EF4-FFF2-40B4-BE49-F238E27FC236}">
                  <a16:creationId xmlns:a16="http://schemas.microsoft.com/office/drawing/2014/main" id="{DCC4A7A6-D729-1FF6-3692-6E87D1809FE2}"/>
                </a:ext>
              </a:extLst>
            </p:cNvPr>
            <p:cNvSpPr/>
            <p:nvPr/>
          </p:nvSpPr>
          <p:spPr>
            <a:xfrm>
              <a:off x="986176" y="0"/>
              <a:ext cx="4094497" cy="197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123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9DA8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9" name="Freeform 57">
              <a:extLst>
                <a:ext uri="{FF2B5EF4-FFF2-40B4-BE49-F238E27FC236}">
                  <a16:creationId xmlns:a16="http://schemas.microsoft.com/office/drawing/2014/main" id="{999B5729-AF04-3466-E678-E6E037F48163}"/>
                </a:ext>
              </a:extLst>
            </p:cNvPr>
            <p:cNvSpPr/>
            <p:nvPr/>
          </p:nvSpPr>
          <p:spPr>
            <a:xfrm>
              <a:off x="986176" y="984370"/>
              <a:ext cx="3107109" cy="987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99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4799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9DA8C"/>
                </a:gs>
                <a:gs pos="100000">
                  <a:srgbClr val="FFF2B9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9DA8C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10" name="Freeform 70">
              <a:extLst>
                <a:ext uri="{FF2B5EF4-FFF2-40B4-BE49-F238E27FC236}">
                  <a16:creationId xmlns:a16="http://schemas.microsoft.com/office/drawing/2014/main" id="{B96F0BDF-95D1-847E-145C-28424A21C617}"/>
                </a:ext>
              </a:extLst>
            </p:cNvPr>
            <p:cNvSpPr/>
            <p:nvPr/>
          </p:nvSpPr>
          <p:spPr>
            <a:xfrm>
              <a:off x="0" y="0"/>
              <a:ext cx="1979607" cy="1977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600" extrusionOk="0">
                  <a:moveTo>
                    <a:pt x="10800" y="21600"/>
                  </a:moveTo>
                  <a:cubicBezTo>
                    <a:pt x="10563" y="21600"/>
                    <a:pt x="10327" y="21521"/>
                    <a:pt x="10090" y="21284"/>
                  </a:cubicBezTo>
                  <a:cubicBezTo>
                    <a:pt x="236" y="11393"/>
                    <a:pt x="236" y="11393"/>
                    <a:pt x="236" y="11393"/>
                  </a:cubicBezTo>
                  <a:cubicBezTo>
                    <a:pt x="-79" y="11077"/>
                    <a:pt x="-79" y="10523"/>
                    <a:pt x="236" y="10127"/>
                  </a:cubicBezTo>
                  <a:cubicBezTo>
                    <a:pt x="10090" y="237"/>
                    <a:pt x="10090" y="237"/>
                    <a:pt x="10090" y="237"/>
                  </a:cubicBezTo>
                  <a:cubicBezTo>
                    <a:pt x="10327" y="79"/>
                    <a:pt x="10563" y="0"/>
                    <a:pt x="10800" y="0"/>
                  </a:cubicBezTo>
                  <a:cubicBezTo>
                    <a:pt x="11036" y="0"/>
                    <a:pt x="11273" y="79"/>
                    <a:pt x="11430" y="237"/>
                  </a:cubicBezTo>
                  <a:cubicBezTo>
                    <a:pt x="21285" y="10127"/>
                    <a:pt x="21285" y="10127"/>
                    <a:pt x="21285" y="10127"/>
                  </a:cubicBezTo>
                  <a:cubicBezTo>
                    <a:pt x="21442" y="10286"/>
                    <a:pt x="21521" y="10523"/>
                    <a:pt x="21521" y="10760"/>
                  </a:cubicBezTo>
                  <a:cubicBezTo>
                    <a:pt x="21521" y="10998"/>
                    <a:pt x="21442" y="11235"/>
                    <a:pt x="21285" y="11393"/>
                  </a:cubicBezTo>
                  <a:cubicBezTo>
                    <a:pt x="11430" y="21284"/>
                    <a:pt x="11430" y="21284"/>
                    <a:pt x="11430" y="21284"/>
                  </a:cubicBezTo>
                  <a:cubicBezTo>
                    <a:pt x="11273" y="21521"/>
                    <a:pt x="11036" y="21600"/>
                    <a:pt x="10800" y="21600"/>
                  </a:cubicBezTo>
                  <a:close/>
                </a:path>
              </a:pathLst>
            </a:custGeom>
            <a:solidFill>
              <a:srgbClr val="404756"/>
            </a:solidFill>
            <a:ln w="12700" cap="flat">
              <a:solidFill>
                <a:srgbClr val="F9DA8C"/>
              </a:solidFill>
              <a:prstDash val="solid"/>
              <a:miter lim="400000"/>
            </a:ln>
            <a:effectLst>
              <a:outerShdw blurRad="215900" dist="101600" dir="2700000" rotWithShape="0">
                <a:srgbClr val="000000">
                  <a:alpha val="51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spcBef>
                  <a:spcPts val="1200"/>
                </a:spcBef>
                <a:defRPr sz="1400" b="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11" name="Rectangle 83">
              <a:extLst>
                <a:ext uri="{FF2B5EF4-FFF2-40B4-BE49-F238E27FC236}">
                  <a16:creationId xmlns:a16="http://schemas.microsoft.com/office/drawing/2014/main" id="{B8DD02AB-B40A-2F1C-997C-34F62B9EA60F}"/>
                </a:ext>
              </a:extLst>
            </p:cNvPr>
            <p:cNvSpPr txBox="1"/>
            <p:nvPr/>
          </p:nvSpPr>
          <p:spPr>
            <a:xfrm>
              <a:off x="6005995" y="-4242"/>
              <a:ext cx="6328949" cy="5351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914400">
                <a:defRPr sz="2800" spc="308">
                  <a:solidFill>
                    <a:srgbClr val="5E5E5E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r>
                <a:rPr lang="en-US" b="1">
                  <a:latin typeface="Helvetica"/>
                  <a:cs typeface="Helvetica"/>
                </a:rPr>
                <a:t>CONSULTATIONS</a:t>
              </a:r>
            </a:p>
          </p:txBody>
        </p:sp>
        <p:sp>
          <p:nvSpPr>
            <p:cNvPr id="12" name="Text Placeholder 53">
              <a:extLst>
                <a:ext uri="{FF2B5EF4-FFF2-40B4-BE49-F238E27FC236}">
                  <a16:creationId xmlns:a16="http://schemas.microsoft.com/office/drawing/2014/main" id="{CE87106A-4F05-DBCF-D1A6-BE951A069DE4}"/>
                </a:ext>
              </a:extLst>
            </p:cNvPr>
            <p:cNvSpPr txBox="1"/>
            <p:nvPr/>
          </p:nvSpPr>
          <p:spPr>
            <a:xfrm>
              <a:off x="5926222" y="800032"/>
              <a:ext cx="7018279" cy="11918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lnSpc>
                  <a:spcPct val="120000"/>
                </a:lnSpc>
                <a:spcBef>
                  <a:spcPts val="1000"/>
                </a:spcBef>
                <a:defRPr sz="2400" spc="264">
                  <a:solidFill>
                    <a:srgbClr val="5E5E5E"/>
                  </a:solidFill>
                </a:defRPr>
              </a:lvl1pPr>
            </a:lstStyle>
            <a:p>
              <a:r>
                <a:rPr lang="en-US" sz="2600">
                  <a:latin typeface="Helvetica"/>
                  <a:ea typeface="Lato Light"/>
                  <a:cs typeface="Helvetica"/>
                </a:rPr>
                <a:t>Need guidance? Drop by for a consultation on your DS analysis</a:t>
              </a:r>
            </a:p>
          </p:txBody>
        </p:sp>
        <p:sp>
          <p:nvSpPr>
            <p:cNvPr id="13" name="Graduation Cap">
              <a:extLst>
                <a:ext uri="{FF2B5EF4-FFF2-40B4-BE49-F238E27FC236}">
                  <a16:creationId xmlns:a16="http://schemas.microsoft.com/office/drawing/2014/main" id="{C7F23990-3B39-163B-F042-8A1AD42B6875}"/>
                </a:ext>
              </a:extLst>
            </p:cNvPr>
            <p:cNvSpPr/>
            <p:nvPr/>
          </p:nvSpPr>
          <p:spPr>
            <a:xfrm>
              <a:off x="416072" y="692050"/>
              <a:ext cx="1113508" cy="609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6520"/>
                  </a:lnTo>
                  <a:lnTo>
                    <a:pt x="10800" y="13043"/>
                  </a:lnTo>
                  <a:lnTo>
                    <a:pt x="18745" y="8243"/>
                  </a:lnTo>
                  <a:lnTo>
                    <a:pt x="18745" y="10509"/>
                  </a:lnTo>
                  <a:cubicBezTo>
                    <a:pt x="18606" y="10673"/>
                    <a:pt x="18515" y="10958"/>
                    <a:pt x="18515" y="11282"/>
                  </a:cubicBezTo>
                  <a:cubicBezTo>
                    <a:pt x="18515" y="11519"/>
                    <a:pt x="18563" y="11733"/>
                    <a:pt x="18644" y="11896"/>
                  </a:cubicBezTo>
                  <a:cubicBezTo>
                    <a:pt x="18499" y="12008"/>
                    <a:pt x="18399" y="12270"/>
                    <a:pt x="18399" y="12574"/>
                  </a:cubicBezTo>
                  <a:lnTo>
                    <a:pt x="18399" y="21301"/>
                  </a:lnTo>
                  <a:cubicBezTo>
                    <a:pt x="18553" y="21484"/>
                    <a:pt x="18772" y="21600"/>
                    <a:pt x="19018" y="21600"/>
                  </a:cubicBezTo>
                  <a:cubicBezTo>
                    <a:pt x="19264" y="21600"/>
                    <a:pt x="19483" y="21484"/>
                    <a:pt x="19637" y="21301"/>
                  </a:cubicBezTo>
                  <a:lnTo>
                    <a:pt x="19637" y="12556"/>
                  </a:lnTo>
                  <a:cubicBezTo>
                    <a:pt x="19637" y="12255"/>
                    <a:pt x="19538" y="11998"/>
                    <a:pt x="19396" y="11887"/>
                  </a:cubicBezTo>
                  <a:cubicBezTo>
                    <a:pt x="19474" y="11725"/>
                    <a:pt x="19523" y="11515"/>
                    <a:pt x="19523" y="11282"/>
                  </a:cubicBezTo>
                  <a:cubicBezTo>
                    <a:pt x="19523" y="10958"/>
                    <a:pt x="19430" y="10673"/>
                    <a:pt x="19292" y="10509"/>
                  </a:cubicBezTo>
                  <a:lnTo>
                    <a:pt x="19292" y="7913"/>
                  </a:lnTo>
                  <a:lnTo>
                    <a:pt x="21600" y="6520"/>
                  </a:lnTo>
                  <a:lnTo>
                    <a:pt x="10800" y="0"/>
                  </a:lnTo>
                  <a:close/>
                  <a:moveTo>
                    <a:pt x="10819" y="5598"/>
                  </a:moveTo>
                  <a:cubicBezTo>
                    <a:pt x="11223" y="5598"/>
                    <a:pt x="11551" y="5819"/>
                    <a:pt x="11551" y="6091"/>
                  </a:cubicBezTo>
                  <a:cubicBezTo>
                    <a:pt x="11551" y="6364"/>
                    <a:pt x="11223" y="6584"/>
                    <a:pt x="10819" y="6584"/>
                  </a:cubicBezTo>
                  <a:cubicBezTo>
                    <a:pt x="10414" y="6584"/>
                    <a:pt x="10084" y="6364"/>
                    <a:pt x="10084" y="6091"/>
                  </a:cubicBezTo>
                  <a:cubicBezTo>
                    <a:pt x="10084" y="5819"/>
                    <a:pt x="10414" y="5598"/>
                    <a:pt x="10819" y="5598"/>
                  </a:cubicBezTo>
                  <a:close/>
                  <a:moveTo>
                    <a:pt x="16068" y="10691"/>
                  </a:moveTo>
                  <a:lnTo>
                    <a:pt x="10800" y="13872"/>
                  </a:lnTo>
                  <a:lnTo>
                    <a:pt x="5535" y="10694"/>
                  </a:lnTo>
                  <a:cubicBezTo>
                    <a:pt x="4861" y="12240"/>
                    <a:pt x="4431" y="14116"/>
                    <a:pt x="4188" y="16122"/>
                  </a:cubicBezTo>
                  <a:cubicBezTo>
                    <a:pt x="6908" y="16652"/>
                    <a:pt x="9240" y="18095"/>
                    <a:pt x="10748" y="20074"/>
                  </a:cubicBezTo>
                  <a:cubicBezTo>
                    <a:pt x="12275" y="18069"/>
                    <a:pt x="14648" y="16613"/>
                    <a:pt x="17413" y="16101"/>
                  </a:cubicBezTo>
                  <a:cubicBezTo>
                    <a:pt x="17170" y="14102"/>
                    <a:pt x="16740" y="12232"/>
                    <a:pt x="16068" y="1069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</p:grpSp>
      <p:grpSp>
        <p:nvGrpSpPr>
          <p:cNvPr id="23" name="Group">
            <a:extLst>
              <a:ext uri="{FF2B5EF4-FFF2-40B4-BE49-F238E27FC236}">
                <a16:creationId xmlns:a16="http://schemas.microsoft.com/office/drawing/2014/main" id="{E25CC760-463D-BE89-A608-4F6A9B8E1F9C}"/>
              </a:ext>
            </a:extLst>
          </p:cNvPr>
          <p:cNvGrpSpPr/>
          <p:nvPr/>
        </p:nvGrpSpPr>
        <p:grpSpPr>
          <a:xfrm>
            <a:off x="3961844" y="5355867"/>
            <a:ext cx="13535559" cy="1977802"/>
            <a:chOff x="0" y="0"/>
            <a:chExt cx="13535559" cy="1977800"/>
          </a:xfrm>
        </p:grpSpPr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914B295F-249B-7E69-808A-C1E4BBCD6D0F}"/>
                </a:ext>
              </a:extLst>
            </p:cNvPr>
            <p:cNvSpPr/>
            <p:nvPr/>
          </p:nvSpPr>
          <p:spPr>
            <a:xfrm>
              <a:off x="8088308" y="6039"/>
              <a:ext cx="1962702" cy="1965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BC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17" name="Freeform 58">
              <a:extLst>
                <a:ext uri="{FF2B5EF4-FFF2-40B4-BE49-F238E27FC236}">
                  <a16:creationId xmlns:a16="http://schemas.microsoft.com/office/drawing/2014/main" id="{A0B6174A-91B6-3AB8-E453-69D0DFBF1AAE}"/>
                </a:ext>
              </a:extLst>
            </p:cNvPr>
            <p:cNvSpPr/>
            <p:nvPr/>
          </p:nvSpPr>
          <p:spPr>
            <a:xfrm>
              <a:off x="8450653" y="6039"/>
              <a:ext cx="4094497" cy="1965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10402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BC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18" name="Freeform 59">
              <a:extLst>
                <a:ext uri="{FF2B5EF4-FFF2-40B4-BE49-F238E27FC236}">
                  <a16:creationId xmlns:a16="http://schemas.microsoft.com/office/drawing/2014/main" id="{15728380-8E5D-5DB4-CEE5-D727E43AD88D}"/>
                </a:ext>
              </a:extLst>
            </p:cNvPr>
            <p:cNvSpPr/>
            <p:nvPr/>
          </p:nvSpPr>
          <p:spPr>
            <a:xfrm>
              <a:off x="8450653" y="993429"/>
              <a:ext cx="4094497" cy="978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93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519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BC7FF"/>
                </a:gs>
                <a:gs pos="100000">
                  <a:srgbClr val="BDD7E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3986C7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19" name="Freeform 69">
              <a:extLst>
                <a:ext uri="{FF2B5EF4-FFF2-40B4-BE49-F238E27FC236}">
                  <a16:creationId xmlns:a16="http://schemas.microsoft.com/office/drawing/2014/main" id="{2C19F321-FE90-7094-6DA7-5CE67C8A1D1C}"/>
                </a:ext>
              </a:extLst>
            </p:cNvPr>
            <p:cNvSpPr/>
            <p:nvPr/>
          </p:nvSpPr>
          <p:spPr>
            <a:xfrm>
              <a:off x="11558960" y="0"/>
              <a:ext cx="1976599" cy="1977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600" extrusionOk="0">
                  <a:moveTo>
                    <a:pt x="10721" y="21600"/>
                  </a:moveTo>
                  <a:cubicBezTo>
                    <a:pt x="10485" y="21600"/>
                    <a:pt x="10248" y="21521"/>
                    <a:pt x="10090" y="21363"/>
                  </a:cubicBezTo>
                  <a:cubicBezTo>
                    <a:pt x="236" y="11473"/>
                    <a:pt x="236" y="11473"/>
                    <a:pt x="236" y="11473"/>
                  </a:cubicBezTo>
                  <a:cubicBezTo>
                    <a:pt x="-79" y="11077"/>
                    <a:pt x="-79" y="10523"/>
                    <a:pt x="236" y="10127"/>
                  </a:cubicBezTo>
                  <a:cubicBezTo>
                    <a:pt x="10090" y="237"/>
                    <a:pt x="10090" y="237"/>
                    <a:pt x="10090" y="237"/>
                  </a:cubicBezTo>
                  <a:cubicBezTo>
                    <a:pt x="10248" y="79"/>
                    <a:pt x="10485" y="0"/>
                    <a:pt x="10721" y="0"/>
                  </a:cubicBezTo>
                  <a:cubicBezTo>
                    <a:pt x="10957" y="0"/>
                    <a:pt x="11194" y="79"/>
                    <a:pt x="11352" y="237"/>
                  </a:cubicBezTo>
                  <a:cubicBezTo>
                    <a:pt x="21206" y="10127"/>
                    <a:pt x="21206" y="10127"/>
                    <a:pt x="21206" y="10127"/>
                  </a:cubicBezTo>
                  <a:cubicBezTo>
                    <a:pt x="21363" y="10365"/>
                    <a:pt x="21521" y="10523"/>
                    <a:pt x="21521" y="10760"/>
                  </a:cubicBezTo>
                  <a:cubicBezTo>
                    <a:pt x="21521" y="11077"/>
                    <a:pt x="21363" y="11235"/>
                    <a:pt x="21206" y="11473"/>
                  </a:cubicBezTo>
                  <a:cubicBezTo>
                    <a:pt x="11352" y="21363"/>
                    <a:pt x="11352" y="21363"/>
                    <a:pt x="11352" y="21363"/>
                  </a:cubicBezTo>
                  <a:cubicBezTo>
                    <a:pt x="11194" y="21521"/>
                    <a:pt x="10957" y="21600"/>
                    <a:pt x="10721" y="21600"/>
                  </a:cubicBezTo>
                  <a:close/>
                </a:path>
              </a:pathLst>
            </a:custGeom>
            <a:solidFill>
              <a:srgbClr val="404756"/>
            </a:solidFill>
            <a:ln w="12700" cap="flat">
              <a:solidFill>
                <a:srgbClr val="8BC7FF"/>
              </a:solidFill>
              <a:prstDash val="solid"/>
              <a:miter lim="400000"/>
            </a:ln>
            <a:effectLst>
              <a:outerShdw blurRad="190500" dist="254000" dir="2700000" rotWithShape="0">
                <a:srgbClr val="000000">
                  <a:alpha val="14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spcBef>
                  <a:spcPts val="1200"/>
                </a:spcBef>
                <a:defRPr sz="1400" b="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20" name="Rectangle 86">
              <a:extLst>
                <a:ext uri="{FF2B5EF4-FFF2-40B4-BE49-F238E27FC236}">
                  <a16:creationId xmlns:a16="http://schemas.microsoft.com/office/drawing/2014/main" id="{CDCCDDD0-7779-6B0C-C181-DCE50BFC320D}"/>
                </a:ext>
              </a:extLst>
            </p:cNvPr>
            <p:cNvSpPr txBox="1"/>
            <p:nvPr/>
          </p:nvSpPr>
          <p:spPr>
            <a:xfrm>
              <a:off x="1226059" y="3041"/>
              <a:ext cx="6039577" cy="531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algn="r" defTabSz="914400">
                <a:defRPr sz="2800" spc="308">
                  <a:solidFill>
                    <a:srgbClr val="5E5E5E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r>
                <a:rPr b="1">
                  <a:latin typeface="Helvetica"/>
                  <a:cs typeface="Helvetica"/>
                </a:rPr>
                <a:t>COMMISSIONED</a:t>
              </a:r>
              <a:r>
                <a:rPr>
                  <a:latin typeface="Helvetica"/>
                  <a:cs typeface="Helvetica"/>
                </a:rPr>
                <a:t> RESEARCH</a:t>
              </a:r>
            </a:p>
          </p:txBody>
        </p:sp>
        <p:sp>
          <p:nvSpPr>
            <p:cNvPr id="21" name="Text Placeholder 53">
              <a:extLst>
                <a:ext uri="{FF2B5EF4-FFF2-40B4-BE49-F238E27FC236}">
                  <a16:creationId xmlns:a16="http://schemas.microsoft.com/office/drawing/2014/main" id="{AD9D54B2-B937-241F-5AD4-D78E350A3187}"/>
                </a:ext>
              </a:extLst>
            </p:cNvPr>
            <p:cNvSpPr txBox="1"/>
            <p:nvPr/>
          </p:nvSpPr>
          <p:spPr>
            <a:xfrm>
              <a:off x="0" y="786830"/>
              <a:ext cx="7370649" cy="1183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r" defTabSz="914400">
                <a:lnSpc>
                  <a:spcPct val="120000"/>
                </a:lnSpc>
                <a:defRPr sz="2400" spc="264">
                  <a:solidFill>
                    <a:srgbClr val="5E5E5E"/>
                  </a:solidFill>
                </a:defRPr>
              </a:pPr>
              <a:r>
                <a:rPr sz="2600">
                  <a:latin typeface="Helvetica"/>
                  <a:ea typeface="Lato Light"/>
                  <a:cs typeface="Helvetica"/>
                </a:rPr>
                <a:t>Commissioned </a:t>
              </a:r>
              <a:r>
                <a:rPr lang="en-US" sz="2600">
                  <a:latin typeface="Helvetica"/>
                  <a:ea typeface="Lato Light"/>
                  <a:cs typeface="Helvetica"/>
                </a:rPr>
                <a:t>DS</a:t>
              </a:r>
              <a:r>
                <a:rPr sz="2600">
                  <a:latin typeface="Helvetica"/>
                  <a:ea typeface="Lato Light"/>
                  <a:cs typeface="Helvetica"/>
                </a:rPr>
                <a:t> Analysis</a:t>
              </a:r>
              <a:endParaRPr lang="en-US" sz="2600">
                <a:latin typeface="Helvetica"/>
                <a:ea typeface="Lato Light"/>
                <a:cs typeface="Helvetica"/>
              </a:endParaRPr>
            </a:p>
            <a:p>
              <a:pPr algn="r" defTabSz="914400">
                <a:lnSpc>
                  <a:spcPct val="120000"/>
                </a:lnSpc>
                <a:defRPr sz="2400" spc="264">
                  <a:solidFill>
                    <a:srgbClr val="5E5E5E"/>
                  </a:solidFill>
                </a:defRPr>
              </a:pPr>
              <a:r>
                <a:rPr sz="2600">
                  <a:latin typeface="Helvetica"/>
                  <a:ea typeface="Lato Light"/>
                  <a:cs typeface="Helvetica"/>
                </a:rPr>
                <a:t>Commissioned Supervision</a:t>
              </a:r>
            </a:p>
          </p:txBody>
        </p:sp>
        <p:sp>
          <p:nvSpPr>
            <p:cNvPr id="22" name="Bar Chart">
              <a:extLst>
                <a:ext uri="{FF2B5EF4-FFF2-40B4-BE49-F238E27FC236}">
                  <a16:creationId xmlns:a16="http://schemas.microsoft.com/office/drawing/2014/main" id="{A0B6C21F-5F71-C94E-76A4-DE6CD78612AA}"/>
                </a:ext>
              </a:extLst>
            </p:cNvPr>
            <p:cNvSpPr/>
            <p:nvPr/>
          </p:nvSpPr>
          <p:spPr>
            <a:xfrm>
              <a:off x="12204290" y="563070"/>
              <a:ext cx="790975" cy="788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" y="0"/>
                  </a:moveTo>
                  <a:cubicBezTo>
                    <a:pt x="87" y="0"/>
                    <a:pt x="0" y="87"/>
                    <a:pt x="0" y="194"/>
                  </a:cubicBezTo>
                  <a:lnTo>
                    <a:pt x="0" y="21404"/>
                  </a:lnTo>
                  <a:cubicBezTo>
                    <a:pt x="0" y="21511"/>
                    <a:pt x="87" y="21600"/>
                    <a:pt x="194" y="21600"/>
                  </a:cubicBezTo>
                  <a:lnTo>
                    <a:pt x="21406" y="21600"/>
                  </a:lnTo>
                  <a:cubicBezTo>
                    <a:pt x="21513" y="21600"/>
                    <a:pt x="21600" y="21511"/>
                    <a:pt x="21600" y="21404"/>
                  </a:cubicBezTo>
                  <a:lnTo>
                    <a:pt x="21600" y="20822"/>
                  </a:lnTo>
                  <a:cubicBezTo>
                    <a:pt x="21600" y="20715"/>
                    <a:pt x="21513" y="20628"/>
                    <a:pt x="21406" y="20628"/>
                  </a:cubicBezTo>
                  <a:lnTo>
                    <a:pt x="1163" y="20628"/>
                  </a:lnTo>
                  <a:cubicBezTo>
                    <a:pt x="1057" y="20628"/>
                    <a:pt x="970" y="20539"/>
                    <a:pt x="970" y="20432"/>
                  </a:cubicBezTo>
                  <a:lnTo>
                    <a:pt x="970" y="194"/>
                  </a:lnTo>
                  <a:cubicBezTo>
                    <a:pt x="970" y="87"/>
                    <a:pt x="883" y="0"/>
                    <a:pt x="776" y="0"/>
                  </a:cubicBezTo>
                  <a:lnTo>
                    <a:pt x="194" y="0"/>
                  </a:lnTo>
                  <a:close/>
                  <a:moveTo>
                    <a:pt x="16860" y="3004"/>
                  </a:moveTo>
                  <a:lnTo>
                    <a:pt x="16860" y="19065"/>
                  </a:lnTo>
                  <a:lnTo>
                    <a:pt x="19553" y="19065"/>
                  </a:lnTo>
                  <a:lnTo>
                    <a:pt x="19553" y="3004"/>
                  </a:lnTo>
                  <a:lnTo>
                    <a:pt x="16860" y="3004"/>
                  </a:lnTo>
                  <a:close/>
                  <a:moveTo>
                    <a:pt x="7272" y="6922"/>
                  </a:moveTo>
                  <a:lnTo>
                    <a:pt x="7272" y="19065"/>
                  </a:lnTo>
                  <a:lnTo>
                    <a:pt x="9965" y="19065"/>
                  </a:lnTo>
                  <a:lnTo>
                    <a:pt x="9965" y="6922"/>
                  </a:lnTo>
                  <a:lnTo>
                    <a:pt x="7272" y="6922"/>
                  </a:lnTo>
                  <a:close/>
                  <a:moveTo>
                    <a:pt x="12066" y="10127"/>
                  </a:moveTo>
                  <a:lnTo>
                    <a:pt x="12066" y="19065"/>
                  </a:lnTo>
                  <a:lnTo>
                    <a:pt x="14759" y="19065"/>
                  </a:lnTo>
                  <a:lnTo>
                    <a:pt x="14759" y="10127"/>
                  </a:lnTo>
                  <a:lnTo>
                    <a:pt x="12066" y="10127"/>
                  </a:lnTo>
                  <a:close/>
                  <a:moveTo>
                    <a:pt x="2478" y="15151"/>
                  </a:moveTo>
                  <a:lnTo>
                    <a:pt x="2478" y="19065"/>
                  </a:lnTo>
                  <a:lnTo>
                    <a:pt x="5171" y="19065"/>
                  </a:lnTo>
                  <a:lnTo>
                    <a:pt x="5171" y="15151"/>
                  </a:lnTo>
                  <a:lnTo>
                    <a:pt x="2478" y="15151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</p:grpSp>
      <p:grpSp>
        <p:nvGrpSpPr>
          <p:cNvPr id="33" name="Group">
            <a:extLst>
              <a:ext uri="{FF2B5EF4-FFF2-40B4-BE49-F238E27FC236}">
                <a16:creationId xmlns:a16="http://schemas.microsoft.com/office/drawing/2014/main" id="{34781529-5E4F-EC55-C285-29643A50EB08}"/>
              </a:ext>
            </a:extLst>
          </p:cNvPr>
          <p:cNvGrpSpPr/>
          <p:nvPr/>
        </p:nvGrpSpPr>
        <p:grpSpPr>
          <a:xfrm>
            <a:off x="6793126" y="7916438"/>
            <a:ext cx="12962645" cy="2026113"/>
            <a:chOff x="0" y="0"/>
            <a:chExt cx="12962645" cy="2026112"/>
          </a:xfrm>
        </p:grpSpPr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29CF27B3-06D5-6923-54AC-10F2A5B26932}"/>
                </a:ext>
              </a:extLst>
            </p:cNvPr>
            <p:cNvSpPr/>
            <p:nvPr/>
          </p:nvSpPr>
          <p:spPr>
            <a:xfrm>
              <a:off x="3475498" y="9060"/>
              <a:ext cx="1962702" cy="1962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9C2A2">
                <a:alpha val="8004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26" name="Freeform 60">
              <a:extLst>
                <a:ext uri="{FF2B5EF4-FFF2-40B4-BE49-F238E27FC236}">
                  <a16:creationId xmlns:a16="http://schemas.microsoft.com/office/drawing/2014/main" id="{DE111D3C-4248-9BF7-4151-DF28F7F2A4AC}"/>
                </a:ext>
              </a:extLst>
            </p:cNvPr>
            <p:cNvSpPr/>
            <p:nvPr/>
          </p:nvSpPr>
          <p:spPr>
            <a:xfrm>
              <a:off x="990416" y="9060"/>
              <a:ext cx="4094498" cy="1962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119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69C2A2">
                <a:alpha val="8004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27" name="Freeform 61">
              <a:extLst>
                <a:ext uri="{FF2B5EF4-FFF2-40B4-BE49-F238E27FC236}">
                  <a16:creationId xmlns:a16="http://schemas.microsoft.com/office/drawing/2014/main" id="{B2E465AF-19D7-F666-1B07-2EEC4A63271A}"/>
                </a:ext>
              </a:extLst>
            </p:cNvPr>
            <p:cNvSpPr/>
            <p:nvPr/>
          </p:nvSpPr>
          <p:spPr>
            <a:xfrm>
              <a:off x="990416" y="993430"/>
              <a:ext cx="3107109" cy="978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57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4757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9C2A2">
                    <a:alpha val="80043"/>
                  </a:srgbClr>
                </a:gs>
                <a:gs pos="100000">
                  <a:srgbClr val="C1F1E0">
                    <a:alpha val="80043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69C2A2">
                      <a:alpha val="80043"/>
                    </a:srgbClr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28" name="Freeform 71">
              <a:extLst>
                <a:ext uri="{FF2B5EF4-FFF2-40B4-BE49-F238E27FC236}">
                  <a16:creationId xmlns:a16="http://schemas.microsoft.com/office/drawing/2014/main" id="{9836BDB6-386C-8FA0-DB0A-9DDA120EE6FD}"/>
                </a:ext>
              </a:extLst>
            </p:cNvPr>
            <p:cNvSpPr/>
            <p:nvPr/>
          </p:nvSpPr>
          <p:spPr>
            <a:xfrm>
              <a:off x="0" y="0"/>
              <a:ext cx="1974789" cy="1980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1" h="21600" extrusionOk="0">
                  <a:moveTo>
                    <a:pt x="10780" y="21600"/>
                  </a:moveTo>
                  <a:cubicBezTo>
                    <a:pt x="10543" y="21600"/>
                    <a:pt x="10307" y="21521"/>
                    <a:pt x="10149" y="21363"/>
                  </a:cubicBezTo>
                  <a:cubicBezTo>
                    <a:pt x="295" y="11473"/>
                    <a:pt x="295" y="11473"/>
                    <a:pt x="295" y="11473"/>
                  </a:cubicBezTo>
                  <a:cubicBezTo>
                    <a:pt x="-99" y="11156"/>
                    <a:pt x="-99" y="10523"/>
                    <a:pt x="295" y="10207"/>
                  </a:cubicBezTo>
                  <a:cubicBezTo>
                    <a:pt x="10149" y="316"/>
                    <a:pt x="10149" y="316"/>
                    <a:pt x="10149" y="316"/>
                  </a:cubicBezTo>
                  <a:cubicBezTo>
                    <a:pt x="10307" y="158"/>
                    <a:pt x="10543" y="0"/>
                    <a:pt x="10780" y="0"/>
                  </a:cubicBezTo>
                  <a:cubicBezTo>
                    <a:pt x="11016" y="0"/>
                    <a:pt x="11253" y="158"/>
                    <a:pt x="11410" y="316"/>
                  </a:cubicBezTo>
                  <a:cubicBezTo>
                    <a:pt x="21265" y="10207"/>
                    <a:pt x="21265" y="10207"/>
                    <a:pt x="21265" y="10207"/>
                  </a:cubicBezTo>
                  <a:cubicBezTo>
                    <a:pt x="21422" y="10365"/>
                    <a:pt x="21501" y="10602"/>
                    <a:pt x="21501" y="10840"/>
                  </a:cubicBezTo>
                  <a:cubicBezTo>
                    <a:pt x="21501" y="11077"/>
                    <a:pt x="21422" y="11314"/>
                    <a:pt x="21265" y="11473"/>
                  </a:cubicBezTo>
                  <a:cubicBezTo>
                    <a:pt x="11410" y="21363"/>
                    <a:pt x="11410" y="21363"/>
                    <a:pt x="11410" y="21363"/>
                  </a:cubicBezTo>
                  <a:cubicBezTo>
                    <a:pt x="11253" y="21521"/>
                    <a:pt x="11016" y="21600"/>
                    <a:pt x="10780" y="21600"/>
                  </a:cubicBezTo>
                  <a:close/>
                </a:path>
              </a:pathLst>
            </a:custGeom>
            <a:solidFill>
              <a:srgbClr val="404756"/>
            </a:solidFill>
            <a:ln w="12700" cap="flat">
              <a:solidFill>
                <a:srgbClr val="69C2A2">
                  <a:alpha val="80043"/>
                </a:srgbClr>
              </a:solidFill>
              <a:prstDash val="solid"/>
              <a:miter lim="400000"/>
            </a:ln>
            <a:effectLst>
              <a:outerShdw blurRad="190500" dist="127000" dir="2700000" rotWithShape="0">
                <a:srgbClr val="000000">
                  <a:alpha val="2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spcBef>
                  <a:spcPts val="1200"/>
                </a:spcBef>
                <a:defRPr sz="1400" b="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29" name="Rectangle 85">
              <a:extLst>
                <a:ext uri="{FF2B5EF4-FFF2-40B4-BE49-F238E27FC236}">
                  <a16:creationId xmlns:a16="http://schemas.microsoft.com/office/drawing/2014/main" id="{D322BABB-65B0-81CB-48DF-1A56AB97F4C3}"/>
                </a:ext>
              </a:extLst>
            </p:cNvPr>
            <p:cNvSpPr txBox="1"/>
            <p:nvPr/>
          </p:nvSpPr>
          <p:spPr>
            <a:xfrm>
              <a:off x="6024623" y="5802"/>
              <a:ext cx="4938675" cy="6554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914400">
                <a:defRPr sz="2800" spc="308">
                  <a:solidFill>
                    <a:srgbClr val="5E5E5E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r>
                <a:rPr lang="en-US">
                  <a:latin typeface="Helvetica"/>
                  <a:cs typeface="Helvetica"/>
                </a:rPr>
                <a:t>OUTREACH</a:t>
              </a:r>
            </a:p>
            <a:p>
              <a:endParaRPr lang="en-US">
                <a:latin typeface="Helvetica"/>
                <a:cs typeface="Helvetica"/>
              </a:endParaRPr>
            </a:p>
          </p:txBody>
        </p:sp>
        <p:sp>
          <p:nvSpPr>
            <p:cNvPr id="30" name="Text Placeholder 53">
              <a:extLst>
                <a:ext uri="{FF2B5EF4-FFF2-40B4-BE49-F238E27FC236}">
                  <a16:creationId xmlns:a16="http://schemas.microsoft.com/office/drawing/2014/main" id="{B5E72572-44B1-DC1F-2004-2AD43BA11630}"/>
                </a:ext>
              </a:extLst>
            </p:cNvPr>
            <p:cNvSpPr txBox="1"/>
            <p:nvPr/>
          </p:nvSpPr>
          <p:spPr>
            <a:xfrm>
              <a:off x="5964774" y="778300"/>
              <a:ext cx="6997871" cy="1247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lnSpc>
                  <a:spcPct val="120000"/>
                </a:lnSpc>
                <a:spcBef>
                  <a:spcPts val="1000"/>
                </a:spcBef>
                <a:defRPr sz="2400" spc="264">
                  <a:solidFill>
                    <a:srgbClr val="5E5E5E"/>
                  </a:solidFill>
                </a:defRPr>
              </a:lvl1pPr>
            </a:lstStyle>
            <a:p>
              <a:r>
                <a:rPr lang="en-US" sz="2600">
                  <a:latin typeface="Helvetica"/>
                  <a:ea typeface="Lato Light"/>
                  <a:cs typeface="Helvetica"/>
                </a:rPr>
                <a:t>Conference, seminars and networking events - Join us!</a:t>
              </a:r>
              <a:endParaRPr lang="en-US">
                <a:latin typeface="Helvetica"/>
                <a:ea typeface="Lato Light"/>
                <a:cs typeface="Helvetica"/>
              </a:endParaRPr>
            </a:p>
            <a:p>
              <a:endParaRPr lang="en-US" sz="2600">
                <a:latin typeface="Helvetica"/>
                <a:cs typeface="Helvetica"/>
              </a:endParaRPr>
            </a:p>
          </p:txBody>
        </p:sp>
        <p:sp>
          <p:nvSpPr>
            <p:cNvPr id="31" name="Quote Bubble">
              <a:extLst>
                <a:ext uri="{FF2B5EF4-FFF2-40B4-BE49-F238E27FC236}">
                  <a16:creationId xmlns:a16="http://schemas.microsoft.com/office/drawing/2014/main" id="{B5DDDF8A-AEEE-128F-8166-2084302271A1}"/>
                </a:ext>
              </a:extLst>
            </p:cNvPr>
            <p:cNvSpPr/>
            <p:nvPr/>
          </p:nvSpPr>
          <p:spPr>
            <a:xfrm>
              <a:off x="529784" y="593667"/>
              <a:ext cx="962329" cy="628304"/>
            </a:xfrm>
            <a:prstGeom prst="wedgeEllipseCallout">
              <a:avLst>
                <a:gd name="adj1" fmla="val -49045"/>
                <a:gd name="adj2" fmla="val 73398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32" name="?">
              <a:extLst>
                <a:ext uri="{FF2B5EF4-FFF2-40B4-BE49-F238E27FC236}">
                  <a16:creationId xmlns:a16="http://schemas.microsoft.com/office/drawing/2014/main" id="{716E2797-FBE1-9D4A-4CCC-7B23D980F17B}"/>
                </a:ext>
              </a:extLst>
            </p:cNvPr>
            <p:cNvSpPr txBox="1"/>
            <p:nvPr/>
          </p:nvSpPr>
          <p:spPr>
            <a:xfrm>
              <a:off x="870224" y="695381"/>
              <a:ext cx="493196" cy="753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2000" b="1">
                  <a:solidFill>
                    <a:srgbClr val="242E3D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>
                  <a:latin typeface="Helvetica"/>
                  <a:cs typeface="Helvetica"/>
                </a:rPr>
                <a:t>?</a:t>
              </a:r>
            </a:p>
          </p:txBody>
        </p:sp>
      </p:grpSp>
      <p:grpSp>
        <p:nvGrpSpPr>
          <p:cNvPr id="42" name="Group">
            <a:extLst>
              <a:ext uri="{FF2B5EF4-FFF2-40B4-BE49-F238E27FC236}">
                <a16:creationId xmlns:a16="http://schemas.microsoft.com/office/drawing/2014/main" id="{0FAF30F7-CB13-0AE5-3D0D-08AAEBB3CB07}"/>
              </a:ext>
            </a:extLst>
          </p:cNvPr>
          <p:cNvGrpSpPr/>
          <p:nvPr/>
        </p:nvGrpSpPr>
        <p:grpSpPr>
          <a:xfrm>
            <a:off x="998215" y="10298856"/>
            <a:ext cx="12138972" cy="1978020"/>
            <a:chOff x="0" y="0"/>
            <a:chExt cx="12138972" cy="1978018"/>
          </a:xfrm>
        </p:grpSpPr>
        <p:sp>
          <p:nvSpPr>
            <p:cNvPr id="35" name="Freeform 67">
              <a:extLst>
                <a:ext uri="{FF2B5EF4-FFF2-40B4-BE49-F238E27FC236}">
                  <a16:creationId xmlns:a16="http://schemas.microsoft.com/office/drawing/2014/main" id="{3F567AA7-664A-6647-F41A-9C4AFA969436}"/>
                </a:ext>
              </a:extLst>
            </p:cNvPr>
            <p:cNvSpPr/>
            <p:nvPr/>
          </p:nvSpPr>
          <p:spPr>
            <a:xfrm>
              <a:off x="6700779" y="6039"/>
              <a:ext cx="1962702" cy="197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579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600155B0-394F-E080-1657-2FB8ABF4E40A}"/>
                </a:ext>
              </a:extLst>
            </p:cNvPr>
            <p:cNvSpPr/>
            <p:nvPr/>
          </p:nvSpPr>
          <p:spPr>
            <a:xfrm>
              <a:off x="7060103" y="6038"/>
              <a:ext cx="4085441" cy="197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10377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579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37" name="Freeform 63">
              <a:extLst>
                <a:ext uri="{FF2B5EF4-FFF2-40B4-BE49-F238E27FC236}">
                  <a16:creationId xmlns:a16="http://schemas.microsoft.com/office/drawing/2014/main" id="{4815624D-7592-EF6F-D19E-E1CC7912C362}"/>
                </a:ext>
              </a:extLst>
            </p:cNvPr>
            <p:cNvSpPr/>
            <p:nvPr/>
          </p:nvSpPr>
          <p:spPr>
            <a:xfrm>
              <a:off x="7060103" y="993427"/>
              <a:ext cx="4085441" cy="984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5173" y="0"/>
                  </a:ln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579A"/>
                </a:gs>
                <a:gs pos="100000">
                  <a:srgbClr val="5A9AE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579A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38" name="Freeform 68">
              <a:extLst>
                <a:ext uri="{FF2B5EF4-FFF2-40B4-BE49-F238E27FC236}">
                  <a16:creationId xmlns:a16="http://schemas.microsoft.com/office/drawing/2014/main" id="{D9A4DA66-8A50-BB74-FA63-E3CFA3B7B8D7}"/>
                </a:ext>
              </a:extLst>
            </p:cNvPr>
            <p:cNvSpPr/>
            <p:nvPr/>
          </p:nvSpPr>
          <p:spPr>
            <a:xfrm>
              <a:off x="10162372" y="0"/>
              <a:ext cx="1976600" cy="1977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600" extrusionOk="0">
                  <a:moveTo>
                    <a:pt x="10721" y="21600"/>
                  </a:moveTo>
                  <a:cubicBezTo>
                    <a:pt x="10485" y="21600"/>
                    <a:pt x="10248" y="21521"/>
                    <a:pt x="10090" y="21363"/>
                  </a:cubicBezTo>
                  <a:cubicBezTo>
                    <a:pt x="236" y="11473"/>
                    <a:pt x="236" y="11473"/>
                    <a:pt x="236" y="11473"/>
                  </a:cubicBezTo>
                  <a:cubicBezTo>
                    <a:pt x="-79" y="11156"/>
                    <a:pt x="-79" y="10523"/>
                    <a:pt x="236" y="10207"/>
                  </a:cubicBezTo>
                  <a:cubicBezTo>
                    <a:pt x="10090" y="316"/>
                    <a:pt x="10090" y="316"/>
                    <a:pt x="10090" y="316"/>
                  </a:cubicBezTo>
                  <a:cubicBezTo>
                    <a:pt x="10248" y="158"/>
                    <a:pt x="10485" y="0"/>
                    <a:pt x="10721" y="0"/>
                  </a:cubicBezTo>
                  <a:cubicBezTo>
                    <a:pt x="10957" y="0"/>
                    <a:pt x="11194" y="158"/>
                    <a:pt x="11352" y="316"/>
                  </a:cubicBezTo>
                  <a:cubicBezTo>
                    <a:pt x="21206" y="10207"/>
                    <a:pt x="21206" y="10207"/>
                    <a:pt x="21206" y="10207"/>
                  </a:cubicBezTo>
                  <a:cubicBezTo>
                    <a:pt x="21363" y="10365"/>
                    <a:pt x="21521" y="10602"/>
                    <a:pt x="21521" y="10840"/>
                  </a:cubicBezTo>
                  <a:cubicBezTo>
                    <a:pt x="21521" y="11077"/>
                    <a:pt x="21363" y="11314"/>
                    <a:pt x="21206" y="11473"/>
                  </a:cubicBezTo>
                  <a:cubicBezTo>
                    <a:pt x="11352" y="21363"/>
                    <a:pt x="11352" y="21363"/>
                    <a:pt x="11352" y="21363"/>
                  </a:cubicBezTo>
                  <a:cubicBezTo>
                    <a:pt x="11194" y="21521"/>
                    <a:pt x="10957" y="21600"/>
                    <a:pt x="10721" y="21600"/>
                  </a:cubicBezTo>
                  <a:close/>
                </a:path>
              </a:pathLst>
            </a:custGeom>
            <a:solidFill>
              <a:srgbClr val="404756"/>
            </a:solidFill>
            <a:ln w="12700" cap="flat">
              <a:solidFill>
                <a:srgbClr val="3986C7"/>
              </a:solidFill>
              <a:prstDash val="solid"/>
              <a:miter lim="400000"/>
            </a:ln>
            <a:effectLst>
              <a:outerShdw blurRad="190500" dist="139700" dir="2700000" rotWithShape="0">
                <a:srgbClr val="000000">
                  <a:alpha val="24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spcBef>
                  <a:spcPts val="1200"/>
                </a:spcBef>
                <a:defRPr sz="1400" b="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Helvetica"/>
                <a:cs typeface="Helvetica"/>
              </a:endParaRPr>
            </a:p>
          </p:txBody>
        </p:sp>
        <p:sp>
          <p:nvSpPr>
            <p:cNvPr id="39" name="Rectangle 84">
              <a:extLst>
                <a:ext uri="{FF2B5EF4-FFF2-40B4-BE49-F238E27FC236}">
                  <a16:creationId xmlns:a16="http://schemas.microsoft.com/office/drawing/2014/main" id="{5CE84260-A747-A9CB-965E-80E0163B8377}"/>
                </a:ext>
              </a:extLst>
            </p:cNvPr>
            <p:cNvSpPr txBox="1"/>
            <p:nvPr/>
          </p:nvSpPr>
          <p:spPr>
            <a:xfrm>
              <a:off x="988831" y="5692"/>
              <a:ext cx="5688870" cy="5437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algn="r" defTabSz="914400">
                <a:defRPr sz="2800" spc="308">
                  <a:solidFill>
                    <a:srgbClr val="5E5E5E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 algn="l"/>
              <a:r>
                <a:rPr lang="en-US" b="1">
                  <a:latin typeface="Helvetica"/>
                  <a:cs typeface="Helvetica"/>
                </a:rPr>
                <a:t>COURSES &amp; WORKSHOPS</a:t>
              </a:r>
            </a:p>
            <a:p>
              <a:endParaRPr lang="en-US" b="1">
                <a:latin typeface="Helvetica"/>
                <a:cs typeface="Helvetica"/>
              </a:endParaRPr>
            </a:p>
          </p:txBody>
        </p:sp>
        <p:sp>
          <p:nvSpPr>
            <p:cNvPr id="40" name="Text Placeholder 53">
              <a:extLst>
                <a:ext uri="{FF2B5EF4-FFF2-40B4-BE49-F238E27FC236}">
                  <a16:creationId xmlns:a16="http://schemas.microsoft.com/office/drawing/2014/main" id="{538DD8ED-B566-44A3-E702-ED5F57D46453}"/>
                </a:ext>
              </a:extLst>
            </p:cNvPr>
            <p:cNvSpPr txBox="1"/>
            <p:nvPr/>
          </p:nvSpPr>
          <p:spPr>
            <a:xfrm>
              <a:off x="0" y="794358"/>
              <a:ext cx="6120136" cy="1183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r" defTabSz="914400">
                <a:lnSpc>
                  <a:spcPct val="120000"/>
                </a:lnSpc>
                <a:spcBef>
                  <a:spcPts val="1000"/>
                </a:spcBef>
                <a:defRPr sz="2400" spc="264">
                  <a:solidFill>
                    <a:srgbClr val="5E5E5E"/>
                  </a:solidFill>
                </a:defRPr>
              </a:lvl1pPr>
            </a:lstStyle>
            <a:p>
              <a:r>
                <a:rPr lang="en-US" sz="2600">
                  <a:latin typeface="Helvetica"/>
                  <a:ea typeface="Lato Light"/>
                  <a:cs typeface="Helvetica"/>
                </a:rPr>
                <a:t>Data Science skills, Tools and HDS Topics</a:t>
              </a:r>
              <a:endParaRPr lang="en-US">
                <a:latin typeface="Helvetica"/>
                <a:ea typeface="Lato Light"/>
                <a:cs typeface="Helvetica"/>
              </a:endParaRPr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4A737D14-C977-6F13-ECAD-566908E71858}"/>
                </a:ext>
              </a:extLst>
            </p:cNvPr>
            <p:cNvSpPr/>
            <p:nvPr/>
          </p:nvSpPr>
          <p:spPr>
            <a:xfrm>
              <a:off x="10748689" y="535306"/>
              <a:ext cx="790975" cy="833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93" y="11941"/>
                  </a:moveTo>
                  <a:cubicBezTo>
                    <a:pt x="11193" y="11766"/>
                    <a:pt x="10604" y="7024"/>
                    <a:pt x="9229" y="6673"/>
                  </a:cubicBezTo>
                  <a:cubicBezTo>
                    <a:pt x="7462" y="6322"/>
                    <a:pt x="7462" y="6322"/>
                    <a:pt x="7462" y="6322"/>
                  </a:cubicBezTo>
                  <a:cubicBezTo>
                    <a:pt x="7462" y="6146"/>
                    <a:pt x="7462" y="5971"/>
                    <a:pt x="7265" y="5971"/>
                  </a:cubicBezTo>
                  <a:cubicBezTo>
                    <a:pt x="7462" y="5795"/>
                    <a:pt x="7462" y="5620"/>
                    <a:pt x="7658" y="5620"/>
                  </a:cubicBezTo>
                  <a:cubicBezTo>
                    <a:pt x="7855" y="5268"/>
                    <a:pt x="8051" y="4917"/>
                    <a:pt x="8247" y="4741"/>
                  </a:cubicBezTo>
                  <a:cubicBezTo>
                    <a:pt x="8247" y="4566"/>
                    <a:pt x="8247" y="4390"/>
                    <a:pt x="8247" y="4215"/>
                  </a:cubicBezTo>
                  <a:cubicBezTo>
                    <a:pt x="8444" y="4215"/>
                    <a:pt x="8640" y="4039"/>
                    <a:pt x="8640" y="3688"/>
                  </a:cubicBezTo>
                  <a:cubicBezTo>
                    <a:pt x="8640" y="3337"/>
                    <a:pt x="8640" y="3337"/>
                    <a:pt x="8640" y="3337"/>
                  </a:cubicBezTo>
                  <a:cubicBezTo>
                    <a:pt x="8640" y="3161"/>
                    <a:pt x="8640" y="2985"/>
                    <a:pt x="8444" y="2810"/>
                  </a:cubicBezTo>
                  <a:cubicBezTo>
                    <a:pt x="8444" y="2107"/>
                    <a:pt x="8444" y="2107"/>
                    <a:pt x="8444" y="2107"/>
                  </a:cubicBezTo>
                  <a:cubicBezTo>
                    <a:pt x="8444" y="1054"/>
                    <a:pt x="7265" y="0"/>
                    <a:pt x="6087" y="0"/>
                  </a:cubicBezTo>
                  <a:cubicBezTo>
                    <a:pt x="5105" y="0"/>
                    <a:pt x="5105" y="0"/>
                    <a:pt x="5105" y="0"/>
                  </a:cubicBezTo>
                  <a:cubicBezTo>
                    <a:pt x="3927" y="0"/>
                    <a:pt x="2749" y="1054"/>
                    <a:pt x="2749" y="2107"/>
                  </a:cubicBezTo>
                  <a:cubicBezTo>
                    <a:pt x="2749" y="2810"/>
                    <a:pt x="2749" y="2810"/>
                    <a:pt x="2749" y="2810"/>
                  </a:cubicBezTo>
                  <a:cubicBezTo>
                    <a:pt x="2553" y="2985"/>
                    <a:pt x="2553" y="3161"/>
                    <a:pt x="2553" y="3337"/>
                  </a:cubicBezTo>
                  <a:cubicBezTo>
                    <a:pt x="2553" y="3688"/>
                    <a:pt x="2553" y="3688"/>
                    <a:pt x="2553" y="3688"/>
                  </a:cubicBezTo>
                  <a:cubicBezTo>
                    <a:pt x="2553" y="4039"/>
                    <a:pt x="2749" y="4215"/>
                    <a:pt x="2945" y="4215"/>
                  </a:cubicBezTo>
                  <a:cubicBezTo>
                    <a:pt x="2945" y="4390"/>
                    <a:pt x="2945" y="4566"/>
                    <a:pt x="2945" y="4741"/>
                  </a:cubicBezTo>
                  <a:cubicBezTo>
                    <a:pt x="3142" y="4917"/>
                    <a:pt x="3338" y="5268"/>
                    <a:pt x="3535" y="5620"/>
                  </a:cubicBezTo>
                  <a:cubicBezTo>
                    <a:pt x="3731" y="5620"/>
                    <a:pt x="3731" y="5795"/>
                    <a:pt x="3927" y="5971"/>
                  </a:cubicBezTo>
                  <a:cubicBezTo>
                    <a:pt x="3731" y="5971"/>
                    <a:pt x="3731" y="6146"/>
                    <a:pt x="3731" y="6322"/>
                  </a:cubicBezTo>
                  <a:cubicBezTo>
                    <a:pt x="1964" y="6673"/>
                    <a:pt x="1964" y="6673"/>
                    <a:pt x="1964" y="6673"/>
                  </a:cubicBezTo>
                  <a:cubicBezTo>
                    <a:pt x="589" y="7024"/>
                    <a:pt x="0" y="11766"/>
                    <a:pt x="0" y="11766"/>
                  </a:cubicBezTo>
                  <a:cubicBezTo>
                    <a:pt x="0" y="11766"/>
                    <a:pt x="0" y="11941"/>
                    <a:pt x="0" y="11941"/>
                  </a:cubicBezTo>
                  <a:cubicBezTo>
                    <a:pt x="0" y="12117"/>
                    <a:pt x="196" y="12293"/>
                    <a:pt x="393" y="12293"/>
                  </a:cubicBezTo>
                  <a:cubicBezTo>
                    <a:pt x="10800" y="12293"/>
                    <a:pt x="10800" y="12293"/>
                    <a:pt x="10800" y="12293"/>
                  </a:cubicBezTo>
                  <a:cubicBezTo>
                    <a:pt x="10996" y="12293"/>
                    <a:pt x="11193" y="12117"/>
                    <a:pt x="11193" y="11941"/>
                  </a:cubicBezTo>
                  <a:close/>
                  <a:moveTo>
                    <a:pt x="5105" y="7902"/>
                  </a:moveTo>
                  <a:cubicBezTo>
                    <a:pt x="5105" y="8078"/>
                    <a:pt x="5105" y="8078"/>
                    <a:pt x="5105" y="8078"/>
                  </a:cubicBezTo>
                  <a:cubicBezTo>
                    <a:pt x="4909" y="8078"/>
                    <a:pt x="4909" y="8078"/>
                    <a:pt x="4909" y="8078"/>
                  </a:cubicBezTo>
                  <a:cubicBezTo>
                    <a:pt x="4909" y="8078"/>
                    <a:pt x="4909" y="8078"/>
                    <a:pt x="4909" y="8078"/>
                  </a:cubicBezTo>
                  <a:cubicBezTo>
                    <a:pt x="4320" y="7551"/>
                    <a:pt x="4320" y="7551"/>
                    <a:pt x="4320" y="7551"/>
                  </a:cubicBezTo>
                  <a:cubicBezTo>
                    <a:pt x="4320" y="7551"/>
                    <a:pt x="4320" y="7376"/>
                    <a:pt x="4320" y="7376"/>
                  </a:cubicBezTo>
                  <a:cubicBezTo>
                    <a:pt x="4320" y="6498"/>
                    <a:pt x="4320" y="6498"/>
                    <a:pt x="4320" y="6498"/>
                  </a:cubicBezTo>
                  <a:cubicBezTo>
                    <a:pt x="4320" y="6498"/>
                    <a:pt x="4320" y="6498"/>
                    <a:pt x="4516" y="6498"/>
                  </a:cubicBezTo>
                  <a:cubicBezTo>
                    <a:pt x="4516" y="6498"/>
                    <a:pt x="4516" y="6498"/>
                    <a:pt x="4516" y="6498"/>
                  </a:cubicBezTo>
                  <a:cubicBezTo>
                    <a:pt x="4713" y="6498"/>
                    <a:pt x="4909" y="6498"/>
                    <a:pt x="4909" y="6498"/>
                  </a:cubicBezTo>
                  <a:cubicBezTo>
                    <a:pt x="5105" y="6673"/>
                    <a:pt x="5105" y="6673"/>
                    <a:pt x="5105" y="6673"/>
                  </a:cubicBezTo>
                  <a:cubicBezTo>
                    <a:pt x="5105" y="7024"/>
                    <a:pt x="5105" y="7024"/>
                    <a:pt x="5105" y="7024"/>
                  </a:cubicBezTo>
                  <a:cubicBezTo>
                    <a:pt x="5105" y="7024"/>
                    <a:pt x="5105" y="7024"/>
                    <a:pt x="5105" y="7024"/>
                  </a:cubicBezTo>
                  <a:cubicBezTo>
                    <a:pt x="5105" y="7200"/>
                    <a:pt x="5302" y="7200"/>
                    <a:pt x="5302" y="7200"/>
                  </a:cubicBezTo>
                  <a:lnTo>
                    <a:pt x="5105" y="7902"/>
                  </a:lnTo>
                  <a:close/>
                  <a:moveTo>
                    <a:pt x="6873" y="7376"/>
                  </a:moveTo>
                  <a:cubicBezTo>
                    <a:pt x="6873" y="7376"/>
                    <a:pt x="6873" y="7551"/>
                    <a:pt x="6873" y="7551"/>
                  </a:cubicBezTo>
                  <a:cubicBezTo>
                    <a:pt x="6284" y="8078"/>
                    <a:pt x="6284" y="8078"/>
                    <a:pt x="6284" y="8078"/>
                  </a:cubicBezTo>
                  <a:cubicBezTo>
                    <a:pt x="6284" y="8078"/>
                    <a:pt x="6284" y="8078"/>
                    <a:pt x="6284" y="8078"/>
                  </a:cubicBezTo>
                  <a:cubicBezTo>
                    <a:pt x="6284" y="8078"/>
                    <a:pt x="6284" y="8078"/>
                    <a:pt x="6284" y="8078"/>
                  </a:cubicBezTo>
                  <a:cubicBezTo>
                    <a:pt x="6087" y="8078"/>
                    <a:pt x="6087" y="8078"/>
                    <a:pt x="6087" y="7902"/>
                  </a:cubicBezTo>
                  <a:cubicBezTo>
                    <a:pt x="5891" y="7200"/>
                    <a:pt x="5891" y="7200"/>
                    <a:pt x="5891" y="7200"/>
                  </a:cubicBezTo>
                  <a:cubicBezTo>
                    <a:pt x="5891" y="7200"/>
                    <a:pt x="6087" y="7200"/>
                    <a:pt x="6087" y="7024"/>
                  </a:cubicBezTo>
                  <a:cubicBezTo>
                    <a:pt x="6087" y="7024"/>
                    <a:pt x="6087" y="7024"/>
                    <a:pt x="6087" y="7024"/>
                  </a:cubicBezTo>
                  <a:cubicBezTo>
                    <a:pt x="6087" y="6673"/>
                    <a:pt x="6087" y="6673"/>
                    <a:pt x="6087" y="6673"/>
                  </a:cubicBezTo>
                  <a:cubicBezTo>
                    <a:pt x="6087" y="6673"/>
                    <a:pt x="6087" y="6673"/>
                    <a:pt x="6284" y="6498"/>
                  </a:cubicBezTo>
                  <a:cubicBezTo>
                    <a:pt x="6284" y="6498"/>
                    <a:pt x="6480" y="6498"/>
                    <a:pt x="6676" y="6498"/>
                  </a:cubicBezTo>
                  <a:cubicBezTo>
                    <a:pt x="6676" y="6498"/>
                    <a:pt x="6676" y="6498"/>
                    <a:pt x="6676" y="6498"/>
                  </a:cubicBezTo>
                  <a:cubicBezTo>
                    <a:pt x="6873" y="6498"/>
                    <a:pt x="6873" y="6498"/>
                    <a:pt x="6873" y="6498"/>
                  </a:cubicBezTo>
                  <a:lnTo>
                    <a:pt x="6873" y="7376"/>
                  </a:lnTo>
                  <a:close/>
                  <a:moveTo>
                    <a:pt x="6087" y="5795"/>
                  </a:moveTo>
                  <a:cubicBezTo>
                    <a:pt x="5105" y="5795"/>
                    <a:pt x="5105" y="5795"/>
                    <a:pt x="5105" y="5795"/>
                  </a:cubicBezTo>
                  <a:cubicBezTo>
                    <a:pt x="4909" y="5795"/>
                    <a:pt x="4713" y="5620"/>
                    <a:pt x="4320" y="5093"/>
                  </a:cubicBezTo>
                  <a:cubicBezTo>
                    <a:pt x="3927" y="4741"/>
                    <a:pt x="3731" y="4215"/>
                    <a:pt x="3731" y="3863"/>
                  </a:cubicBezTo>
                  <a:cubicBezTo>
                    <a:pt x="3731" y="3863"/>
                    <a:pt x="3731" y="3863"/>
                    <a:pt x="3731" y="3863"/>
                  </a:cubicBezTo>
                  <a:cubicBezTo>
                    <a:pt x="3535" y="3863"/>
                    <a:pt x="3535" y="3863"/>
                    <a:pt x="3535" y="3863"/>
                  </a:cubicBezTo>
                  <a:cubicBezTo>
                    <a:pt x="3535" y="3688"/>
                    <a:pt x="3535" y="3688"/>
                    <a:pt x="3535" y="3688"/>
                  </a:cubicBezTo>
                  <a:cubicBezTo>
                    <a:pt x="3535" y="3512"/>
                    <a:pt x="3535" y="3512"/>
                    <a:pt x="3535" y="3512"/>
                  </a:cubicBezTo>
                  <a:cubicBezTo>
                    <a:pt x="3535" y="3337"/>
                    <a:pt x="3535" y="3337"/>
                    <a:pt x="3535" y="3337"/>
                  </a:cubicBezTo>
                  <a:cubicBezTo>
                    <a:pt x="3731" y="3337"/>
                    <a:pt x="3731" y="3337"/>
                    <a:pt x="3731" y="3337"/>
                  </a:cubicBezTo>
                  <a:cubicBezTo>
                    <a:pt x="3731" y="2985"/>
                    <a:pt x="3731" y="2985"/>
                    <a:pt x="3731" y="2985"/>
                  </a:cubicBezTo>
                  <a:cubicBezTo>
                    <a:pt x="3731" y="2985"/>
                    <a:pt x="3731" y="2985"/>
                    <a:pt x="3731" y="2985"/>
                  </a:cubicBezTo>
                  <a:cubicBezTo>
                    <a:pt x="3927" y="2810"/>
                    <a:pt x="4320" y="2634"/>
                    <a:pt x="4909" y="2634"/>
                  </a:cubicBezTo>
                  <a:cubicBezTo>
                    <a:pt x="5105" y="2634"/>
                    <a:pt x="5498" y="2810"/>
                    <a:pt x="5695" y="2985"/>
                  </a:cubicBezTo>
                  <a:cubicBezTo>
                    <a:pt x="6087" y="3161"/>
                    <a:pt x="6284" y="3337"/>
                    <a:pt x="6676" y="3337"/>
                  </a:cubicBezTo>
                  <a:cubicBezTo>
                    <a:pt x="6873" y="3337"/>
                    <a:pt x="7069" y="3337"/>
                    <a:pt x="7265" y="3161"/>
                  </a:cubicBezTo>
                  <a:cubicBezTo>
                    <a:pt x="7265" y="3161"/>
                    <a:pt x="7462" y="3161"/>
                    <a:pt x="7462" y="3337"/>
                  </a:cubicBezTo>
                  <a:cubicBezTo>
                    <a:pt x="7462" y="3337"/>
                    <a:pt x="7462" y="3337"/>
                    <a:pt x="7462" y="3337"/>
                  </a:cubicBezTo>
                  <a:cubicBezTo>
                    <a:pt x="7658" y="3337"/>
                    <a:pt x="7658" y="3337"/>
                    <a:pt x="7658" y="3337"/>
                  </a:cubicBezTo>
                  <a:cubicBezTo>
                    <a:pt x="7658" y="3337"/>
                    <a:pt x="7855" y="3337"/>
                    <a:pt x="7855" y="3512"/>
                  </a:cubicBezTo>
                  <a:cubicBezTo>
                    <a:pt x="7855" y="3688"/>
                    <a:pt x="7855" y="3688"/>
                    <a:pt x="7855" y="3688"/>
                  </a:cubicBezTo>
                  <a:cubicBezTo>
                    <a:pt x="7855" y="3688"/>
                    <a:pt x="7658" y="3688"/>
                    <a:pt x="7658" y="3863"/>
                  </a:cubicBezTo>
                  <a:cubicBezTo>
                    <a:pt x="7462" y="3863"/>
                    <a:pt x="7462" y="3863"/>
                    <a:pt x="7462" y="3863"/>
                  </a:cubicBezTo>
                  <a:cubicBezTo>
                    <a:pt x="7462" y="3863"/>
                    <a:pt x="7462" y="3863"/>
                    <a:pt x="7462" y="3863"/>
                  </a:cubicBezTo>
                  <a:cubicBezTo>
                    <a:pt x="7462" y="4215"/>
                    <a:pt x="7265" y="4741"/>
                    <a:pt x="6873" y="5093"/>
                  </a:cubicBezTo>
                  <a:cubicBezTo>
                    <a:pt x="6480" y="5620"/>
                    <a:pt x="6284" y="5795"/>
                    <a:pt x="6087" y="5795"/>
                  </a:cubicBezTo>
                  <a:close/>
                  <a:moveTo>
                    <a:pt x="19636" y="15980"/>
                  </a:moveTo>
                  <a:cubicBezTo>
                    <a:pt x="17869" y="15454"/>
                    <a:pt x="17869" y="15454"/>
                    <a:pt x="17869" y="15454"/>
                  </a:cubicBezTo>
                  <a:cubicBezTo>
                    <a:pt x="17869" y="15454"/>
                    <a:pt x="17673" y="15278"/>
                    <a:pt x="17673" y="15102"/>
                  </a:cubicBezTo>
                  <a:cubicBezTo>
                    <a:pt x="17673" y="15102"/>
                    <a:pt x="17869" y="14927"/>
                    <a:pt x="17869" y="14751"/>
                  </a:cubicBezTo>
                  <a:cubicBezTo>
                    <a:pt x="18262" y="14576"/>
                    <a:pt x="18458" y="14224"/>
                    <a:pt x="18458" y="13873"/>
                  </a:cubicBezTo>
                  <a:cubicBezTo>
                    <a:pt x="18655" y="13698"/>
                    <a:pt x="18655" y="13698"/>
                    <a:pt x="18655" y="13522"/>
                  </a:cubicBezTo>
                  <a:cubicBezTo>
                    <a:pt x="18851" y="13346"/>
                    <a:pt x="18851" y="13171"/>
                    <a:pt x="18851" y="12995"/>
                  </a:cubicBezTo>
                  <a:cubicBezTo>
                    <a:pt x="18851" y="12468"/>
                    <a:pt x="18851" y="12468"/>
                    <a:pt x="18851" y="12468"/>
                  </a:cubicBezTo>
                  <a:cubicBezTo>
                    <a:pt x="18851" y="12293"/>
                    <a:pt x="18851" y="12293"/>
                    <a:pt x="18851" y="12117"/>
                  </a:cubicBezTo>
                  <a:cubicBezTo>
                    <a:pt x="18851" y="11415"/>
                    <a:pt x="18851" y="11415"/>
                    <a:pt x="18851" y="11415"/>
                  </a:cubicBezTo>
                  <a:cubicBezTo>
                    <a:pt x="18851" y="10185"/>
                    <a:pt x="17673" y="9132"/>
                    <a:pt x="16298" y="9132"/>
                  </a:cubicBezTo>
                  <a:cubicBezTo>
                    <a:pt x="15513" y="9132"/>
                    <a:pt x="15513" y="9132"/>
                    <a:pt x="15513" y="9132"/>
                  </a:cubicBezTo>
                  <a:cubicBezTo>
                    <a:pt x="14138" y="9132"/>
                    <a:pt x="13156" y="10185"/>
                    <a:pt x="13156" y="11415"/>
                  </a:cubicBezTo>
                  <a:cubicBezTo>
                    <a:pt x="13156" y="12117"/>
                    <a:pt x="13156" y="12117"/>
                    <a:pt x="13156" y="12117"/>
                  </a:cubicBezTo>
                  <a:cubicBezTo>
                    <a:pt x="12960" y="12293"/>
                    <a:pt x="12960" y="12293"/>
                    <a:pt x="12960" y="12468"/>
                  </a:cubicBezTo>
                  <a:cubicBezTo>
                    <a:pt x="12960" y="12995"/>
                    <a:pt x="12960" y="12995"/>
                    <a:pt x="12960" y="12995"/>
                  </a:cubicBezTo>
                  <a:cubicBezTo>
                    <a:pt x="12960" y="13171"/>
                    <a:pt x="12960" y="13346"/>
                    <a:pt x="13156" y="13522"/>
                  </a:cubicBezTo>
                  <a:cubicBezTo>
                    <a:pt x="13156" y="13698"/>
                    <a:pt x="13353" y="13698"/>
                    <a:pt x="13353" y="13873"/>
                  </a:cubicBezTo>
                  <a:cubicBezTo>
                    <a:pt x="13549" y="14224"/>
                    <a:pt x="13745" y="14576"/>
                    <a:pt x="13942" y="14751"/>
                  </a:cubicBezTo>
                  <a:cubicBezTo>
                    <a:pt x="13942" y="14927"/>
                    <a:pt x="14138" y="15102"/>
                    <a:pt x="14335" y="15102"/>
                  </a:cubicBezTo>
                  <a:cubicBezTo>
                    <a:pt x="14138" y="15278"/>
                    <a:pt x="13942" y="15454"/>
                    <a:pt x="13942" y="15454"/>
                  </a:cubicBezTo>
                  <a:cubicBezTo>
                    <a:pt x="12175" y="15980"/>
                    <a:pt x="12175" y="15980"/>
                    <a:pt x="12175" y="15980"/>
                  </a:cubicBezTo>
                  <a:cubicBezTo>
                    <a:pt x="10996" y="16332"/>
                    <a:pt x="10211" y="21073"/>
                    <a:pt x="10211" y="21073"/>
                  </a:cubicBezTo>
                  <a:cubicBezTo>
                    <a:pt x="10211" y="21073"/>
                    <a:pt x="10211" y="21073"/>
                    <a:pt x="10211" y="21073"/>
                  </a:cubicBezTo>
                  <a:cubicBezTo>
                    <a:pt x="10211" y="21073"/>
                    <a:pt x="10211" y="21073"/>
                    <a:pt x="10211" y="21073"/>
                  </a:cubicBezTo>
                  <a:cubicBezTo>
                    <a:pt x="10211" y="21424"/>
                    <a:pt x="10407" y="21600"/>
                    <a:pt x="10604" y="21600"/>
                  </a:cubicBezTo>
                  <a:cubicBezTo>
                    <a:pt x="21207" y="21600"/>
                    <a:pt x="21207" y="21600"/>
                    <a:pt x="21207" y="21600"/>
                  </a:cubicBezTo>
                  <a:cubicBezTo>
                    <a:pt x="21404" y="21600"/>
                    <a:pt x="21600" y="21424"/>
                    <a:pt x="21600" y="21073"/>
                  </a:cubicBezTo>
                  <a:cubicBezTo>
                    <a:pt x="21600" y="20898"/>
                    <a:pt x="20815" y="16332"/>
                    <a:pt x="19636" y="15980"/>
                  </a:cubicBezTo>
                  <a:close/>
                  <a:moveTo>
                    <a:pt x="15513" y="17210"/>
                  </a:moveTo>
                  <a:cubicBezTo>
                    <a:pt x="15513" y="17210"/>
                    <a:pt x="15316" y="17385"/>
                    <a:pt x="15316" y="17385"/>
                  </a:cubicBezTo>
                  <a:cubicBezTo>
                    <a:pt x="15316" y="17385"/>
                    <a:pt x="15316" y="17385"/>
                    <a:pt x="15316" y="17385"/>
                  </a:cubicBezTo>
                  <a:cubicBezTo>
                    <a:pt x="15316" y="17385"/>
                    <a:pt x="15120" y="17385"/>
                    <a:pt x="15120" y="17210"/>
                  </a:cubicBezTo>
                  <a:cubicBezTo>
                    <a:pt x="14727" y="16683"/>
                    <a:pt x="14727" y="16683"/>
                    <a:pt x="14727" y="16683"/>
                  </a:cubicBezTo>
                  <a:cubicBezTo>
                    <a:pt x="14727" y="16683"/>
                    <a:pt x="14727" y="16683"/>
                    <a:pt x="14727" y="16683"/>
                  </a:cubicBezTo>
                  <a:cubicBezTo>
                    <a:pt x="14727" y="15805"/>
                    <a:pt x="14727" y="15805"/>
                    <a:pt x="14727" y="15805"/>
                  </a:cubicBezTo>
                  <a:cubicBezTo>
                    <a:pt x="14727" y="15805"/>
                    <a:pt x="14727" y="15805"/>
                    <a:pt x="14727" y="15629"/>
                  </a:cubicBezTo>
                  <a:cubicBezTo>
                    <a:pt x="14727" y="15629"/>
                    <a:pt x="14924" y="15629"/>
                    <a:pt x="14924" y="15629"/>
                  </a:cubicBezTo>
                  <a:cubicBezTo>
                    <a:pt x="15120" y="15805"/>
                    <a:pt x="15120" y="15805"/>
                    <a:pt x="15316" y="15805"/>
                  </a:cubicBezTo>
                  <a:cubicBezTo>
                    <a:pt x="15316" y="15805"/>
                    <a:pt x="15513" y="15805"/>
                    <a:pt x="15513" y="15980"/>
                  </a:cubicBezTo>
                  <a:cubicBezTo>
                    <a:pt x="15513" y="16332"/>
                    <a:pt x="15513" y="16332"/>
                    <a:pt x="15513" y="16332"/>
                  </a:cubicBezTo>
                  <a:cubicBezTo>
                    <a:pt x="15513" y="16332"/>
                    <a:pt x="15513" y="16332"/>
                    <a:pt x="15513" y="16332"/>
                  </a:cubicBezTo>
                  <a:cubicBezTo>
                    <a:pt x="15513" y="16332"/>
                    <a:pt x="15513" y="16332"/>
                    <a:pt x="15513" y="16507"/>
                  </a:cubicBezTo>
                  <a:lnTo>
                    <a:pt x="15513" y="17210"/>
                  </a:lnTo>
                  <a:close/>
                  <a:moveTo>
                    <a:pt x="17084" y="16683"/>
                  </a:moveTo>
                  <a:cubicBezTo>
                    <a:pt x="17084" y="16683"/>
                    <a:pt x="17084" y="16683"/>
                    <a:pt x="17084" y="16683"/>
                  </a:cubicBezTo>
                  <a:cubicBezTo>
                    <a:pt x="16691" y="17210"/>
                    <a:pt x="16691" y="17210"/>
                    <a:pt x="16691" y="17210"/>
                  </a:cubicBezTo>
                  <a:cubicBezTo>
                    <a:pt x="16691" y="17385"/>
                    <a:pt x="16691" y="17385"/>
                    <a:pt x="16495" y="17385"/>
                  </a:cubicBezTo>
                  <a:cubicBezTo>
                    <a:pt x="16495" y="17385"/>
                    <a:pt x="16495" y="17385"/>
                    <a:pt x="16495" y="17385"/>
                  </a:cubicBezTo>
                  <a:cubicBezTo>
                    <a:pt x="16495" y="17385"/>
                    <a:pt x="16495" y="17210"/>
                    <a:pt x="16298" y="17210"/>
                  </a:cubicBezTo>
                  <a:cubicBezTo>
                    <a:pt x="16298" y="16507"/>
                    <a:pt x="16298" y="16507"/>
                    <a:pt x="16298" y="16507"/>
                  </a:cubicBezTo>
                  <a:cubicBezTo>
                    <a:pt x="16298" y="16332"/>
                    <a:pt x="16298" y="16332"/>
                    <a:pt x="16298" y="16332"/>
                  </a:cubicBezTo>
                  <a:cubicBezTo>
                    <a:pt x="16298" y="16332"/>
                    <a:pt x="16298" y="16332"/>
                    <a:pt x="16495" y="16332"/>
                  </a:cubicBezTo>
                  <a:cubicBezTo>
                    <a:pt x="16495" y="15980"/>
                    <a:pt x="16495" y="15980"/>
                    <a:pt x="16495" y="15980"/>
                  </a:cubicBezTo>
                  <a:cubicBezTo>
                    <a:pt x="16495" y="15805"/>
                    <a:pt x="16495" y="15805"/>
                    <a:pt x="16495" y="15805"/>
                  </a:cubicBezTo>
                  <a:cubicBezTo>
                    <a:pt x="16691" y="15805"/>
                    <a:pt x="16887" y="15805"/>
                    <a:pt x="16887" y="15629"/>
                  </a:cubicBezTo>
                  <a:cubicBezTo>
                    <a:pt x="16887" y="15629"/>
                    <a:pt x="17084" y="15629"/>
                    <a:pt x="17084" y="15629"/>
                  </a:cubicBezTo>
                  <a:cubicBezTo>
                    <a:pt x="17084" y="15805"/>
                    <a:pt x="17084" y="15805"/>
                    <a:pt x="17084" y="15805"/>
                  </a:cubicBezTo>
                  <a:lnTo>
                    <a:pt x="17084" y="16683"/>
                  </a:lnTo>
                  <a:close/>
                  <a:moveTo>
                    <a:pt x="16298" y="15102"/>
                  </a:moveTo>
                  <a:cubicBezTo>
                    <a:pt x="15513" y="15102"/>
                    <a:pt x="15513" y="15102"/>
                    <a:pt x="15513" y="15102"/>
                  </a:cubicBezTo>
                  <a:cubicBezTo>
                    <a:pt x="15316" y="15102"/>
                    <a:pt x="14924" y="14927"/>
                    <a:pt x="14531" y="14400"/>
                  </a:cubicBezTo>
                  <a:cubicBezTo>
                    <a:pt x="14335" y="13873"/>
                    <a:pt x="14138" y="13522"/>
                    <a:pt x="13942" y="13171"/>
                  </a:cubicBezTo>
                  <a:cubicBezTo>
                    <a:pt x="13942" y="13171"/>
                    <a:pt x="13942" y="13171"/>
                    <a:pt x="13942" y="13171"/>
                  </a:cubicBezTo>
                  <a:cubicBezTo>
                    <a:pt x="13745" y="12995"/>
                    <a:pt x="13745" y="12995"/>
                    <a:pt x="13745" y="12995"/>
                  </a:cubicBezTo>
                  <a:cubicBezTo>
                    <a:pt x="13745" y="12995"/>
                    <a:pt x="13745" y="12995"/>
                    <a:pt x="13745" y="12820"/>
                  </a:cubicBezTo>
                  <a:cubicBezTo>
                    <a:pt x="13745" y="12644"/>
                    <a:pt x="13745" y="12644"/>
                    <a:pt x="13745" y="12644"/>
                  </a:cubicBezTo>
                  <a:cubicBezTo>
                    <a:pt x="13745" y="12644"/>
                    <a:pt x="13745" y="12468"/>
                    <a:pt x="13942" y="12468"/>
                  </a:cubicBezTo>
                  <a:cubicBezTo>
                    <a:pt x="13942" y="12468"/>
                    <a:pt x="13942" y="12468"/>
                    <a:pt x="13942" y="12468"/>
                  </a:cubicBezTo>
                  <a:cubicBezTo>
                    <a:pt x="13942" y="12293"/>
                    <a:pt x="13942" y="12293"/>
                    <a:pt x="13942" y="12293"/>
                  </a:cubicBezTo>
                  <a:cubicBezTo>
                    <a:pt x="13942" y="12293"/>
                    <a:pt x="13942" y="12117"/>
                    <a:pt x="14138" y="12117"/>
                  </a:cubicBezTo>
                  <a:cubicBezTo>
                    <a:pt x="14335" y="12117"/>
                    <a:pt x="14727" y="11941"/>
                    <a:pt x="15120" y="11941"/>
                  </a:cubicBezTo>
                  <a:cubicBezTo>
                    <a:pt x="15513" y="11941"/>
                    <a:pt x="15905" y="11941"/>
                    <a:pt x="16102" y="12293"/>
                  </a:cubicBezTo>
                  <a:cubicBezTo>
                    <a:pt x="16298" y="12468"/>
                    <a:pt x="16691" y="12644"/>
                    <a:pt x="17084" y="12644"/>
                  </a:cubicBezTo>
                  <a:cubicBezTo>
                    <a:pt x="17280" y="12644"/>
                    <a:pt x="17476" y="12644"/>
                    <a:pt x="17673" y="12468"/>
                  </a:cubicBezTo>
                  <a:cubicBezTo>
                    <a:pt x="17673" y="12468"/>
                    <a:pt x="17673" y="12468"/>
                    <a:pt x="17869" y="12468"/>
                  </a:cubicBezTo>
                  <a:cubicBezTo>
                    <a:pt x="17869" y="12468"/>
                    <a:pt x="17869" y="12468"/>
                    <a:pt x="17869" y="12468"/>
                  </a:cubicBezTo>
                  <a:cubicBezTo>
                    <a:pt x="17869" y="12468"/>
                    <a:pt x="17869" y="12468"/>
                    <a:pt x="17869" y="12468"/>
                  </a:cubicBezTo>
                  <a:cubicBezTo>
                    <a:pt x="18065" y="12468"/>
                    <a:pt x="18065" y="12644"/>
                    <a:pt x="18065" y="12644"/>
                  </a:cubicBezTo>
                  <a:cubicBezTo>
                    <a:pt x="18065" y="12820"/>
                    <a:pt x="18065" y="12820"/>
                    <a:pt x="18065" y="12820"/>
                  </a:cubicBezTo>
                  <a:cubicBezTo>
                    <a:pt x="18065" y="12995"/>
                    <a:pt x="18065" y="12995"/>
                    <a:pt x="18065" y="12995"/>
                  </a:cubicBezTo>
                  <a:cubicBezTo>
                    <a:pt x="17869" y="13171"/>
                    <a:pt x="17869" y="13171"/>
                    <a:pt x="17869" y="13171"/>
                  </a:cubicBezTo>
                  <a:cubicBezTo>
                    <a:pt x="17869" y="13171"/>
                    <a:pt x="17869" y="13171"/>
                    <a:pt x="17869" y="13171"/>
                  </a:cubicBezTo>
                  <a:cubicBezTo>
                    <a:pt x="17869" y="13522"/>
                    <a:pt x="17673" y="13873"/>
                    <a:pt x="17280" y="14400"/>
                  </a:cubicBezTo>
                  <a:cubicBezTo>
                    <a:pt x="16887" y="14927"/>
                    <a:pt x="16495" y="15102"/>
                    <a:pt x="16298" y="15102"/>
                  </a:cubicBezTo>
                  <a:close/>
                  <a:moveTo>
                    <a:pt x="9818" y="2985"/>
                  </a:moveTo>
                  <a:cubicBezTo>
                    <a:pt x="10015" y="2985"/>
                    <a:pt x="10211" y="2985"/>
                    <a:pt x="10407" y="2985"/>
                  </a:cubicBezTo>
                  <a:cubicBezTo>
                    <a:pt x="10800" y="3161"/>
                    <a:pt x="10996" y="3337"/>
                    <a:pt x="11389" y="3863"/>
                  </a:cubicBezTo>
                  <a:cubicBezTo>
                    <a:pt x="11585" y="4390"/>
                    <a:pt x="11782" y="4917"/>
                    <a:pt x="11978" y="5444"/>
                  </a:cubicBezTo>
                  <a:cubicBezTo>
                    <a:pt x="12175" y="5795"/>
                    <a:pt x="12175" y="5795"/>
                    <a:pt x="12175" y="5795"/>
                  </a:cubicBezTo>
                  <a:cubicBezTo>
                    <a:pt x="11193" y="6146"/>
                    <a:pt x="11193" y="6146"/>
                    <a:pt x="11193" y="6146"/>
                  </a:cubicBezTo>
                  <a:cubicBezTo>
                    <a:pt x="10996" y="6146"/>
                    <a:pt x="10996" y="6322"/>
                    <a:pt x="10996" y="6322"/>
                  </a:cubicBezTo>
                  <a:cubicBezTo>
                    <a:pt x="10996" y="6498"/>
                    <a:pt x="10996" y="6673"/>
                    <a:pt x="11193" y="6673"/>
                  </a:cubicBezTo>
                  <a:cubicBezTo>
                    <a:pt x="14727" y="8254"/>
                    <a:pt x="14727" y="8254"/>
                    <a:pt x="14727" y="8254"/>
                  </a:cubicBezTo>
                  <a:cubicBezTo>
                    <a:pt x="14727" y="8254"/>
                    <a:pt x="14727" y="8254"/>
                    <a:pt x="14727" y="8254"/>
                  </a:cubicBezTo>
                  <a:cubicBezTo>
                    <a:pt x="14924" y="8254"/>
                    <a:pt x="14924" y="8254"/>
                    <a:pt x="14924" y="8254"/>
                  </a:cubicBezTo>
                  <a:cubicBezTo>
                    <a:pt x="15120" y="8254"/>
                    <a:pt x="15120" y="8254"/>
                    <a:pt x="15120" y="8078"/>
                  </a:cubicBezTo>
                  <a:cubicBezTo>
                    <a:pt x="15709" y="4566"/>
                    <a:pt x="15709" y="4566"/>
                    <a:pt x="15709" y="4566"/>
                  </a:cubicBezTo>
                  <a:cubicBezTo>
                    <a:pt x="15709" y="4390"/>
                    <a:pt x="15709" y="4390"/>
                    <a:pt x="15709" y="4215"/>
                  </a:cubicBezTo>
                  <a:cubicBezTo>
                    <a:pt x="15513" y="4215"/>
                    <a:pt x="15316" y="4215"/>
                    <a:pt x="15316" y="4215"/>
                  </a:cubicBezTo>
                  <a:cubicBezTo>
                    <a:pt x="14531" y="4566"/>
                    <a:pt x="14531" y="4566"/>
                    <a:pt x="14531" y="4566"/>
                  </a:cubicBezTo>
                  <a:cubicBezTo>
                    <a:pt x="14138" y="4390"/>
                    <a:pt x="14138" y="4390"/>
                    <a:pt x="14138" y="4390"/>
                  </a:cubicBezTo>
                  <a:cubicBezTo>
                    <a:pt x="12764" y="2985"/>
                    <a:pt x="11585" y="2283"/>
                    <a:pt x="10604" y="2283"/>
                  </a:cubicBezTo>
                  <a:cubicBezTo>
                    <a:pt x="10604" y="2283"/>
                    <a:pt x="10604" y="2283"/>
                    <a:pt x="10604" y="2283"/>
                  </a:cubicBezTo>
                  <a:cubicBezTo>
                    <a:pt x="10211" y="2283"/>
                    <a:pt x="10015" y="2283"/>
                    <a:pt x="9622" y="2459"/>
                  </a:cubicBezTo>
                  <a:cubicBezTo>
                    <a:pt x="9622" y="2634"/>
                    <a:pt x="9425" y="2810"/>
                    <a:pt x="9622" y="2810"/>
                  </a:cubicBezTo>
                  <a:cubicBezTo>
                    <a:pt x="9622" y="2985"/>
                    <a:pt x="9818" y="2985"/>
                    <a:pt x="9818" y="2985"/>
                  </a:cubicBezTo>
                  <a:close/>
                  <a:moveTo>
                    <a:pt x="9033" y="18790"/>
                  </a:moveTo>
                  <a:cubicBezTo>
                    <a:pt x="8836" y="18790"/>
                    <a:pt x="8640" y="18790"/>
                    <a:pt x="8640" y="18615"/>
                  </a:cubicBezTo>
                  <a:cubicBezTo>
                    <a:pt x="8247" y="18615"/>
                    <a:pt x="7855" y="18263"/>
                    <a:pt x="7462" y="17912"/>
                  </a:cubicBezTo>
                  <a:cubicBezTo>
                    <a:pt x="7265" y="17385"/>
                    <a:pt x="7069" y="16859"/>
                    <a:pt x="6873" y="16332"/>
                  </a:cubicBezTo>
                  <a:cubicBezTo>
                    <a:pt x="6873" y="15980"/>
                    <a:pt x="6873" y="15980"/>
                    <a:pt x="6873" y="15980"/>
                  </a:cubicBezTo>
                  <a:cubicBezTo>
                    <a:pt x="7658" y="15629"/>
                    <a:pt x="7658" y="15629"/>
                    <a:pt x="7658" y="15629"/>
                  </a:cubicBezTo>
                  <a:cubicBezTo>
                    <a:pt x="7855" y="15629"/>
                    <a:pt x="7855" y="15454"/>
                    <a:pt x="7855" y="15278"/>
                  </a:cubicBezTo>
                  <a:cubicBezTo>
                    <a:pt x="7855" y="15278"/>
                    <a:pt x="7855" y="15102"/>
                    <a:pt x="7658" y="15102"/>
                  </a:cubicBezTo>
                  <a:cubicBezTo>
                    <a:pt x="4124" y="13522"/>
                    <a:pt x="4124" y="13522"/>
                    <a:pt x="4124" y="13522"/>
                  </a:cubicBezTo>
                  <a:cubicBezTo>
                    <a:pt x="4124" y="13522"/>
                    <a:pt x="4124" y="13346"/>
                    <a:pt x="4124" y="13346"/>
                  </a:cubicBezTo>
                  <a:cubicBezTo>
                    <a:pt x="3927" y="13346"/>
                    <a:pt x="3927" y="13522"/>
                    <a:pt x="3927" y="13522"/>
                  </a:cubicBezTo>
                  <a:cubicBezTo>
                    <a:pt x="3731" y="13522"/>
                    <a:pt x="3731" y="13522"/>
                    <a:pt x="3731" y="13698"/>
                  </a:cubicBezTo>
                  <a:cubicBezTo>
                    <a:pt x="3142" y="17210"/>
                    <a:pt x="3142" y="17210"/>
                    <a:pt x="3142" y="17210"/>
                  </a:cubicBezTo>
                  <a:cubicBezTo>
                    <a:pt x="3142" y="17210"/>
                    <a:pt x="3142" y="17385"/>
                    <a:pt x="3338" y="17385"/>
                  </a:cubicBezTo>
                  <a:cubicBezTo>
                    <a:pt x="3338" y="17561"/>
                    <a:pt x="3535" y="17561"/>
                    <a:pt x="3535" y="17561"/>
                  </a:cubicBezTo>
                  <a:cubicBezTo>
                    <a:pt x="4320" y="17034"/>
                    <a:pt x="4320" y="17034"/>
                    <a:pt x="4320" y="17034"/>
                  </a:cubicBezTo>
                  <a:cubicBezTo>
                    <a:pt x="4713" y="17385"/>
                    <a:pt x="4713" y="17385"/>
                    <a:pt x="4713" y="17385"/>
                  </a:cubicBezTo>
                  <a:cubicBezTo>
                    <a:pt x="6087" y="18790"/>
                    <a:pt x="7265" y="19493"/>
                    <a:pt x="8247" y="19493"/>
                  </a:cubicBezTo>
                  <a:cubicBezTo>
                    <a:pt x="8247" y="19493"/>
                    <a:pt x="8247" y="19493"/>
                    <a:pt x="8247" y="19493"/>
                  </a:cubicBezTo>
                  <a:cubicBezTo>
                    <a:pt x="8640" y="19493"/>
                    <a:pt x="9033" y="19493"/>
                    <a:pt x="9229" y="19317"/>
                  </a:cubicBezTo>
                  <a:cubicBezTo>
                    <a:pt x="9425" y="19141"/>
                    <a:pt x="9425" y="18966"/>
                    <a:pt x="9425" y="18966"/>
                  </a:cubicBezTo>
                  <a:cubicBezTo>
                    <a:pt x="9229" y="18790"/>
                    <a:pt x="9229" y="18615"/>
                    <a:pt x="9033" y="1879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Helvetica"/>
                <a:cs typeface="Helvetica"/>
              </a:endParaRPr>
            </a:p>
          </p:txBody>
        </p:sp>
      </p:grpSp>
      <p:sp>
        <p:nvSpPr>
          <p:cNvPr id="51" name="Rectangle">
            <a:extLst>
              <a:ext uri="{FF2B5EF4-FFF2-40B4-BE49-F238E27FC236}">
                <a16:creationId xmlns:a16="http://schemas.microsoft.com/office/drawing/2014/main" id="{2305B92B-AB7D-6D5C-A4A0-D4D7641C581D}"/>
              </a:ext>
            </a:extLst>
          </p:cNvPr>
          <p:cNvSpPr/>
          <p:nvPr/>
        </p:nvSpPr>
        <p:spPr>
          <a:xfrm flipH="1">
            <a:off x="-4610" y="-2815"/>
            <a:ext cx="24380472" cy="1064156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4012C783-18D8-AA5B-A998-D1ACCD53B412}"/>
              </a:ext>
            </a:extLst>
          </p:cNvPr>
          <p:cNvSpPr/>
          <p:nvPr/>
        </p:nvSpPr>
        <p:spPr>
          <a:xfrm flipH="1">
            <a:off x="-4588" y="12740203"/>
            <a:ext cx="24380472" cy="98487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4827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bioinformatics_illustration_web.jpg" descr="bioinformatics_illustration_web.jpg"/>
          <p:cNvPicPr>
            <a:picLocks noChangeAspect="1"/>
          </p:cNvPicPr>
          <p:nvPr/>
        </p:nvPicPr>
        <p:blipFill>
          <a:blip r:embed="rId3">
            <a:alphaModFix amt="50148"/>
          </a:blip>
          <a:srcRect t="105" b="954"/>
          <a:stretch>
            <a:fillRect/>
          </a:stretch>
        </p:blipFill>
        <p:spPr>
          <a:xfrm rot="5400000">
            <a:off x="7152755" y="4469455"/>
            <a:ext cx="13733239" cy="4777262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Rectangle"/>
          <p:cNvSpPr/>
          <p:nvPr/>
        </p:nvSpPr>
        <p:spPr>
          <a:xfrm>
            <a:off x="15954173" y="-181273"/>
            <a:ext cx="8454415" cy="1392492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21" name="Group"/>
          <p:cNvGrpSpPr/>
          <p:nvPr/>
        </p:nvGrpSpPr>
        <p:grpSpPr>
          <a:xfrm>
            <a:off x="1394494" y="1589586"/>
            <a:ext cx="9486171" cy="3410392"/>
            <a:chOff x="0" y="65586"/>
            <a:chExt cx="9486170" cy="3410391"/>
          </a:xfrm>
        </p:grpSpPr>
        <p:sp>
          <p:nvSpPr>
            <p:cNvPr id="118" name="THE PRACTICALS"/>
            <p:cNvSpPr txBox="1"/>
            <p:nvPr/>
          </p:nvSpPr>
          <p:spPr>
            <a:xfrm>
              <a:off x="0" y="720813"/>
              <a:ext cx="9486170" cy="27551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THE PRACTICALS</a:t>
              </a:r>
            </a:p>
          </p:txBody>
        </p:sp>
        <p:sp>
          <p:nvSpPr>
            <p:cNvPr id="119" name="FROM EXCEL TO R"/>
            <p:cNvSpPr txBox="1"/>
            <p:nvPr/>
          </p:nvSpPr>
          <p:spPr>
            <a:xfrm>
              <a:off x="1792819" y="65586"/>
              <a:ext cx="6471696" cy="4369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120" name="Line"/>
            <p:cNvSpPr/>
            <p:nvPr/>
          </p:nvSpPr>
          <p:spPr>
            <a:xfrm>
              <a:off x="111502" y="218268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22" name="Rectangle"/>
          <p:cNvSpPr/>
          <p:nvPr/>
        </p:nvSpPr>
        <p:spPr>
          <a:xfrm>
            <a:off x="1510893" y="4277379"/>
            <a:ext cx="21247914" cy="3715371"/>
          </a:xfrm>
          <a:prstGeom prst="rect">
            <a:avLst/>
          </a:prstGeom>
          <a:solidFill>
            <a:srgbClr val="FFFFFF"/>
          </a:solidFill>
          <a:ln w="50800">
            <a:solidFill>
              <a:srgbClr val="293441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30" name="Group"/>
          <p:cNvGrpSpPr/>
          <p:nvPr/>
        </p:nvGrpSpPr>
        <p:grpSpPr>
          <a:xfrm>
            <a:off x="1485898" y="8509013"/>
            <a:ext cx="21272910" cy="3715372"/>
            <a:chOff x="-1" y="0"/>
            <a:chExt cx="21272908" cy="3715371"/>
          </a:xfrm>
        </p:grpSpPr>
        <p:sp>
          <p:nvSpPr>
            <p:cNvPr id="123" name="Rectangle"/>
            <p:cNvSpPr/>
            <p:nvPr/>
          </p:nvSpPr>
          <p:spPr>
            <a:xfrm>
              <a:off x="24994" y="0"/>
              <a:ext cx="21247913" cy="3715371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rgbClr val="293441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24" name="Freeform 43"/>
            <p:cNvSpPr/>
            <p:nvPr/>
          </p:nvSpPr>
          <p:spPr>
            <a:xfrm>
              <a:off x="0" y="1322658"/>
              <a:ext cx="5007565" cy="1070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334" extrusionOk="0">
                  <a:moveTo>
                    <a:pt x="18763" y="21223"/>
                  </a:moveTo>
                  <a:cubicBezTo>
                    <a:pt x="21499" y="11338"/>
                    <a:pt x="21499" y="11338"/>
                    <a:pt x="21499" y="11338"/>
                  </a:cubicBezTo>
                  <a:cubicBezTo>
                    <a:pt x="21600" y="10972"/>
                    <a:pt x="21600" y="10362"/>
                    <a:pt x="21499" y="9996"/>
                  </a:cubicBezTo>
                  <a:cubicBezTo>
                    <a:pt x="18763" y="111"/>
                    <a:pt x="18763" y="111"/>
                    <a:pt x="18763" y="111"/>
                  </a:cubicBezTo>
                  <a:cubicBezTo>
                    <a:pt x="18695" y="-133"/>
                    <a:pt x="18577" y="50"/>
                    <a:pt x="18577" y="416"/>
                  </a:cubicBezTo>
                  <a:cubicBezTo>
                    <a:pt x="18577" y="2491"/>
                    <a:pt x="18577" y="2491"/>
                    <a:pt x="18577" y="2491"/>
                  </a:cubicBezTo>
                  <a:cubicBezTo>
                    <a:pt x="0" y="2491"/>
                    <a:pt x="0" y="2491"/>
                    <a:pt x="0" y="2491"/>
                  </a:cubicBezTo>
                  <a:cubicBezTo>
                    <a:pt x="0" y="18843"/>
                    <a:pt x="0" y="18843"/>
                    <a:pt x="0" y="18843"/>
                  </a:cubicBezTo>
                  <a:cubicBezTo>
                    <a:pt x="18577" y="18843"/>
                    <a:pt x="18577" y="18843"/>
                    <a:pt x="18577" y="18843"/>
                  </a:cubicBezTo>
                  <a:cubicBezTo>
                    <a:pt x="18577" y="20918"/>
                    <a:pt x="18577" y="20918"/>
                    <a:pt x="18577" y="20918"/>
                  </a:cubicBezTo>
                  <a:cubicBezTo>
                    <a:pt x="18577" y="21284"/>
                    <a:pt x="18695" y="21467"/>
                    <a:pt x="18763" y="21223"/>
                  </a:cubicBezTo>
                  <a:close/>
                </a:path>
              </a:pathLst>
            </a:cu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25" name="Freeform 47"/>
            <p:cNvSpPr/>
            <p:nvPr/>
          </p:nvSpPr>
          <p:spPr>
            <a:xfrm>
              <a:off x="0" y="2143374"/>
              <a:ext cx="3830659" cy="1070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349" extrusionOk="0">
                  <a:moveTo>
                    <a:pt x="18147" y="21222"/>
                  </a:moveTo>
                  <a:cubicBezTo>
                    <a:pt x="21477" y="11309"/>
                    <a:pt x="21477" y="11309"/>
                    <a:pt x="21477" y="11309"/>
                  </a:cubicBezTo>
                  <a:cubicBezTo>
                    <a:pt x="21600" y="11004"/>
                    <a:pt x="21600" y="10392"/>
                    <a:pt x="21477" y="10025"/>
                  </a:cubicBezTo>
                  <a:cubicBezTo>
                    <a:pt x="18147" y="112"/>
                    <a:pt x="18147" y="112"/>
                    <a:pt x="18147" y="112"/>
                  </a:cubicBezTo>
                  <a:cubicBezTo>
                    <a:pt x="18065" y="-133"/>
                    <a:pt x="17921" y="51"/>
                    <a:pt x="17921" y="418"/>
                  </a:cubicBezTo>
                  <a:cubicBezTo>
                    <a:pt x="17921" y="2498"/>
                    <a:pt x="17921" y="2498"/>
                    <a:pt x="17921" y="2498"/>
                  </a:cubicBezTo>
                  <a:cubicBezTo>
                    <a:pt x="0" y="2498"/>
                    <a:pt x="0" y="2498"/>
                    <a:pt x="0" y="2498"/>
                  </a:cubicBezTo>
                  <a:cubicBezTo>
                    <a:pt x="0" y="18897"/>
                    <a:pt x="0" y="18897"/>
                    <a:pt x="0" y="18897"/>
                  </a:cubicBezTo>
                  <a:cubicBezTo>
                    <a:pt x="17921" y="18897"/>
                    <a:pt x="17921" y="18897"/>
                    <a:pt x="17921" y="18897"/>
                  </a:cubicBezTo>
                  <a:cubicBezTo>
                    <a:pt x="17921" y="20977"/>
                    <a:pt x="17921" y="20977"/>
                    <a:pt x="17921" y="20977"/>
                  </a:cubicBezTo>
                  <a:cubicBezTo>
                    <a:pt x="17921" y="21345"/>
                    <a:pt x="18065" y="21467"/>
                    <a:pt x="18147" y="21222"/>
                  </a:cubicBezTo>
                  <a:close/>
                </a:path>
              </a:pathLst>
            </a:custGeom>
            <a:solidFill>
              <a:srgbClr val="3158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26" name="Freeform 44"/>
            <p:cNvSpPr/>
            <p:nvPr/>
          </p:nvSpPr>
          <p:spPr>
            <a:xfrm>
              <a:off x="-1" y="501363"/>
              <a:ext cx="2805652" cy="1070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9" h="21337" extrusionOk="0">
                  <a:moveTo>
                    <a:pt x="17058" y="21224"/>
                  </a:moveTo>
                  <a:cubicBezTo>
                    <a:pt x="21438" y="11311"/>
                    <a:pt x="21438" y="11311"/>
                    <a:pt x="21438" y="11311"/>
                  </a:cubicBezTo>
                  <a:cubicBezTo>
                    <a:pt x="21600" y="10944"/>
                    <a:pt x="21600" y="10394"/>
                    <a:pt x="21438" y="10027"/>
                  </a:cubicBezTo>
                  <a:cubicBezTo>
                    <a:pt x="17058" y="114"/>
                    <a:pt x="17058" y="114"/>
                    <a:pt x="17058" y="114"/>
                  </a:cubicBezTo>
                  <a:cubicBezTo>
                    <a:pt x="16950" y="-131"/>
                    <a:pt x="16761" y="53"/>
                    <a:pt x="16761" y="359"/>
                  </a:cubicBezTo>
                  <a:cubicBezTo>
                    <a:pt x="16761" y="2439"/>
                    <a:pt x="16761" y="2439"/>
                    <a:pt x="16761" y="2439"/>
                  </a:cubicBezTo>
                  <a:cubicBezTo>
                    <a:pt x="0" y="2439"/>
                    <a:pt x="0" y="2439"/>
                    <a:pt x="0" y="2439"/>
                  </a:cubicBezTo>
                  <a:cubicBezTo>
                    <a:pt x="0" y="18899"/>
                    <a:pt x="0" y="18899"/>
                    <a:pt x="0" y="18899"/>
                  </a:cubicBezTo>
                  <a:cubicBezTo>
                    <a:pt x="16761" y="18899"/>
                    <a:pt x="16761" y="18899"/>
                    <a:pt x="16761" y="18899"/>
                  </a:cubicBezTo>
                  <a:cubicBezTo>
                    <a:pt x="16761" y="20979"/>
                    <a:pt x="16761" y="20979"/>
                    <a:pt x="16761" y="20979"/>
                  </a:cubicBezTo>
                  <a:cubicBezTo>
                    <a:pt x="16761" y="21285"/>
                    <a:pt x="16950" y="21469"/>
                    <a:pt x="17058" y="21224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525067"/>
                  </a:solidFill>
                </a:defRPr>
              </a:pPr>
              <a:endParaRPr/>
            </a:p>
          </p:txBody>
        </p:sp>
        <p:sp>
          <p:nvSpPr>
            <p:cNvPr id="127" name="Download and install the newest version of R (https://cran.r-project.org/)"/>
            <p:cNvSpPr txBox="1"/>
            <p:nvPr/>
          </p:nvSpPr>
          <p:spPr>
            <a:xfrm>
              <a:off x="3340879" y="713001"/>
              <a:ext cx="12446004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Download and install the newest version of R (</a:t>
              </a:r>
              <a:r>
                <a:rPr u="sng">
                  <a:hlinkClick r:id="rId4"/>
                </a:rPr>
                <a:t>https://cran.r-project.org/</a:t>
              </a:r>
              <a:r>
                <a:t>)</a:t>
              </a:r>
            </a:p>
          </p:txBody>
        </p:sp>
        <p:sp>
          <p:nvSpPr>
            <p:cNvPr id="128" name="Download and install the newest version of R-studio (http://www.rstudio.com/download)"/>
            <p:cNvSpPr txBox="1"/>
            <p:nvPr/>
          </p:nvSpPr>
          <p:spPr>
            <a:xfrm>
              <a:off x="5199310" y="1596064"/>
              <a:ext cx="15939770" cy="538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Download and install the newest version of </a:t>
              </a:r>
              <a:r>
                <a:rPr sz="2900">
                  <a:latin typeface="Helvetica" pitchFamily="2" charset="0"/>
                </a:rPr>
                <a:t>R-studio (</a:t>
              </a:r>
              <a:r>
                <a:rPr lang="en-US" sz="2900">
                  <a:effectLst/>
                  <a:latin typeface="Helvetica" pitchFamily="2" charset="0"/>
                  <a:hlinkClick r:id="rId5"/>
                </a:rPr>
                <a:t>https://posit.co/download/rstudio-desktop/</a:t>
              </a:r>
              <a:r>
                <a:rPr sz="2900">
                  <a:latin typeface="Helvetica" pitchFamily="2" charset="0"/>
                </a:rPr>
                <a:t>)</a:t>
              </a:r>
            </a:p>
          </p:txBody>
        </p:sp>
        <p:sp>
          <p:nvSpPr>
            <p:cNvPr id="129" name="Download the course material and place it somewhere you can find it again!…"/>
            <p:cNvSpPr txBox="1"/>
            <p:nvPr/>
          </p:nvSpPr>
          <p:spPr>
            <a:xfrm>
              <a:off x="4369579" y="2479128"/>
              <a:ext cx="15760108" cy="538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/>
                <a:t>Go to </a:t>
              </a:r>
              <a:r>
                <a:rPr lang="da-DK" err="1"/>
                <a:t>course</a:t>
              </a:r>
              <a:r>
                <a:rPr lang="da-DK"/>
                <a:t> website: </a:t>
              </a:r>
              <a:r>
                <a:rPr lang="da-DK">
                  <a:hlinkClick r:id="rId6"/>
                </a:rPr>
                <a:t>https://center-for-health-data-science.github.io/FromExceltoR/</a:t>
              </a:r>
              <a:r>
                <a:rPr lang="da-DK"/>
                <a:t> </a:t>
              </a:r>
              <a:endParaRPr/>
            </a:p>
          </p:txBody>
        </p:sp>
      </p:grpSp>
      <p:pic>
        <p:nvPicPr>
          <p:cNvPr id="131" name="91on5Tt+MVL.jpg" descr="91on5Tt+MVL.jpg"/>
          <p:cNvPicPr>
            <a:picLocks noChangeAspect="1"/>
          </p:cNvPicPr>
          <p:nvPr/>
        </p:nvPicPr>
        <p:blipFill>
          <a:blip r:embed="rId7"/>
          <a:srcRect b="1746"/>
          <a:stretch>
            <a:fillRect/>
          </a:stretch>
        </p:blipFill>
        <p:spPr>
          <a:xfrm>
            <a:off x="19838091" y="4460252"/>
            <a:ext cx="2273142" cy="3349518"/>
          </a:xfrm>
          <a:prstGeom prst="rect">
            <a:avLst/>
          </a:prstGeom>
          <a:ln w="12700">
            <a:solidFill>
              <a:srgbClr val="293441"/>
            </a:solidFill>
            <a:miter lim="400000"/>
          </a:ln>
        </p:spPr>
      </p:pic>
      <p:sp>
        <p:nvSpPr>
          <p:cNvPr id="132" name="Freeform 43"/>
          <p:cNvSpPr/>
          <p:nvPr/>
        </p:nvSpPr>
        <p:spPr>
          <a:xfrm flipH="1">
            <a:off x="14601163" y="5673935"/>
            <a:ext cx="5240001" cy="1070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5" h="21334" extrusionOk="0">
                <a:moveTo>
                  <a:pt x="18763" y="21223"/>
                </a:moveTo>
                <a:cubicBezTo>
                  <a:pt x="21499" y="11338"/>
                  <a:pt x="21499" y="11338"/>
                  <a:pt x="21499" y="11338"/>
                </a:cubicBezTo>
                <a:cubicBezTo>
                  <a:pt x="21600" y="10972"/>
                  <a:pt x="21600" y="10362"/>
                  <a:pt x="21499" y="9996"/>
                </a:cubicBezTo>
                <a:cubicBezTo>
                  <a:pt x="18763" y="111"/>
                  <a:pt x="18763" y="111"/>
                  <a:pt x="18763" y="111"/>
                </a:cubicBezTo>
                <a:cubicBezTo>
                  <a:pt x="18695" y="-133"/>
                  <a:pt x="18577" y="50"/>
                  <a:pt x="18577" y="416"/>
                </a:cubicBezTo>
                <a:cubicBezTo>
                  <a:pt x="18577" y="2491"/>
                  <a:pt x="18577" y="2491"/>
                  <a:pt x="18577" y="2491"/>
                </a:cubicBezTo>
                <a:cubicBezTo>
                  <a:pt x="0" y="2491"/>
                  <a:pt x="0" y="2491"/>
                  <a:pt x="0" y="2491"/>
                </a:cubicBezTo>
                <a:cubicBezTo>
                  <a:pt x="0" y="18843"/>
                  <a:pt x="0" y="18843"/>
                  <a:pt x="0" y="18843"/>
                </a:cubicBezTo>
                <a:cubicBezTo>
                  <a:pt x="18577" y="18843"/>
                  <a:pt x="18577" y="18843"/>
                  <a:pt x="18577" y="18843"/>
                </a:cubicBezTo>
                <a:cubicBezTo>
                  <a:pt x="18577" y="20918"/>
                  <a:pt x="18577" y="20918"/>
                  <a:pt x="18577" y="20918"/>
                </a:cubicBezTo>
                <a:cubicBezTo>
                  <a:pt x="18577" y="21284"/>
                  <a:pt x="18695" y="21467"/>
                  <a:pt x="18763" y="21223"/>
                </a:cubicBezTo>
                <a:close/>
              </a:path>
            </a:pathLst>
          </a:custGeom>
          <a:solidFill>
            <a:srgbClr val="390622">
              <a:alpha val="67831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600">
                <a:solidFill>
                  <a:srgbClr val="242524"/>
                </a:solidFill>
              </a:defRPr>
            </a:pPr>
            <a:endParaRPr/>
          </a:p>
        </p:txBody>
      </p:sp>
      <p:sp>
        <p:nvSpPr>
          <p:cNvPr id="133" name="Freeform 43"/>
          <p:cNvSpPr/>
          <p:nvPr/>
        </p:nvSpPr>
        <p:spPr>
          <a:xfrm flipH="1">
            <a:off x="15610250" y="4866010"/>
            <a:ext cx="4230914" cy="1070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5" h="21334" extrusionOk="0">
                <a:moveTo>
                  <a:pt x="18763" y="21223"/>
                </a:moveTo>
                <a:cubicBezTo>
                  <a:pt x="21499" y="11338"/>
                  <a:pt x="21499" y="11338"/>
                  <a:pt x="21499" y="11338"/>
                </a:cubicBezTo>
                <a:cubicBezTo>
                  <a:pt x="21600" y="10972"/>
                  <a:pt x="21600" y="10362"/>
                  <a:pt x="21499" y="9996"/>
                </a:cubicBezTo>
                <a:cubicBezTo>
                  <a:pt x="18763" y="111"/>
                  <a:pt x="18763" y="111"/>
                  <a:pt x="18763" y="111"/>
                </a:cubicBezTo>
                <a:cubicBezTo>
                  <a:pt x="18695" y="-133"/>
                  <a:pt x="18577" y="50"/>
                  <a:pt x="18577" y="416"/>
                </a:cubicBezTo>
                <a:cubicBezTo>
                  <a:pt x="18577" y="2491"/>
                  <a:pt x="18577" y="2491"/>
                  <a:pt x="18577" y="2491"/>
                </a:cubicBezTo>
                <a:cubicBezTo>
                  <a:pt x="0" y="2491"/>
                  <a:pt x="0" y="2491"/>
                  <a:pt x="0" y="2491"/>
                </a:cubicBezTo>
                <a:cubicBezTo>
                  <a:pt x="0" y="18843"/>
                  <a:pt x="0" y="18843"/>
                  <a:pt x="0" y="18843"/>
                </a:cubicBezTo>
                <a:cubicBezTo>
                  <a:pt x="18577" y="18843"/>
                  <a:pt x="18577" y="18843"/>
                  <a:pt x="18577" y="18843"/>
                </a:cubicBezTo>
                <a:cubicBezTo>
                  <a:pt x="18577" y="20918"/>
                  <a:pt x="18577" y="20918"/>
                  <a:pt x="18577" y="20918"/>
                </a:cubicBezTo>
                <a:cubicBezTo>
                  <a:pt x="18577" y="21284"/>
                  <a:pt x="18695" y="21467"/>
                  <a:pt x="18763" y="21223"/>
                </a:cubicBezTo>
                <a:close/>
              </a:path>
            </a:pathLst>
          </a:custGeom>
          <a:solidFill>
            <a:srgbClr val="374556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600">
                <a:solidFill>
                  <a:srgbClr val="242524"/>
                </a:solidFill>
              </a:defRPr>
            </a:pPr>
            <a:endParaRPr/>
          </a:p>
        </p:txBody>
      </p:sp>
      <p:sp>
        <p:nvSpPr>
          <p:cNvPr id="134" name="Freeform 43"/>
          <p:cNvSpPr/>
          <p:nvPr/>
        </p:nvSpPr>
        <p:spPr>
          <a:xfrm flipH="1">
            <a:off x="16673749" y="6462673"/>
            <a:ext cx="3163182" cy="1070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5" h="21334" extrusionOk="0">
                <a:moveTo>
                  <a:pt x="18763" y="21223"/>
                </a:moveTo>
                <a:cubicBezTo>
                  <a:pt x="21499" y="11338"/>
                  <a:pt x="21499" y="11338"/>
                  <a:pt x="21499" y="11338"/>
                </a:cubicBezTo>
                <a:cubicBezTo>
                  <a:pt x="21600" y="10972"/>
                  <a:pt x="21600" y="10362"/>
                  <a:pt x="21499" y="9996"/>
                </a:cubicBezTo>
                <a:cubicBezTo>
                  <a:pt x="18763" y="111"/>
                  <a:pt x="18763" y="111"/>
                  <a:pt x="18763" y="111"/>
                </a:cubicBezTo>
                <a:cubicBezTo>
                  <a:pt x="18695" y="-133"/>
                  <a:pt x="18577" y="50"/>
                  <a:pt x="18577" y="416"/>
                </a:cubicBezTo>
                <a:cubicBezTo>
                  <a:pt x="18577" y="2491"/>
                  <a:pt x="18577" y="2491"/>
                  <a:pt x="18577" y="2491"/>
                </a:cubicBezTo>
                <a:cubicBezTo>
                  <a:pt x="0" y="2491"/>
                  <a:pt x="0" y="2491"/>
                  <a:pt x="0" y="2491"/>
                </a:cubicBezTo>
                <a:cubicBezTo>
                  <a:pt x="0" y="18843"/>
                  <a:pt x="0" y="18843"/>
                  <a:pt x="0" y="18843"/>
                </a:cubicBezTo>
                <a:cubicBezTo>
                  <a:pt x="18577" y="18843"/>
                  <a:pt x="18577" y="18843"/>
                  <a:pt x="18577" y="18843"/>
                </a:cubicBezTo>
                <a:cubicBezTo>
                  <a:pt x="18577" y="20918"/>
                  <a:pt x="18577" y="20918"/>
                  <a:pt x="18577" y="20918"/>
                </a:cubicBezTo>
                <a:cubicBezTo>
                  <a:pt x="18577" y="21284"/>
                  <a:pt x="18695" y="21467"/>
                  <a:pt x="18763" y="21223"/>
                </a:cubicBezTo>
                <a:close/>
              </a:path>
            </a:pathLst>
          </a:custGeom>
          <a:solidFill>
            <a:srgbClr val="884346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600">
                <a:solidFill>
                  <a:srgbClr val="242524"/>
                </a:solidFill>
              </a:defRPr>
            </a:pPr>
            <a:endParaRPr/>
          </a:p>
        </p:txBody>
      </p:sp>
      <p:sp>
        <p:nvSpPr>
          <p:cNvPr id="135" name="“R for Data Science” - a generally useful book on R, also for this course"/>
          <p:cNvSpPr txBox="1"/>
          <p:nvPr/>
        </p:nvSpPr>
        <p:spPr>
          <a:xfrm>
            <a:off x="1829578" y="5957368"/>
            <a:ext cx="1193800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 algn="r"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“R for Data Science” - a generally useful book on R, also for this course</a:t>
            </a:r>
          </a:p>
        </p:txBody>
      </p:sp>
      <p:sp>
        <p:nvSpPr>
          <p:cNvPr id="136" name="Two days: 9.00-16.30. There will be coffee breaks, we promise"/>
          <p:cNvSpPr txBox="1"/>
          <p:nvPr/>
        </p:nvSpPr>
        <p:spPr>
          <a:xfrm>
            <a:off x="1829578" y="5007433"/>
            <a:ext cx="1204853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</a:t>
            </a:r>
            <a:r>
              <a:rPr sz="2900"/>
              <a:t>wo days: 9.00-16.</a:t>
            </a:r>
            <a:r>
              <a:rPr lang="da-DK" sz="2900"/>
              <a:t>0</a:t>
            </a:r>
            <a:r>
              <a:rPr sz="2900"/>
              <a:t>0. There will be coffee breaks, we promise</a:t>
            </a:r>
          </a:p>
        </p:txBody>
      </p:sp>
      <p:sp>
        <p:nvSpPr>
          <p:cNvPr id="137" name="The course is build on hands-on presentations (.R, .Rmd) &amp; exercises"/>
          <p:cNvSpPr txBox="1"/>
          <p:nvPr/>
        </p:nvSpPr>
        <p:spPr>
          <a:xfrm>
            <a:off x="4562391" y="6905646"/>
            <a:ext cx="1041041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course is build on hands-on presentations &amp; exercises</a:t>
            </a:r>
          </a:p>
        </p:txBody>
      </p:sp>
      <p:sp>
        <p:nvSpPr>
          <p:cNvPr id="138" name="Shape"/>
          <p:cNvSpPr/>
          <p:nvPr/>
        </p:nvSpPr>
        <p:spPr>
          <a:xfrm>
            <a:off x="14011261" y="4925888"/>
            <a:ext cx="639763" cy="5847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77" y="15043"/>
                </a:moveTo>
                <a:cubicBezTo>
                  <a:pt x="20437" y="14079"/>
                  <a:pt x="21600" y="12150"/>
                  <a:pt x="21600" y="9643"/>
                </a:cubicBezTo>
                <a:cubicBezTo>
                  <a:pt x="21600" y="9064"/>
                  <a:pt x="21268" y="8679"/>
                  <a:pt x="20769" y="8679"/>
                </a:cubicBezTo>
                <a:cubicBezTo>
                  <a:pt x="18111" y="8679"/>
                  <a:pt x="18111" y="8679"/>
                  <a:pt x="18111" y="8679"/>
                </a:cubicBezTo>
                <a:cubicBezTo>
                  <a:pt x="18111" y="8679"/>
                  <a:pt x="18111" y="8679"/>
                  <a:pt x="18111" y="8679"/>
                </a:cubicBezTo>
                <a:cubicBezTo>
                  <a:pt x="18111" y="8679"/>
                  <a:pt x="18111" y="8679"/>
                  <a:pt x="18111" y="8486"/>
                </a:cubicBezTo>
                <a:cubicBezTo>
                  <a:pt x="18111" y="8293"/>
                  <a:pt x="17945" y="8293"/>
                  <a:pt x="17778" y="8293"/>
                </a:cubicBezTo>
                <a:cubicBezTo>
                  <a:pt x="1495" y="8293"/>
                  <a:pt x="1495" y="8293"/>
                  <a:pt x="1495" y="8293"/>
                </a:cubicBezTo>
                <a:cubicBezTo>
                  <a:pt x="1329" y="8293"/>
                  <a:pt x="1163" y="8293"/>
                  <a:pt x="1163" y="8486"/>
                </a:cubicBezTo>
                <a:cubicBezTo>
                  <a:pt x="1163" y="8871"/>
                  <a:pt x="1163" y="9257"/>
                  <a:pt x="1163" y="9450"/>
                </a:cubicBezTo>
                <a:cubicBezTo>
                  <a:pt x="1163" y="12150"/>
                  <a:pt x="1994" y="14464"/>
                  <a:pt x="3489" y="16393"/>
                </a:cubicBezTo>
                <a:cubicBezTo>
                  <a:pt x="3489" y="16393"/>
                  <a:pt x="3323" y="16393"/>
                  <a:pt x="3157" y="16393"/>
                </a:cubicBezTo>
                <a:cubicBezTo>
                  <a:pt x="2326" y="16586"/>
                  <a:pt x="1662" y="16779"/>
                  <a:pt x="1163" y="17164"/>
                </a:cubicBezTo>
                <a:cubicBezTo>
                  <a:pt x="332" y="17550"/>
                  <a:pt x="0" y="18129"/>
                  <a:pt x="0" y="18707"/>
                </a:cubicBezTo>
                <a:cubicBezTo>
                  <a:pt x="0" y="19286"/>
                  <a:pt x="332" y="19864"/>
                  <a:pt x="1163" y="20250"/>
                </a:cubicBezTo>
                <a:cubicBezTo>
                  <a:pt x="1662" y="20636"/>
                  <a:pt x="2326" y="20829"/>
                  <a:pt x="3157" y="21021"/>
                </a:cubicBezTo>
                <a:cubicBezTo>
                  <a:pt x="4985" y="21407"/>
                  <a:pt x="7311" y="21600"/>
                  <a:pt x="9637" y="21600"/>
                </a:cubicBezTo>
                <a:cubicBezTo>
                  <a:pt x="12129" y="21600"/>
                  <a:pt x="14289" y="21407"/>
                  <a:pt x="16117" y="21021"/>
                </a:cubicBezTo>
                <a:cubicBezTo>
                  <a:pt x="16948" y="20829"/>
                  <a:pt x="17612" y="20636"/>
                  <a:pt x="18111" y="20250"/>
                </a:cubicBezTo>
                <a:cubicBezTo>
                  <a:pt x="18942" y="19864"/>
                  <a:pt x="19274" y="19286"/>
                  <a:pt x="19274" y="18707"/>
                </a:cubicBezTo>
                <a:cubicBezTo>
                  <a:pt x="19274" y="18129"/>
                  <a:pt x="18942" y="17550"/>
                  <a:pt x="18111" y="17164"/>
                </a:cubicBezTo>
                <a:cubicBezTo>
                  <a:pt x="17612" y="16779"/>
                  <a:pt x="16948" y="16586"/>
                  <a:pt x="16117" y="16393"/>
                </a:cubicBezTo>
                <a:cubicBezTo>
                  <a:pt x="15951" y="16393"/>
                  <a:pt x="15951" y="16393"/>
                  <a:pt x="15785" y="16393"/>
                </a:cubicBezTo>
                <a:cubicBezTo>
                  <a:pt x="15951" y="16200"/>
                  <a:pt x="16117" y="16007"/>
                  <a:pt x="16283" y="15621"/>
                </a:cubicBezTo>
                <a:cubicBezTo>
                  <a:pt x="16948" y="15621"/>
                  <a:pt x="17612" y="15429"/>
                  <a:pt x="18277" y="15043"/>
                </a:cubicBezTo>
                <a:close/>
                <a:moveTo>
                  <a:pt x="18111" y="10414"/>
                </a:moveTo>
                <a:cubicBezTo>
                  <a:pt x="18111" y="10414"/>
                  <a:pt x="18111" y="10414"/>
                  <a:pt x="18111" y="10414"/>
                </a:cubicBezTo>
                <a:cubicBezTo>
                  <a:pt x="19938" y="10414"/>
                  <a:pt x="19938" y="10414"/>
                  <a:pt x="19938" y="10414"/>
                </a:cubicBezTo>
                <a:cubicBezTo>
                  <a:pt x="19772" y="11764"/>
                  <a:pt x="18942" y="12729"/>
                  <a:pt x="17778" y="13307"/>
                </a:cubicBezTo>
                <a:cubicBezTo>
                  <a:pt x="17612" y="13500"/>
                  <a:pt x="17446" y="13500"/>
                  <a:pt x="17446" y="13500"/>
                </a:cubicBezTo>
                <a:cubicBezTo>
                  <a:pt x="17778" y="12536"/>
                  <a:pt x="17945" y="11571"/>
                  <a:pt x="18111" y="10414"/>
                </a:cubicBezTo>
                <a:close/>
                <a:moveTo>
                  <a:pt x="17446" y="18707"/>
                </a:moveTo>
                <a:cubicBezTo>
                  <a:pt x="17114" y="18900"/>
                  <a:pt x="16449" y="19093"/>
                  <a:pt x="15286" y="19286"/>
                </a:cubicBezTo>
                <a:cubicBezTo>
                  <a:pt x="13791" y="19671"/>
                  <a:pt x="11797" y="19864"/>
                  <a:pt x="9637" y="19864"/>
                </a:cubicBezTo>
                <a:cubicBezTo>
                  <a:pt x="7643" y="19864"/>
                  <a:pt x="5649" y="19671"/>
                  <a:pt x="3988" y="19286"/>
                </a:cubicBezTo>
                <a:cubicBezTo>
                  <a:pt x="2825" y="19093"/>
                  <a:pt x="2160" y="18900"/>
                  <a:pt x="1828" y="18707"/>
                </a:cubicBezTo>
                <a:cubicBezTo>
                  <a:pt x="2160" y="18514"/>
                  <a:pt x="2825" y="18321"/>
                  <a:pt x="3988" y="18129"/>
                </a:cubicBezTo>
                <a:cubicBezTo>
                  <a:pt x="4320" y="17936"/>
                  <a:pt x="4818" y="17936"/>
                  <a:pt x="5151" y="17936"/>
                </a:cubicBezTo>
                <a:cubicBezTo>
                  <a:pt x="6480" y="18900"/>
                  <a:pt x="7975" y="19479"/>
                  <a:pt x="9637" y="19479"/>
                </a:cubicBezTo>
                <a:cubicBezTo>
                  <a:pt x="11298" y="19479"/>
                  <a:pt x="12794" y="18900"/>
                  <a:pt x="14123" y="17936"/>
                </a:cubicBezTo>
                <a:cubicBezTo>
                  <a:pt x="14622" y="17936"/>
                  <a:pt x="14954" y="17936"/>
                  <a:pt x="15286" y="18129"/>
                </a:cubicBezTo>
                <a:cubicBezTo>
                  <a:pt x="16449" y="18321"/>
                  <a:pt x="17114" y="18514"/>
                  <a:pt x="17446" y="18707"/>
                </a:cubicBezTo>
                <a:close/>
                <a:moveTo>
                  <a:pt x="7975" y="6750"/>
                </a:moveTo>
                <a:cubicBezTo>
                  <a:pt x="7975" y="6750"/>
                  <a:pt x="8142" y="6750"/>
                  <a:pt x="8142" y="6750"/>
                </a:cubicBezTo>
                <a:cubicBezTo>
                  <a:pt x="8142" y="6750"/>
                  <a:pt x="8142" y="6750"/>
                  <a:pt x="8142" y="6750"/>
                </a:cubicBezTo>
                <a:cubicBezTo>
                  <a:pt x="8142" y="6750"/>
                  <a:pt x="8142" y="6750"/>
                  <a:pt x="8142" y="6750"/>
                </a:cubicBezTo>
                <a:cubicBezTo>
                  <a:pt x="8972" y="6171"/>
                  <a:pt x="9305" y="4821"/>
                  <a:pt x="8806" y="3664"/>
                </a:cubicBezTo>
                <a:cubicBezTo>
                  <a:pt x="8474" y="3086"/>
                  <a:pt x="8308" y="2314"/>
                  <a:pt x="8308" y="1350"/>
                </a:cubicBezTo>
                <a:cubicBezTo>
                  <a:pt x="8308" y="1350"/>
                  <a:pt x="8308" y="1157"/>
                  <a:pt x="8308" y="1157"/>
                </a:cubicBezTo>
                <a:cubicBezTo>
                  <a:pt x="8308" y="1157"/>
                  <a:pt x="8308" y="1157"/>
                  <a:pt x="8308" y="1157"/>
                </a:cubicBezTo>
                <a:cubicBezTo>
                  <a:pt x="7477" y="1736"/>
                  <a:pt x="7311" y="3086"/>
                  <a:pt x="7643" y="4050"/>
                </a:cubicBezTo>
                <a:cubicBezTo>
                  <a:pt x="8142" y="4821"/>
                  <a:pt x="8308" y="5593"/>
                  <a:pt x="7975" y="6750"/>
                </a:cubicBezTo>
                <a:close/>
                <a:moveTo>
                  <a:pt x="10634" y="6750"/>
                </a:moveTo>
                <a:cubicBezTo>
                  <a:pt x="10634" y="6750"/>
                  <a:pt x="10634" y="6750"/>
                  <a:pt x="10634" y="6750"/>
                </a:cubicBezTo>
                <a:cubicBezTo>
                  <a:pt x="10634" y="6750"/>
                  <a:pt x="10634" y="6750"/>
                  <a:pt x="10634" y="6750"/>
                </a:cubicBezTo>
                <a:cubicBezTo>
                  <a:pt x="10634" y="6750"/>
                  <a:pt x="10634" y="6750"/>
                  <a:pt x="10634" y="6750"/>
                </a:cubicBezTo>
                <a:cubicBezTo>
                  <a:pt x="12628" y="5207"/>
                  <a:pt x="11631" y="2700"/>
                  <a:pt x="11465" y="2314"/>
                </a:cubicBezTo>
                <a:cubicBezTo>
                  <a:pt x="11132" y="1543"/>
                  <a:pt x="10966" y="964"/>
                  <a:pt x="10966" y="0"/>
                </a:cubicBezTo>
                <a:cubicBezTo>
                  <a:pt x="10966" y="0"/>
                  <a:pt x="10966" y="0"/>
                  <a:pt x="10966" y="0"/>
                </a:cubicBezTo>
                <a:cubicBezTo>
                  <a:pt x="10966" y="0"/>
                  <a:pt x="10966" y="0"/>
                  <a:pt x="10800" y="0"/>
                </a:cubicBezTo>
                <a:cubicBezTo>
                  <a:pt x="9803" y="579"/>
                  <a:pt x="9637" y="2314"/>
                  <a:pt x="10135" y="3279"/>
                </a:cubicBezTo>
                <a:cubicBezTo>
                  <a:pt x="10634" y="4436"/>
                  <a:pt x="10800" y="5400"/>
                  <a:pt x="10634" y="6750"/>
                </a:cubicBezTo>
                <a:close/>
              </a:path>
            </a:pathLst>
          </a:custGeom>
          <a:solidFill>
            <a:srgbClr val="374556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9" name="2"/>
          <p:cNvSpPr txBox="1"/>
          <p:nvPr/>
        </p:nvSpPr>
        <p:spPr>
          <a:xfrm>
            <a:off x="374649" y="13090488"/>
            <a:ext cx="413743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3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"/>
          <p:cNvSpPr/>
          <p:nvPr/>
        </p:nvSpPr>
        <p:spPr>
          <a:xfrm>
            <a:off x="-146892" y="-27802"/>
            <a:ext cx="24665084" cy="4726782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45" name="Group"/>
          <p:cNvGrpSpPr/>
          <p:nvPr/>
        </p:nvGrpSpPr>
        <p:grpSpPr>
          <a:xfrm>
            <a:off x="7442978" y="1173223"/>
            <a:ext cx="9739346" cy="3659735"/>
            <a:chOff x="0" y="66668"/>
            <a:chExt cx="9739345" cy="3659734"/>
          </a:xfrm>
        </p:grpSpPr>
        <p:sp>
          <p:nvSpPr>
            <p:cNvPr id="142" name="FROM EXCEL TO R"/>
            <p:cNvSpPr txBox="1"/>
            <p:nvPr/>
          </p:nvSpPr>
          <p:spPr>
            <a:xfrm>
              <a:off x="0" y="897706"/>
              <a:ext cx="9739345" cy="28286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8000"/>
                <a:t>FROM EXCEL TO R</a:t>
              </a:r>
            </a:p>
          </p:txBody>
        </p:sp>
        <p:sp>
          <p:nvSpPr>
            <p:cNvPr id="143" name="WELCOME TO"/>
            <p:cNvSpPr txBox="1"/>
            <p:nvPr/>
          </p:nvSpPr>
          <p:spPr>
            <a:xfrm>
              <a:off x="1418941" y="66668"/>
              <a:ext cx="5011356" cy="649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WELCOME TO</a:t>
              </a:r>
            </a:p>
          </p:txBody>
        </p:sp>
        <p:sp>
          <p:nvSpPr>
            <p:cNvPr id="144" name="Line"/>
            <p:cNvSpPr/>
            <p:nvPr/>
          </p:nvSpPr>
          <p:spPr>
            <a:xfrm>
              <a:off x="114477" y="327366"/>
              <a:ext cx="924393" cy="0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49" name="Group"/>
          <p:cNvGrpSpPr/>
          <p:nvPr/>
        </p:nvGrpSpPr>
        <p:grpSpPr>
          <a:xfrm>
            <a:off x="2921000" y="5450883"/>
            <a:ext cx="7163550" cy="7276201"/>
            <a:chOff x="0" y="0"/>
            <a:chExt cx="7163549" cy="7276199"/>
          </a:xfrm>
        </p:grpSpPr>
        <p:sp>
          <p:nvSpPr>
            <p:cNvPr id="146" name="Oval"/>
            <p:cNvSpPr/>
            <p:nvPr/>
          </p:nvSpPr>
          <p:spPr>
            <a:xfrm>
              <a:off x="0" y="122236"/>
              <a:ext cx="7163550" cy="7153964"/>
            </a:xfrm>
            <a:prstGeom prst="ellipse">
              <a:avLst/>
            </a:prstGeom>
            <a:solidFill>
              <a:srgbClr val="00673B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47" name="maxresdefault.jpg" descr="maxresdefault.jpg"/>
            <p:cNvPicPr>
              <a:picLocks noChangeAspect="1"/>
            </p:cNvPicPr>
            <p:nvPr/>
          </p:nvPicPr>
          <p:blipFill>
            <a:blip r:embed="rId3"/>
            <a:srcRect l="23934" t="216" r="21935" b="3553"/>
            <a:stretch>
              <a:fillRect/>
            </a:stretch>
          </p:blipFill>
          <p:spPr>
            <a:xfrm>
              <a:off x="259125" y="383967"/>
              <a:ext cx="6645385" cy="6645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5"/>
                    <a:pt x="2882" y="3016"/>
                  </a:cubicBezTo>
                  <a:cubicBezTo>
                    <a:pt x="-961" y="7037"/>
                    <a:pt x="-961" y="13557"/>
                    <a:pt x="2882" y="17579"/>
                  </a:cubicBezTo>
                  <a:cubicBezTo>
                    <a:pt x="6724" y="21600"/>
                    <a:pt x="12954" y="21600"/>
                    <a:pt x="16796" y="17579"/>
                  </a:cubicBezTo>
                  <a:cubicBezTo>
                    <a:pt x="20639" y="13557"/>
                    <a:pt x="20639" y="7037"/>
                    <a:pt x="16796" y="3016"/>
                  </a:cubicBezTo>
                  <a:cubicBezTo>
                    <a:pt x="14875" y="1005"/>
                    <a:pt x="12357" y="0"/>
                    <a:pt x="9839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48" name="Excel 2013.png" descr="Excel 201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4758" y="0"/>
              <a:ext cx="1916160" cy="191616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</p:pic>
      </p:grpSp>
      <p:sp>
        <p:nvSpPr>
          <p:cNvPr id="150" name="Oval"/>
          <p:cNvSpPr/>
          <p:nvPr/>
        </p:nvSpPr>
        <p:spPr>
          <a:xfrm>
            <a:off x="16192468" y="8045292"/>
            <a:ext cx="2206009" cy="2174860"/>
          </a:xfrm>
          <a:prstGeom prst="ellipse">
            <a:avLst/>
          </a:prstGeom>
          <a:solidFill>
            <a:srgbClr val="374556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1" name="Oval"/>
          <p:cNvSpPr/>
          <p:nvPr/>
        </p:nvSpPr>
        <p:spPr>
          <a:xfrm>
            <a:off x="16679992" y="8096408"/>
            <a:ext cx="1230963" cy="724888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miter lim="400000"/>
          </a:ln>
          <a:effectLst>
            <a:reflection stA="50000" endPos="40000" dir="5400000" sy="-100000" algn="bl" rotWithShape="0"/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2" name="R"/>
          <p:cNvSpPr txBox="1"/>
          <p:nvPr/>
        </p:nvSpPr>
        <p:spPr>
          <a:xfrm>
            <a:off x="16793052" y="7941957"/>
            <a:ext cx="954045" cy="2163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13000">
                <a:solidFill>
                  <a:srgbClr val="EBEBEB"/>
                </a:solidFill>
                <a:latin typeface="Source Sans Pro Regular"/>
                <a:ea typeface="Source Sans Pro Regular"/>
                <a:cs typeface="Source Sans Pro Regular"/>
                <a:sym typeface="Source Sans Pro Regular"/>
              </a:defRPr>
            </a:lvl1pPr>
          </a:lstStyle>
          <a:p>
            <a:r>
              <a:t>R</a:t>
            </a:r>
          </a:p>
        </p:txBody>
      </p:sp>
      <p:sp>
        <p:nvSpPr>
          <p:cNvPr id="153" name="Circle"/>
          <p:cNvSpPr/>
          <p:nvPr/>
        </p:nvSpPr>
        <p:spPr>
          <a:xfrm>
            <a:off x="13636026" y="6496965"/>
            <a:ext cx="2305641" cy="2305641"/>
          </a:xfrm>
          <a:prstGeom prst="ellipse">
            <a:avLst/>
          </a:prstGeom>
          <a:solidFill>
            <a:srgbClr val="525067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4" name="Circle"/>
          <p:cNvSpPr/>
          <p:nvPr/>
        </p:nvSpPr>
        <p:spPr>
          <a:xfrm>
            <a:off x="13636026" y="9354761"/>
            <a:ext cx="2305641" cy="2305641"/>
          </a:xfrm>
          <a:prstGeom prst="ellipse">
            <a:avLst/>
          </a:prstGeom>
          <a:solidFill>
            <a:srgbClr val="C2E8BB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5" name="Circle"/>
          <p:cNvSpPr/>
          <p:nvPr/>
        </p:nvSpPr>
        <p:spPr>
          <a:xfrm>
            <a:off x="16142653" y="10767931"/>
            <a:ext cx="2305641" cy="2305642"/>
          </a:xfrm>
          <a:prstGeom prst="ellipse">
            <a:avLst/>
          </a:prstGeom>
          <a:solidFill>
            <a:srgbClr val="79997F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6" name="Circle"/>
          <p:cNvSpPr/>
          <p:nvPr/>
        </p:nvSpPr>
        <p:spPr>
          <a:xfrm>
            <a:off x="18649280" y="9354761"/>
            <a:ext cx="2305641" cy="2305641"/>
          </a:xfrm>
          <a:prstGeom prst="ellipse">
            <a:avLst/>
          </a:prstGeom>
          <a:solidFill>
            <a:srgbClr val="618FB6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7" name="Circle"/>
          <p:cNvSpPr/>
          <p:nvPr/>
        </p:nvSpPr>
        <p:spPr>
          <a:xfrm>
            <a:off x="18649280" y="6496965"/>
            <a:ext cx="2305641" cy="2305641"/>
          </a:xfrm>
          <a:prstGeom prst="ellipse">
            <a:avLst/>
          </a:prstGeom>
          <a:solidFill>
            <a:srgbClr val="2E5378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8" name="Circle"/>
          <p:cNvSpPr/>
          <p:nvPr/>
        </p:nvSpPr>
        <p:spPr>
          <a:xfrm>
            <a:off x="16142653" y="5104395"/>
            <a:ext cx="2305641" cy="2305641"/>
          </a:xfrm>
          <a:prstGeom prst="ellipse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9" name="Circle"/>
          <p:cNvSpPr/>
          <p:nvPr/>
        </p:nvSpPr>
        <p:spPr>
          <a:xfrm>
            <a:off x="18414169" y="8248352"/>
            <a:ext cx="369572" cy="369572"/>
          </a:xfrm>
          <a:prstGeom prst="ellipse">
            <a:avLst/>
          </a:prstGeom>
          <a:solidFill>
            <a:srgbClr val="2E5378">
              <a:alpha val="5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0" name="Circle"/>
          <p:cNvSpPr/>
          <p:nvPr/>
        </p:nvSpPr>
        <p:spPr>
          <a:xfrm>
            <a:off x="17110688" y="7536865"/>
            <a:ext cx="369573" cy="369572"/>
          </a:xfrm>
          <a:prstGeom prst="ellipse">
            <a:avLst/>
          </a:prstGeom>
          <a:solidFill>
            <a:srgbClr val="374556">
              <a:alpha val="5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1" name="Circle"/>
          <p:cNvSpPr/>
          <p:nvPr/>
        </p:nvSpPr>
        <p:spPr>
          <a:xfrm>
            <a:off x="18417154" y="9508331"/>
            <a:ext cx="369573" cy="369572"/>
          </a:xfrm>
          <a:prstGeom prst="ellipse">
            <a:avLst/>
          </a:prstGeom>
          <a:solidFill>
            <a:srgbClr val="618FB6">
              <a:alpha val="5044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2" name="Circle"/>
          <p:cNvSpPr/>
          <p:nvPr/>
        </p:nvSpPr>
        <p:spPr>
          <a:xfrm>
            <a:off x="17110688" y="10334955"/>
            <a:ext cx="369573" cy="369573"/>
          </a:xfrm>
          <a:prstGeom prst="ellipse">
            <a:avLst/>
          </a:prstGeom>
          <a:solidFill>
            <a:srgbClr val="436C6E">
              <a:alpha val="5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163" name="thecode2-1.png" descr="thecode2-1.png"/>
          <p:cNvPicPr>
            <a:picLocks noChangeAspect="1"/>
          </p:cNvPicPr>
          <p:nvPr/>
        </p:nvPicPr>
        <p:blipFill>
          <a:blip r:embed="rId5"/>
          <a:srcRect l="23125" t="17572" r="17211" b="22767"/>
          <a:stretch>
            <a:fillRect/>
          </a:stretch>
        </p:blipFill>
        <p:spPr>
          <a:xfrm flipH="1">
            <a:off x="13807790" y="9533541"/>
            <a:ext cx="1965482" cy="1965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4"/>
                  <a:pt x="2881" y="3015"/>
                </a:cubicBezTo>
                <a:cubicBezTo>
                  <a:pt x="-961" y="7036"/>
                  <a:pt x="-961" y="13558"/>
                  <a:pt x="2881" y="17579"/>
                </a:cubicBezTo>
                <a:cubicBezTo>
                  <a:pt x="6723" y="21600"/>
                  <a:pt x="12955" y="21600"/>
                  <a:pt x="16797" y="17579"/>
                </a:cubicBezTo>
                <a:cubicBezTo>
                  <a:pt x="20639" y="13558"/>
                  <a:pt x="20639" y="7036"/>
                  <a:pt x="16797" y="3015"/>
                </a:cubicBezTo>
                <a:cubicBezTo>
                  <a:pt x="14876" y="1004"/>
                  <a:pt x="12357" y="0"/>
                  <a:pt x="9839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64" name="Oval"/>
          <p:cNvSpPr/>
          <p:nvPr/>
        </p:nvSpPr>
        <p:spPr>
          <a:xfrm rot="20760000" flipH="1">
            <a:off x="13878200" y="10071090"/>
            <a:ext cx="214499" cy="1370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5" name="Triangle"/>
          <p:cNvSpPr/>
          <p:nvPr/>
        </p:nvSpPr>
        <p:spPr>
          <a:xfrm rot="20760000" flipH="1">
            <a:off x="13885291" y="9982529"/>
            <a:ext cx="99562" cy="111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3232" y="21600"/>
                </a:lnTo>
                <a:lnTo>
                  <a:pt x="21600" y="205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66" name="unnamed-chunk-5-1.png" descr="unnamed-chunk-5-1.png"/>
          <p:cNvPicPr>
            <a:picLocks noChangeAspect="1"/>
          </p:cNvPicPr>
          <p:nvPr/>
        </p:nvPicPr>
        <p:blipFill>
          <a:blip r:embed="rId6"/>
          <a:srcRect l="19480" t="11153" r="7415" b="15748"/>
          <a:stretch>
            <a:fillRect/>
          </a:stretch>
        </p:blipFill>
        <p:spPr>
          <a:xfrm flipH="1">
            <a:off x="13796957" y="6659379"/>
            <a:ext cx="1993024" cy="19928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1" y="0"/>
                </a:moveTo>
                <a:cubicBezTo>
                  <a:pt x="7323" y="0"/>
                  <a:pt x="4803" y="1004"/>
                  <a:pt x="2881" y="3015"/>
                </a:cubicBezTo>
                <a:cubicBezTo>
                  <a:pt x="-961" y="7036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6"/>
                  <a:pt x="16797" y="3015"/>
                </a:cubicBezTo>
                <a:cubicBezTo>
                  <a:pt x="14875" y="1004"/>
                  <a:pt x="12359" y="0"/>
                  <a:pt x="984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67" name="README-barplot-grid-1.png" descr="README-barplot-grid-1.png"/>
          <p:cNvPicPr>
            <a:picLocks noChangeAspect="1"/>
          </p:cNvPicPr>
          <p:nvPr/>
        </p:nvPicPr>
        <p:blipFill>
          <a:blip r:embed="rId7"/>
          <a:srcRect l="57156" t="52073" r="6869" b="5598"/>
          <a:stretch>
            <a:fillRect/>
          </a:stretch>
        </p:blipFill>
        <p:spPr>
          <a:xfrm flipH="1">
            <a:off x="18810193" y="6653926"/>
            <a:ext cx="1993024" cy="1992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1" y="0"/>
                </a:moveTo>
                <a:cubicBezTo>
                  <a:pt x="7323" y="0"/>
                  <a:pt x="4803" y="1004"/>
                  <a:pt x="2881" y="3015"/>
                </a:cubicBezTo>
                <a:cubicBezTo>
                  <a:pt x="-961" y="7036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6"/>
                  <a:pt x="16797" y="3015"/>
                </a:cubicBezTo>
                <a:cubicBezTo>
                  <a:pt x="14875" y="1004"/>
                  <a:pt x="12359" y="0"/>
                  <a:pt x="984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68" name="thecode-5.png" descr="thecode-5.png"/>
          <p:cNvPicPr>
            <a:picLocks noChangeAspect="1"/>
          </p:cNvPicPr>
          <p:nvPr/>
        </p:nvPicPr>
        <p:blipFill>
          <a:blip r:embed="rId8"/>
          <a:srcRect l="23418" t="11808" r="13063" b="24576"/>
          <a:stretch>
            <a:fillRect/>
          </a:stretch>
        </p:blipFill>
        <p:spPr>
          <a:xfrm flipH="1">
            <a:off x="18805604" y="9508332"/>
            <a:ext cx="1993024" cy="1996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1" y="0"/>
                </a:moveTo>
                <a:cubicBezTo>
                  <a:pt x="7323" y="0"/>
                  <a:pt x="4803" y="1007"/>
                  <a:pt x="2881" y="3018"/>
                </a:cubicBezTo>
                <a:cubicBezTo>
                  <a:pt x="-961" y="7039"/>
                  <a:pt x="-961" y="13558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8"/>
                  <a:pt x="20639" y="7039"/>
                  <a:pt x="16797" y="3018"/>
                </a:cubicBezTo>
                <a:cubicBezTo>
                  <a:pt x="14875" y="1007"/>
                  <a:pt x="12359" y="0"/>
                  <a:pt x="984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69" name="6TGew.png" descr="6TGew.png"/>
          <p:cNvPicPr>
            <a:picLocks noChangeAspect="1"/>
          </p:cNvPicPr>
          <p:nvPr/>
        </p:nvPicPr>
        <p:blipFill>
          <a:blip r:embed="rId9"/>
          <a:srcRect l="20578" t="8202" r="26231" b="12960"/>
          <a:stretch>
            <a:fillRect/>
          </a:stretch>
        </p:blipFill>
        <p:spPr>
          <a:xfrm flipH="1">
            <a:off x="16299237" y="5266554"/>
            <a:ext cx="1993024" cy="19928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1" y="0"/>
                </a:moveTo>
                <a:cubicBezTo>
                  <a:pt x="7323" y="0"/>
                  <a:pt x="4803" y="1004"/>
                  <a:pt x="2881" y="3015"/>
                </a:cubicBezTo>
                <a:cubicBezTo>
                  <a:pt x="-961" y="7036"/>
                  <a:pt x="-961" y="13557"/>
                  <a:pt x="2881" y="17578"/>
                </a:cubicBezTo>
                <a:cubicBezTo>
                  <a:pt x="6724" y="21600"/>
                  <a:pt x="12954" y="21600"/>
                  <a:pt x="16797" y="17578"/>
                </a:cubicBezTo>
                <a:cubicBezTo>
                  <a:pt x="20639" y="13557"/>
                  <a:pt x="20639" y="7036"/>
                  <a:pt x="16797" y="3015"/>
                </a:cubicBezTo>
                <a:cubicBezTo>
                  <a:pt x="14875" y="1004"/>
                  <a:pt x="12359" y="0"/>
                  <a:pt x="984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70" name="Circle"/>
          <p:cNvSpPr/>
          <p:nvPr/>
        </p:nvSpPr>
        <p:spPr>
          <a:xfrm>
            <a:off x="15807205" y="9508331"/>
            <a:ext cx="369572" cy="369572"/>
          </a:xfrm>
          <a:prstGeom prst="ellipse">
            <a:avLst/>
          </a:prstGeom>
          <a:solidFill>
            <a:srgbClr val="2E5378">
              <a:alpha val="5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1" name="Circle"/>
          <p:cNvSpPr/>
          <p:nvPr/>
        </p:nvSpPr>
        <p:spPr>
          <a:xfrm>
            <a:off x="15807205" y="8248352"/>
            <a:ext cx="369572" cy="369572"/>
          </a:xfrm>
          <a:prstGeom prst="ellipse">
            <a:avLst/>
          </a:prstGeom>
          <a:solidFill>
            <a:srgbClr val="525067">
              <a:alpha val="5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172" name="fig51.png" descr="fig51.png"/>
          <p:cNvPicPr>
            <a:picLocks noChangeAspect="1"/>
          </p:cNvPicPr>
          <p:nvPr/>
        </p:nvPicPr>
        <p:blipFill>
          <a:blip r:embed="rId10"/>
          <a:srcRect l="16557" t="14469" r="14072" b="16156"/>
          <a:stretch>
            <a:fillRect/>
          </a:stretch>
        </p:blipFill>
        <p:spPr>
          <a:xfrm>
            <a:off x="16303504" y="10916567"/>
            <a:ext cx="1996439" cy="1996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7" y="0"/>
                </a:moveTo>
                <a:cubicBezTo>
                  <a:pt x="7319" y="0"/>
                  <a:pt x="4803" y="1007"/>
                  <a:pt x="2882" y="3017"/>
                </a:cubicBezTo>
                <a:cubicBezTo>
                  <a:pt x="-961" y="7038"/>
                  <a:pt x="-961" y="13558"/>
                  <a:pt x="2882" y="17579"/>
                </a:cubicBezTo>
                <a:cubicBezTo>
                  <a:pt x="6724" y="21600"/>
                  <a:pt x="12954" y="21600"/>
                  <a:pt x="16796" y="17579"/>
                </a:cubicBezTo>
                <a:cubicBezTo>
                  <a:pt x="20639" y="13558"/>
                  <a:pt x="20639" y="7038"/>
                  <a:pt x="16796" y="3017"/>
                </a:cubicBezTo>
                <a:cubicBezTo>
                  <a:pt x="14875" y="1007"/>
                  <a:pt x="12355" y="0"/>
                  <a:pt x="9837" y="0"/>
                </a:cubicBezTo>
                <a:close/>
              </a:path>
            </a:pathLst>
          </a:custGeom>
          <a:ln w="12700">
            <a:miter lim="400000"/>
          </a:ln>
        </p:spPr>
      </p:pic>
      <p:grpSp>
        <p:nvGrpSpPr>
          <p:cNvPr id="176" name="Group"/>
          <p:cNvGrpSpPr/>
          <p:nvPr/>
        </p:nvGrpSpPr>
        <p:grpSpPr>
          <a:xfrm>
            <a:off x="10972370" y="8724237"/>
            <a:ext cx="2206009" cy="624564"/>
            <a:chOff x="0" y="0"/>
            <a:chExt cx="2206007" cy="624563"/>
          </a:xfrm>
        </p:grpSpPr>
        <p:sp>
          <p:nvSpPr>
            <p:cNvPr id="173" name="Rounded Rectangle"/>
            <p:cNvSpPr/>
            <p:nvPr/>
          </p:nvSpPr>
          <p:spPr>
            <a:xfrm>
              <a:off x="0" y="267049"/>
              <a:ext cx="2108886" cy="7242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673B"/>
                </a:gs>
                <a:gs pos="100000">
                  <a:srgbClr val="2E537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4" name="Rounded Rectangle"/>
            <p:cNvSpPr/>
            <p:nvPr/>
          </p:nvSpPr>
          <p:spPr>
            <a:xfrm rot="2700000" flipH="1">
              <a:off x="1819891" y="138723"/>
              <a:ext cx="422367" cy="72420"/>
            </a:xfrm>
            <a:prstGeom prst="roundRect">
              <a:avLst>
                <a:gd name="adj" fmla="val 50000"/>
              </a:avLst>
            </a:pr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5" name="Rounded Rectangle"/>
            <p:cNvSpPr/>
            <p:nvPr/>
          </p:nvSpPr>
          <p:spPr>
            <a:xfrm rot="18900000" flipH="1">
              <a:off x="1797245" y="413420"/>
              <a:ext cx="422368" cy="72420"/>
            </a:xfrm>
            <a:prstGeom prst="roundRect">
              <a:avLst>
                <a:gd name="adj" fmla="val 50000"/>
              </a:avLst>
            </a:pr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77" name="3"/>
          <p:cNvSpPr txBox="1"/>
          <p:nvPr/>
        </p:nvSpPr>
        <p:spPr>
          <a:xfrm>
            <a:off x="374649" y="13090488"/>
            <a:ext cx="413743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4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roup"/>
          <p:cNvGrpSpPr/>
          <p:nvPr/>
        </p:nvGrpSpPr>
        <p:grpSpPr>
          <a:xfrm>
            <a:off x="1601832" y="1333335"/>
            <a:ext cx="18750566" cy="1804128"/>
            <a:chOff x="0" y="-31498"/>
            <a:chExt cx="18750565" cy="1804126"/>
          </a:xfrm>
        </p:grpSpPr>
        <p:sp>
          <p:nvSpPr>
            <p:cNvPr id="307" name="WHAT WILL YOU LEARN IN THIS COURSE?"/>
            <p:cNvSpPr txBox="1"/>
            <p:nvPr/>
          </p:nvSpPr>
          <p:spPr>
            <a:xfrm>
              <a:off x="0" y="673276"/>
              <a:ext cx="18750565" cy="10993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WHAT WILL </a:t>
              </a:r>
              <a:r>
                <a:rPr lang="en-US"/>
                <a:t>I</a:t>
              </a:r>
              <a:r>
                <a:t> LEARN? </a:t>
              </a:r>
            </a:p>
          </p:txBody>
        </p:sp>
        <p:sp>
          <p:nvSpPr>
            <p:cNvPr id="308" name="FROM EXCEL TO R"/>
            <p:cNvSpPr txBox="1"/>
            <p:nvPr/>
          </p:nvSpPr>
          <p:spPr>
            <a:xfrm>
              <a:off x="1833295" y="-31498"/>
              <a:ext cx="9158947" cy="6160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309" name="Line"/>
            <p:cNvSpPr/>
            <p:nvPr/>
          </p:nvSpPr>
          <p:spPr>
            <a:xfrm>
              <a:off x="157801" y="173678"/>
              <a:ext cx="1440000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311" name="6"/>
          <p:cNvSpPr txBox="1"/>
          <p:nvPr/>
        </p:nvSpPr>
        <p:spPr>
          <a:xfrm>
            <a:off x="374649" y="13123145"/>
            <a:ext cx="413743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5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12" name="Freeform 45"/>
          <p:cNvSpPr/>
          <p:nvPr/>
        </p:nvSpPr>
        <p:spPr>
          <a:xfrm rot="60000">
            <a:off x="6402027" y="5356225"/>
            <a:ext cx="5510866" cy="61356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6" h="21551" extrusionOk="0">
                <a:moveTo>
                  <a:pt x="14944" y="1287"/>
                </a:moveTo>
                <a:cubicBezTo>
                  <a:pt x="15040" y="1717"/>
                  <a:pt x="15072" y="2146"/>
                  <a:pt x="15008" y="2575"/>
                </a:cubicBezTo>
                <a:cubicBezTo>
                  <a:pt x="14816" y="4949"/>
                  <a:pt x="12608" y="6809"/>
                  <a:pt x="9984" y="6895"/>
                </a:cubicBezTo>
                <a:cubicBezTo>
                  <a:pt x="8064" y="6952"/>
                  <a:pt x="6368" y="6122"/>
                  <a:pt x="5408" y="4806"/>
                </a:cubicBezTo>
                <a:cubicBezTo>
                  <a:pt x="5216" y="4549"/>
                  <a:pt x="4800" y="4492"/>
                  <a:pt x="4512" y="4663"/>
                </a:cubicBezTo>
                <a:cubicBezTo>
                  <a:pt x="2976" y="5550"/>
                  <a:pt x="1536" y="6552"/>
                  <a:pt x="192" y="7667"/>
                </a:cubicBezTo>
                <a:cubicBezTo>
                  <a:pt x="-64" y="7868"/>
                  <a:pt x="-64" y="8239"/>
                  <a:pt x="192" y="8468"/>
                </a:cubicBezTo>
                <a:cubicBezTo>
                  <a:pt x="14592" y="21371"/>
                  <a:pt x="14592" y="21371"/>
                  <a:pt x="14592" y="21371"/>
                </a:cubicBezTo>
                <a:cubicBezTo>
                  <a:pt x="14848" y="21600"/>
                  <a:pt x="15200" y="21600"/>
                  <a:pt x="15456" y="21428"/>
                </a:cubicBezTo>
                <a:cubicBezTo>
                  <a:pt x="17024" y="20313"/>
                  <a:pt x="18912" y="19597"/>
                  <a:pt x="20960" y="19368"/>
                </a:cubicBezTo>
                <a:cubicBezTo>
                  <a:pt x="21280" y="19340"/>
                  <a:pt x="21536" y="19111"/>
                  <a:pt x="21536" y="18825"/>
                </a:cubicBezTo>
                <a:cubicBezTo>
                  <a:pt x="21536" y="572"/>
                  <a:pt x="21536" y="572"/>
                  <a:pt x="21536" y="572"/>
                </a:cubicBezTo>
                <a:cubicBezTo>
                  <a:pt x="21536" y="257"/>
                  <a:pt x="21216" y="0"/>
                  <a:pt x="20864" y="0"/>
                </a:cubicBezTo>
                <a:cubicBezTo>
                  <a:pt x="19008" y="57"/>
                  <a:pt x="17216" y="286"/>
                  <a:pt x="15456" y="601"/>
                </a:cubicBezTo>
                <a:cubicBezTo>
                  <a:pt x="15104" y="687"/>
                  <a:pt x="14880" y="973"/>
                  <a:pt x="14944" y="1287"/>
                </a:cubicBezTo>
                <a:close/>
              </a:path>
            </a:pathLst>
          </a:custGeom>
          <a:solidFill>
            <a:srgbClr val="557D9F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3" name="Freeform 46"/>
          <p:cNvSpPr/>
          <p:nvPr/>
        </p:nvSpPr>
        <p:spPr>
          <a:xfrm>
            <a:off x="3573753" y="8085321"/>
            <a:ext cx="6168617" cy="5481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1" h="21536" extrusionOk="0">
                <a:moveTo>
                  <a:pt x="7667" y="192"/>
                </a:moveTo>
                <a:cubicBezTo>
                  <a:pt x="6552" y="1536"/>
                  <a:pt x="5550" y="2976"/>
                  <a:pt x="4663" y="4512"/>
                </a:cubicBezTo>
                <a:cubicBezTo>
                  <a:pt x="4492" y="4832"/>
                  <a:pt x="4577" y="5216"/>
                  <a:pt x="4835" y="5408"/>
                </a:cubicBezTo>
                <a:cubicBezTo>
                  <a:pt x="5178" y="5664"/>
                  <a:pt x="5493" y="5984"/>
                  <a:pt x="5779" y="6368"/>
                </a:cubicBezTo>
                <a:cubicBezTo>
                  <a:pt x="7324" y="8384"/>
                  <a:pt x="7238" y="11424"/>
                  <a:pt x="5636" y="13344"/>
                </a:cubicBezTo>
                <a:cubicBezTo>
                  <a:pt x="4492" y="14752"/>
                  <a:pt x="2832" y="15264"/>
                  <a:pt x="1287" y="14944"/>
                </a:cubicBezTo>
                <a:cubicBezTo>
                  <a:pt x="973" y="14880"/>
                  <a:pt x="687" y="15104"/>
                  <a:pt x="601" y="15424"/>
                </a:cubicBezTo>
                <a:cubicBezTo>
                  <a:pt x="286" y="17216"/>
                  <a:pt x="57" y="19008"/>
                  <a:pt x="0" y="20864"/>
                </a:cubicBezTo>
                <a:cubicBezTo>
                  <a:pt x="0" y="21216"/>
                  <a:pt x="257" y="21536"/>
                  <a:pt x="572" y="21536"/>
                </a:cubicBezTo>
                <a:cubicBezTo>
                  <a:pt x="18825" y="21536"/>
                  <a:pt x="18825" y="21536"/>
                  <a:pt x="18825" y="21536"/>
                </a:cubicBezTo>
                <a:cubicBezTo>
                  <a:pt x="19111" y="21536"/>
                  <a:pt x="19340" y="21280"/>
                  <a:pt x="19368" y="20960"/>
                </a:cubicBezTo>
                <a:cubicBezTo>
                  <a:pt x="19597" y="18912"/>
                  <a:pt x="20313" y="17024"/>
                  <a:pt x="21428" y="15456"/>
                </a:cubicBezTo>
                <a:cubicBezTo>
                  <a:pt x="21600" y="15200"/>
                  <a:pt x="21600" y="14848"/>
                  <a:pt x="21371" y="14592"/>
                </a:cubicBezTo>
                <a:cubicBezTo>
                  <a:pt x="8468" y="192"/>
                  <a:pt x="8468" y="192"/>
                  <a:pt x="8468" y="192"/>
                </a:cubicBezTo>
                <a:cubicBezTo>
                  <a:pt x="8239" y="-64"/>
                  <a:pt x="7868" y="-64"/>
                  <a:pt x="7667" y="192"/>
                </a:cubicBezTo>
                <a:close/>
              </a:path>
            </a:pathLst>
          </a:custGeom>
          <a:solidFill>
            <a:srgbClr val="7893B7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4" name="Freeform 47"/>
          <p:cNvSpPr/>
          <p:nvPr/>
        </p:nvSpPr>
        <p:spPr>
          <a:xfrm rot="21540000">
            <a:off x="12442365" y="5356224"/>
            <a:ext cx="5510865" cy="61356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6" h="21551" extrusionOk="0">
                <a:moveTo>
                  <a:pt x="16128" y="4806"/>
                </a:moveTo>
                <a:cubicBezTo>
                  <a:pt x="15168" y="6122"/>
                  <a:pt x="13472" y="6952"/>
                  <a:pt x="11552" y="6895"/>
                </a:cubicBezTo>
                <a:cubicBezTo>
                  <a:pt x="8928" y="6809"/>
                  <a:pt x="6720" y="4949"/>
                  <a:pt x="6528" y="2575"/>
                </a:cubicBezTo>
                <a:cubicBezTo>
                  <a:pt x="6464" y="2146"/>
                  <a:pt x="6496" y="1717"/>
                  <a:pt x="6592" y="1287"/>
                </a:cubicBezTo>
                <a:cubicBezTo>
                  <a:pt x="6656" y="973"/>
                  <a:pt x="6432" y="687"/>
                  <a:pt x="6080" y="601"/>
                </a:cubicBezTo>
                <a:cubicBezTo>
                  <a:pt x="4320" y="286"/>
                  <a:pt x="2528" y="57"/>
                  <a:pt x="672" y="0"/>
                </a:cubicBezTo>
                <a:cubicBezTo>
                  <a:pt x="320" y="0"/>
                  <a:pt x="0" y="257"/>
                  <a:pt x="0" y="572"/>
                </a:cubicBezTo>
                <a:cubicBezTo>
                  <a:pt x="0" y="18825"/>
                  <a:pt x="0" y="18825"/>
                  <a:pt x="0" y="18825"/>
                </a:cubicBezTo>
                <a:cubicBezTo>
                  <a:pt x="0" y="19111"/>
                  <a:pt x="256" y="19340"/>
                  <a:pt x="576" y="19368"/>
                </a:cubicBezTo>
                <a:cubicBezTo>
                  <a:pt x="2624" y="19597"/>
                  <a:pt x="4512" y="20313"/>
                  <a:pt x="6080" y="21428"/>
                </a:cubicBezTo>
                <a:cubicBezTo>
                  <a:pt x="6336" y="21600"/>
                  <a:pt x="6688" y="21600"/>
                  <a:pt x="6944" y="21371"/>
                </a:cubicBezTo>
                <a:cubicBezTo>
                  <a:pt x="21344" y="8468"/>
                  <a:pt x="21344" y="8468"/>
                  <a:pt x="21344" y="8468"/>
                </a:cubicBezTo>
                <a:cubicBezTo>
                  <a:pt x="21600" y="8239"/>
                  <a:pt x="21600" y="7868"/>
                  <a:pt x="21344" y="7667"/>
                </a:cubicBezTo>
                <a:cubicBezTo>
                  <a:pt x="20000" y="6552"/>
                  <a:pt x="18560" y="5550"/>
                  <a:pt x="17024" y="4663"/>
                </a:cubicBezTo>
                <a:cubicBezTo>
                  <a:pt x="16736" y="4492"/>
                  <a:pt x="16320" y="4549"/>
                  <a:pt x="16128" y="4806"/>
                </a:cubicBezTo>
                <a:close/>
              </a:path>
            </a:pathLst>
          </a:custGeom>
          <a:solidFill>
            <a:srgbClr val="374556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5" name="Freeform 48"/>
          <p:cNvSpPr/>
          <p:nvPr/>
        </p:nvSpPr>
        <p:spPr>
          <a:xfrm>
            <a:off x="14654981" y="8085321"/>
            <a:ext cx="6168617" cy="5481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1" h="21536" extrusionOk="0">
                <a:moveTo>
                  <a:pt x="15915" y="13344"/>
                </a:moveTo>
                <a:cubicBezTo>
                  <a:pt x="14313" y="11424"/>
                  <a:pt x="14227" y="8384"/>
                  <a:pt x="15772" y="6368"/>
                </a:cubicBezTo>
                <a:cubicBezTo>
                  <a:pt x="16058" y="5984"/>
                  <a:pt x="16373" y="5664"/>
                  <a:pt x="16716" y="5408"/>
                </a:cubicBezTo>
                <a:cubicBezTo>
                  <a:pt x="16974" y="5216"/>
                  <a:pt x="17059" y="4832"/>
                  <a:pt x="16888" y="4512"/>
                </a:cubicBezTo>
                <a:cubicBezTo>
                  <a:pt x="16001" y="2976"/>
                  <a:pt x="14999" y="1536"/>
                  <a:pt x="13884" y="192"/>
                </a:cubicBezTo>
                <a:cubicBezTo>
                  <a:pt x="13683" y="-64"/>
                  <a:pt x="13312" y="-64"/>
                  <a:pt x="13083" y="192"/>
                </a:cubicBezTo>
                <a:cubicBezTo>
                  <a:pt x="180" y="14592"/>
                  <a:pt x="180" y="14592"/>
                  <a:pt x="180" y="14592"/>
                </a:cubicBezTo>
                <a:cubicBezTo>
                  <a:pt x="-49" y="14848"/>
                  <a:pt x="-49" y="15200"/>
                  <a:pt x="123" y="15456"/>
                </a:cubicBezTo>
                <a:cubicBezTo>
                  <a:pt x="1238" y="17024"/>
                  <a:pt x="1954" y="18912"/>
                  <a:pt x="2183" y="20960"/>
                </a:cubicBezTo>
                <a:cubicBezTo>
                  <a:pt x="2211" y="21280"/>
                  <a:pt x="2440" y="21536"/>
                  <a:pt x="2726" y="21536"/>
                </a:cubicBezTo>
                <a:cubicBezTo>
                  <a:pt x="20979" y="21536"/>
                  <a:pt x="20979" y="21536"/>
                  <a:pt x="20979" y="21536"/>
                </a:cubicBezTo>
                <a:cubicBezTo>
                  <a:pt x="21294" y="21536"/>
                  <a:pt x="21551" y="21216"/>
                  <a:pt x="21551" y="20864"/>
                </a:cubicBezTo>
                <a:cubicBezTo>
                  <a:pt x="21494" y="19008"/>
                  <a:pt x="21265" y="17216"/>
                  <a:pt x="20950" y="15424"/>
                </a:cubicBezTo>
                <a:cubicBezTo>
                  <a:pt x="20864" y="15104"/>
                  <a:pt x="20578" y="14880"/>
                  <a:pt x="20264" y="14944"/>
                </a:cubicBezTo>
                <a:cubicBezTo>
                  <a:pt x="18719" y="15264"/>
                  <a:pt x="17059" y="14752"/>
                  <a:pt x="15915" y="13344"/>
                </a:cubicBezTo>
                <a:close/>
              </a:path>
            </a:pathLst>
          </a:custGeom>
          <a:solidFill>
            <a:srgbClr val="81A489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6" name="Oval 49"/>
          <p:cNvSpPr/>
          <p:nvPr/>
        </p:nvSpPr>
        <p:spPr>
          <a:xfrm>
            <a:off x="7966463" y="5007315"/>
            <a:ext cx="2055221" cy="2046508"/>
          </a:xfrm>
          <a:prstGeom prst="ellipse">
            <a:avLst/>
          </a:prstGeom>
          <a:solidFill>
            <a:srgbClr val="557D9F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7" name="Freeform 50"/>
          <p:cNvSpPr/>
          <p:nvPr/>
        </p:nvSpPr>
        <p:spPr>
          <a:xfrm>
            <a:off x="3175531" y="9553508"/>
            <a:ext cx="2049379" cy="204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6" h="19676" extrusionOk="0">
                <a:moveTo>
                  <a:pt x="2887" y="16789"/>
                </a:moveTo>
                <a:cubicBezTo>
                  <a:pt x="-962" y="12941"/>
                  <a:pt x="-962" y="6735"/>
                  <a:pt x="2887" y="2887"/>
                </a:cubicBezTo>
                <a:cubicBezTo>
                  <a:pt x="6735" y="-962"/>
                  <a:pt x="12941" y="-962"/>
                  <a:pt x="16789" y="2887"/>
                </a:cubicBezTo>
                <a:cubicBezTo>
                  <a:pt x="20638" y="6735"/>
                  <a:pt x="20638" y="12941"/>
                  <a:pt x="16789" y="16789"/>
                </a:cubicBezTo>
                <a:cubicBezTo>
                  <a:pt x="12941" y="20638"/>
                  <a:pt x="6735" y="20638"/>
                  <a:pt x="2887" y="16789"/>
                </a:cubicBezTo>
                <a:close/>
              </a:path>
            </a:pathLst>
          </a:custGeom>
          <a:solidFill>
            <a:srgbClr val="7893B7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8" name="Oval 51"/>
          <p:cNvSpPr/>
          <p:nvPr/>
        </p:nvSpPr>
        <p:spPr>
          <a:xfrm>
            <a:off x="14333579" y="5007315"/>
            <a:ext cx="2055221" cy="2046508"/>
          </a:xfrm>
          <a:prstGeom prst="ellipse">
            <a:avLst/>
          </a:prstGeom>
          <a:solidFill>
            <a:srgbClr val="374556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19" name="Freeform 52"/>
          <p:cNvSpPr/>
          <p:nvPr/>
        </p:nvSpPr>
        <p:spPr>
          <a:xfrm>
            <a:off x="19169177" y="9553508"/>
            <a:ext cx="2052488" cy="204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6" h="19676" extrusionOk="0">
                <a:moveTo>
                  <a:pt x="16789" y="16789"/>
                </a:moveTo>
                <a:cubicBezTo>
                  <a:pt x="20638" y="12941"/>
                  <a:pt x="20638" y="6735"/>
                  <a:pt x="16789" y="2887"/>
                </a:cubicBezTo>
                <a:cubicBezTo>
                  <a:pt x="12941" y="-962"/>
                  <a:pt x="6735" y="-962"/>
                  <a:pt x="2887" y="2887"/>
                </a:cubicBezTo>
                <a:cubicBezTo>
                  <a:pt x="-962" y="6735"/>
                  <a:pt x="-962" y="12941"/>
                  <a:pt x="2887" y="16789"/>
                </a:cubicBezTo>
                <a:cubicBezTo>
                  <a:pt x="6735" y="20638"/>
                  <a:pt x="12941" y="20638"/>
                  <a:pt x="16789" y="16789"/>
                </a:cubicBezTo>
                <a:close/>
              </a:path>
            </a:pathLst>
          </a:custGeom>
          <a:solidFill>
            <a:srgbClr val="81A489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20" name="THE BASICS"/>
          <p:cNvSpPr txBox="1"/>
          <p:nvPr/>
        </p:nvSpPr>
        <p:spPr>
          <a:xfrm>
            <a:off x="2229865" y="8888641"/>
            <a:ext cx="2502192" cy="55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BASICS</a:t>
            </a:r>
          </a:p>
        </p:txBody>
      </p:sp>
      <p:sp>
        <p:nvSpPr>
          <p:cNvPr id="321" name="DATA WRANGLING"/>
          <p:cNvSpPr txBox="1"/>
          <p:nvPr/>
        </p:nvSpPr>
        <p:spPr>
          <a:xfrm>
            <a:off x="4575550" y="4620340"/>
            <a:ext cx="4061313" cy="591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DATA WRANGLING</a:t>
            </a:r>
          </a:p>
        </p:txBody>
      </p:sp>
      <p:sp>
        <p:nvSpPr>
          <p:cNvPr id="322" name="PLOTTING"/>
          <p:cNvSpPr txBox="1"/>
          <p:nvPr/>
        </p:nvSpPr>
        <p:spPr>
          <a:xfrm>
            <a:off x="15951131" y="4620340"/>
            <a:ext cx="2055221" cy="556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PLOTTING</a:t>
            </a:r>
          </a:p>
        </p:txBody>
      </p:sp>
      <p:sp>
        <p:nvSpPr>
          <p:cNvPr id="323" name="REPRODUCIBILITY"/>
          <p:cNvSpPr txBox="1"/>
          <p:nvPr/>
        </p:nvSpPr>
        <p:spPr>
          <a:xfrm>
            <a:off x="19772895" y="8888641"/>
            <a:ext cx="3784909" cy="556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STATISTICS</a:t>
            </a:r>
            <a:endParaRPr/>
          </a:p>
        </p:txBody>
      </p:sp>
      <p:pic>
        <p:nvPicPr>
          <p:cNvPr id="324" name="logo.png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8292" y="5035715"/>
            <a:ext cx="1711576" cy="1989707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Polygon"/>
          <p:cNvSpPr/>
          <p:nvPr/>
        </p:nvSpPr>
        <p:spPr>
          <a:xfrm>
            <a:off x="3449713" y="9707095"/>
            <a:ext cx="1501015" cy="1733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329" name="Group"/>
          <p:cNvGrpSpPr/>
          <p:nvPr/>
        </p:nvGrpSpPr>
        <p:grpSpPr>
          <a:xfrm>
            <a:off x="3584639" y="9825305"/>
            <a:ext cx="1231163" cy="1348710"/>
            <a:chOff x="0" y="-38674"/>
            <a:chExt cx="1231161" cy="1348708"/>
          </a:xfrm>
        </p:grpSpPr>
        <p:sp>
          <p:nvSpPr>
            <p:cNvPr id="326" name="Freeform 50"/>
            <p:cNvSpPr/>
            <p:nvPr/>
          </p:nvSpPr>
          <p:spPr>
            <a:xfrm>
              <a:off x="-1" y="78214"/>
              <a:ext cx="1231163" cy="1231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6" h="19676" extrusionOk="0">
                  <a:moveTo>
                    <a:pt x="2887" y="16789"/>
                  </a:moveTo>
                  <a:cubicBezTo>
                    <a:pt x="-962" y="12941"/>
                    <a:pt x="-962" y="6735"/>
                    <a:pt x="2887" y="2887"/>
                  </a:cubicBezTo>
                  <a:cubicBezTo>
                    <a:pt x="6735" y="-962"/>
                    <a:pt x="12941" y="-962"/>
                    <a:pt x="16789" y="2887"/>
                  </a:cubicBezTo>
                  <a:cubicBezTo>
                    <a:pt x="20638" y="6735"/>
                    <a:pt x="20638" y="12941"/>
                    <a:pt x="16789" y="16789"/>
                  </a:cubicBezTo>
                  <a:cubicBezTo>
                    <a:pt x="12941" y="20638"/>
                    <a:pt x="6735" y="20638"/>
                    <a:pt x="2887" y="16789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327" name="Oval"/>
            <p:cNvSpPr/>
            <p:nvPr/>
          </p:nvSpPr>
          <p:spPr>
            <a:xfrm>
              <a:off x="240252" y="93696"/>
              <a:ext cx="750658" cy="444230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28" name="R"/>
            <p:cNvSpPr txBox="1"/>
            <p:nvPr/>
          </p:nvSpPr>
          <p:spPr>
            <a:xfrm>
              <a:off x="273648" y="-38675"/>
              <a:ext cx="581790" cy="1325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78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R</a:t>
              </a:r>
            </a:p>
          </p:txBody>
        </p:sp>
      </p:grpSp>
      <p:sp>
        <p:nvSpPr>
          <p:cNvPr id="330" name="R base syntax…"/>
          <p:cNvSpPr txBox="1"/>
          <p:nvPr/>
        </p:nvSpPr>
        <p:spPr>
          <a:xfrm>
            <a:off x="5614475" y="10644864"/>
            <a:ext cx="3638641" cy="2423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RStudio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Scripts, paths, files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 project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Help recourses</a:t>
            </a:r>
          </a:p>
        </p:txBody>
      </p:sp>
      <p:sp>
        <p:nvSpPr>
          <p:cNvPr id="331" name="tidyverse…"/>
          <p:cNvSpPr txBox="1"/>
          <p:nvPr/>
        </p:nvSpPr>
        <p:spPr>
          <a:xfrm>
            <a:off x="8406700" y="7483147"/>
            <a:ext cx="3638641" cy="242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err="1"/>
              <a:t>tidyverse</a:t>
            </a:r>
            <a:endParaRPr/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Data Structures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Useful Functions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Pipe (“clean” code)</a:t>
            </a:r>
          </a:p>
        </p:txBody>
      </p:sp>
      <p:sp>
        <p:nvSpPr>
          <p:cNvPr id="332" name="ggplot2…"/>
          <p:cNvSpPr txBox="1"/>
          <p:nvPr/>
        </p:nvSpPr>
        <p:spPr>
          <a:xfrm>
            <a:off x="12826441" y="7411954"/>
            <a:ext cx="3525087" cy="1959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ggplot2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Code structure</a:t>
            </a:r>
          </a:p>
          <a:p>
            <a:pPr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ggplot2 + tidy data</a:t>
            </a:r>
          </a:p>
        </p:txBody>
      </p:sp>
      <p:sp>
        <p:nvSpPr>
          <p:cNvPr id="333" name="R Markdown…"/>
          <p:cNvSpPr txBox="1"/>
          <p:nvPr/>
        </p:nvSpPr>
        <p:spPr>
          <a:xfrm>
            <a:off x="16264243" y="10839188"/>
            <a:ext cx="3180538" cy="1959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 err="1"/>
              <a:t>Linear</a:t>
            </a:r>
            <a:r>
              <a:rPr lang="da-DK"/>
              <a:t> models</a:t>
            </a:r>
          </a:p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ANOVA </a:t>
            </a:r>
          </a:p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Post Hoc Tests</a:t>
            </a:r>
          </a:p>
        </p:txBody>
      </p:sp>
      <p:pic>
        <p:nvPicPr>
          <p:cNvPr id="334" name="tidyverse-logo.png" descr="tidyverse-logo.png"/>
          <p:cNvPicPr>
            <a:picLocks noChangeAspect="1"/>
          </p:cNvPicPr>
          <p:nvPr/>
        </p:nvPicPr>
        <p:blipFill>
          <a:blip r:embed="rId4"/>
          <a:srcRect l="5756" t="5460" r="5756" b="5168"/>
          <a:stretch>
            <a:fillRect/>
          </a:stretch>
        </p:blipFill>
        <p:spPr>
          <a:xfrm>
            <a:off x="8186404" y="5104185"/>
            <a:ext cx="1589485" cy="18530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3" y="0"/>
                </a:moveTo>
                <a:lnTo>
                  <a:pt x="0" y="5399"/>
                </a:lnTo>
                <a:lnTo>
                  <a:pt x="0" y="16201"/>
                </a:lnTo>
                <a:lnTo>
                  <a:pt x="10803" y="21600"/>
                </a:lnTo>
                <a:lnTo>
                  <a:pt x="21600" y="16201"/>
                </a:lnTo>
                <a:lnTo>
                  <a:pt x="21600" y="5399"/>
                </a:lnTo>
                <a:lnTo>
                  <a:pt x="10803" y="0"/>
                </a:lnTo>
                <a:close/>
              </a:path>
            </a:pathLst>
          </a:custGeom>
          <a:ln w="25400">
            <a:solidFill>
              <a:srgbClr val="000000"/>
            </a:solidFill>
            <a:miter lim="400000"/>
          </a:ln>
        </p:spPr>
      </p:pic>
      <p:sp>
        <p:nvSpPr>
          <p:cNvPr id="336" name="Shape"/>
          <p:cNvSpPr/>
          <p:nvPr/>
        </p:nvSpPr>
        <p:spPr>
          <a:xfrm>
            <a:off x="9407022" y="11169735"/>
            <a:ext cx="5583307" cy="2423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7" h="21600" extrusionOk="0">
                <a:moveTo>
                  <a:pt x="10718" y="0"/>
                </a:moveTo>
                <a:cubicBezTo>
                  <a:pt x="7972" y="0"/>
                  <a:pt x="5226" y="2047"/>
                  <a:pt x="3131" y="6141"/>
                </a:cubicBezTo>
                <a:cubicBezTo>
                  <a:pt x="953" y="10396"/>
                  <a:pt x="-81" y="16025"/>
                  <a:pt x="5" y="21600"/>
                </a:cubicBezTo>
                <a:lnTo>
                  <a:pt x="21433" y="21600"/>
                </a:lnTo>
                <a:cubicBezTo>
                  <a:pt x="21519" y="16025"/>
                  <a:pt x="20483" y="10396"/>
                  <a:pt x="18305" y="6141"/>
                </a:cubicBezTo>
                <a:cubicBezTo>
                  <a:pt x="16210" y="2047"/>
                  <a:pt x="13464" y="0"/>
                  <a:pt x="10718" y="0"/>
                </a:cubicBezTo>
                <a:close/>
              </a:path>
            </a:pathLst>
          </a:custGeom>
          <a:solidFill>
            <a:srgbClr val="88A4AC"/>
          </a:solidFill>
          <a:ln w="12700">
            <a:miter lim="400000"/>
          </a:ln>
          <a:effectLst>
            <a:outerShdw blurRad="101600" dist="762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349" name="Group"/>
          <p:cNvGrpSpPr/>
          <p:nvPr/>
        </p:nvGrpSpPr>
        <p:grpSpPr>
          <a:xfrm>
            <a:off x="19397043" y="10277143"/>
            <a:ext cx="1596756" cy="561922"/>
            <a:chOff x="0" y="0"/>
            <a:chExt cx="2989868" cy="1128299"/>
          </a:xfrm>
        </p:grpSpPr>
        <p:sp>
          <p:nvSpPr>
            <p:cNvPr id="350" name="Connection Line"/>
            <p:cNvSpPr/>
            <p:nvPr/>
          </p:nvSpPr>
          <p:spPr>
            <a:xfrm>
              <a:off x="277580" y="377668"/>
              <a:ext cx="590393" cy="725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459" y="18816"/>
                    <a:pt x="16659" y="11616"/>
                    <a:pt x="21600" y="0"/>
                  </a:cubicBezTo>
                </a:path>
              </a:pathLst>
            </a:cu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51" name="Connection Line"/>
            <p:cNvSpPr/>
            <p:nvPr/>
          </p:nvSpPr>
          <p:spPr>
            <a:xfrm>
              <a:off x="862587" y="34942"/>
              <a:ext cx="550984" cy="3732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0" y="15568"/>
                  </a:moveTo>
                  <a:cubicBezTo>
                    <a:pt x="6833" y="-5398"/>
                    <a:pt x="14033" y="-5187"/>
                    <a:pt x="21600" y="16202"/>
                  </a:cubicBezTo>
                </a:path>
              </a:pathLst>
            </a:cu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52" name="Connection Line"/>
            <p:cNvSpPr/>
            <p:nvPr/>
          </p:nvSpPr>
          <p:spPr>
            <a:xfrm>
              <a:off x="1405328" y="386141"/>
              <a:ext cx="590392" cy="725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141" y="18816"/>
                    <a:pt x="4941" y="11616"/>
                    <a:pt x="0" y="0"/>
                  </a:cubicBezTo>
                </a:path>
              </a:pathLst>
            </a:cu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53" name="Connection Line"/>
            <p:cNvSpPr/>
            <p:nvPr/>
          </p:nvSpPr>
          <p:spPr>
            <a:xfrm>
              <a:off x="1566803" y="35933"/>
              <a:ext cx="547205" cy="374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0" y="15484"/>
                  </a:moveTo>
                  <a:cubicBezTo>
                    <a:pt x="6940" y="-5398"/>
                    <a:pt x="14140" y="-5159"/>
                    <a:pt x="21600" y="16202"/>
                  </a:cubicBezTo>
                </a:path>
              </a:pathLst>
            </a:cu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54" name="Connection Line"/>
            <p:cNvSpPr/>
            <p:nvPr/>
          </p:nvSpPr>
          <p:spPr>
            <a:xfrm>
              <a:off x="2108359" y="392867"/>
              <a:ext cx="591577" cy="727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150" y="18810"/>
                    <a:pt x="4950" y="11610"/>
                    <a:pt x="0" y="0"/>
                  </a:cubicBezTo>
                </a:path>
              </a:pathLst>
            </a:cu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43" name="Shape"/>
            <p:cNvSpPr/>
            <p:nvPr/>
          </p:nvSpPr>
          <p:spPr>
            <a:xfrm>
              <a:off x="994785" y="439386"/>
              <a:ext cx="585440" cy="679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90" y="0"/>
                  </a:moveTo>
                  <a:lnTo>
                    <a:pt x="21600" y="21483"/>
                  </a:lnTo>
                  <a:lnTo>
                    <a:pt x="0" y="21600"/>
                  </a:lnTo>
                  <a:cubicBezTo>
                    <a:pt x="2377" y="20250"/>
                    <a:pt x="4652" y="18777"/>
                    <a:pt x="6811" y="17191"/>
                  </a:cubicBezTo>
                  <a:cubicBezTo>
                    <a:pt x="8802" y="15728"/>
                    <a:pt x="10692" y="14171"/>
                    <a:pt x="12472" y="12527"/>
                  </a:cubicBezTo>
                  <a:cubicBezTo>
                    <a:pt x="14315" y="10696"/>
                    <a:pt x="15963" y="8733"/>
                    <a:pt x="17396" y="6659"/>
                  </a:cubicBezTo>
                  <a:cubicBezTo>
                    <a:pt x="18863" y="4537"/>
                    <a:pt x="20100" y="2308"/>
                    <a:pt x="21090" y="0"/>
                  </a:cubicBezTo>
                  <a:close/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55" name="Connection Line"/>
            <p:cNvSpPr/>
            <p:nvPr/>
          </p:nvSpPr>
          <p:spPr>
            <a:xfrm>
              <a:off x="981796" y="377668"/>
              <a:ext cx="590393" cy="725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459" y="18816"/>
                    <a:pt x="16659" y="11616"/>
                    <a:pt x="21600" y="0"/>
                  </a:cubicBezTo>
                </a:path>
              </a:pathLst>
            </a:cu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345" name="Line"/>
            <p:cNvSpPr/>
            <p:nvPr/>
          </p:nvSpPr>
          <p:spPr>
            <a:xfrm flipV="1">
              <a:off x="1575053" y="0"/>
              <a:ext cx="1" cy="1116526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46" name="Line"/>
            <p:cNvSpPr/>
            <p:nvPr/>
          </p:nvSpPr>
          <p:spPr>
            <a:xfrm flipH="1" flipV="1">
              <a:off x="-1" y="1128299"/>
              <a:ext cx="2989870" cy="1"/>
            </a:xfrm>
            <a:prstGeom prst="line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47" name="Line"/>
            <p:cNvSpPr/>
            <p:nvPr/>
          </p:nvSpPr>
          <p:spPr>
            <a:xfrm flipV="1">
              <a:off x="1127982" y="81946"/>
              <a:ext cx="1" cy="870210"/>
            </a:xfrm>
            <a:prstGeom prst="line">
              <a:avLst/>
            </a:prstGeom>
            <a:noFill/>
            <a:ln w="3175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48" name="Line"/>
            <p:cNvSpPr/>
            <p:nvPr/>
          </p:nvSpPr>
          <p:spPr>
            <a:xfrm flipV="1">
              <a:off x="1840362" y="71170"/>
              <a:ext cx="1" cy="891763"/>
            </a:xfrm>
            <a:prstGeom prst="line">
              <a:avLst/>
            </a:prstGeom>
            <a:noFill/>
            <a:ln w="3175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6425153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8792-D82F-7B57-C8D8-86FC0602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angle">
            <a:extLst>
              <a:ext uri="{FF2B5EF4-FFF2-40B4-BE49-F238E27FC236}">
                <a16:creationId xmlns:a16="http://schemas.microsoft.com/office/drawing/2014/main" id="{4EBC32F2-DADC-67F8-B4A2-CC9FDE9C9483}"/>
              </a:ext>
            </a:extLst>
          </p:cNvPr>
          <p:cNvSpPr/>
          <p:nvPr/>
        </p:nvSpPr>
        <p:spPr>
          <a:xfrm>
            <a:off x="11874950" y="-137444"/>
            <a:ext cx="10925559" cy="14041701"/>
          </a:xfrm>
          <a:prstGeom prst="rect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696" tIns="45696" rIns="45696" bIns="45696" anchor="ctr"/>
          <a:lstStyle/>
          <a:p>
            <a:endParaRPr/>
          </a:p>
        </p:txBody>
      </p:sp>
      <p:grpSp>
        <p:nvGrpSpPr>
          <p:cNvPr id="361" name="Group">
            <a:extLst>
              <a:ext uri="{FF2B5EF4-FFF2-40B4-BE49-F238E27FC236}">
                <a16:creationId xmlns:a16="http://schemas.microsoft.com/office/drawing/2014/main" id="{04BB0AE3-103E-0D47-8073-BB9C504E6991}"/>
              </a:ext>
            </a:extLst>
          </p:cNvPr>
          <p:cNvGrpSpPr/>
          <p:nvPr/>
        </p:nvGrpSpPr>
        <p:grpSpPr>
          <a:xfrm>
            <a:off x="1400114" y="1526778"/>
            <a:ext cx="9481230" cy="3474167"/>
            <a:chOff x="0" y="0"/>
            <a:chExt cx="9481228" cy="3474166"/>
          </a:xfrm>
        </p:grpSpPr>
        <p:sp>
          <p:nvSpPr>
            <p:cNvPr id="358" name="PROGRAM">
              <a:extLst>
                <a:ext uri="{FF2B5EF4-FFF2-40B4-BE49-F238E27FC236}">
                  <a16:creationId xmlns:a16="http://schemas.microsoft.com/office/drawing/2014/main" id="{A605E352-873A-CF02-2AB8-1D58353B2B0D}"/>
                </a:ext>
              </a:extLst>
            </p:cNvPr>
            <p:cNvSpPr txBox="1"/>
            <p:nvPr/>
          </p:nvSpPr>
          <p:spPr>
            <a:xfrm>
              <a:off x="0" y="720437"/>
              <a:ext cx="9481229" cy="27537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6" tIns="45696" rIns="45696" bIns="45696" numCol="1" anchor="t">
              <a:noAutofit/>
            </a:bodyPr>
            <a:lstStyle>
              <a:lvl1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PROGRAM</a:t>
              </a:r>
            </a:p>
          </p:txBody>
        </p:sp>
        <p:sp>
          <p:nvSpPr>
            <p:cNvPr id="359" name="FROM EXCEL TO R">
              <a:extLst>
                <a:ext uri="{FF2B5EF4-FFF2-40B4-BE49-F238E27FC236}">
                  <a16:creationId xmlns:a16="http://schemas.microsoft.com/office/drawing/2014/main" id="{EA81F605-8406-889E-8423-EA68138AA30C}"/>
                </a:ext>
              </a:extLst>
            </p:cNvPr>
            <p:cNvSpPr txBox="1"/>
            <p:nvPr/>
          </p:nvSpPr>
          <p:spPr>
            <a:xfrm>
              <a:off x="2126472" y="0"/>
              <a:ext cx="6468325" cy="4367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6" tIns="45696" rIns="45696" bIns="45696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360" name="Line">
              <a:extLst>
                <a:ext uri="{FF2B5EF4-FFF2-40B4-BE49-F238E27FC236}">
                  <a16:creationId xmlns:a16="http://schemas.microsoft.com/office/drawing/2014/main" id="{E4539C18-D727-3489-98B7-D0D276934CF0}"/>
                </a:ext>
              </a:extLst>
            </p:cNvPr>
            <p:cNvSpPr/>
            <p:nvPr/>
          </p:nvSpPr>
          <p:spPr>
            <a:xfrm>
              <a:off x="111444" y="218154"/>
              <a:ext cx="1704399" cy="1"/>
            </a:xfrm>
            <a:prstGeom prst="line">
              <a:avLst/>
            </a:prstGeom>
            <a:noFill/>
            <a:ln w="762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362" name="Rectangle">
            <a:extLst>
              <a:ext uri="{FF2B5EF4-FFF2-40B4-BE49-F238E27FC236}">
                <a16:creationId xmlns:a16="http://schemas.microsoft.com/office/drawing/2014/main" id="{4BA5FC64-599D-45A2-A078-233BF57388A5}"/>
              </a:ext>
            </a:extLst>
          </p:cNvPr>
          <p:cNvSpPr/>
          <p:nvPr/>
        </p:nvSpPr>
        <p:spPr>
          <a:xfrm>
            <a:off x="1465680" y="3696645"/>
            <a:ext cx="21338394" cy="9168858"/>
          </a:xfrm>
          <a:prstGeom prst="rect">
            <a:avLst/>
          </a:prstGeom>
          <a:solidFill>
            <a:srgbClr val="FFFFFF"/>
          </a:solidFill>
          <a:ln w="38100">
            <a:solidFill>
              <a:srgbClr val="293441"/>
            </a:solidFill>
            <a:miter lim="400000"/>
          </a:ln>
        </p:spPr>
        <p:txBody>
          <a:bodyPr lIns="45696" tIns="45696" rIns="45696" bIns="45696" anchor="ctr"/>
          <a:lstStyle/>
          <a:p>
            <a:endParaRPr/>
          </a:p>
        </p:txBody>
      </p:sp>
      <p:sp>
        <p:nvSpPr>
          <p:cNvPr id="363" name="7">
            <a:extLst>
              <a:ext uri="{FF2B5EF4-FFF2-40B4-BE49-F238E27FC236}">
                <a16:creationId xmlns:a16="http://schemas.microsoft.com/office/drawing/2014/main" id="{8378A50F-5AF4-7B2F-52C3-85EC6F8BA3EC}"/>
              </a:ext>
            </a:extLst>
          </p:cNvPr>
          <p:cNvSpPr txBox="1"/>
          <p:nvPr/>
        </p:nvSpPr>
        <p:spPr>
          <a:xfrm>
            <a:off x="380801" y="13119607"/>
            <a:ext cx="413527" cy="964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773" tIns="50773" rIns="50773" bIns="50773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6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64" name="DAY 1: Holst aud.">
            <a:extLst>
              <a:ext uri="{FF2B5EF4-FFF2-40B4-BE49-F238E27FC236}">
                <a16:creationId xmlns:a16="http://schemas.microsoft.com/office/drawing/2014/main" id="{5521CAD1-370D-CCAB-679D-503C7713F105}"/>
              </a:ext>
            </a:extLst>
          </p:cNvPr>
          <p:cNvSpPr txBox="1"/>
          <p:nvPr/>
        </p:nvSpPr>
        <p:spPr>
          <a:xfrm>
            <a:off x="1993382" y="4823442"/>
            <a:ext cx="1277538" cy="564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773" tIns="50773" rIns="50773" bIns="50773" anchor="ctr">
            <a:spAutoFit/>
          </a:bodyPr>
          <a:lstStyle/>
          <a:p>
            <a:pPr algn="ctr" defTabSz="825500">
              <a:defRPr sz="30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DAY 1</a:t>
            </a:r>
            <a:r>
              <a:rPr sz="1200" b="0"/>
              <a:t> </a:t>
            </a:r>
          </a:p>
        </p:txBody>
      </p:sp>
      <p:sp>
        <p:nvSpPr>
          <p:cNvPr id="365" name="DAY 2: Holst aud.">
            <a:extLst>
              <a:ext uri="{FF2B5EF4-FFF2-40B4-BE49-F238E27FC236}">
                <a16:creationId xmlns:a16="http://schemas.microsoft.com/office/drawing/2014/main" id="{24459D6A-8286-A0EA-8454-B1E828845F12}"/>
              </a:ext>
            </a:extLst>
          </p:cNvPr>
          <p:cNvSpPr txBox="1"/>
          <p:nvPr/>
        </p:nvSpPr>
        <p:spPr>
          <a:xfrm>
            <a:off x="11872409" y="4791027"/>
            <a:ext cx="1277538" cy="564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773" tIns="50773" rIns="50773" bIns="50773" anchor="ctr">
            <a:spAutoFit/>
          </a:bodyPr>
          <a:lstStyle/>
          <a:p>
            <a:pPr algn="ctr" defTabSz="825500">
              <a:defRPr sz="30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DAY 2</a:t>
            </a:r>
            <a:r>
              <a:rPr sz="1200" b="0"/>
              <a:t> </a:t>
            </a:r>
          </a:p>
        </p:txBody>
      </p:sp>
      <p:sp>
        <p:nvSpPr>
          <p:cNvPr id="368" name="08:30 - Installation Issues &amp; Coffee…">
            <a:extLst>
              <a:ext uri="{FF2B5EF4-FFF2-40B4-BE49-F238E27FC236}">
                <a16:creationId xmlns:a16="http://schemas.microsoft.com/office/drawing/2014/main" id="{A8C21675-344C-E917-24D1-598EDE0ED1DE}"/>
              </a:ext>
            </a:extLst>
          </p:cNvPr>
          <p:cNvSpPr txBox="1"/>
          <p:nvPr/>
        </p:nvSpPr>
        <p:spPr>
          <a:xfrm>
            <a:off x="1993382" y="6084524"/>
            <a:ext cx="6030442" cy="627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773" tIns="50773" rIns="50773" bIns="50773" anchor="ctr">
            <a:spAutoFit/>
          </a:bodyPr>
          <a:lstStyle/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08:</a:t>
            </a:r>
            <a:r>
              <a:rPr lang="da-DK"/>
              <a:t>45</a:t>
            </a:r>
            <a:r>
              <a:t> - Installation Issues </a:t>
            </a:r>
            <a:r>
              <a:rPr lang="da-DK"/>
              <a:t>+</a:t>
            </a:r>
            <a:r>
              <a:t> Coffee</a:t>
            </a:r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09</a:t>
            </a:r>
            <a:r>
              <a:rPr lang="da-DK"/>
              <a:t>:00</a:t>
            </a:r>
            <a:r>
              <a:t> - Introduction to R </a:t>
            </a:r>
            <a:endParaRPr lang="da-DK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09</a:t>
            </a:r>
            <a:r>
              <a:t>:</a:t>
            </a:r>
            <a:r>
              <a:rPr lang="da-DK"/>
              <a:t>45</a:t>
            </a:r>
            <a:r>
              <a:t> </a:t>
            </a:r>
            <a:r>
              <a:rPr lang="da-DK"/>
              <a:t>-</a:t>
            </a:r>
            <a:r>
              <a:t> Exercise</a:t>
            </a:r>
            <a:r>
              <a:rPr lang="da-DK"/>
              <a:t> 0</a:t>
            </a:r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10:15 - Break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10</a:t>
            </a:r>
            <a:r>
              <a:t>:</a:t>
            </a:r>
            <a:r>
              <a:rPr lang="da-DK"/>
              <a:t>3</a:t>
            </a:r>
            <a:r>
              <a:t>0 </a:t>
            </a:r>
            <a:r>
              <a:rPr lang="da-DK"/>
              <a:t>- </a:t>
            </a:r>
            <a:r>
              <a:rPr lang="da-DK" err="1"/>
              <a:t>Introduction</a:t>
            </a:r>
            <a:r>
              <a:rPr lang="da-DK"/>
              <a:t> to </a:t>
            </a:r>
            <a:r>
              <a:rPr lang="da-DK" err="1"/>
              <a:t>Quarto</a:t>
            </a:r>
            <a:endParaRPr lang="da-DK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11:10 - </a:t>
            </a:r>
            <a:r>
              <a:rPr lang="da-DK" err="1"/>
              <a:t>Exercise</a:t>
            </a:r>
            <a:r>
              <a:rPr lang="da-DK"/>
              <a:t> 1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12:00 - Lunch</a:t>
            </a:r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13</a:t>
            </a:r>
            <a:r>
              <a:t>:</a:t>
            </a:r>
            <a:r>
              <a:rPr lang="da-DK"/>
              <a:t>00</a:t>
            </a:r>
            <a:r>
              <a:t> </a:t>
            </a:r>
            <a:r>
              <a:rPr lang="da-DK"/>
              <a:t>–</a:t>
            </a:r>
            <a:r>
              <a:t> </a:t>
            </a:r>
            <a:r>
              <a:rPr lang="da-DK"/>
              <a:t>Tidyverse</a:t>
            </a:r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14:00 - Break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14</a:t>
            </a:r>
            <a:r>
              <a:t>:15 </a:t>
            </a:r>
            <a:r>
              <a:rPr lang="da-DK"/>
              <a:t>-</a:t>
            </a:r>
            <a:r>
              <a:t> </a:t>
            </a:r>
            <a:r>
              <a:rPr lang="da-DK" err="1"/>
              <a:t>Tidyverse</a:t>
            </a:r>
            <a:r>
              <a:rPr lang="da-DK"/>
              <a:t> </a:t>
            </a:r>
            <a:r>
              <a:rPr lang="da-DK" err="1"/>
              <a:t>Exercise</a:t>
            </a:r>
            <a:r>
              <a:rPr lang="da-DK"/>
              <a:t> 2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16:00 - See you tomorrow</a:t>
            </a:r>
          </a:p>
        </p:txBody>
      </p:sp>
      <p:sp>
        <p:nvSpPr>
          <p:cNvPr id="369" name="08:30 - Coffee…">
            <a:extLst>
              <a:ext uri="{FF2B5EF4-FFF2-40B4-BE49-F238E27FC236}">
                <a16:creationId xmlns:a16="http://schemas.microsoft.com/office/drawing/2014/main" id="{54C10755-D8C1-1D04-E34D-479FF75BFA18}"/>
              </a:ext>
            </a:extLst>
          </p:cNvPr>
          <p:cNvSpPr txBox="1"/>
          <p:nvPr/>
        </p:nvSpPr>
        <p:spPr>
          <a:xfrm>
            <a:off x="11871385" y="6084524"/>
            <a:ext cx="8090302" cy="627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773" tIns="50773" rIns="50773" bIns="50773" anchor="ctr">
            <a:spAutoFit/>
          </a:bodyPr>
          <a:lstStyle/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08:</a:t>
            </a:r>
            <a:r>
              <a:rPr lang="da-DK"/>
              <a:t>45</a:t>
            </a:r>
            <a:r>
              <a:t> </a:t>
            </a:r>
            <a:r>
              <a:rPr lang="da-DK"/>
              <a:t>-</a:t>
            </a:r>
            <a:r>
              <a:t> Coffee</a:t>
            </a:r>
            <a:r>
              <a:rPr lang="da-DK"/>
              <a:t> + </a:t>
            </a:r>
            <a:r>
              <a:rPr lang="da-DK" err="1"/>
              <a:t>Optional</a:t>
            </a:r>
            <a:r>
              <a:rPr lang="da-DK"/>
              <a:t> Q&amp;A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09:00 </a:t>
            </a:r>
            <a:r>
              <a:rPr lang="da-DK"/>
              <a:t>-</a:t>
            </a:r>
            <a:r>
              <a:t> </a:t>
            </a:r>
            <a:r>
              <a:rPr lang="da-DK"/>
              <a:t>ggplot2 + </a:t>
            </a:r>
            <a:r>
              <a:rPr lang="en-US"/>
              <a:t>Exercise 3</a:t>
            </a:r>
            <a:endParaRPr lang="da-DK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10:30 - Break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10:</a:t>
            </a:r>
            <a:r>
              <a:rPr lang="da-DK"/>
              <a:t>45</a:t>
            </a:r>
            <a:r>
              <a:t> </a:t>
            </a:r>
            <a:r>
              <a:rPr lang="da-DK"/>
              <a:t>-</a:t>
            </a:r>
            <a:r>
              <a:t> </a:t>
            </a:r>
            <a:r>
              <a:rPr lang="da-DK"/>
              <a:t>ggplot2 </a:t>
            </a:r>
            <a:r>
              <a:rPr lang="en-US"/>
              <a:t>Exercise 3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12:00 - Lunch</a:t>
            </a:r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13:00 </a:t>
            </a:r>
            <a:r>
              <a:rPr lang="da-DK"/>
              <a:t>-</a:t>
            </a:r>
            <a:r>
              <a:t> </a:t>
            </a:r>
            <a:r>
              <a:rPr lang="da-DK"/>
              <a:t>Applied </a:t>
            </a:r>
            <a:r>
              <a:rPr lang="da-DK" err="1"/>
              <a:t>Statistics</a:t>
            </a:r>
            <a:endParaRPr lang="da-DK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14:00 - Break</a:t>
            </a:r>
            <a:endParaRPr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4:15</a:t>
            </a:r>
            <a:r>
              <a:t> - </a:t>
            </a:r>
            <a:r>
              <a:rPr lang="da-DK" err="1"/>
              <a:t>Statistics</a:t>
            </a:r>
            <a:r>
              <a:rPr lang="da-DK"/>
              <a:t> </a:t>
            </a:r>
            <a:r>
              <a:rPr lang="da-DK" err="1"/>
              <a:t>Exercise</a:t>
            </a:r>
            <a:endParaRPr sz="1200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15:</a:t>
            </a:r>
            <a:r>
              <a:rPr lang="da-DK"/>
              <a:t>00</a:t>
            </a:r>
            <a:r>
              <a:t> - Cool things in R </a:t>
            </a:r>
            <a:r>
              <a:rPr lang="da-DK"/>
              <a:t>+</a:t>
            </a:r>
            <a:r>
              <a:t> Course Evaluation</a:t>
            </a:r>
            <a:endParaRPr lang="da-DK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/>
              <a:t>15:15 - </a:t>
            </a:r>
            <a:r>
              <a:rPr lang="en-US" err="1"/>
              <a:t>DataLabs</a:t>
            </a:r>
            <a:r>
              <a:rPr lang="en-US"/>
              <a:t> Services / Where to get Help</a:t>
            </a:r>
            <a:endParaRPr lang="da-DK"/>
          </a:p>
          <a:p>
            <a:pPr defTabSz="825500">
              <a:lnSpc>
                <a:spcPts val="4400"/>
              </a:lnSpc>
              <a:defRPr sz="3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16:00 - </a:t>
            </a:r>
            <a:r>
              <a:rPr lang="da-DK" err="1"/>
              <a:t>Bye</a:t>
            </a:r>
            <a:r>
              <a:rPr lang="da-DK"/>
              <a:t> </a:t>
            </a:r>
            <a:r>
              <a:rPr lang="da-DK" err="1"/>
              <a:t>Bye</a:t>
            </a:r>
            <a:r>
              <a:rPr lang="da-DK"/>
              <a:t> </a:t>
            </a:r>
            <a:r>
              <a:rPr lang="da-DK" err="1"/>
              <a:t>Bye</a:t>
            </a:r>
            <a:r>
              <a:rPr lang="da-DK"/>
              <a:t>!</a:t>
            </a:r>
            <a:endParaRPr/>
          </a:p>
        </p:txBody>
      </p:sp>
      <p:sp>
        <p:nvSpPr>
          <p:cNvPr id="370" name="Line">
            <a:extLst>
              <a:ext uri="{FF2B5EF4-FFF2-40B4-BE49-F238E27FC236}">
                <a16:creationId xmlns:a16="http://schemas.microsoft.com/office/drawing/2014/main" id="{B8B894EA-3FA1-D225-CC27-4F8F182B62DC}"/>
              </a:ext>
            </a:extLst>
          </p:cNvPr>
          <p:cNvSpPr/>
          <p:nvPr/>
        </p:nvSpPr>
        <p:spPr>
          <a:xfrm>
            <a:off x="1999580" y="5797843"/>
            <a:ext cx="20310733" cy="1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36673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onnection Line"/>
          <p:cNvSpPr/>
          <p:nvPr/>
        </p:nvSpPr>
        <p:spPr>
          <a:xfrm>
            <a:off x="1519354" y="6878274"/>
            <a:ext cx="16072296" cy="54057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5859" y="7739"/>
                  <a:pt x="13059" y="539"/>
                  <a:pt x="21600" y="0"/>
                </a:cubicBezTo>
              </a:path>
            </a:pathLst>
          </a:custGeom>
          <a:ln w="38100">
            <a:solidFill>
              <a:srgbClr val="2E5378"/>
            </a:solidFill>
            <a:custDash>
              <a:ds d="600000" sp="600000"/>
            </a:custDash>
            <a:miter lim="400000"/>
          </a:ln>
        </p:spPr>
        <p:txBody>
          <a:bodyPr/>
          <a:lstStyle/>
          <a:p>
            <a:endParaRPr/>
          </a:p>
        </p:txBody>
      </p:sp>
      <p:grpSp>
        <p:nvGrpSpPr>
          <p:cNvPr id="388" name="Group"/>
          <p:cNvGrpSpPr/>
          <p:nvPr/>
        </p:nvGrpSpPr>
        <p:grpSpPr>
          <a:xfrm>
            <a:off x="2551153" y="6073572"/>
            <a:ext cx="9990237" cy="6774458"/>
            <a:chOff x="0" y="0"/>
            <a:chExt cx="9990236" cy="6774456"/>
          </a:xfrm>
        </p:grpSpPr>
        <p:sp>
          <p:nvSpPr>
            <p:cNvPr id="373" name="Freeform 471"/>
            <p:cNvSpPr/>
            <p:nvPr/>
          </p:nvSpPr>
          <p:spPr>
            <a:xfrm rot="4080000">
              <a:off x="563307" y="3464560"/>
              <a:ext cx="1868101" cy="24751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2" h="21600" extrusionOk="0">
                  <a:moveTo>
                    <a:pt x="144" y="0"/>
                  </a:moveTo>
                  <a:cubicBezTo>
                    <a:pt x="149" y="723"/>
                    <a:pt x="-6" y="1565"/>
                    <a:pt x="0" y="2408"/>
                  </a:cubicBezTo>
                  <a:cubicBezTo>
                    <a:pt x="63" y="11803"/>
                    <a:pt x="8146" y="19181"/>
                    <a:pt x="8469" y="19423"/>
                  </a:cubicBezTo>
                  <a:cubicBezTo>
                    <a:pt x="10894" y="21600"/>
                    <a:pt x="10894" y="21600"/>
                    <a:pt x="10894" y="21600"/>
                  </a:cubicBezTo>
                  <a:cubicBezTo>
                    <a:pt x="13290" y="19441"/>
                    <a:pt x="13290" y="19441"/>
                    <a:pt x="13290" y="19441"/>
                  </a:cubicBezTo>
                  <a:cubicBezTo>
                    <a:pt x="13609" y="19202"/>
                    <a:pt x="21594" y="11885"/>
                    <a:pt x="21531" y="2490"/>
                  </a:cubicBezTo>
                  <a:cubicBezTo>
                    <a:pt x="21525" y="1647"/>
                    <a:pt x="21359" y="804"/>
                    <a:pt x="21354" y="81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FFC99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4" name="Freeform 472"/>
            <p:cNvSpPr/>
            <p:nvPr/>
          </p:nvSpPr>
          <p:spPr>
            <a:xfrm rot="4080000">
              <a:off x="1104965" y="3635024"/>
              <a:ext cx="1281650" cy="1938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600" extrusionOk="0">
                  <a:moveTo>
                    <a:pt x="21498" y="72"/>
                  </a:moveTo>
                  <a:cubicBezTo>
                    <a:pt x="10749" y="36"/>
                    <a:pt x="10749" y="36"/>
                    <a:pt x="10749" y="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924"/>
                    <a:pt x="15" y="2002"/>
                    <a:pt x="22" y="2927"/>
                  </a:cubicBezTo>
                  <a:cubicBezTo>
                    <a:pt x="102" y="13246"/>
                    <a:pt x="10915" y="21600"/>
                    <a:pt x="10915" y="21600"/>
                  </a:cubicBezTo>
                  <a:cubicBezTo>
                    <a:pt x="10915" y="21600"/>
                    <a:pt x="21600" y="13318"/>
                    <a:pt x="21521" y="2998"/>
                  </a:cubicBezTo>
                  <a:cubicBezTo>
                    <a:pt x="21514" y="2074"/>
                    <a:pt x="21505" y="996"/>
                    <a:pt x="21498" y="72"/>
                  </a:cubicBezTo>
                  <a:close/>
                </a:path>
              </a:pathLst>
            </a:custGeom>
            <a:solidFill>
              <a:srgbClr val="880C0A">
                <a:alpha val="67831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5" name="Freeform 473"/>
            <p:cNvSpPr/>
            <p:nvPr/>
          </p:nvSpPr>
          <p:spPr>
            <a:xfrm rot="4080000">
              <a:off x="1531251" y="3808976"/>
              <a:ext cx="949096" cy="1372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0" h="21600" extrusionOk="0">
                  <a:moveTo>
                    <a:pt x="10918" y="21600"/>
                  </a:moveTo>
                  <a:cubicBezTo>
                    <a:pt x="6773" y="17447"/>
                    <a:pt x="82" y="11108"/>
                    <a:pt x="11" y="1525"/>
                  </a:cubicBezTo>
                  <a:cubicBezTo>
                    <a:pt x="8" y="1089"/>
                    <a:pt x="3" y="436"/>
                    <a:pt x="0" y="0"/>
                  </a:cubicBezTo>
                  <a:cubicBezTo>
                    <a:pt x="21518" y="75"/>
                    <a:pt x="21518" y="75"/>
                    <a:pt x="21518" y="75"/>
                  </a:cubicBezTo>
                  <a:cubicBezTo>
                    <a:pt x="21522" y="511"/>
                    <a:pt x="21526" y="1164"/>
                    <a:pt x="21530" y="1600"/>
                  </a:cubicBezTo>
                  <a:cubicBezTo>
                    <a:pt x="21600" y="11183"/>
                    <a:pt x="15003" y="17694"/>
                    <a:pt x="10918" y="21600"/>
                  </a:cubicBezTo>
                  <a:close/>
                </a:path>
              </a:pathLst>
            </a:custGeom>
            <a:solidFill>
              <a:srgbClr val="FFF1D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6" name="Freeform 474"/>
            <p:cNvSpPr/>
            <p:nvPr/>
          </p:nvSpPr>
          <p:spPr>
            <a:xfrm rot="4080000">
              <a:off x="1653563" y="4070655"/>
              <a:ext cx="1979120" cy="3390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3" h="21430" extrusionOk="0">
                  <a:moveTo>
                    <a:pt x="1064" y="3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6158"/>
                    <a:pt x="5" y="6158"/>
                    <a:pt x="5" y="6158"/>
                  </a:cubicBezTo>
                  <a:cubicBezTo>
                    <a:pt x="12" y="14075"/>
                    <a:pt x="4883" y="21254"/>
                    <a:pt x="10812" y="21427"/>
                  </a:cubicBezTo>
                  <a:cubicBezTo>
                    <a:pt x="16741" y="21600"/>
                    <a:pt x="21600" y="14705"/>
                    <a:pt x="21593" y="6788"/>
                  </a:cubicBezTo>
                  <a:cubicBezTo>
                    <a:pt x="21588" y="630"/>
                    <a:pt x="21588" y="630"/>
                    <a:pt x="21588" y="630"/>
                  </a:cubicBezTo>
                  <a:cubicBezTo>
                    <a:pt x="20523" y="599"/>
                    <a:pt x="20523" y="599"/>
                    <a:pt x="20523" y="599"/>
                  </a:cubicBezTo>
                  <a:lnTo>
                    <a:pt x="1064" y="31"/>
                  </a:ln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7" name="Freeform 475"/>
            <p:cNvSpPr/>
            <p:nvPr/>
          </p:nvSpPr>
          <p:spPr>
            <a:xfrm rot="4080000">
              <a:off x="3640634" y="3928929"/>
              <a:ext cx="1493956" cy="3132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1261" extrusionOk="0">
                  <a:moveTo>
                    <a:pt x="21580" y="14575"/>
                  </a:moveTo>
                  <a:cubicBezTo>
                    <a:pt x="21517" y="8759"/>
                    <a:pt x="16617" y="3775"/>
                    <a:pt x="6885" y="0"/>
                  </a:cubicBezTo>
                  <a:cubicBezTo>
                    <a:pt x="0" y="16775"/>
                    <a:pt x="0" y="16775"/>
                    <a:pt x="0" y="16775"/>
                  </a:cubicBezTo>
                  <a:cubicBezTo>
                    <a:pt x="0" y="16775"/>
                    <a:pt x="8303" y="19046"/>
                    <a:pt x="15391" y="21033"/>
                  </a:cubicBezTo>
                  <a:cubicBezTo>
                    <a:pt x="17214" y="21600"/>
                    <a:pt x="19833" y="21043"/>
                    <a:pt x="20226" y="20106"/>
                  </a:cubicBezTo>
                  <a:cubicBezTo>
                    <a:pt x="21014" y="18232"/>
                    <a:pt x="21600" y="16451"/>
                    <a:pt x="21580" y="14575"/>
                  </a:cubicBez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8" name="Freeform 476"/>
            <p:cNvSpPr/>
            <p:nvPr/>
          </p:nvSpPr>
          <p:spPr>
            <a:xfrm rot="4080000">
              <a:off x="2296059" y="550073"/>
              <a:ext cx="1491519" cy="3125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8" h="21261" extrusionOk="0">
                  <a:moveTo>
                    <a:pt x="1" y="14538"/>
                  </a:moveTo>
                  <a:cubicBezTo>
                    <a:pt x="-62" y="8709"/>
                    <a:pt x="4709" y="3738"/>
                    <a:pt x="14118" y="0"/>
                  </a:cubicBezTo>
                  <a:cubicBezTo>
                    <a:pt x="21538" y="16846"/>
                    <a:pt x="21538" y="16846"/>
                    <a:pt x="21538" y="16846"/>
                  </a:cubicBezTo>
                  <a:cubicBezTo>
                    <a:pt x="21538" y="16846"/>
                    <a:pt x="13319" y="19083"/>
                    <a:pt x="6304" y="21040"/>
                  </a:cubicBezTo>
                  <a:cubicBezTo>
                    <a:pt x="4500" y="21600"/>
                    <a:pt x="1881" y="21030"/>
                    <a:pt x="1468" y="20089"/>
                  </a:cubicBezTo>
                  <a:cubicBezTo>
                    <a:pt x="644" y="18206"/>
                    <a:pt x="21" y="16419"/>
                    <a:pt x="1" y="14538"/>
                  </a:cubicBez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79" name="Freeform 477"/>
            <p:cNvSpPr/>
            <p:nvPr/>
          </p:nvSpPr>
          <p:spPr>
            <a:xfrm rot="4080000">
              <a:off x="4410335" y="-763412"/>
              <a:ext cx="3235906" cy="7238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9" h="21594" extrusionOk="0">
                  <a:moveTo>
                    <a:pt x="10585" y="0"/>
                  </a:moveTo>
                  <a:cubicBezTo>
                    <a:pt x="10585" y="0"/>
                    <a:pt x="-113" y="2283"/>
                    <a:pt x="1" y="12380"/>
                  </a:cubicBezTo>
                  <a:cubicBezTo>
                    <a:pt x="39" y="15759"/>
                    <a:pt x="1276" y="18852"/>
                    <a:pt x="3150" y="21082"/>
                  </a:cubicBezTo>
                  <a:cubicBezTo>
                    <a:pt x="5280" y="21375"/>
                    <a:pt x="7963" y="21587"/>
                    <a:pt x="10829" y="21594"/>
                  </a:cubicBezTo>
                  <a:cubicBezTo>
                    <a:pt x="13695" y="21600"/>
                    <a:pt x="16281" y="21400"/>
                    <a:pt x="18496" y="21116"/>
                  </a:cubicBezTo>
                  <a:cubicBezTo>
                    <a:pt x="20320" y="18895"/>
                    <a:pt x="21487" y="15807"/>
                    <a:pt x="21449" y="12428"/>
                  </a:cubicBezTo>
                  <a:cubicBezTo>
                    <a:pt x="21335" y="2332"/>
                    <a:pt x="10585" y="0"/>
                    <a:pt x="10585" y="0"/>
                  </a:cubicBezTo>
                  <a:close/>
                </a:path>
              </a:pathLst>
            </a:custGeom>
            <a:solidFill>
              <a:srgbClr val="C3C0E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0" name="Freeform 478"/>
            <p:cNvSpPr/>
            <p:nvPr/>
          </p:nvSpPr>
          <p:spPr>
            <a:xfrm rot="4080000">
              <a:off x="4736561" y="-543370"/>
              <a:ext cx="2761261" cy="7238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594" extrusionOk="0">
                  <a:moveTo>
                    <a:pt x="8758" y="0"/>
                  </a:moveTo>
                  <a:cubicBezTo>
                    <a:pt x="8758" y="0"/>
                    <a:pt x="8214" y="81"/>
                    <a:pt x="7455" y="286"/>
                  </a:cubicBezTo>
                  <a:cubicBezTo>
                    <a:pt x="11174" y="1529"/>
                    <a:pt x="17751" y="4797"/>
                    <a:pt x="17848" y="12050"/>
                  </a:cubicBezTo>
                  <a:cubicBezTo>
                    <a:pt x="17893" y="15471"/>
                    <a:pt x="16518" y="18517"/>
                    <a:pt x="14370" y="20780"/>
                  </a:cubicBezTo>
                  <a:cubicBezTo>
                    <a:pt x="11761" y="21063"/>
                    <a:pt x="8714" y="21222"/>
                    <a:pt x="5338" y="21215"/>
                  </a:cubicBezTo>
                  <a:cubicBezTo>
                    <a:pt x="3487" y="21212"/>
                    <a:pt x="1635" y="21167"/>
                    <a:pt x="0" y="21040"/>
                  </a:cubicBezTo>
                  <a:cubicBezTo>
                    <a:pt x="1" y="21082"/>
                    <a:pt x="1" y="21082"/>
                    <a:pt x="1" y="21082"/>
                  </a:cubicBezTo>
                  <a:cubicBezTo>
                    <a:pt x="2509" y="21375"/>
                    <a:pt x="5670" y="21587"/>
                    <a:pt x="9045" y="21594"/>
                  </a:cubicBezTo>
                  <a:cubicBezTo>
                    <a:pt x="12421" y="21600"/>
                    <a:pt x="15468" y="21400"/>
                    <a:pt x="18077" y="21116"/>
                  </a:cubicBezTo>
                  <a:cubicBezTo>
                    <a:pt x="20226" y="18895"/>
                    <a:pt x="21600" y="15807"/>
                    <a:pt x="21555" y="12428"/>
                  </a:cubicBezTo>
                  <a:cubicBezTo>
                    <a:pt x="21420" y="2332"/>
                    <a:pt x="8758" y="0"/>
                    <a:pt x="8758" y="0"/>
                  </a:cubicBezTo>
                  <a:close/>
                </a:path>
              </a:pathLst>
            </a:custGeom>
            <a:solidFill>
              <a:srgbClr val="A6A3C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1" name="Freeform 479"/>
            <p:cNvSpPr/>
            <p:nvPr/>
          </p:nvSpPr>
          <p:spPr>
            <a:xfrm rot="4080000">
              <a:off x="3324391" y="2207947"/>
              <a:ext cx="389911" cy="3357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595" extrusionOk="0">
                  <a:moveTo>
                    <a:pt x="13764" y="447"/>
                  </a:moveTo>
                  <a:cubicBezTo>
                    <a:pt x="13753" y="180"/>
                    <a:pt x="12204" y="2"/>
                    <a:pt x="9893" y="0"/>
                  </a:cubicBezTo>
                  <a:cubicBezTo>
                    <a:pt x="9893" y="0"/>
                    <a:pt x="9893" y="0"/>
                    <a:pt x="9893" y="0"/>
                  </a:cubicBezTo>
                  <a:cubicBezTo>
                    <a:pt x="9893" y="0"/>
                    <a:pt x="9893" y="0"/>
                    <a:pt x="9893" y="0"/>
                  </a:cubicBezTo>
                  <a:cubicBezTo>
                    <a:pt x="7582" y="-1"/>
                    <a:pt x="6049" y="176"/>
                    <a:pt x="6061" y="442"/>
                  </a:cubicBezTo>
                  <a:cubicBezTo>
                    <a:pt x="0" y="20345"/>
                    <a:pt x="0" y="20345"/>
                    <a:pt x="0" y="20345"/>
                  </a:cubicBezTo>
                  <a:cubicBezTo>
                    <a:pt x="31" y="21056"/>
                    <a:pt x="4676" y="21592"/>
                    <a:pt x="10839" y="21595"/>
                  </a:cubicBezTo>
                  <a:cubicBezTo>
                    <a:pt x="10839" y="21595"/>
                    <a:pt x="10839" y="21595"/>
                    <a:pt x="10839" y="21595"/>
                  </a:cubicBezTo>
                  <a:cubicBezTo>
                    <a:pt x="10839" y="21595"/>
                    <a:pt x="10839" y="21595"/>
                    <a:pt x="10839" y="21595"/>
                  </a:cubicBezTo>
                  <a:cubicBezTo>
                    <a:pt x="17001" y="21599"/>
                    <a:pt x="21600" y="21068"/>
                    <a:pt x="21569" y="20358"/>
                  </a:cubicBezTo>
                  <a:lnTo>
                    <a:pt x="13764" y="447"/>
                  </a:ln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2" name="Freeform 480"/>
            <p:cNvSpPr/>
            <p:nvPr/>
          </p:nvSpPr>
          <p:spPr>
            <a:xfrm rot="4080000">
              <a:off x="7433391" y="944292"/>
              <a:ext cx="2287058" cy="1727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4" extrusionOk="0">
                  <a:moveTo>
                    <a:pt x="10815" y="21574"/>
                  </a:moveTo>
                  <a:cubicBezTo>
                    <a:pt x="14766" y="21600"/>
                    <a:pt x="18448" y="20244"/>
                    <a:pt x="21600" y="17849"/>
                  </a:cubicBezTo>
                  <a:cubicBezTo>
                    <a:pt x="16937" y="4011"/>
                    <a:pt x="10732" y="0"/>
                    <a:pt x="10732" y="0"/>
                  </a:cubicBezTo>
                  <a:cubicBezTo>
                    <a:pt x="10732" y="0"/>
                    <a:pt x="4557" y="3928"/>
                    <a:pt x="0" y="17705"/>
                  </a:cubicBezTo>
                  <a:cubicBezTo>
                    <a:pt x="3170" y="20142"/>
                    <a:pt x="6863" y="21547"/>
                    <a:pt x="10815" y="21574"/>
                  </a:cubicBez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3" name="Freeform 481"/>
            <p:cNvSpPr/>
            <p:nvPr/>
          </p:nvSpPr>
          <p:spPr>
            <a:xfrm rot="4080000">
              <a:off x="5132606" y="-1381837"/>
              <a:ext cx="1304331" cy="7219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3" h="21600" extrusionOk="0">
                  <a:moveTo>
                    <a:pt x="16663" y="21600"/>
                  </a:moveTo>
                  <a:cubicBezTo>
                    <a:pt x="14135" y="18665"/>
                    <a:pt x="3282" y="4197"/>
                    <a:pt x="20753" y="0"/>
                  </a:cubicBezTo>
                  <a:cubicBezTo>
                    <a:pt x="20753" y="0"/>
                    <a:pt x="20753" y="0"/>
                    <a:pt x="20753" y="0"/>
                  </a:cubicBezTo>
                  <a:cubicBezTo>
                    <a:pt x="20753" y="0"/>
                    <a:pt x="1482" y="3493"/>
                    <a:pt x="117" y="10638"/>
                  </a:cubicBezTo>
                  <a:cubicBezTo>
                    <a:pt x="-847" y="16131"/>
                    <a:pt x="4375" y="19895"/>
                    <a:pt x="6640" y="21343"/>
                  </a:cubicBezTo>
                  <a:cubicBezTo>
                    <a:pt x="9759" y="21470"/>
                    <a:pt x="13101" y="21555"/>
                    <a:pt x="16663" y="21600"/>
                  </a:cubicBezTo>
                  <a:close/>
                </a:path>
              </a:pathLst>
            </a:custGeom>
            <a:solidFill>
              <a:srgbClr val="FFFFFF">
                <a:alpha val="21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4" name="Oval 482"/>
            <p:cNvSpPr/>
            <p:nvPr/>
          </p:nvSpPr>
          <p:spPr>
            <a:xfrm rot="4080000">
              <a:off x="5574392" y="1720110"/>
              <a:ext cx="1868080" cy="1865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50" h="19650" extrusionOk="0">
                  <a:moveTo>
                    <a:pt x="16737" y="2913"/>
                  </a:moveTo>
                  <a:cubicBezTo>
                    <a:pt x="20593" y="6769"/>
                    <a:pt x="20625" y="12990"/>
                    <a:pt x="16808" y="16807"/>
                  </a:cubicBezTo>
                  <a:cubicBezTo>
                    <a:pt x="12990" y="20625"/>
                    <a:pt x="6769" y="20594"/>
                    <a:pt x="2913" y="16737"/>
                  </a:cubicBezTo>
                  <a:cubicBezTo>
                    <a:pt x="-943" y="12881"/>
                    <a:pt x="-975" y="6660"/>
                    <a:pt x="2842" y="2843"/>
                  </a:cubicBezTo>
                  <a:cubicBezTo>
                    <a:pt x="6660" y="-975"/>
                    <a:pt x="12881" y="-944"/>
                    <a:pt x="16737" y="2913"/>
                  </a:cubicBez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5" name="Oval 483"/>
            <p:cNvSpPr/>
            <p:nvPr/>
          </p:nvSpPr>
          <p:spPr>
            <a:xfrm rot="4080000">
              <a:off x="5783896" y="1927428"/>
              <a:ext cx="1449072" cy="1451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50" h="19650" extrusionOk="0">
                  <a:moveTo>
                    <a:pt x="16737" y="2913"/>
                  </a:moveTo>
                  <a:cubicBezTo>
                    <a:pt x="20593" y="6769"/>
                    <a:pt x="20625" y="12990"/>
                    <a:pt x="16808" y="16807"/>
                  </a:cubicBezTo>
                  <a:cubicBezTo>
                    <a:pt x="12990" y="20625"/>
                    <a:pt x="6770" y="20594"/>
                    <a:pt x="2913" y="16737"/>
                  </a:cubicBezTo>
                  <a:cubicBezTo>
                    <a:pt x="-943" y="12881"/>
                    <a:pt x="-975" y="6660"/>
                    <a:pt x="2842" y="2843"/>
                  </a:cubicBezTo>
                  <a:cubicBezTo>
                    <a:pt x="6660" y="-975"/>
                    <a:pt x="12880" y="-944"/>
                    <a:pt x="16737" y="291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6" name="Freeform 484"/>
            <p:cNvSpPr/>
            <p:nvPr/>
          </p:nvSpPr>
          <p:spPr>
            <a:xfrm rot="4080000">
              <a:off x="5893322" y="1905575"/>
              <a:ext cx="1307214" cy="1310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6" h="21567" extrusionOk="0">
                  <a:moveTo>
                    <a:pt x="2771" y="14734"/>
                  </a:moveTo>
                  <a:cubicBezTo>
                    <a:pt x="2738" y="8140"/>
                    <a:pt x="7997" y="2937"/>
                    <a:pt x="14661" y="2970"/>
                  </a:cubicBezTo>
                  <a:cubicBezTo>
                    <a:pt x="17189" y="2983"/>
                    <a:pt x="19721" y="3678"/>
                    <a:pt x="21566" y="5051"/>
                  </a:cubicBezTo>
                  <a:cubicBezTo>
                    <a:pt x="19483" y="2085"/>
                    <a:pt x="15795" y="20"/>
                    <a:pt x="11888" y="0"/>
                  </a:cubicBezTo>
                  <a:cubicBezTo>
                    <a:pt x="5224" y="-33"/>
                    <a:pt x="-34" y="5398"/>
                    <a:pt x="0" y="11992"/>
                  </a:cubicBezTo>
                  <a:cubicBezTo>
                    <a:pt x="19" y="15857"/>
                    <a:pt x="2105" y="19278"/>
                    <a:pt x="5104" y="21567"/>
                  </a:cubicBezTo>
                  <a:cubicBezTo>
                    <a:pt x="3715" y="19514"/>
                    <a:pt x="2784" y="17235"/>
                    <a:pt x="2771" y="14734"/>
                  </a:cubicBezTo>
                  <a:close/>
                </a:path>
              </a:pathLst>
            </a:custGeom>
            <a:solidFill>
              <a:srgbClr val="E3F4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7" name="Freeform 485"/>
            <p:cNvSpPr/>
            <p:nvPr/>
          </p:nvSpPr>
          <p:spPr>
            <a:xfrm rot="4080000">
              <a:off x="8277020" y="1513336"/>
              <a:ext cx="1150193" cy="1593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9" h="21598" extrusionOk="0">
                  <a:moveTo>
                    <a:pt x="19302" y="16745"/>
                  </a:moveTo>
                  <a:cubicBezTo>
                    <a:pt x="16460" y="12238"/>
                    <a:pt x="12598" y="8102"/>
                    <a:pt x="7973" y="4526"/>
                  </a:cubicBezTo>
                  <a:cubicBezTo>
                    <a:pt x="6432" y="3396"/>
                    <a:pt x="4893" y="2453"/>
                    <a:pt x="3096" y="1323"/>
                  </a:cubicBezTo>
                  <a:cubicBezTo>
                    <a:pt x="2583" y="1133"/>
                    <a:pt x="1814" y="756"/>
                    <a:pt x="1300" y="379"/>
                  </a:cubicBezTo>
                  <a:cubicBezTo>
                    <a:pt x="789" y="377"/>
                    <a:pt x="276" y="1"/>
                    <a:pt x="20" y="0"/>
                  </a:cubicBezTo>
                  <a:cubicBezTo>
                    <a:pt x="-491" y="-2"/>
                    <a:pt x="9038" y="10712"/>
                    <a:pt x="14480" y="21598"/>
                  </a:cubicBezTo>
                  <a:cubicBezTo>
                    <a:pt x="16776" y="21045"/>
                    <a:pt x="18815" y="20303"/>
                    <a:pt x="21109" y="19375"/>
                  </a:cubicBezTo>
                  <a:cubicBezTo>
                    <a:pt x="20591" y="18436"/>
                    <a:pt x="19818" y="17496"/>
                    <a:pt x="19302" y="16745"/>
                  </a:cubicBezTo>
                  <a:close/>
                </a:path>
              </a:pathLst>
            </a:custGeom>
            <a:solidFill>
              <a:srgbClr val="26456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389" name="Rectangle"/>
          <p:cNvSpPr/>
          <p:nvPr/>
        </p:nvSpPr>
        <p:spPr>
          <a:xfrm>
            <a:off x="0" y="-27802"/>
            <a:ext cx="24371300" cy="4522483"/>
          </a:xfrm>
          <a:prstGeom prst="rect">
            <a:avLst/>
          </a:prstGeom>
          <a:solidFill>
            <a:srgbClr val="407B9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93" name="Group"/>
          <p:cNvGrpSpPr/>
          <p:nvPr/>
        </p:nvGrpSpPr>
        <p:grpSpPr>
          <a:xfrm>
            <a:off x="7341378" y="1142747"/>
            <a:ext cx="10532302" cy="3916506"/>
            <a:chOff x="0" y="-57197"/>
            <a:chExt cx="10532301" cy="3916504"/>
          </a:xfrm>
        </p:grpSpPr>
        <p:sp>
          <p:nvSpPr>
            <p:cNvPr id="390" name="LET’S GET STARTED"/>
            <p:cNvSpPr txBox="1"/>
            <p:nvPr/>
          </p:nvSpPr>
          <p:spPr>
            <a:xfrm>
              <a:off x="0" y="800304"/>
              <a:ext cx="10532301" cy="305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8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>
                <a:defRPr sz="9000"/>
              </a:pPr>
              <a:r>
                <a:rPr sz="8000"/>
                <a:t>LET’S GET STARTED</a:t>
              </a:r>
            </a:p>
          </p:txBody>
        </p:sp>
        <p:sp>
          <p:nvSpPr>
            <p:cNvPr id="391" name="FROM EXCEL TO R"/>
            <p:cNvSpPr txBox="1"/>
            <p:nvPr/>
          </p:nvSpPr>
          <p:spPr>
            <a:xfrm>
              <a:off x="1607316" y="-57197"/>
              <a:ext cx="7185392" cy="675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392" name="Line"/>
            <p:cNvSpPr/>
            <p:nvPr/>
          </p:nvSpPr>
          <p:spPr>
            <a:xfrm>
              <a:off x="123798" y="259427"/>
              <a:ext cx="1152000" cy="0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397" name="Group"/>
          <p:cNvGrpSpPr/>
          <p:nvPr/>
        </p:nvGrpSpPr>
        <p:grpSpPr>
          <a:xfrm>
            <a:off x="17716468" y="5469175"/>
            <a:ext cx="3477414" cy="3634554"/>
            <a:chOff x="0" y="-152400"/>
            <a:chExt cx="3477412" cy="3634553"/>
          </a:xfrm>
        </p:grpSpPr>
        <p:sp>
          <p:nvSpPr>
            <p:cNvPr id="394" name="Oval"/>
            <p:cNvSpPr/>
            <p:nvPr/>
          </p:nvSpPr>
          <p:spPr>
            <a:xfrm>
              <a:off x="0" y="139309"/>
              <a:ext cx="3477413" cy="3342845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95" name="Oval"/>
            <p:cNvSpPr/>
            <p:nvPr/>
          </p:nvSpPr>
          <p:spPr>
            <a:xfrm>
              <a:off x="768501" y="217876"/>
              <a:ext cx="1940412" cy="1114181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396" name="R"/>
            <p:cNvSpPr txBox="1"/>
            <p:nvPr/>
          </p:nvSpPr>
          <p:spPr>
            <a:xfrm>
              <a:off x="834361" y="-152401"/>
              <a:ext cx="1503896" cy="33257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3000">
                  <a:solidFill>
                    <a:srgbClr val="EBEBEB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R</a:t>
              </a:r>
            </a:p>
          </p:txBody>
        </p:sp>
      </p:grpSp>
      <p:sp>
        <p:nvSpPr>
          <p:cNvPr id="398" name="Shape"/>
          <p:cNvSpPr/>
          <p:nvPr/>
        </p:nvSpPr>
        <p:spPr>
          <a:xfrm>
            <a:off x="16801126" y="6004856"/>
            <a:ext cx="5800477" cy="3011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0" h="21445" extrusionOk="0">
                <a:moveTo>
                  <a:pt x="15855" y="3903"/>
                </a:moveTo>
                <a:cubicBezTo>
                  <a:pt x="16063" y="3881"/>
                  <a:pt x="16269" y="3819"/>
                  <a:pt x="16471" y="3718"/>
                </a:cubicBezTo>
                <a:cubicBezTo>
                  <a:pt x="16696" y="3605"/>
                  <a:pt x="16915" y="3443"/>
                  <a:pt x="17121" y="3235"/>
                </a:cubicBezTo>
                <a:lnTo>
                  <a:pt x="17988" y="2598"/>
                </a:lnTo>
                <a:lnTo>
                  <a:pt x="18720" y="2111"/>
                </a:lnTo>
                <a:cubicBezTo>
                  <a:pt x="18947" y="1966"/>
                  <a:pt x="19175" y="1839"/>
                  <a:pt x="19405" y="1730"/>
                </a:cubicBezTo>
                <a:cubicBezTo>
                  <a:pt x="19614" y="1632"/>
                  <a:pt x="19831" y="1547"/>
                  <a:pt x="20044" y="1636"/>
                </a:cubicBezTo>
                <a:cubicBezTo>
                  <a:pt x="20158" y="1684"/>
                  <a:pt x="20266" y="1786"/>
                  <a:pt x="20308" y="1984"/>
                </a:cubicBezTo>
                <a:cubicBezTo>
                  <a:pt x="20352" y="2187"/>
                  <a:pt x="20309" y="2414"/>
                  <a:pt x="20247" y="2613"/>
                </a:cubicBezTo>
                <a:cubicBezTo>
                  <a:pt x="20193" y="2789"/>
                  <a:pt x="20129" y="2951"/>
                  <a:pt x="20055" y="3098"/>
                </a:cubicBezTo>
                <a:cubicBezTo>
                  <a:pt x="19940" y="3325"/>
                  <a:pt x="19807" y="3509"/>
                  <a:pt x="19671" y="3684"/>
                </a:cubicBezTo>
                <a:cubicBezTo>
                  <a:pt x="19519" y="3879"/>
                  <a:pt x="19363" y="4063"/>
                  <a:pt x="19207" y="4245"/>
                </a:cubicBezTo>
                <a:cubicBezTo>
                  <a:pt x="18947" y="4549"/>
                  <a:pt x="18685" y="4848"/>
                  <a:pt x="18422" y="5142"/>
                </a:cubicBezTo>
                <a:lnTo>
                  <a:pt x="14867" y="8907"/>
                </a:lnTo>
                <a:lnTo>
                  <a:pt x="10703" y="12997"/>
                </a:lnTo>
                <a:lnTo>
                  <a:pt x="6354" y="16898"/>
                </a:lnTo>
                <a:lnTo>
                  <a:pt x="4321" y="18309"/>
                </a:lnTo>
                <a:cubicBezTo>
                  <a:pt x="3879" y="18576"/>
                  <a:pt x="3439" y="18849"/>
                  <a:pt x="2999" y="19128"/>
                </a:cubicBezTo>
                <a:cubicBezTo>
                  <a:pt x="2720" y="19305"/>
                  <a:pt x="2441" y="19485"/>
                  <a:pt x="2156" y="19626"/>
                </a:cubicBezTo>
                <a:cubicBezTo>
                  <a:pt x="1948" y="19728"/>
                  <a:pt x="1722" y="19797"/>
                  <a:pt x="1551" y="19559"/>
                </a:cubicBezTo>
                <a:cubicBezTo>
                  <a:pt x="1488" y="19472"/>
                  <a:pt x="1441" y="19350"/>
                  <a:pt x="1416" y="19210"/>
                </a:cubicBezTo>
                <a:cubicBezTo>
                  <a:pt x="1405" y="19051"/>
                  <a:pt x="1411" y="18889"/>
                  <a:pt x="1435" y="18735"/>
                </a:cubicBezTo>
                <a:cubicBezTo>
                  <a:pt x="1470" y="18508"/>
                  <a:pt x="1540" y="18310"/>
                  <a:pt x="1614" y="18121"/>
                </a:cubicBezTo>
                <a:cubicBezTo>
                  <a:pt x="1736" y="17808"/>
                  <a:pt x="1868" y="17511"/>
                  <a:pt x="2009" y="17231"/>
                </a:cubicBezTo>
                <a:cubicBezTo>
                  <a:pt x="2155" y="16938"/>
                  <a:pt x="2298" y="16641"/>
                  <a:pt x="2440" y="16341"/>
                </a:cubicBezTo>
                <a:cubicBezTo>
                  <a:pt x="2584" y="16035"/>
                  <a:pt x="2726" y="15725"/>
                  <a:pt x="2866" y="15413"/>
                </a:cubicBezTo>
                <a:lnTo>
                  <a:pt x="3829" y="13251"/>
                </a:lnTo>
                <a:cubicBezTo>
                  <a:pt x="2926" y="14033"/>
                  <a:pt x="2084" y="15051"/>
                  <a:pt x="1326" y="16275"/>
                </a:cubicBezTo>
                <a:cubicBezTo>
                  <a:pt x="1025" y="16762"/>
                  <a:pt x="733" y="17299"/>
                  <a:pt x="495" y="17886"/>
                </a:cubicBezTo>
                <a:cubicBezTo>
                  <a:pt x="264" y="18453"/>
                  <a:pt x="81" y="19073"/>
                  <a:pt x="18" y="19794"/>
                </a:cubicBezTo>
                <a:cubicBezTo>
                  <a:pt x="-17" y="20189"/>
                  <a:pt x="-8" y="20610"/>
                  <a:pt x="120" y="20925"/>
                </a:cubicBezTo>
                <a:cubicBezTo>
                  <a:pt x="273" y="21304"/>
                  <a:pt x="537" y="21393"/>
                  <a:pt x="788" y="21425"/>
                </a:cubicBezTo>
                <a:cubicBezTo>
                  <a:pt x="1974" y="21574"/>
                  <a:pt x="3129" y="20901"/>
                  <a:pt x="4248" y="20142"/>
                </a:cubicBezTo>
                <a:cubicBezTo>
                  <a:pt x="4631" y="19882"/>
                  <a:pt x="5011" y="19612"/>
                  <a:pt x="5389" y="19331"/>
                </a:cubicBezTo>
                <a:cubicBezTo>
                  <a:pt x="5767" y="19051"/>
                  <a:pt x="6143" y="18759"/>
                  <a:pt x="6517" y="18458"/>
                </a:cubicBezTo>
                <a:cubicBezTo>
                  <a:pt x="9202" y="16139"/>
                  <a:pt x="11858" y="13697"/>
                  <a:pt x="14483" y="11135"/>
                </a:cubicBezTo>
                <a:cubicBezTo>
                  <a:pt x="15541" y="10102"/>
                  <a:pt x="16601" y="9039"/>
                  <a:pt x="17618" y="7875"/>
                </a:cubicBezTo>
                <a:cubicBezTo>
                  <a:pt x="18108" y="7313"/>
                  <a:pt x="18590" y="6726"/>
                  <a:pt x="19065" y="6125"/>
                </a:cubicBezTo>
                <a:cubicBezTo>
                  <a:pt x="19653" y="5382"/>
                  <a:pt x="20233" y="4613"/>
                  <a:pt x="20740" y="3654"/>
                </a:cubicBezTo>
                <a:cubicBezTo>
                  <a:pt x="20933" y="3288"/>
                  <a:pt x="21115" y="2896"/>
                  <a:pt x="21261" y="2455"/>
                </a:cubicBezTo>
                <a:cubicBezTo>
                  <a:pt x="21474" y="1813"/>
                  <a:pt x="21583" y="1032"/>
                  <a:pt x="21348" y="474"/>
                </a:cubicBezTo>
                <a:cubicBezTo>
                  <a:pt x="21161" y="30"/>
                  <a:pt x="20859" y="-26"/>
                  <a:pt x="20557" y="9"/>
                </a:cubicBezTo>
                <a:cubicBezTo>
                  <a:pt x="20303" y="39"/>
                  <a:pt x="20033" y="116"/>
                  <a:pt x="19773" y="225"/>
                </a:cubicBezTo>
                <a:cubicBezTo>
                  <a:pt x="19426" y="372"/>
                  <a:pt x="19086" y="567"/>
                  <a:pt x="18750" y="784"/>
                </a:cubicBezTo>
                <a:cubicBezTo>
                  <a:pt x="18305" y="1070"/>
                  <a:pt x="17866" y="1394"/>
                  <a:pt x="17435" y="1752"/>
                </a:cubicBezTo>
                <a:cubicBezTo>
                  <a:pt x="17123" y="1999"/>
                  <a:pt x="16828" y="2316"/>
                  <a:pt x="16554" y="2694"/>
                </a:cubicBezTo>
                <a:cubicBezTo>
                  <a:pt x="16299" y="3047"/>
                  <a:pt x="16065" y="3453"/>
                  <a:pt x="15855" y="3903"/>
                </a:cubicBezTo>
                <a:close/>
              </a:path>
            </a:pathLst>
          </a:custGeom>
          <a:solidFill>
            <a:srgbClr val="7893B7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9" name="Shape"/>
          <p:cNvSpPr/>
          <p:nvPr/>
        </p:nvSpPr>
        <p:spPr>
          <a:xfrm rot="1500000">
            <a:off x="16686826" y="6150906"/>
            <a:ext cx="5800477" cy="3011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0" h="21445" extrusionOk="0">
                <a:moveTo>
                  <a:pt x="15855" y="3903"/>
                </a:moveTo>
                <a:cubicBezTo>
                  <a:pt x="16063" y="3881"/>
                  <a:pt x="16269" y="3819"/>
                  <a:pt x="16471" y="3718"/>
                </a:cubicBezTo>
                <a:cubicBezTo>
                  <a:pt x="16696" y="3605"/>
                  <a:pt x="16915" y="3443"/>
                  <a:pt x="17121" y="3235"/>
                </a:cubicBezTo>
                <a:lnTo>
                  <a:pt x="17988" y="2598"/>
                </a:lnTo>
                <a:lnTo>
                  <a:pt x="18720" y="2111"/>
                </a:lnTo>
                <a:cubicBezTo>
                  <a:pt x="18947" y="1966"/>
                  <a:pt x="19175" y="1839"/>
                  <a:pt x="19405" y="1730"/>
                </a:cubicBezTo>
                <a:cubicBezTo>
                  <a:pt x="19614" y="1632"/>
                  <a:pt x="19831" y="1547"/>
                  <a:pt x="20044" y="1636"/>
                </a:cubicBezTo>
                <a:cubicBezTo>
                  <a:pt x="20158" y="1684"/>
                  <a:pt x="20266" y="1786"/>
                  <a:pt x="20308" y="1984"/>
                </a:cubicBezTo>
                <a:cubicBezTo>
                  <a:pt x="20352" y="2187"/>
                  <a:pt x="20309" y="2414"/>
                  <a:pt x="20247" y="2613"/>
                </a:cubicBezTo>
                <a:cubicBezTo>
                  <a:pt x="20193" y="2789"/>
                  <a:pt x="20129" y="2951"/>
                  <a:pt x="20055" y="3098"/>
                </a:cubicBezTo>
                <a:cubicBezTo>
                  <a:pt x="19940" y="3325"/>
                  <a:pt x="19807" y="3509"/>
                  <a:pt x="19671" y="3684"/>
                </a:cubicBezTo>
                <a:cubicBezTo>
                  <a:pt x="19519" y="3879"/>
                  <a:pt x="19363" y="4063"/>
                  <a:pt x="19207" y="4245"/>
                </a:cubicBezTo>
                <a:cubicBezTo>
                  <a:pt x="18947" y="4549"/>
                  <a:pt x="18685" y="4848"/>
                  <a:pt x="18422" y="5142"/>
                </a:cubicBezTo>
                <a:lnTo>
                  <a:pt x="14867" y="8907"/>
                </a:lnTo>
                <a:lnTo>
                  <a:pt x="10703" y="12997"/>
                </a:lnTo>
                <a:lnTo>
                  <a:pt x="6354" y="16898"/>
                </a:lnTo>
                <a:lnTo>
                  <a:pt x="4321" y="18309"/>
                </a:lnTo>
                <a:cubicBezTo>
                  <a:pt x="3879" y="18576"/>
                  <a:pt x="3439" y="18849"/>
                  <a:pt x="2999" y="19128"/>
                </a:cubicBezTo>
                <a:cubicBezTo>
                  <a:pt x="2720" y="19305"/>
                  <a:pt x="2441" y="19485"/>
                  <a:pt x="2156" y="19626"/>
                </a:cubicBezTo>
                <a:cubicBezTo>
                  <a:pt x="1948" y="19728"/>
                  <a:pt x="1722" y="19797"/>
                  <a:pt x="1551" y="19559"/>
                </a:cubicBezTo>
                <a:cubicBezTo>
                  <a:pt x="1488" y="19472"/>
                  <a:pt x="1441" y="19350"/>
                  <a:pt x="1416" y="19210"/>
                </a:cubicBezTo>
                <a:cubicBezTo>
                  <a:pt x="1405" y="19051"/>
                  <a:pt x="1411" y="18889"/>
                  <a:pt x="1435" y="18735"/>
                </a:cubicBezTo>
                <a:cubicBezTo>
                  <a:pt x="1470" y="18508"/>
                  <a:pt x="1540" y="18310"/>
                  <a:pt x="1614" y="18121"/>
                </a:cubicBezTo>
                <a:cubicBezTo>
                  <a:pt x="1736" y="17808"/>
                  <a:pt x="1868" y="17511"/>
                  <a:pt x="2009" y="17231"/>
                </a:cubicBezTo>
                <a:cubicBezTo>
                  <a:pt x="2155" y="16938"/>
                  <a:pt x="2298" y="16641"/>
                  <a:pt x="2440" y="16341"/>
                </a:cubicBezTo>
                <a:cubicBezTo>
                  <a:pt x="2584" y="16035"/>
                  <a:pt x="2726" y="15725"/>
                  <a:pt x="2866" y="15413"/>
                </a:cubicBezTo>
                <a:lnTo>
                  <a:pt x="3829" y="13251"/>
                </a:lnTo>
                <a:cubicBezTo>
                  <a:pt x="2926" y="14033"/>
                  <a:pt x="2084" y="15051"/>
                  <a:pt x="1326" y="16275"/>
                </a:cubicBezTo>
                <a:cubicBezTo>
                  <a:pt x="1025" y="16762"/>
                  <a:pt x="733" y="17299"/>
                  <a:pt x="495" y="17886"/>
                </a:cubicBezTo>
                <a:cubicBezTo>
                  <a:pt x="264" y="18453"/>
                  <a:pt x="81" y="19073"/>
                  <a:pt x="18" y="19794"/>
                </a:cubicBezTo>
                <a:cubicBezTo>
                  <a:pt x="-17" y="20189"/>
                  <a:pt x="-8" y="20610"/>
                  <a:pt x="120" y="20925"/>
                </a:cubicBezTo>
                <a:cubicBezTo>
                  <a:pt x="273" y="21304"/>
                  <a:pt x="537" y="21393"/>
                  <a:pt x="788" y="21425"/>
                </a:cubicBezTo>
                <a:cubicBezTo>
                  <a:pt x="1974" y="21574"/>
                  <a:pt x="3129" y="20901"/>
                  <a:pt x="4248" y="20142"/>
                </a:cubicBezTo>
                <a:cubicBezTo>
                  <a:pt x="4631" y="19882"/>
                  <a:pt x="5011" y="19612"/>
                  <a:pt x="5389" y="19331"/>
                </a:cubicBezTo>
                <a:cubicBezTo>
                  <a:pt x="5767" y="19051"/>
                  <a:pt x="6143" y="18759"/>
                  <a:pt x="6517" y="18458"/>
                </a:cubicBezTo>
                <a:cubicBezTo>
                  <a:pt x="9202" y="16139"/>
                  <a:pt x="11858" y="13697"/>
                  <a:pt x="14483" y="11135"/>
                </a:cubicBezTo>
                <a:cubicBezTo>
                  <a:pt x="15541" y="10102"/>
                  <a:pt x="16601" y="9039"/>
                  <a:pt x="17618" y="7875"/>
                </a:cubicBezTo>
                <a:cubicBezTo>
                  <a:pt x="18108" y="7313"/>
                  <a:pt x="18590" y="6726"/>
                  <a:pt x="19065" y="6125"/>
                </a:cubicBezTo>
                <a:cubicBezTo>
                  <a:pt x="19653" y="5382"/>
                  <a:pt x="20233" y="4613"/>
                  <a:pt x="20740" y="3654"/>
                </a:cubicBezTo>
                <a:cubicBezTo>
                  <a:pt x="20933" y="3288"/>
                  <a:pt x="21115" y="2896"/>
                  <a:pt x="21261" y="2455"/>
                </a:cubicBezTo>
                <a:cubicBezTo>
                  <a:pt x="21474" y="1813"/>
                  <a:pt x="21583" y="1032"/>
                  <a:pt x="21348" y="474"/>
                </a:cubicBezTo>
                <a:cubicBezTo>
                  <a:pt x="21161" y="30"/>
                  <a:pt x="20859" y="-26"/>
                  <a:pt x="20557" y="9"/>
                </a:cubicBezTo>
                <a:cubicBezTo>
                  <a:pt x="20303" y="39"/>
                  <a:pt x="20033" y="116"/>
                  <a:pt x="19773" y="225"/>
                </a:cubicBezTo>
                <a:cubicBezTo>
                  <a:pt x="19426" y="372"/>
                  <a:pt x="19086" y="567"/>
                  <a:pt x="18750" y="784"/>
                </a:cubicBezTo>
                <a:cubicBezTo>
                  <a:pt x="18305" y="1070"/>
                  <a:pt x="17866" y="1394"/>
                  <a:pt x="17435" y="1752"/>
                </a:cubicBezTo>
                <a:cubicBezTo>
                  <a:pt x="17123" y="1999"/>
                  <a:pt x="16828" y="2316"/>
                  <a:pt x="16554" y="2694"/>
                </a:cubicBezTo>
                <a:cubicBezTo>
                  <a:pt x="16299" y="3047"/>
                  <a:pt x="16065" y="3453"/>
                  <a:pt x="15855" y="3903"/>
                </a:cubicBezTo>
                <a:close/>
              </a:path>
            </a:pathLst>
          </a:custGeom>
          <a:solidFill>
            <a:srgbClr val="C3C0E4"/>
          </a:solidFill>
          <a:ln w="12700">
            <a:miter lim="400000"/>
          </a:ln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"/>
          <p:cNvSpPr/>
          <p:nvPr/>
        </p:nvSpPr>
        <p:spPr>
          <a:xfrm>
            <a:off x="-52115" y="4194088"/>
            <a:ext cx="24423415" cy="9540962"/>
          </a:xfrm>
          <a:prstGeom prst="rect">
            <a:avLst/>
          </a:prstGeom>
          <a:solidFill>
            <a:srgbClr val="407B9D"/>
          </a:solidFill>
          <a:ln w="12700">
            <a:solidFill>
              <a:srgbClr val="0087AA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406" name="Group"/>
          <p:cNvGrpSpPr/>
          <p:nvPr/>
        </p:nvGrpSpPr>
        <p:grpSpPr>
          <a:xfrm>
            <a:off x="2121999" y="974741"/>
            <a:ext cx="10670247" cy="1919989"/>
            <a:chOff x="0" y="-188001"/>
            <a:chExt cx="10670245" cy="1919987"/>
          </a:xfrm>
        </p:grpSpPr>
        <p:sp>
          <p:nvSpPr>
            <p:cNvPr id="403" name="R &amp; FRIENDS"/>
            <p:cNvSpPr txBox="1"/>
            <p:nvPr/>
          </p:nvSpPr>
          <p:spPr>
            <a:xfrm>
              <a:off x="0" y="785386"/>
              <a:ext cx="10670245" cy="946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5000" b="1"/>
                <a:t>R</a:t>
              </a:r>
              <a:r>
                <a:rPr sz="5000"/>
                <a:t> &amp; FRIENDS</a:t>
              </a:r>
            </a:p>
          </p:txBody>
        </p:sp>
        <p:sp>
          <p:nvSpPr>
            <p:cNvPr id="404" name="FROM EXCEL TO R"/>
            <p:cNvSpPr txBox="1"/>
            <p:nvPr/>
          </p:nvSpPr>
          <p:spPr>
            <a:xfrm>
              <a:off x="1656594" y="-188001"/>
              <a:ext cx="7279502" cy="491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405" name="Line"/>
            <p:cNvSpPr/>
            <p:nvPr/>
          </p:nvSpPr>
          <p:spPr>
            <a:xfrm flipV="1">
              <a:off x="125419" y="57749"/>
              <a:ext cx="1188000" cy="0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410" name="Group"/>
          <p:cNvGrpSpPr>
            <a:grpSpLocks noChangeAspect="1"/>
          </p:cNvGrpSpPr>
          <p:nvPr/>
        </p:nvGrpSpPr>
        <p:grpSpPr>
          <a:xfrm>
            <a:off x="16893709" y="4730312"/>
            <a:ext cx="820224" cy="808644"/>
            <a:chOff x="0" y="-66887"/>
            <a:chExt cx="820222" cy="808642"/>
          </a:xfrm>
        </p:grpSpPr>
        <p:sp>
          <p:nvSpPr>
            <p:cNvPr id="407" name="Circle"/>
            <p:cNvSpPr>
              <a:spLocks noChangeAspect="1"/>
            </p:cNvSpPr>
            <p:nvPr/>
          </p:nvSpPr>
          <p:spPr>
            <a:xfrm>
              <a:off x="0" y="-66887"/>
              <a:ext cx="820222" cy="808642"/>
            </a:xfrm>
            <a:prstGeom prst="ellipse">
              <a:avLst/>
            </a:prstGeom>
            <a:solidFill>
              <a:srgbClr val="7893B7"/>
            </a:solidFill>
            <a:ln w="12700" cap="flat">
              <a:solidFill>
                <a:schemeClr val="bg1"/>
              </a:solidFill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08" name="Oval"/>
            <p:cNvSpPr/>
            <p:nvPr/>
          </p:nvSpPr>
          <p:spPr>
            <a:xfrm>
              <a:off x="152100" y="-18784"/>
              <a:ext cx="535748" cy="264204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09" name="R"/>
            <p:cNvSpPr txBox="1"/>
            <p:nvPr/>
          </p:nvSpPr>
          <p:spPr>
            <a:xfrm>
              <a:off x="170695" y="-31718"/>
              <a:ext cx="320590" cy="727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600">
                  <a:solidFill>
                    <a:srgbClr val="EBEBEB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rPr sz="5400"/>
                <a:t>R</a:t>
              </a:r>
            </a:p>
          </p:txBody>
        </p:sp>
      </p:grpSp>
      <p:sp>
        <p:nvSpPr>
          <p:cNvPr id="411" name="Studio"/>
          <p:cNvSpPr txBox="1"/>
          <p:nvPr/>
        </p:nvSpPr>
        <p:spPr>
          <a:xfrm>
            <a:off x="17811854" y="4751935"/>
            <a:ext cx="1572546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sz="4400"/>
              <a:t>Studio</a:t>
            </a:r>
          </a:p>
        </p:txBody>
      </p:sp>
      <p:grpSp>
        <p:nvGrpSpPr>
          <p:cNvPr id="419" name="Group"/>
          <p:cNvGrpSpPr/>
          <p:nvPr/>
        </p:nvGrpSpPr>
        <p:grpSpPr>
          <a:xfrm>
            <a:off x="12481491" y="5691507"/>
            <a:ext cx="11077614" cy="7529609"/>
            <a:chOff x="0" y="0"/>
            <a:chExt cx="9850708" cy="6552610"/>
          </a:xfrm>
        </p:grpSpPr>
        <p:pic>
          <p:nvPicPr>
            <p:cNvPr id="412" name="KnitR_in_RStudio.png" descr="KnitR_in_RStudi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850709" cy="65526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3" name="Rectangle"/>
            <p:cNvSpPr/>
            <p:nvPr/>
          </p:nvSpPr>
          <p:spPr>
            <a:xfrm>
              <a:off x="538570" y="4024114"/>
              <a:ext cx="4692595" cy="82139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14" name="Console (Run and Test Code)"/>
            <p:cNvSpPr txBox="1"/>
            <p:nvPr/>
          </p:nvSpPr>
          <p:spPr>
            <a:xfrm>
              <a:off x="734545" y="4244196"/>
              <a:ext cx="4300646" cy="381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Console (Run and Test Code)</a:t>
              </a:r>
            </a:p>
          </p:txBody>
        </p:sp>
        <p:sp>
          <p:nvSpPr>
            <p:cNvPr id="415" name="Rectangle"/>
            <p:cNvSpPr/>
            <p:nvPr/>
          </p:nvSpPr>
          <p:spPr>
            <a:xfrm>
              <a:off x="1093670" y="2244528"/>
              <a:ext cx="4187759" cy="122999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16" name="R-scripts (Save Your Code)"/>
            <p:cNvSpPr txBox="1"/>
            <p:nvPr/>
          </p:nvSpPr>
          <p:spPr>
            <a:xfrm>
              <a:off x="1209112" y="2668913"/>
              <a:ext cx="3880635" cy="4326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R-scripts (Save Your Code)</a:t>
              </a:r>
            </a:p>
          </p:txBody>
        </p:sp>
        <p:sp>
          <p:nvSpPr>
            <p:cNvPr id="417" name="Overview by Type, Help and R-packages"/>
            <p:cNvSpPr txBox="1"/>
            <p:nvPr/>
          </p:nvSpPr>
          <p:spPr>
            <a:xfrm>
              <a:off x="5857647" y="4408410"/>
              <a:ext cx="3115949" cy="758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Overview by Type, Help and R-packages</a:t>
              </a:r>
            </a:p>
          </p:txBody>
        </p:sp>
        <p:sp>
          <p:nvSpPr>
            <p:cNvPr id="418" name="Objects in Environment"/>
            <p:cNvSpPr txBox="1"/>
            <p:nvPr/>
          </p:nvSpPr>
          <p:spPr>
            <a:xfrm>
              <a:off x="5708865" y="1990046"/>
              <a:ext cx="3413512" cy="4271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Objects in Environment</a:t>
              </a:r>
            </a:p>
          </p:txBody>
        </p:sp>
      </p:grpSp>
      <p:sp>
        <p:nvSpPr>
          <p:cNvPr id="420" name="Scripting / Programming Language"/>
          <p:cNvSpPr txBox="1"/>
          <p:nvPr/>
        </p:nvSpPr>
        <p:spPr>
          <a:xfrm>
            <a:off x="2382068" y="7548681"/>
            <a:ext cx="6523234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 b="0"/>
            </a:pPr>
            <a:r>
              <a:rPr b="1"/>
              <a:t>Scripting / Programming Language</a:t>
            </a:r>
          </a:p>
        </p:txBody>
      </p:sp>
      <p:sp>
        <p:nvSpPr>
          <p:cNvPr id="421" name="Reports (html, pdf, latex)"/>
          <p:cNvSpPr txBox="1"/>
          <p:nvPr/>
        </p:nvSpPr>
        <p:spPr>
          <a:xfrm>
            <a:off x="3101888" y="12373227"/>
            <a:ext cx="5354383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000" b="1"/>
              <a:t>Reports (html, pdf, </a:t>
            </a:r>
            <a:r>
              <a:rPr lang="en-US" sz="3000" b="1"/>
              <a:t>word</a:t>
            </a:r>
            <a:r>
              <a:rPr sz="3000" b="1"/>
              <a:t>)</a:t>
            </a:r>
            <a:r>
              <a:rPr b="1"/>
              <a:t> </a:t>
            </a:r>
          </a:p>
        </p:txBody>
      </p:sp>
      <p:grpSp>
        <p:nvGrpSpPr>
          <p:cNvPr id="425" name="Group"/>
          <p:cNvGrpSpPr/>
          <p:nvPr/>
        </p:nvGrpSpPr>
        <p:grpSpPr>
          <a:xfrm>
            <a:off x="3524075" y="4888363"/>
            <a:ext cx="3736445" cy="3360035"/>
            <a:chOff x="0" y="-71143"/>
            <a:chExt cx="3736444" cy="3360034"/>
          </a:xfrm>
        </p:grpSpPr>
        <p:sp>
          <p:nvSpPr>
            <p:cNvPr id="422" name="Oval"/>
            <p:cNvSpPr/>
            <p:nvPr/>
          </p:nvSpPr>
          <p:spPr>
            <a:xfrm>
              <a:off x="-1" y="290361"/>
              <a:ext cx="3601665" cy="1815384"/>
            </a:xfrm>
            <a:prstGeom prst="ellipse">
              <a:avLst/>
            </a:prstGeom>
            <a:solidFill>
              <a:srgbClr val="EBEBEB"/>
            </a:solidFill>
            <a:ln w="12700" cap="flat">
              <a:noFill/>
              <a:miter lim="400000"/>
            </a:ln>
            <a:effectLst>
              <a:outerShdw blurRad="101600" dist="508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23" name="Oval"/>
            <p:cNvSpPr/>
            <p:nvPr/>
          </p:nvSpPr>
          <p:spPr>
            <a:xfrm>
              <a:off x="1062879" y="633337"/>
              <a:ext cx="2399520" cy="1184829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24" name="R"/>
            <p:cNvSpPr txBox="1"/>
            <p:nvPr/>
          </p:nvSpPr>
          <p:spPr>
            <a:xfrm>
              <a:off x="1360267" y="-71144"/>
              <a:ext cx="2376177" cy="3360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101600" dist="50800" dir="5400000" rotWithShape="0">
                <a:srgbClr val="000000">
                  <a:alpha val="20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16000" b="1">
                  <a:solidFill>
                    <a:srgbClr val="82A8B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rPr>
                  <a:solidFill>
                    <a:srgbClr val="525067"/>
                  </a:solidFill>
                </a:rPr>
                <a:t>R</a:t>
              </a:r>
            </a:p>
          </p:txBody>
        </p:sp>
      </p:grpSp>
      <p:pic>
        <p:nvPicPr>
          <p:cNvPr id="426" name="knitr_0.png" descr="knitr_0.png"/>
          <p:cNvPicPr>
            <a:picLocks noChangeAspect="1"/>
          </p:cNvPicPr>
          <p:nvPr/>
        </p:nvPicPr>
        <p:blipFill>
          <a:blip r:embed="rId4"/>
          <a:srcRect l="4420" t="4522" r="4645" b="4528"/>
          <a:stretch>
            <a:fillRect/>
          </a:stretch>
        </p:blipFill>
        <p:spPr>
          <a:xfrm>
            <a:off x="5517197" y="9868930"/>
            <a:ext cx="1939926" cy="22506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0" y="5401"/>
                </a:lnTo>
                <a:lnTo>
                  <a:pt x="0" y="16203"/>
                </a:lnTo>
                <a:lnTo>
                  <a:pt x="10800" y="21600"/>
                </a:lnTo>
                <a:lnTo>
                  <a:pt x="21600" y="16203"/>
                </a:lnTo>
                <a:lnTo>
                  <a:pt x="21600" y="5401"/>
                </a:lnTo>
                <a:lnTo>
                  <a:pt x="10800" y="0"/>
                </a:lnTo>
                <a:close/>
              </a:path>
            </a:pathLst>
          </a:custGeom>
          <a:ln w="25400">
            <a:solidFill>
              <a:srgbClr val="436C6E"/>
            </a:solidFill>
            <a:miter lim="400000"/>
          </a:ln>
        </p:spPr>
      </p:pic>
      <p:grpSp>
        <p:nvGrpSpPr>
          <p:cNvPr id="431" name="Group"/>
          <p:cNvGrpSpPr/>
          <p:nvPr/>
        </p:nvGrpSpPr>
        <p:grpSpPr>
          <a:xfrm>
            <a:off x="8174146" y="6104533"/>
            <a:ext cx="4274146" cy="1506934"/>
            <a:chOff x="0" y="0"/>
            <a:chExt cx="4274145" cy="1506932"/>
          </a:xfrm>
        </p:grpSpPr>
        <p:sp>
          <p:nvSpPr>
            <p:cNvPr id="438" name="Connection Line"/>
            <p:cNvSpPr/>
            <p:nvPr/>
          </p:nvSpPr>
          <p:spPr>
            <a:xfrm>
              <a:off x="0" y="-1"/>
              <a:ext cx="4274146" cy="1506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639" extrusionOk="0">
                  <a:moveTo>
                    <a:pt x="0" y="523"/>
                  </a:moveTo>
                  <a:cubicBezTo>
                    <a:pt x="8379" y="-1961"/>
                    <a:pt x="15579" y="4411"/>
                    <a:pt x="21600" y="19639"/>
                  </a:cubicBezTo>
                </a:path>
              </a:pathLst>
            </a:custGeom>
            <a:noFill/>
            <a:ln w="63500" cap="flat">
              <a:solidFill>
                <a:srgbClr val="EBEBEB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429" name="Line"/>
            <p:cNvSpPr/>
            <p:nvPr/>
          </p:nvSpPr>
          <p:spPr>
            <a:xfrm>
              <a:off x="3745882" y="1489158"/>
              <a:ext cx="471813" cy="1"/>
            </a:xfrm>
            <a:prstGeom prst="line">
              <a:avLst/>
            </a:prstGeom>
            <a:noFill/>
            <a:ln w="63500" cap="flat">
              <a:solidFill>
                <a:srgbClr val="EBEBEB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Line"/>
            <p:cNvSpPr/>
            <p:nvPr/>
          </p:nvSpPr>
          <p:spPr>
            <a:xfrm flipV="1">
              <a:off x="4261188" y="1010040"/>
              <a:ext cx="1" cy="471813"/>
            </a:xfrm>
            <a:prstGeom prst="line">
              <a:avLst/>
            </a:prstGeom>
            <a:noFill/>
            <a:ln w="63500" cap="flat">
              <a:solidFill>
                <a:srgbClr val="EBEBEB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435" name="Group"/>
          <p:cNvGrpSpPr/>
          <p:nvPr/>
        </p:nvGrpSpPr>
        <p:grpSpPr>
          <a:xfrm rot="10800000">
            <a:off x="8174146" y="10685301"/>
            <a:ext cx="4274146" cy="1506933"/>
            <a:chOff x="0" y="0"/>
            <a:chExt cx="4274145" cy="1506932"/>
          </a:xfrm>
        </p:grpSpPr>
        <p:sp>
          <p:nvSpPr>
            <p:cNvPr id="439" name="Connection Line"/>
            <p:cNvSpPr/>
            <p:nvPr/>
          </p:nvSpPr>
          <p:spPr>
            <a:xfrm>
              <a:off x="0" y="-1"/>
              <a:ext cx="4274146" cy="1506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639" extrusionOk="0">
                  <a:moveTo>
                    <a:pt x="0" y="523"/>
                  </a:moveTo>
                  <a:cubicBezTo>
                    <a:pt x="8379" y="-1961"/>
                    <a:pt x="15579" y="4411"/>
                    <a:pt x="21600" y="19639"/>
                  </a:cubicBezTo>
                </a:path>
              </a:pathLst>
            </a:custGeom>
            <a:noFill/>
            <a:ln w="63500" cap="flat">
              <a:solidFill>
                <a:srgbClr val="EBEBEB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433" name="Line"/>
            <p:cNvSpPr/>
            <p:nvPr/>
          </p:nvSpPr>
          <p:spPr>
            <a:xfrm>
              <a:off x="3745882" y="1489158"/>
              <a:ext cx="471813" cy="1"/>
            </a:xfrm>
            <a:prstGeom prst="line">
              <a:avLst/>
            </a:prstGeom>
            <a:noFill/>
            <a:ln w="63500" cap="flat">
              <a:solidFill>
                <a:srgbClr val="EBEBEB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34" name="Line"/>
            <p:cNvSpPr/>
            <p:nvPr/>
          </p:nvSpPr>
          <p:spPr>
            <a:xfrm flipV="1">
              <a:off x="4261188" y="1010040"/>
              <a:ext cx="1" cy="471813"/>
            </a:xfrm>
            <a:prstGeom prst="line">
              <a:avLst/>
            </a:prstGeom>
            <a:noFill/>
            <a:ln w="63500" cap="flat">
              <a:solidFill>
                <a:srgbClr val="EBEBEB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6" name="R Code Interpreter and Editor"/>
          <p:cNvSpPr txBox="1"/>
          <p:nvPr/>
        </p:nvSpPr>
        <p:spPr>
          <a:xfrm>
            <a:off x="15397822" y="12713921"/>
            <a:ext cx="5614687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 b="0"/>
            </a:pPr>
            <a:r>
              <a:rPr b="1"/>
              <a:t>R Code Interpreter and Editor</a:t>
            </a:r>
          </a:p>
        </p:txBody>
      </p:sp>
      <p:sp>
        <p:nvSpPr>
          <p:cNvPr id="437" name="8"/>
          <p:cNvSpPr txBox="1"/>
          <p:nvPr/>
        </p:nvSpPr>
        <p:spPr>
          <a:xfrm>
            <a:off x="374649" y="13123145"/>
            <a:ext cx="413743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8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" name="Billede 2" descr="Et billede, der indeholder skærmbillede, Font/skrifttype, Grafik, logo&#10;&#10;Automatisk genereret beskrivelse">
            <a:extLst>
              <a:ext uri="{FF2B5EF4-FFF2-40B4-BE49-F238E27FC236}">
                <a16:creationId xmlns:a16="http://schemas.microsoft.com/office/drawing/2014/main" id="{99DE448E-6EC5-E30A-ABDA-6332664EC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265" y="9872268"/>
            <a:ext cx="1957111" cy="225067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"/>
          <p:cNvSpPr/>
          <p:nvPr/>
        </p:nvSpPr>
        <p:spPr>
          <a:xfrm>
            <a:off x="-1" y="-57430"/>
            <a:ext cx="24371301" cy="3115077"/>
          </a:xfrm>
          <a:prstGeom prst="rect">
            <a:avLst/>
          </a:prstGeom>
          <a:solidFill>
            <a:srgbClr val="407B9D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44" name="Rectangle"/>
          <p:cNvSpPr/>
          <p:nvPr/>
        </p:nvSpPr>
        <p:spPr>
          <a:xfrm>
            <a:off x="-1" y="12572506"/>
            <a:ext cx="24371301" cy="1160639"/>
          </a:xfrm>
          <a:prstGeom prst="rect">
            <a:avLst/>
          </a:prstGeom>
          <a:solidFill>
            <a:srgbClr val="407B9D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45" name="9"/>
          <p:cNvSpPr txBox="1"/>
          <p:nvPr/>
        </p:nvSpPr>
        <p:spPr>
          <a:xfrm>
            <a:off x="374649" y="13090488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9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49" name="Group"/>
          <p:cNvGrpSpPr/>
          <p:nvPr/>
        </p:nvGrpSpPr>
        <p:grpSpPr>
          <a:xfrm>
            <a:off x="8866335" y="453269"/>
            <a:ext cx="10356522" cy="1954471"/>
            <a:chOff x="0" y="1625"/>
            <a:chExt cx="10356521" cy="1954470"/>
          </a:xfrm>
        </p:grpSpPr>
        <p:sp>
          <p:nvSpPr>
            <p:cNvPr id="446" name="THE ANATOMY OF R"/>
            <p:cNvSpPr txBox="1"/>
            <p:nvPr/>
          </p:nvSpPr>
          <p:spPr>
            <a:xfrm>
              <a:off x="4619" y="840736"/>
              <a:ext cx="9361874" cy="1115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THE ANATOMY OF R</a:t>
              </a:r>
            </a:p>
          </p:txBody>
        </p:sp>
        <p:sp>
          <p:nvSpPr>
            <p:cNvPr id="447" name="FROM EXCEL TO R"/>
            <p:cNvSpPr txBox="1"/>
            <p:nvPr/>
          </p:nvSpPr>
          <p:spPr>
            <a:xfrm>
              <a:off x="1779243" y="1625"/>
              <a:ext cx="8577278" cy="579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448" name="Line"/>
            <p:cNvSpPr/>
            <p:nvPr/>
          </p:nvSpPr>
          <p:spPr>
            <a:xfrm>
              <a:off x="0" y="221254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C5638D-4AEB-5197-C4B1-E5D7114CB9FA}"/>
              </a:ext>
            </a:extLst>
          </p:cNvPr>
          <p:cNvGrpSpPr>
            <a:grpSpLocks/>
          </p:cNvGrpSpPr>
          <p:nvPr/>
        </p:nvGrpSpPr>
        <p:grpSpPr>
          <a:xfrm>
            <a:off x="7750424" y="3668135"/>
            <a:ext cx="1659548" cy="1659548"/>
            <a:chOff x="6270783" y="3741638"/>
            <a:chExt cx="2160001" cy="2160001"/>
          </a:xfrm>
        </p:grpSpPr>
        <p:grpSp>
          <p:nvGrpSpPr>
            <p:cNvPr id="452" name="Group"/>
            <p:cNvGrpSpPr>
              <a:grpSpLocks noChangeAspect="1"/>
            </p:cNvGrpSpPr>
            <p:nvPr/>
          </p:nvGrpSpPr>
          <p:grpSpPr>
            <a:xfrm>
              <a:off x="6270783" y="3741638"/>
              <a:ext cx="2160001" cy="2160001"/>
              <a:chOff x="0" y="-1"/>
              <a:chExt cx="2449744" cy="2416747"/>
            </a:xfrm>
          </p:grpSpPr>
          <p:sp>
            <p:nvSpPr>
              <p:cNvPr id="450" name="Oval 6"/>
              <p:cNvSpPr/>
              <p:nvPr/>
            </p:nvSpPr>
            <p:spPr>
              <a:xfrm rot="16200000" flipH="1">
                <a:off x="247757" y="211390"/>
                <a:ext cx="1960756" cy="1987527"/>
              </a:xfrm>
              <a:prstGeom prst="ellipse">
                <a:avLst/>
              </a:prstGeom>
              <a:solidFill>
                <a:srgbClr val="7893B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>
                  <a:solidFill>
                    <a:srgbClr val="7893B7"/>
                  </a:solidFill>
                </a:endParaRPr>
              </a:p>
            </p:txBody>
          </p:sp>
          <p:sp>
            <p:nvSpPr>
              <p:cNvPr id="451" name="Oval 14"/>
              <p:cNvSpPr/>
              <p:nvPr/>
            </p:nvSpPr>
            <p:spPr>
              <a:xfrm rot="16200000" flipH="1">
                <a:off x="16498" y="-16499"/>
                <a:ext cx="2416747" cy="2449744"/>
              </a:xfrm>
              <a:prstGeom prst="ellipse">
                <a:avLst/>
              </a:prstGeom>
              <a:noFill/>
              <a:ln w="25400" cap="flat">
                <a:solidFill>
                  <a:srgbClr val="7893B7">
                    <a:alpha val="68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</p:grpSp>
        <p:sp>
          <p:nvSpPr>
            <p:cNvPr id="493" name="R"/>
            <p:cNvSpPr txBox="1"/>
            <p:nvPr/>
          </p:nvSpPr>
          <p:spPr>
            <a:xfrm>
              <a:off x="6957102" y="3934853"/>
              <a:ext cx="0" cy="18271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50800" tIns="50800" rIns="50800" bIns="50800"/>
            <a:lstStyle>
              <a:lvl1pPr>
                <a:defRPr sz="130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rPr sz="8000"/>
                <a:t>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2F7ED3A-863C-49FA-DF53-0021AC854CB6}"/>
              </a:ext>
            </a:extLst>
          </p:cNvPr>
          <p:cNvGrpSpPr>
            <a:grpSpLocks noChangeAspect="1"/>
          </p:cNvGrpSpPr>
          <p:nvPr/>
        </p:nvGrpSpPr>
        <p:grpSpPr>
          <a:xfrm>
            <a:off x="17639205" y="3699892"/>
            <a:ext cx="1659548" cy="1659549"/>
            <a:chOff x="14815748" y="3781651"/>
            <a:chExt cx="2228532" cy="2126584"/>
          </a:xfrm>
        </p:grpSpPr>
        <p:grpSp>
          <p:nvGrpSpPr>
            <p:cNvPr id="455" name="Group"/>
            <p:cNvGrpSpPr/>
            <p:nvPr/>
          </p:nvGrpSpPr>
          <p:grpSpPr>
            <a:xfrm>
              <a:off x="14827085" y="3781651"/>
              <a:ext cx="2217195" cy="2126584"/>
              <a:chOff x="48133" y="0"/>
              <a:chExt cx="2217193" cy="2126582"/>
            </a:xfrm>
          </p:grpSpPr>
          <p:sp>
            <p:nvSpPr>
              <p:cNvPr id="453" name="Oval 7"/>
              <p:cNvSpPr/>
              <p:nvPr/>
            </p:nvSpPr>
            <p:spPr>
              <a:xfrm rot="16200000" flipH="1">
                <a:off x="290004" y="156432"/>
                <a:ext cx="1725340" cy="1808053"/>
              </a:xfrm>
              <a:prstGeom prst="ellipse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454" name="Oval 15"/>
              <p:cNvSpPr/>
              <p:nvPr/>
            </p:nvSpPr>
            <p:spPr>
              <a:xfrm rot="16200000" flipH="1">
                <a:off x="93439" y="-45306"/>
                <a:ext cx="2126582" cy="2217193"/>
              </a:xfrm>
              <a:prstGeom prst="ellipse">
                <a:avLst/>
              </a:prstGeom>
              <a:noFill/>
              <a:ln w="25400" cap="flat">
                <a:solidFill>
                  <a:srgbClr val="374556">
                    <a:alpha val="68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</p:grpSp>
        <p:sp>
          <p:nvSpPr>
            <p:cNvPr id="494" name="R…"/>
            <p:cNvSpPr txBox="1"/>
            <p:nvPr/>
          </p:nvSpPr>
          <p:spPr>
            <a:xfrm>
              <a:off x="14815748" y="4111157"/>
              <a:ext cx="2217195" cy="15913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50800" tIns="50800" rIns="50800" bIns="50800"/>
            <a:lstStyle/>
            <a:p>
              <a:pPr algn="ctr">
                <a:lnSpc>
                  <a:spcPct val="80000"/>
                </a:lnSpc>
                <a:defRPr sz="70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pPr>
              <a:r>
                <a:rPr sz="5400"/>
                <a:t>R</a:t>
              </a:r>
            </a:p>
            <a:p>
              <a:pPr algn="ctr">
                <a:lnSpc>
                  <a:spcPct val="80000"/>
                </a:lnSpc>
                <a:defRPr sz="37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pPr>
              <a:r>
                <a:rPr sz="2600"/>
                <a:t>Studio</a:t>
              </a:r>
            </a:p>
          </p:txBody>
        </p:sp>
      </p:grpSp>
      <p:sp>
        <p:nvSpPr>
          <p:cNvPr id="506" name="Language"/>
          <p:cNvSpPr txBox="1"/>
          <p:nvPr/>
        </p:nvSpPr>
        <p:spPr>
          <a:xfrm>
            <a:off x="2240783" y="4284092"/>
            <a:ext cx="15801485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 sz="3200"/>
              <a:t>The </a:t>
            </a:r>
            <a:r>
              <a:rPr lang="da-DK" sz="3200" b="1" err="1"/>
              <a:t>programming</a:t>
            </a:r>
            <a:r>
              <a:rPr lang="da-DK" sz="3200" b="1"/>
              <a:t> l</a:t>
            </a:r>
            <a:r>
              <a:rPr sz="3200" b="1" err="1"/>
              <a:t>anguage</a:t>
            </a:r>
            <a:r>
              <a:rPr lang="da-DK" sz="3200"/>
              <a:t>	                </a:t>
            </a:r>
            <a:r>
              <a:rPr lang="da-DK" sz="3200" err="1"/>
              <a:t>may</a:t>
            </a:r>
            <a:r>
              <a:rPr lang="da-DK" sz="3200"/>
              <a:t> </a:t>
            </a:r>
            <a:r>
              <a:rPr lang="da-DK" sz="3200" err="1"/>
              <a:t>be</a:t>
            </a:r>
            <a:r>
              <a:rPr lang="da-DK" sz="3200"/>
              <a:t> </a:t>
            </a:r>
            <a:r>
              <a:rPr lang="da-DK" sz="3200" err="1"/>
              <a:t>used</a:t>
            </a:r>
            <a:r>
              <a:rPr lang="da-DK" sz="3200"/>
              <a:t> from </a:t>
            </a:r>
            <a:r>
              <a:rPr lang="da-DK" sz="3200" err="1"/>
              <a:t>within</a:t>
            </a:r>
            <a:r>
              <a:rPr lang="da-DK" sz="3200"/>
              <a:t> in the </a:t>
            </a:r>
            <a:r>
              <a:rPr lang="da-DK" sz="3200" b="1"/>
              <a:t>Code</a:t>
            </a:r>
            <a:r>
              <a:rPr lang="da-DK" sz="3200"/>
              <a:t> </a:t>
            </a:r>
            <a:r>
              <a:rPr lang="da-DK" sz="3200" b="1"/>
              <a:t>Editor</a:t>
            </a:r>
            <a:r>
              <a:rPr lang="da-DK" sz="3200"/>
              <a:t>  </a:t>
            </a:r>
            <a:endParaRPr sz="3200"/>
          </a:p>
        </p:txBody>
      </p:sp>
      <p:sp>
        <p:nvSpPr>
          <p:cNvPr id="2" name="Language">
            <a:extLst>
              <a:ext uri="{FF2B5EF4-FFF2-40B4-BE49-F238E27FC236}">
                <a16:creationId xmlns:a16="http://schemas.microsoft.com/office/drawing/2014/main" id="{24A71693-C28F-91B5-B1C8-8A85729A46B4}"/>
              </a:ext>
            </a:extLst>
          </p:cNvPr>
          <p:cNvSpPr txBox="1"/>
          <p:nvPr/>
        </p:nvSpPr>
        <p:spPr>
          <a:xfrm>
            <a:off x="2240783" y="6629842"/>
            <a:ext cx="13125865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 sz="3200"/>
              <a:t>The R </a:t>
            </a:r>
            <a:r>
              <a:rPr lang="da-DK" sz="3200" err="1"/>
              <a:t>code</a:t>
            </a:r>
            <a:r>
              <a:rPr lang="da-DK" sz="3200"/>
              <a:t> </a:t>
            </a:r>
            <a:r>
              <a:rPr lang="da-DK" sz="3200" err="1"/>
              <a:t>you</a:t>
            </a:r>
            <a:r>
              <a:rPr lang="da-DK" sz="3200"/>
              <a:t> </a:t>
            </a:r>
            <a:r>
              <a:rPr lang="da-DK" sz="3200" err="1"/>
              <a:t>write</a:t>
            </a:r>
            <a:r>
              <a:rPr lang="da-DK" sz="3200"/>
              <a:t> </a:t>
            </a:r>
            <a:r>
              <a:rPr lang="da-DK" sz="3200" err="1"/>
              <a:t>may</a:t>
            </a:r>
            <a:r>
              <a:rPr lang="da-DK" sz="3200"/>
              <a:t> </a:t>
            </a:r>
            <a:r>
              <a:rPr lang="da-DK" sz="3200" err="1"/>
              <a:t>be</a:t>
            </a:r>
            <a:r>
              <a:rPr lang="da-DK" sz="3200"/>
              <a:t> </a:t>
            </a:r>
            <a:r>
              <a:rPr lang="da-DK" sz="3200" err="1"/>
              <a:t>saved</a:t>
            </a:r>
            <a:r>
              <a:rPr lang="da-DK" sz="3200"/>
              <a:t> in </a:t>
            </a:r>
            <a:r>
              <a:rPr lang="da-DK" sz="3200" b="1"/>
              <a:t>scripts</a:t>
            </a:r>
            <a:r>
              <a:rPr lang="da-DK" sz="3200"/>
              <a:t> with extensions:</a:t>
            </a:r>
            <a:endParaRPr sz="3200"/>
          </a:p>
        </p:txBody>
      </p:sp>
      <p:sp>
        <p:nvSpPr>
          <p:cNvPr id="3" name="Language">
            <a:extLst>
              <a:ext uri="{FF2B5EF4-FFF2-40B4-BE49-F238E27FC236}">
                <a16:creationId xmlns:a16="http://schemas.microsoft.com/office/drawing/2014/main" id="{E4BE857A-07A9-6206-0548-1EF701B098C6}"/>
              </a:ext>
            </a:extLst>
          </p:cNvPr>
          <p:cNvSpPr txBox="1"/>
          <p:nvPr/>
        </p:nvSpPr>
        <p:spPr>
          <a:xfrm>
            <a:off x="2240783" y="10446406"/>
            <a:ext cx="822002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 sz="3200" b="1"/>
              <a:t>Packages</a:t>
            </a:r>
            <a:r>
              <a:rPr lang="da-DK" sz="3200"/>
              <a:t> </a:t>
            </a:r>
            <a:r>
              <a:rPr lang="da-DK" sz="3200" err="1"/>
              <a:t>are</a:t>
            </a:r>
            <a:r>
              <a:rPr lang="da-DK" sz="3200"/>
              <a:t> </a:t>
            </a:r>
            <a:r>
              <a:rPr lang="da-DK" sz="3200" err="1"/>
              <a:t>bundles</a:t>
            </a:r>
            <a:r>
              <a:rPr lang="da-DK" sz="3200"/>
              <a:t>/</a:t>
            </a:r>
            <a:r>
              <a:rPr lang="da-DK" sz="3200" err="1"/>
              <a:t>libraries</a:t>
            </a:r>
            <a:r>
              <a:rPr lang="da-DK" sz="3200"/>
              <a:t> of </a:t>
            </a:r>
            <a:r>
              <a:rPr lang="da-DK" sz="3200" err="1"/>
              <a:t>functions</a:t>
            </a:r>
            <a:r>
              <a:rPr lang="da-DK" sz="3200"/>
              <a:t>.  </a:t>
            </a:r>
            <a:endParaRPr sz="3200"/>
          </a:p>
        </p:txBody>
      </p:sp>
      <p:sp>
        <p:nvSpPr>
          <p:cNvPr id="4" name="Language">
            <a:extLst>
              <a:ext uri="{FF2B5EF4-FFF2-40B4-BE49-F238E27FC236}">
                <a16:creationId xmlns:a16="http://schemas.microsoft.com/office/drawing/2014/main" id="{CB8E3520-ABB6-9132-F194-B337767F384B}"/>
              </a:ext>
            </a:extLst>
          </p:cNvPr>
          <p:cNvSpPr txBox="1"/>
          <p:nvPr/>
        </p:nvSpPr>
        <p:spPr>
          <a:xfrm>
            <a:off x="2240783" y="8535197"/>
            <a:ext cx="15369967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 sz="3200" b="1" err="1"/>
              <a:t>Functions</a:t>
            </a:r>
            <a:r>
              <a:rPr lang="da-DK" sz="3200"/>
              <a:t> perform actions </a:t>
            </a:r>
            <a:r>
              <a:rPr lang="da-DK" sz="3200" err="1"/>
              <a:t>based</a:t>
            </a:r>
            <a:r>
              <a:rPr lang="da-DK" sz="3200"/>
              <a:t> on </a:t>
            </a:r>
            <a:r>
              <a:rPr lang="da-DK" sz="3200" b="1"/>
              <a:t>input arguments </a:t>
            </a:r>
            <a:r>
              <a:rPr lang="da-DK" sz="3200"/>
              <a:t>and return an output: </a:t>
            </a:r>
            <a:endParaRPr sz="320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C32AC1C6-DA99-A0A4-5117-43A816E40F87}"/>
              </a:ext>
            </a:extLst>
          </p:cNvPr>
          <p:cNvSpPr txBox="1"/>
          <p:nvPr/>
        </p:nvSpPr>
        <p:spPr>
          <a:xfrm>
            <a:off x="22418547" y="7583185"/>
            <a:ext cx="1821011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2800" b="1" i="0" u="none" strike="noStrike" cap="none" spc="0" normalizeH="0" baseline="0">
                <a:ln>
                  <a:noFill/>
                </a:ln>
                <a:solidFill>
                  <a:srgbClr val="374556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select</a:t>
            </a:r>
            <a:r>
              <a:rPr lang="da-DK" sz="2800" b="1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2800" b="1" i="0" u="none" strike="noStrike" cap="none" spc="0" normalizeH="0" baseline="0">
                <a:ln>
                  <a:noFill/>
                </a:ln>
                <a:solidFill>
                  <a:srgbClr val="374556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mutate()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057E1A-DC76-263E-BEA7-B411F12B941D}"/>
              </a:ext>
            </a:extLst>
          </p:cNvPr>
          <p:cNvGrpSpPr/>
          <p:nvPr/>
        </p:nvGrpSpPr>
        <p:grpSpPr>
          <a:xfrm>
            <a:off x="18976346" y="7292810"/>
            <a:ext cx="3993439" cy="4593348"/>
            <a:chOff x="19375191" y="6582944"/>
            <a:chExt cx="3993439" cy="4593348"/>
          </a:xfrm>
        </p:grpSpPr>
        <p:pic>
          <p:nvPicPr>
            <p:cNvPr id="5" name="Billede 4">
              <a:extLst>
                <a:ext uri="{FF2B5EF4-FFF2-40B4-BE49-F238E27FC236}">
                  <a16:creationId xmlns:a16="http://schemas.microsoft.com/office/drawing/2014/main" id="{0BDF564D-160F-D449-B1FB-1B9650CDD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01169" y="7980446"/>
              <a:ext cx="1560156" cy="1808507"/>
            </a:xfrm>
            <a:prstGeom prst="rect">
              <a:avLst/>
            </a:prstGeom>
          </p:spPr>
        </p:pic>
        <p:pic>
          <p:nvPicPr>
            <p:cNvPr id="6" name="Billede 5">
              <a:extLst>
                <a:ext uri="{FF2B5EF4-FFF2-40B4-BE49-F238E27FC236}">
                  <a16:creationId xmlns:a16="http://schemas.microsoft.com/office/drawing/2014/main" id="{B88F814A-65EC-2B72-412E-E7617F72E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79582" y="6582944"/>
              <a:ext cx="1560281" cy="1808507"/>
            </a:xfrm>
            <a:prstGeom prst="rect">
              <a:avLst/>
            </a:prstGeom>
          </p:spPr>
        </p:pic>
        <p:pic>
          <p:nvPicPr>
            <p:cNvPr id="7" name="Billede 6">
              <a:extLst>
                <a:ext uri="{FF2B5EF4-FFF2-40B4-BE49-F238E27FC236}">
                  <a16:creationId xmlns:a16="http://schemas.microsoft.com/office/drawing/2014/main" id="{E24689EE-5F8D-9A8D-0BD5-CE618BDF6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08349" y="7973829"/>
              <a:ext cx="1560281" cy="1808652"/>
            </a:xfrm>
            <a:prstGeom prst="rect">
              <a:avLst/>
            </a:prstGeom>
          </p:spPr>
        </p:pic>
        <p:pic>
          <p:nvPicPr>
            <p:cNvPr id="8" name="Billede 7">
              <a:extLst>
                <a:ext uri="{FF2B5EF4-FFF2-40B4-BE49-F238E27FC236}">
                  <a16:creationId xmlns:a16="http://schemas.microsoft.com/office/drawing/2014/main" id="{E6A384CF-A1F1-C64F-CF1A-56A2713F4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375191" y="9367785"/>
              <a:ext cx="1560156" cy="1808507"/>
            </a:xfrm>
            <a:prstGeom prst="rect">
              <a:avLst/>
            </a:prstGeom>
          </p:spPr>
        </p:pic>
        <p:pic>
          <p:nvPicPr>
            <p:cNvPr id="9" name="Billede 8">
              <a:extLst>
                <a:ext uri="{FF2B5EF4-FFF2-40B4-BE49-F238E27FC236}">
                  <a16:creationId xmlns:a16="http://schemas.microsoft.com/office/drawing/2014/main" id="{F81A66E2-1174-096F-2D1B-66C5F4E87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979582" y="9362519"/>
              <a:ext cx="1560155" cy="1808507"/>
            </a:xfrm>
            <a:prstGeom prst="rect">
              <a:avLst/>
            </a:prstGeom>
          </p:spPr>
        </p:pic>
      </p:grpSp>
      <p:sp>
        <p:nvSpPr>
          <p:cNvPr id="12" name="Tekstfelt 11">
            <a:extLst>
              <a:ext uri="{FF2B5EF4-FFF2-40B4-BE49-F238E27FC236}">
                <a16:creationId xmlns:a16="http://schemas.microsoft.com/office/drawing/2014/main" id="{04018884-6F4D-C0BE-92DC-0FA06DAED47A}"/>
              </a:ext>
            </a:extLst>
          </p:cNvPr>
          <p:cNvSpPr txBox="1"/>
          <p:nvPr/>
        </p:nvSpPr>
        <p:spPr>
          <a:xfrm>
            <a:off x="22270711" y="10825997"/>
            <a:ext cx="182101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2800" b="1" i="0" u="none" strike="noStrike" cap="none" spc="0" normalizeH="0" baseline="0" err="1">
                <a:ln>
                  <a:noFill/>
                </a:ln>
                <a:solidFill>
                  <a:srgbClr val="374556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tibble</a:t>
            </a:r>
            <a:r>
              <a:rPr lang="da-DK" sz="2800" b="1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da-DK" sz="2800" b="1" i="0" u="none" strike="noStrike" cap="none" spc="0" normalizeH="0" baseline="0">
              <a:ln>
                <a:noFill/>
              </a:ln>
              <a:solidFill>
                <a:srgbClr val="374556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" name="Tekstfelt 11">
            <a:extLst>
              <a:ext uri="{FF2B5EF4-FFF2-40B4-BE49-F238E27FC236}">
                <a16:creationId xmlns:a16="http://schemas.microsoft.com/office/drawing/2014/main" id="{C7B79DF6-1241-82DC-2DA3-9A53A3625E17}"/>
              </a:ext>
            </a:extLst>
          </p:cNvPr>
          <p:cNvSpPr txBox="1"/>
          <p:nvPr/>
        </p:nvSpPr>
        <p:spPr>
          <a:xfrm>
            <a:off x="16448122" y="8415536"/>
            <a:ext cx="1606209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2800" b="1" i="0" u="none" strike="noStrike" cap="none" spc="0" normalizeH="0" baseline="0">
                <a:ln>
                  <a:noFill/>
                </a:ln>
                <a:solidFill>
                  <a:srgbClr val="374556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mean</a:t>
            </a:r>
            <a:r>
              <a:rPr lang="da-DK" sz="2800" b="1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2800" b="1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kumimoji="0" lang="da-DK" sz="2800" b="1" i="0" u="none" strike="noStrike" cap="none" spc="0" normalizeH="0" baseline="0">
                <a:ln>
                  <a:noFill/>
                </a:ln>
                <a:solidFill>
                  <a:srgbClr val="374556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d(x)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94C762-C7E1-75E7-2D6E-501597C5CB20}"/>
              </a:ext>
            </a:extLst>
          </p:cNvPr>
          <p:cNvGrpSpPr/>
          <p:nvPr/>
        </p:nvGrpSpPr>
        <p:grpSpPr>
          <a:xfrm>
            <a:off x="13853779" y="6054008"/>
            <a:ext cx="1516547" cy="1556932"/>
            <a:chOff x="15258037" y="6200965"/>
            <a:chExt cx="1516547" cy="15569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FD80691-49DB-8945-4C7E-9984798D4B9F}"/>
                </a:ext>
              </a:extLst>
            </p:cNvPr>
            <p:cNvSpPr/>
            <p:nvPr/>
          </p:nvSpPr>
          <p:spPr>
            <a:xfrm>
              <a:off x="15466518" y="6400304"/>
              <a:ext cx="1118123" cy="1188720"/>
            </a:xfrm>
            <a:prstGeom prst="rect">
              <a:avLst/>
            </a:prstGeom>
            <a:solidFill>
              <a:srgbClr val="7893B7"/>
            </a:solidFill>
            <a:ln w="12700" cap="flat">
              <a:solidFill>
                <a:srgbClr val="0087AA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1828433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495" name=".R"/>
            <p:cNvSpPr txBox="1"/>
            <p:nvPr/>
          </p:nvSpPr>
          <p:spPr>
            <a:xfrm>
              <a:off x="15258037" y="6653303"/>
              <a:ext cx="1425808" cy="9423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50800" tIns="50800" rIns="50800" bIns="50800"/>
            <a:lstStyle/>
            <a:p>
              <a:pPr algn="ctr">
                <a:lnSpc>
                  <a:spcPct val="80000"/>
                </a:lnSpc>
                <a:defRPr sz="52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pPr>
              <a:r>
                <a:rPr sz="4400"/>
                <a:t>.</a:t>
              </a:r>
              <a:r>
                <a:rPr sz="6000"/>
                <a:t>R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792D96-9C82-74BF-AF52-6758BF905013}"/>
                </a:ext>
              </a:extLst>
            </p:cNvPr>
            <p:cNvSpPr/>
            <p:nvPr/>
          </p:nvSpPr>
          <p:spPr>
            <a:xfrm>
              <a:off x="15258037" y="6200965"/>
              <a:ext cx="1516547" cy="1556932"/>
            </a:xfrm>
            <a:prstGeom prst="rect">
              <a:avLst/>
            </a:prstGeom>
            <a:noFill/>
            <a:ln w="25400" cap="flat">
              <a:solidFill>
                <a:srgbClr val="7893B7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1828433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4886E2-2EE2-60B8-C951-0A0D89BB9F49}"/>
              </a:ext>
            </a:extLst>
          </p:cNvPr>
          <p:cNvGrpSpPr/>
          <p:nvPr/>
        </p:nvGrpSpPr>
        <p:grpSpPr>
          <a:xfrm>
            <a:off x="15639480" y="6056861"/>
            <a:ext cx="1959779" cy="1556932"/>
            <a:chOff x="17043738" y="6182047"/>
            <a:chExt cx="1959779" cy="15569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3948828-01EB-8932-B8B1-9A4D51D96575}"/>
                </a:ext>
              </a:extLst>
            </p:cNvPr>
            <p:cNvSpPr/>
            <p:nvPr/>
          </p:nvSpPr>
          <p:spPr>
            <a:xfrm>
              <a:off x="17251523" y="6400304"/>
              <a:ext cx="1518183" cy="1188720"/>
            </a:xfrm>
            <a:prstGeom prst="rect">
              <a:avLst/>
            </a:prstGeom>
            <a:solidFill>
              <a:srgbClr val="7893B7"/>
            </a:solidFill>
            <a:ln w="12700" cap="flat">
              <a:solidFill>
                <a:srgbClr val="0087AA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1828433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496" name=".Rmd"/>
            <p:cNvSpPr txBox="1"/>
            <p:nvPr/>
          </p:nvSpPr>
          <p:spPr>
            <a:xfrm>
              <a:off x="17160784" y="6723545"/>
              <a:ext cx="1608922" cy="791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50800" tIns="50800" rIns="50800" bIns="50800"/>
            <a:lstStyle>
              <a:lvl1pPr algn="ctr">
                <a:lnSpc>
                  <a:spcPct val="80000"/>
                </a:lnSpc>
                <a:defRPr sz="44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.</a:t>
              </a:r>
              <a:r>
                <a:rPr lang="da-DK" err="1"/>
                <a:t>Rmd</a:t>
              </a:r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218121-C278-CA31-447A-8F8C994C83B3}"/>
                </a:ext>
              </a:extLst>
            </p:cNvPr>
            <p:cNvSpPr/>
            <p:nvPr/>
          </p:nvSpPr>
          <p:spPr>
            <a:xfrm>
              <a:off x="17043738" y="6182047"/>
              <a:ext cx="1959779" cy="1556932"/>
            </a:xfrm>
            <a:prstGeom prst="rect">
              <a:avLst/>
            </a:prstGeom>
            <a:noFill/>
            <a:ln w="25400" cap="flat">
              <a:solidFill>
                <a:srgbClr val="7893B7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1828433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6496EA-CB82-E114-7666-33A7D5E2C1D8}"/>
              </a:ext>
            </a:extLst>
          </p:cNvPr>
          <p:cNvGrpSpPr/>
          <p:nvPr/>
        </p:nvGrpSpPr>
        <p:grpSpPr>
          <a:xfrm>
            <a:off x="17805993" y="6052360"/>
            <a:ext cx="1959779" cy="1556932"/>
            <a:chOff x="17043738" y="6182047"/>
            <a:chExt cx="1959779" cy="155693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9FA9935-A133-E937-B064-84F47BE5F0B3}"/>
                </a:ext>
              </a:extLst>
            </p:cNvPr>
            <p:cNvSpPr/>
            <p:nvPr/>
          </p:nvSpPr>
          <p:spPr>
            <a:xfrm>
              <a:off x="17251523" y="6400304"/>
              <a:ext cx="1518183" cy="1188720"/>
            </a:xfrm>
            <a:prstGeom prst="rect">
              <a:avLst/>
            </a:prstGeom>
            <a:solidFill>
              <a:srgbClr val="407B9D"/>
            </a:solidFill>
            <a:ln w="12700" cap="flat">
              <a:solidFill>
                <a:srgbClr val="0087AA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1828433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5" name=".Rmd">
              <a:extLst>
                <a:ext uri="{FF2B5EF4-FFF2-40B4-BE49-F238E27FC236}">
                  <a16:creationId xmlns:a16="http://schemas.microsoft.com/office/drawing/2014/main" id="{F3744EAE-F8D1-925D-4619-F1CB8F78C10D}"/>
                </a:ext>
              </a:extLst>
            </p:cNvPr>
            <p:cNvSpPr txBox="1"/>
            <p:nvPr/>
          </p:nvSpPr>
          <p:spPr>
            <a:xfrm>
              <a:off x="17160784" y="6723545"/>
              <a:ext cx="1608922" cy="7912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50800" tIns="50800" rIns="50800" bIns="50800"/>
            <a:lstStyle>
              <a:lvl1pPr algn="ctr">
                <a:lnSpc>
                  <a:spcPct val="80000"/>
                </a:lnSpc>
                <a:defRPr sz="4400">
                  <a:solidFill>
                    <a:srgbClr val="FFFFFF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.</a:t>
              </a:r>
              <a:r>
                <a:rPr lang="da-DK" err="1"/>
                <a:t>qmd</a:t>
              </a:r>
              <a:endParaRPr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58FD7B4-9A97-0352-0B6E-C62EFE683098}"/>
                </a:ext>
              </a:extLst>
            </p:cNvPr>
            <p:cNvSpPr/>
            <p:nvPr/>
          </p:nvSpPr>
          <p:spPr>
            <a:xfrm>
              <a:off x="17043738" y="6182047"/>
              <a:ext cx="1959779" cy="1556932"/>
            </a:xfrm>
            <a:prstGeom prst="rect">
              <a:avLst/>
            </a:prstGeom>
            <a:noFill/>
            <a:ln w="25400" cap="flat">
              <a:solidFill>
                <a:srgbClr val="407B9D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1828433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364ECBC-2A25-E9A9-E398-33D9AE1C0AE4}"/>
              </a:ext>
            </a:extLst>
          </p:cNvPr>
          <p:cNvSpPr txBox="1"/>
          <p:nvPr/>
        </p:nvSpPr>
        <p:spPr>
          <a:xfrm>
            <a:off x="19942629" y="7182848"/>
            <a:ext cx="10265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999999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2349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" grpId="0" animBg="1"/>
      <p:bldP spid="2" grpId="0" animBg="1"/>
      <p:bldP spid="3" grpId="0" animBg="1"/>
      <p:bldP spid="4" grpId="0" animBg="1"/>
      <p:bldP spid="11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45174-09D4-6F81-86C1-01421F46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">
            <a:extLst>
              <a:ext uri="{FF2B5EF4-FFF2-40B4-BE49-F238E27FC236}">
                <a16:creationId xmlns:a16="http://schemas.microsoft.com/office/drawing/2014/main" id="{F694D25C-952D-2272-0AAB-4CE2EE2DEBEA}"/>
              </a:ext>
            </a:extLst>
          </p:cNvPr>
          <p:cNvSpPr/>
          <p:nvPr/>
        </p:nvSpPr>
        <p:spPr>
          <a:xfrm>
            <a:off x="-98444" y="-106109"/>
            <a:ext cx="24568188" cy="3678314"/>
          </a:xfrm>
          <a:prstGeom prst="rect">
            <a:avLst/>
          </a:prstGeom>
          <a:solidFill>
            <a:srgbClr val="407B9D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solidFill>
                <a:srgbClr val="2E6698"/>
              </a:solidFill>
            </a:endParaRPr>
          </a:p>
        </p:txBody>
      </p:sp>
      <p:grpSp>
        <p:nvGrpSpPr>
          <p:cNvPr id="1054" name="Group">
            <a:extLst>
              <a:ext uri="{FF2B5EF4-FFF2-40B4-BE49-F238E27FC236}">
                <a16:creationId xmlns:a16="http://schemas.microsoft.com/office/drawing/2014/main" id="{9C84F839-1E7F-C2FC-B6B5-D4DFBA0CE5DB}"/>
              </a:ext>
            </a:extLst>
          </p:cNvPr>
          <p:cNvGrpSpPr/>
          <p:nvPr/>
        </p:nvGrpSpPr>
        <p:grpSpPr>
          <a:xfrm>
            <a:off x="5820960" y="839545"/>
            <a:ext cx="13483897" cy="2557550"/>
            <a:chOff x="-2917375" y="32657"/>
            <a:chExt cx="13483896" cy="2557549"/>
          </a:xfrm>
        </p:grpSpPr>
        <p:sp>
          <p:nvSpPr>
            <p:cNvPr id="1051" name="CECI N'EST PAS UNE PIPE…">
              <a:extLst>
                <a:ext uri="{FF2B5EF4-FFF2-40B4-BE49-F238E27FC236}">
                  <a16:creationId xmlns:a16="http://schemas.microsoft.com/office/drawing/2014/main" id="{B54ABE88-2A42-59DE-6DD3-8EE80F07EC7F}"/>
                </a:ext>
              </a:extLst>
            </p:cNvPr>
            <p:cNvSpPr txBox="1"/>
            <p:nvPr/>
          </p:nvSpPr>
          <p:spPr>
            <a:xfrm>
              <a:off x="-2917375" y="920902"/>
              <a:ext cx="13483896" cy="16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 sz="5000"/>
                <a:t>PATHS – LOCATION, LOCATION, LOCATION</a:t>
              </a:r>
              <a:endParaRPr sz="5000"/>
            </a:p>
          </p:txBody>
        </p:sp>
        <p:sp>
          <p:nvSpPr>
            <p:cNvPr id="1052" name="https://www.tidyverse.org/">
              <a:extLst>
                <a:ext uri="{FF2B5EF4-FFF2-40B4-BE49-F238E27FC236}">
                  <a16:creationId xmlns:a16="http://schemas.microsoft.com/office/drawing/2014/main" id="{3AA503EE-2BF5-EA9A-CBD3-96F9A851DE65}"/>
                </a:ext>
              </a:extLst>
            </p:cNvPr>
            <p:cNvSpPr txBox="1"/>
            <p:nvPr/>
          </p:nvSpPr>
          <p:spPr>
            <a:xfrm>
              <a:off x="1859337" y="32657"/>
              <a:ext cx="6375877" cy="584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</a:t>
              </a:r>
              <a:r>
                <a:rPr lang="da-DK" err="1"/>
                <a:t>quarto</a:t>
              </a:r>
              <a:r>
                <a:t>.org/</a:t>
              </a:r>
            </a:p>
          </p:txBody>
        </p:sp>
        <p:sp>
          <p:nvSpPr>
            <p:cNvPr id="1053" name="Line">
              <a:extLst>
                <a:ext uri="{FF2B5EF4-FFF2-40B4-BE49-F238E27FC236}">
                  <a16:creationId xmlns:a16="http://schemas.microsoft.com/office/drawing/2014/main" id="{F12696C2-AB52-C2C5-8143-4C13AAF10876}"/>
                </a:ext>
              </a:extLst>
            </p:cNvPr>
            <p:cNvSpPr/>
            <p:nvPr/>
          </p:nvSpPr>
          <p:spPr>
            <a:xfrm>
              <a:off x="97444" y="190749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" name="CustomShape 1">
            <a:extLst>
              <a:ext uri="{FF2B5EF4-FFF2-40B4-BE49-F238E27FC236}">
                <a16:creationId xmlns:a16="http://schemas.microsoft.com/office/drawing/2014/main" id="{95FD6DBC-4C6C-CB0D-FBF4-FF3A266AA35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56759" y="13864311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/>
              <a:t>14</a:t>
            </a:r>
            <a:endParaRPr/>
          </a:p>
        </p:txBody>
      </p:sp>
      <p:sp>
        <p:nvSpPr>
          <p:cNvPr id="1032" name="Tekstfelt 3">
            <a:extLst>
              <a:ext uri="{FF2B5EF4-FFF2-40B4-BE49-F238E27FC236}">
                <a16:creationId xmlns:a16="http://schemas.microsoft.com/office/drawing/2014/main" id="{B38B5CED-44F7-EFF2-69EF-409630ED5F2A}"/>
              </a:ext>
            </a:extLst>
          </p:cNvPr>
          <p:cNvSpPr txBox="1"/>
          <p:nvPr/>
        </p:nvSpPr>
        <p:spPr>
          <a:xfrm>
            <a:off x="1701182" y="4903669"/>
            <a:ext cx="13654542" cy="14875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742950" indent="-7429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The directories on your computer are organized in a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File Tree</a:t>
            </a:r>
          </a:p>
          <a:p>
            <a:pPr marL="742950" indent="-7429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Move</a:t>
            </a: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 between directories or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point to </a:t>
            </a: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a place in the tree with a specific file 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37CC955F-8F50-908C-7889-AD79E3FE6920}"/>
              </a:ext>
            </a:extLst>
          </p:cNvPr>
          <p:cNvGrpSpPr>
            <a:grpSpLocks noChangeAspect="1"/>
          </p:cNvGrpSpPr>
          <p:nvPr/>
        </p:nvGrpSpPr>
        <p:grpSpPr>
          <a:xfrm>
            <a:off x="15097974" y="4127247"/>
            <a:ext cx="7533079" cy="8903919"/>
            <a:chOff x="14613238" y="5888177"/>
            <a:chExt cx="8220891" cy="9716895"/>
          </a:xfrm>
        </p:grpSpPr>
        <p:sp>
          <p:nvSpPr>
            <p:cNvPr id="10" name="TextBox 16">
              <a:extLst>
                <a:ext uri="{FF2B5EF4-FFF2-40B4-BE49-F238E27FC236}">
                  <a16:creationId xmlns:a16="http://schemas.microsoft.com/office/drawing/2014/main" id="{16E8E382-D92D-2071-9DFD-BF0CB05D761B}"/>
                </a:ext>
              </a:extLst>
            </p:cNvPr>
            <p:cNvSpPr txBox="1"/>
            <p:nvPr/>
          </p:nvSpPr>
          <p:spPr>
            <a:xfrm>
              <a:off x="14613238" y="10184242"/>
              <a:ext cx="2547517" cy="5174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374556"/>
                  </a:solidFill>
                  <a:latin typeface="Helvetica" pitchFamily="2" charset="0"/>
                </a:rPr>
                <a:t>Data</a:t>
              </a:r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1EAFBF94-F7BE-6FC3-DF6D-CB037C5E73FB}"/>
                </a:ext>
              </a:extLst>
            </p:cNvPr>
            <p:cNvSpPr txBox="1"/>
            <p:nvPr/>
          </p:nvSpPr>
          <p:spPr>
            <a:xfrm>
              <a:off x="20286614" y="10181188"/>
              <a:ext cx="2547515" cy="5174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374556"/>
                  </a:solidFill>
                  <a:latin typeface="Helvetica" pitchFamily="2" charset="0"/>
                </a:rPr>
                <a:t>Desktop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16A3E2-07EB-A600-A236-39CB09250F51}"/>
                </a:ext>
              </a:extLst>
            </p:cNvPr>
            <p:cNvSpPr txBox="1"/>
            <p:nvPr/>
          </p:nvSpPr>
          <p:spPr>
            <a:xfrm>
              <a:off x="17485761" y="7643989"/>
              <a:ext cx="2547517" cy="46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374556"/>
                  </a:solidFill>
                  <a:latin typeface="Helvetica" pitchFamily="2" charset="0"/>
                </a:rPr>
                <a:t>abc123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9D16E5-EB7F-546E-AE8F-42FDE3C97EB7}"/>
                </a:ext>
              </a:extLst>
            </p:cNvPr>
            <p:cNvSpPr txBox="1"/>
            <p:nvPr/>
          </p:nvSpPr>
          <p:spPr>
            <a:xfrm>
              <a:off x="17602106" y="10175950"/>
              <a:ext cx="2547517" cy="474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374556"/>
                  </a:solidFill>
                  <a:latin typeface="Helvetica" pitchFamily="2" charset="0"/>
                </a:rPr>
                <a:t>Documents</a:t>
              </a:r>
            </a:p>
          </p:txBody>
        </p:sp>
        <p:sp>
          <p:nvSpPr>
            <p:cNvPr id="17" name="TextBox 18">
              <a:extLst>
                <a:ext uri="{FF2B5EF4-FFF2-40B4-BE49-F238E27FC236}">
                  <a16:creationId xmlns:a16="http://schemas.microsoft.com/office/drawing/2014/main" id="{CA1ABC71-2D08-2999-0118-C6669E300BA5}"/>
                </a:ext>
              </a:extLst>
            </p:cNvPr>
            <p:cNvSpPr txBox="1"/>
            <p:nvPr/>
          </p:nvSpPr>
          <p:spPr>
            <a:xfrm>
              <a:off x="16850469" y="12859074"/>
              <a:ext cx="2547517" cy="46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374556"/>
                  </a:solidFill>
                  <a:latin typeface="Helvetica" pitchFamily="2" charset="0"/>
                </a:rPr>
                <a:t>Teaching</a:t>
              </a:r>
            </a:p>
          </p:txBody>
        </p:sp>
        <p:sp>
          <p:nvSpPr>
            <p:cNvPr id="18" name="TextBox 19">
              <a:extLst>
                <a:ext uri="{FF2B5EF4-FFF2-40B4-BE49-F238E27FC236}">
                  <a16:creationId xmlns:a16="http://schemas.microsoft.com/office/drawing/2014/main" id="{F522A959-7D96-3B67-B98D-5FA01EC3D010}"/>
                </a:ext>
              </a:extLst>
            </p:cNvPr>
            <p:cNvSpPr txBox="1"/>
            <p:nvPr/>
          </p:nvSpPr>
          <p:spPr>
            <a:xfrm>
              <a:off x="19397986" y="12861048"/>
              <a:ext cx="2547517" cy="46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374556"/>
                  </a:solidFill>
                  <a:latin typeface="Helvetica" pitchFamily="2" charset="0"/>
                </a:rPr>
                <a:t>Research</a:t>
              </a:r>
            </a:p>
          </p:txBody>
        </p:sp>
        <p:sp>
          <p:nvSpPr>
            <p:cNvPr id="19" name="TextBox 20">
              <a:extLst>
                <a:ext uri="{FF2B5EF4-FFF2-40B4-BE49-F238E27FC236}">
                  <a16:creationId xmlns:a16="http://schemas.microsoft.com/office/drawing/2014/main" id="{33C63DD8-F2CB-F50C-96AF-48C399CDFB90}"/>
                </a:ext>
              </a:extLst>
            </p:cNvPr>
            <p:cNvSpPr txBox="1"/>
            <p:nvPr/>
          </p:nvSpPr>
          <p:spPr>
            <a:xfrm>
              <a:off x="19378248" y="15193163"/>
              <a:ext cx="2984248" cy="41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1" err="1">
                  <a:solidFill>
                    <a:srgbClr val="374556"/>
                  </a:solidFill>
                  <a:latin typeface="Helvetica" pitchFamily="2" charset="0"/>
                </a:rPr>
                <a:t>myData.csv</a:t>
              </a:r>
              <a:endParaRPr lang="en-US" sz="2400" b="1">
                <a:solidFill>
                  <a:srgbClr val="374556"/>
                </a:solidFill>
                <a:latin typeface="Helvetica" pitchFamily="2" charset="0"/>
              </a:endParaRPr>
            </a:p>
          </p:txBody>
        </p:sp>
        <p:sp>
          <p:nvSpPr>
            <p:cNvPr id="54" name="Freeform: Shape 61">
              <a:extLst>
                <a:ext uri="{FF2B5EF4-FFF2-40B4-BE49-F238E27FC236}">
                  <a16:creationId xmlns:a16="http://schemas.microsoft.com/office/drawing/2014/main" id="{02E52178-BE4D-55E1-B2CE-08BDEB748211}"/>
                </a:ext>
              </a:extLst>
            </p:cNvPr>
            <p:cNvSpPr/>
            <p:nvPr/>
          </p:nvSpPr>
          <p:spPr>
            <a:xfrm>
              <a:off x="18213515" y="9033466"/>
              <a:ext cx="1307724" cy="1010125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374556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55" name="Freeform: Shape 62">
              <a:extLst>
                <a:ext uri="{FF2B5EF4-FFF2-40B4-BE49-F238E27FC236}">
                  <a16:creationId xmlns:a16="http://schemas.microsoft.com/office/drawing/2014/main" id="{58DA4482-E564-B201-A570-CDB4F2D8A733}"/>
                </a:ext>
              </a:extLst>
            </p:cNvPr>
            <p:cNvSpPr/>
            <p:nvPr/>
          </p:nvSpPr>
          <p:spPr>
            <a:xfrm>
              <a:off x="18124228" y="9123309"/>
              <a:ext cx="211004" cy="4227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56" name="Freeform: Shape 639">
              <a:extLst>
                <a:ext uri="{FF2B5EF4-FFF2-40B4-BE49-F238E27FC236}">
                  <a16:creationId xmlns:a16="http://schemas.microsoft.com/office/drawing/2014/main" id="{3F97DB23-F978-4E4E-853A-E5EF4E9F9D4F}"/>
                </a:ext>
              </a:extLst>
            </p:cNvPr>
            <p:cNvSpPr/>
            <p:nvPr/>
          </p:nvSpPr>
          <p:spPr>
            <a:xfrm>
              <a:off x="18040035" y="9123309"/>
              <a:ext cx="42357" cy="4227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51" name="Freeform: Shape 58">
              <a:extLst>
                <a:ext uri="{FF2B5EF4-FFF2-40B4-BE49-F238E27FC236}">
                  <a16:creationId xmlns:a16="http://schemas.microsoft.com/office/drawing/2014/main" id="{D9A09493-FD29-D838-A2F3-D9988B8F9C37}"/>
                </a:ext>
              </a:extLst>
            </p:cNvPr>
            <p:cNvSpPr/>
            <p:nvPr/>
          </p:nvSpPr>
          <p:spPr>
            <a:xfrm>
              <a:off x="20917652" y="9061686"/>
              <a:ext cx="1307724" cy="1010125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374556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52" name="Freeform: Shape 59">
              <a:extLst>
                <a:ext uri="{FF2B5EF4-FFF2-40B4-BE49-F238E27FC236}">
                  <a16:creationId xmlns:a16="http://schemas.microsoft.com/office/drawing/2014/main" id="{CD3FB038-E968-7211-9338-6DFBE1530272}"/>
                </a:ext>
              </a:extLst>
            </p:cNvPr>
            <p:cNvSpPr/>
            <p:nvPr/>
          </p:nvSpPr>
          <p:spPr>
            <a:xfrm>
              <a:off x="21063967" y="9017391"/>
              <a:ext cx="211004" cy="4227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53" name="Freeform: Shape 60">
              <a:extLst>
                <a:ext uri="{FF2B5EF4-FFF2-40B4-BE49-F238E27FC236}">
                  <a16:creationId xmlns:a16="http://schemas.microsoft.com/office/drawing/2014/main" id="{3BA3D03F-3078-2D85-5A07-F921E7EEA596}"/>
                </a:ext>
              </a:extLst>
            </p:cNvPr>
            <p:cNvSpPr/>
            <p:nvPr/>
          </p:nvSpPr>
          <p:spPr>
            <a:xfrm>
              <a:off x="20979774" y="9017391"/>
              <a:ext cx="42357" cy="4227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8" name="Freeform: Shape 55">
              <a:extLst>
                <a:ext uri="{FF2B5EF4-FFF2-40B4-BE49-F238E27FC236}">
                  <a16:creationId xmlns:a16="http://schemas.microsoft.com/office/drawing/2014/main" id="{9EC7AF2B-8C00-DC73-7867-CCB1EE92BD10}"/>
                </a:ext>
              </a:extLst>
            </p:cNvPr>
            <p:cNvSpPr/>
            <p:nvPr/>
          </p:nvSpPr>
          <p:spPr>
            <a:xfrm>
              <a:off x="17496045" y="11713482"/>
              <a:ext cx="1307724" cy="1010125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374556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9" name="Freeform: Shape 56">
              <a:extLst>
                <a:ext uri="{FF2B5EF4-FFF2-40B4-BE49-F238E27FC236}">
                  <a16:creationId xmlns:a16="http://schemas.microsoft.com/office/drawing/2014/main" id="{A383652E-1D06-8EA7-63AD-667592077016}"/>
                </a:ext>
              </a:extLst>
            </p:cNvPr>
            <p:cNvSpPr/>
            <p:nvPr/>
          </p:nvSpPr>
          <p:spPr>
            <a:xfrm>
              <a:off x="17665149" y="11797507"/>
              <a:ext cx="211004" cy="4227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50" name="Freeform: Shape 57">
              <a:extLst>
                <a:ext uri="{FF2B5EF4-FFF2-40B4-BE49-F238E27FC236}">
                  <a16:creationId xmlns:a16="http://schemas.microsoft.com/office/drawing/2014/main" id="{AD0FD844-33CC-BC4E-65F7-3C14B8A9EB4B}"/>
                </a:ext>
              </a:extLst>
            </p:cNvPr>
            <p:cNvSpPr/>
            <p:nvPr/>
          </p:nvSpPr>
          <p:spPr>
            <a:xfrm>
              <a:off x="17580956" y="11797507"/>
              <a:ext cx="42357" cy="4227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5" name="Freeform: Shape 52">
              <a:extLst>
                <a:ext uri="{FF2B5EF4-FFF2-40B4-BE49-F238E27FC236}">
                  <a16:creationId xmlns:a16="http://schemas.microsoft.com/office/drawing/2014/main" id="{7B552888-F764-68D6-AAA1-172834C8EADD}"/>
                </a:ext>
              </a:extLst>
            </p:cNvPr>
            <p:cNvSpPr/>
            <p:nvPr/>
          </p:nvSpPr>
          <p:spPr>
            <a:xfrm>
              <a:off x="19950625" y="11741640"/>
              <a:ext cx="1307724" cy="1010125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374556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6" name="Freeform: Shape 53">
              <a:extLst>
                <a:ext uri="{FF2B5EF4-FFF2-40B4-BE49-F238E27FC236}">
                  <a16:creationId xmlns:a16="http://schemas.microsoft.com/office/drawing/2014/main" id="{E87DF6DC-74BE-54F2-3F89-5B8D91F4AE9F}"/>
                </a:ext>
              </a:extLst>
            </p:cNvPr>
            <p:cNvSpPr/>
            <p:nvPr/>
          </p:nvSpPr>
          <p:spPr>
            <a:xfrm>
              <a:off x="20119730" y="11825664"/>
              <a:ext cx="211004" cy="4227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7" name="Freeform: Shape 54">
              <a:extLst>
                <a:ext uri="{FF2B5EF4-FFF2-40B4-BE49-F238E27FC236}">
                  <a16:creationId xmlns:a16="http://schemas.microsoft.com/office/drawing/2014/main" id="{288B7749-F271-EFE4-14DF-8A8A67A9FF04}"/>
                </a:ext>
              </a:extLst>
            </p:cNvPr>
            <p:cNvSpPr/>
            <p:nvPr/>
          </p:nvSpPr>
          <p:spPr>
            <a:xfrm>
              <a:off x="20035537" y="11825664"/>
              <a:ext cx="42357" cy="4227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2" name="Freeform: Shape 49">
              <a:extLst>
                <a:ext uri="{FF2B5EF4-FFF2-40B4-BE49-F238E27FC236}">
                  <a16:creationId xmlns:a16="http://schemas.microsoft.com/office/drawing/2014/main" id="{6B331A43-4414-221A-B5EB-0E81D0DD51A4}"/>
                </a:ext>
              </a:extLst>
            </p:cNvPr>
            <p:cNvSpPr/>
            <p:nvPr/>
          </p:nvSpPr>
          <p:spPr>
            <a:xfrm>
              <a:off x="18148444" y="6594571"/>
              <a:ext cx="1307724" cy="1010125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374556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3" name="Freeform: Shape 50">
              <a:extLst>
                <a:ext uri="{FF2B5EF4-FFF2-40B4-BE49-F238E27FC236}">
                  <a16:creationId xmlns:a16="http://schemas.microsoft.com/office/drawing/2014/main" id="{F77AD561-D4B2-D1EC-C97E-B0F830072AC0}"/>
                </a:ext>
              </a:extLst>
            </p:cNvPr>
            <p:cNvSpPr/>
            <p:nvPr/>
          </p:nvSpPr>
          <p:spPr>
            <a:xfrm>
              <a:off x="18230590" y="6678595"/>
              <a:ext cx="211004" cy="4227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4" name="Freeform: Shape 51">
              <a:extLst>
                <a:ext uri="{FF2B5EF4-FFF2-40B4-BE49-F238E27FC236}">
                  <a16:creationId xmlns:a16="http://schemas.microsoft.com/office/drawing/2014/main" id="{17380362-1601-8E8C-96E3-6D93A249D7D3}"/>
                </a:ext>
              </a:extLst>
            </p:cNvPr>
            <p:cNvSpPr/>
            <p:nvPr/>
          </p:nvSpPr>
          <p:spPr>
            <a:xfrm>
              <a:off x="18146397" y="6678595"/>
              <a:ext cx="42357" cy="4227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25" name="AutoShape 27">
              <a:extLst>
                <a:ext uri="{FF2B5EF4-FFF2-40B4-BE49-F238E27FC236}">
                  <a16:creationId xmlns:a16="http://schemas.microsoft.com/office/drawing/2014/main" id="{878E124D-992F-4E0B-C163-86EB297E4E54}"/>
                </a:ext>
              </a:extLst>
            </p:cNvPr>
            <p:cNvSpPr/>
            <p:nvPr/>
          </p:nvSpPr>
          <p:spPr>
            <a:xfrm>
              <a:off x="15909096" y="8561918"/>
              <a:ext cx="5684158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26" name="AutoShape 28">
              <a:extLst>
                <a:ext uri="{FF2B5EF4-FFF2-40B4-BE49-F238E27FC236}">
                  <a16:creationId xmlns:a16="http://schemas.microsoft.com/office/drawing/2014/main" id="{8FD41288-B346-1BEE-A6BC-D6688CB97039}"/>
                </a:ext>
              </a:extLst>
            </p:cNvPr>
            <p:cNvSpPr/>
            <p:nvPr/>
          </p:nvSpPr>
          <p:spPr>
            <a:xfrm rot="16200000">
              <a:off x="15691081" y="8823412"/>
              <a:ext cx="479510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27" name="AutoShape 30">
              <a:extLst>
                <a:ext uri="{FF2B5EF4-FFF2-40B4-BE49-F238E27FC236}">
                  <a16:creationId xmlns:a16="http://schemas.microsoft.com/office/drawing/2014/main" id="{A4D5B19A-F37D-64D0-43DC-B127D3E5FE1D}"/>
                </a:ext>
              </a:extLst>
            </p:cNvPr>
            <p:cNvSpPr/>
            <p:nvPr/>
          </p:nvSpPr>
          <p:spPr>
            <a:xfrm rot="16200000">
              <a:off x="21331760" y="8779933"/>
              <a:ext cx="479510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28" name="AutoShape 31">
              <a:extLst>
                <a:ext uri="{FF2B5EF4-FFF2-40B4-BE49-F238E27FC236}">
                  <a16:creationId xmlns:a16="http://schemas.microsoft.com/office/drawing/2014/main" id="{F32804C2-9205-9EDF-DC7C-1356551787C0}"/>
                </a:ext>
              </a:extLst>
            </p:cNvPr>
            <p:cNvSpPr/>
            <p:nvPr/>
          </p:nvSpPr>
          <p:spPr>
            <a:xfrm rot="16200000">
              <a:off x="18547220" y="11044040"/>
              <a:ext cx="414000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29" name="AutoShape 32">
              <a:extLst>
                <a:ext uri="{FF2B5EF4-FFF2-40B4-BE49-F238E27FC236}">
                  <a16:creationId xmlns:a16="http://schemas.microsoft.com/office/drawing/2014/main" id="{573DEEFD-93B0-51AD-B445-9286DA7D77C1}"/>
                </a:ext>
              </a:extLst>
            </p:cNvPr>
            <p:cNvSpPr/>
            <p:nvPr/>
          </p:nvSpPr>
          <p:spPr>
            <a:xfrm>
              <a:off x="18150957" y="11273073"/>
              <a:ext cx="2454582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30" name="AutoShape 35">
              <a:extLst>
                <a:ext uri="{FF2B5EF4-FFF2-40B4-BE49-F238E27FC236}">
                  <a16:creationId xmlns:a16="http://schemas.microsoft.com/office/drawing/2014/main" id="{0E545615-1D05-0871-B5AA-5B8DE3358E63}"/>
                </a:ext>
              </a:extLst>
            </p:cNvPr>
            <p:cNvSpPr/>
            <p:nvPr/>
          </p:nvSpPr>
          <p:spPr>
            <a:xfrm rot="16200000">
              <a:off x="20353974" y="13641715"/>
              <a:ext cx="479510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31" name="AutoShape 36">
              <a:extLst>
                <a:ext uri="{FF2B5EF4-FFF2-40B4-BE49-F238E27FC236}">
                  <a16:creationId xmlns:a16="http://schemas.microsoft.com/office/drawing/2014/main" id="{68100543-2229-C6C6-ACAA-EC7BB684552D}"/>
                </a:ext>
              </a:extLst>
            </p:cNvPr>
            <p:cNvSpPr/>
            <p:nvPr/>
          </p:nvSpPr>
          <p:spPr>
            <a:xfrm rot="16200000" flipV="1">
              <a:off x="15475438" y="11154065"/>
              <a:ext cx="823119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917CE3EF-FC51-4FC2-2B92-109F713723B4}"/>
                </a:ext>
              </a:extLst>
            </p:cNvPr>
            <p:cNvSpPr txBox="1"/>
            <p:nvPr/>
          </p:nvSpPr>
          <p:spPr>
            <a:xfrm>
              <a:off x="14915787" y="12857100"/>
              <a:ext cx="1986617" cy="41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374556"/>
                  </a:solidFill>
                  <a:latin typeface="Helvetica" pitchFamily="2" charset="0"/>
                </a:rPr>
                <a:t>Exp1.csv</a:t>
              </a:r>
            </a:p>
          </p:txBody>
        </p:sp>
        <p:sp>
          <p:nvSpPr>
            <p:cNvPr id="33" name="Picture 13">
              <a:extLst>
                <a:ext uri="{FF2B5EF4-FFF2-40B4-BE49-F238E27FC236}">
                  <a16:creationId xmlns:a16="http://schemas.microsoft.com/office/drawing/2014/main" id="{C5CE4AD9-280F-0A83-57BD-D3B4424003D8}"/>
                </a:ext>
              </a:extLst>
            </p:cNvPr>
            <p:cNvSpPr/>
            <p:nvPr/>
          </p:nvSpPr>
          <p:spPr>
            <a:xfrm>
              <a:off x="20301117" y="14017493"/>
              <a:ext cx="906566" cy="1045306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374556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34" name="Picture 37">
              <a:extLst>
                <a:ext uri="{FF2B5EF4-FFF2-40B4-BE49-F238E27FC236}">
                  <a16:creationId xmlns:a16="http://schemas.microsoft.com/office/drawing/2014/main" id="{4C3C07E8-A2D9-350C-E50E-89395F9965F4}"/>
                </a:ext>
              </a:extLst>
            </p:cNvPr>
            <p:cNvSpPr/>
            <p:nvPr/>
          </p:nvSpPr>
          <p:spPr>
            <a:xfrm>
              <a:off x="15516580" y="11706665"/>
              <a:ext cx="906566" cy="1045306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374556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35" name="AutoShape 39">
              <a:extLst>
                <a:ext uri="{FF2B5EF4-FFF2-40B4-BE49-F238E27FC236}">
                  <a16:creationId xmlns:a16="http://schemas.microsoft.com/office/drawing/2014/main" id="{AF067B8C-C53A-C3A5-D5A9-099A1445F984}"/>
                </a:ext>
              </a:extLst>
            </p:cNvPr>
            <p:cNvSpPr/>
            <p:nvPr/>
          </p:nvSpPr>
          <p:spPr>
            <a:xfrm rot="16200000">
              <a:off x="18454276" y="8567123"/>
              <a:ext cx="611204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39" name="Freeform: Shape 641">
              <a:extLst>
                <a:ext uri="{FF2B5EF4-FFF2-40B4-BE49-F238E27FC236}">
                  <a16:creationId xmlns:a16="http://schemas.microsoft.com/office/drawing/2014/main" id="{168FBA6F-B721-9467-3A4E-7BE474CC034C}"/>
                </a:ext>
              </a:extLst>
            </p:cNvPr>
            <p:cNvSpPr/>
            <p:nvPr/>
          </p:nvSpPr>
          <p:spPr>
            <a:xfrm>
              <a:off x="15346635" y="9033466"/>
              <a:ext cx="1307724" cy="1010125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374556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0" name="Freeform: Shape 642">
              <a:extLst>
                <a:ext uri="{FF2B5EF4-FFF2-40B4-BE49-F238E27FC236}">
                  <a16:creationId xmlns:a16="http://schemas.microsoft.com/office/drawing/2014/main" id="{2D629EFD-6164-758A-D157-A5D67E56DF7C}"/>
                </a:ext>
              </a:extLst>
            </p:cNvPr>
            <p:cNvSpPr/>
            <p:nvPr/>
          </p:nvSpPr>
          <p:spPr>
            <a:xfrm>
              <a:off x="15515739" y="9117490"/>
              <a:ext cx="211004" cy="4227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41" name="Freeform: Shape 643">
              <a:extLst>
                <a:ext uri="{FF2B5EF4-FFF2-40B4-BE49-F238E27FC236}">
                  <a16:creationId xmlns:a16="http://schemas.microsoft.com/office/drawing/2014/main" id="{27AF31E3-05A5-2B45-DEB4-588992CD3611}"/>
                </a:ext>
              </a:extLst>
            </p:cNvPr>
            <p:cNvSpPr/>
            <p:nvPr/>
          </p:nvSpPr>
          <p:spPr>
            <a:xfrm>
              <a:off x="15431546" y="9117490"/>
              <a:ext cx="42357" cy="4227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rgbClr val="374556"/>
                </a:solidFill>
              </a:endParaRPr>
            </a:p>
          </p:txBody>
        </p:sp>
        <p:sp>
          <p:nvSpPr>
            <p:cNvPr id="13" name="AutoShape 39">
              <a:extLst>
                <a:ext uri="{FF2B5EF4-FFF2-40B4-BE49-F238E27FC236}">
                  <a16:creationId xmlns:a16="http://schemas.microsoft.com/office/drawing/2014/main" id="{25B99D55-A11C-54AD-BBE5-444AA5A1BFC0}"/>
                </a:ext>
              </a:extLst>
            </p:cNvPr>
            <p:cNvSpPr/>
            <p:nvPr/>
          </p:nvSpPr>
          <p:spPr>
            <a:xfrm rot="16200000">
              <a:off x="17982935" y="11424767"/>
              <a:ext cx="343869" cy="1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14" name="AutoShape 39">
              <a:extLst>
                <a:ext uri="{FF2B5EF4-FFF2-40B4-BE49-F238E27FC236}">
                  <a16:creationId xmlns:a16="http://schemas.microsoft.com/office/drawing/2014/main" id="{B858C172-0A07-A73D-AB5D-576F74B18CC6}"/>
                </a:ext>
              </a:extLst>
            </p:cNvPr>
            <p:cNvSpPr/>
            <p:nvPr/>
          </p:nvSpPr>
          <p:spPr>
            <a:xfrm rot="16200000">
              <a:off x="20424210" y="11424766"/>
              <a:ext cx="343869" cy="1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  <p:sp>
          <p:nvSpPr>
            <p:cNvPr id="1042" name="AutoShape 39">
              <a:extLst>
                <a:ext uri="{FF2B5EF4-FFF2-40B4-BE49-F238E27FC236}">
                  <a16:creationId xmlns:a16="http://schemas.microsoft.com/office/drawing/2014/main" id="{327319A8-C49D-F8E8-B30F-787266E9E4AD}"/>
                </a:ext>
              </a:extLst>
            </p:cNvPr>
            <p:cNvSpPr/>
            <p:nvPr/>
          </p:nvSpPr>
          <p:spPr>
            <a:xfrm rot="16200000">
              <a:off x="18469302" y="6193779"/>
              <a:ext cx="611204" cy="0"/>
            </a:xfrm>
            <a:prstGeom prst="line">
              <a:avLst/>
            </a:prstGeom>
            <a:ln w="38100" cap="flat">
              <a:solidFill>
                <a:srgbClr val="37455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>
                <a:solidFill>
                  <a:srgbClr val="374556"/>
                </a:solidFill>
              </a:endParaRP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A0D791DB-ADF8-8940-2A9C-039AF2A7FA9F}"/>
              </a:ext>
            </a:extLst>
          </p:cNvPr>
          <p:cNvGrpSpPr/>
          <p:nvPr/>
        </p:nvGrpSpPr>
        <p:grpSpPr>
          <a:xfrm>
            <a:off x="18874039" y="6152203"/>
            <a:ext cx="1709328" cy="3389963"/>
            <a:chOff x="12358838" y="4593291"/>
            <a:chExt cx="1709328" cy="338996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53D5C7E-2768-108E-7339-FCC9E269561A}"/>
                </a:ext>
              </a:extLst>
            </p:cNvPr>
            <p:cNvCxnSpPr>
              <a:cxnSpLocks/>
            </p:cNvCxnSpPr>
            <p:nvPr/>
          </p:nvCxnSpPr>
          <p:spPr>
            <a:xfrm>
              <a:off x="12371630" y="4593291"/>
              <a:ext cx="0" cy="2918922"/>
            </a:xfrm>
            <a:prstGeom prst="line">
              <a:avLst/>
            </a:prstGeom>
            <a:noFill/>
            <a:ln w="508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BDF2591-094D-D6C9-7297-713AF07EE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58838" y="7498663"/>
              <a:ext cx="1706274" cy="0"/>
            </a:xfrm>
            <a:prstGeom prst="line">
              <a:avLst/>
            </a:prstGeom>
            <a:noFill/>
            <a:ln w="508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FD3DCDDB-B0E9-3890-8BE5-9358408BF3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65111" y="7484871"/>
              <a:ext cx="3055" cy="498383"/>
            </a:xfrm>
            <a:prstGeom prst="line">
              <a:avLst/>
            </a:prstGeom>
            <a:noFill/>
            <a:ln w="508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048" name="Tekstfelt 3">
            <a:extLst>
              <a:ext uri="{FF2B5EF4-FFF2-40B4-BE49-F238E27FC236}">
                <a16:creationId xmlns:a16="http://schemas.microsoft.com/office/drawing/2014/main" id="{9CE8832D-1BB0-8F31-6EC2-FF37AF124B72}"/>
              </a:ext>
            </a:extLst>
          </p:cNvPr>
          <p:cNvSpPr txBox="1"/>
          <p:nvPr/>
        </p:nvSpPr>
        <p:spPr>
          <a:xfrm>
            <a:off x="1701181" y="7080568"/>
            <a:ext cx="12850928" cy="21800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We do this by specifying a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path: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Move to: </a:t>
            </a:r>
            <a:r>
              <a:rPr lang="en-US" sz="3000" b="1">
                <a:solidFill>
                  <a:srgbClr val="36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/abc123/Documents/Research</a:t>
            </a:r>
            <a:r>
              <a:rPr lang="en-US" sz="3000">
                <a:solidFill>
                  <a:srgbClr val="36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3000" b="1">
              <a:solidFill>
                <a:srgbClr val="364556"/>
              </a:solidFill>
              <a:latin typeface="Helvetica" pitchFamily="2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Point to:  </a:t>
            </a:r>
            <a:r>
              <a:rPr lang="en-US" sz="3000" b="1">
                <a:solidFill>
                  <a:srgbClr val="36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/abc123/Documents/Research/</a:t>
            </a:r>
            <a:r>
              <a:rPr lang="en-US" sz="3000" b="1" err="1">
                <a:solidFill>
                  <a:srgbClr val="36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myData.csv</a:t>
            </a:r>
            <a:r>
              <a:rPr lang="en-US" sz="3000">
                <a:solidFill>
                  <a:srgbClr val="36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da-DK" sz="3000">
              <a:solidFill>
                <a:srgbClr val="36455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5" name="19">
            <a:extLst>
              <a:ext uri="{FF2B5EF4-FFF2-40B4-BE49-F238E27FC236}">
                <a16:creationId xmlns:a16="http://schemas.microsoft.com/office/drawing/2014/main" id="{1EED2582-BF0B-886E-D0C1-D7ED891E03AD}"/>
              </a:ext>
            </a:extLst>
          </p:cNvPr>
          <p:cNvSpPr txBox="1"/>
          <p:nvPr/>
        </p:nvSpPr>
        <p:spPr>
          <a:xfrm>
            <a:off x="-180520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1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ekstfelt 3">
            <a:extLst>
              <a:ext uri="{FF2B5EF4-FFF2-40B4-BE49-F238E27FC236}">
                <a16:creationId xmlns:a16="http://schemas.microsoft.com/office/drawing/2014/main" id="{1871376C-68E5-3646-0B95-BD28BCF539B0}"/>
              </a:ext>
            </a:extLst>
          </p:cNvPr>
          <p:cNvSpPr txBox="1"/>
          <p:nvPr/>
        </p:nvSpPr>
        <p:spPr>
          <a:xfrm>
            <a:off x="1962720" y="10916043"/>
            <a:ext cx="12850928" cy="795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364556"/>
                </a:solidFill>
                <a:latin typeface="Helvetica" pitchFamily="2" charset="0"/>
                <a:sym typeface="Wingdings" pitchFamily="2" charset="2"/>
              </a:rPr>
              <a:t>Go through Exercise 0 in plenum!</a:t>
            </a:r>
            <a:endParaRPr lang="da-DK" sz="3000" b="1">
              <a:solidFill>
                <a:srgbClr val="36455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635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30B6-AFCD-492D-3BB8-83CF64A6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ectangle">
            <a:extLst>
              <a:ext uri="{FF2B5EF4-FFF2-40B4-BE49-F238E27FC236}">
                <a16:creationId xmlns:a16="http://schemas.microsoft.com/office/drawing/2014/main" id="{8B686D1D-15B3-4503-F373-3C6243264566}"/>
              </a:ext>
            </a:extLst>
          </p:cNvPr>
          <p:cNvSpPr/>
          <p:nvPr/>
        </p:nvSpPr>
        <p:spPr>
          <a:xfrm>
            <a:off x="17520549" y="-57430"/>
            <a:ext cx="6940820" cy="13830860"/>
          </a:xfrm>
          <a:prstGeom prst="rect">
            <a:avLst/>
          </a:prstGeom>
          <a:solidFill>
            <a:srgbClr val="407B9D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950" name="Group">
            <a:extLst>
              <a:ext uri="{FF2B5EF4-FFF2-40B4-BE49-F238E27FC236}">
                <a16:creationId xmlns:a16="http://schemas.microsoft.com/office/drawing/2014/main" id="{4B5DDCAF-0C2B-18B2-3BF3-637545FE8829}"/>
              </a:ext>
            </a:extLst>
          </p:cNvPr>
          <p:cNvGrpSpPr/>
          <p:nvPr/>
        </p:nvGrpSpPr>
        <p:grpSpPr>
          <a:xfrm>
            <a:off x="18325766" y="6197004"/>
            <a:ext cx="5330386" cy="2054792"/>
            <a:chOff x="0" y="-101600"/>
            <a:chExt cx="5330385" cy="2054790"/>
          </a:xfrm>
        </p:grpSpPr>
        <p:sp>
          <p:nvSpPr>
            <p:cNvPr id="947" name="EXERCISE 1">
              <a:extLst>
                <a:ext uri="{FF2B5EF4-FFF2-40B4-BE49-F238E27FC236}">
                  <a16:creationId xmlns:a16="http://schemas.microsoft.com/office/drawing/2014/main" id="{F46627D7-0980-48B7-2B03-086E41A89B22}"/>
                </a:ext>
              </a:extLst>
            </p:cNvPr>
            <p:cNvSpPr txBox="1"/>
            <p:nvPr/>
          </p:nvSpPr>
          <p:spPr>
            <a:xfrm>
              <a:off x="0" y="405033"/>
              <a:ext cx="5330386" cy="1548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EXERCISE </a:t>
              </a:r>
              <a:r>
                <a:rPr lang="da-DK" b="1"/>
                <a:t>0</a:t>
              </a:r>
              <a:endParaRPr b="1"/>
            </a:p>
          </p:txBody>
        </p:sp>
        <p:sp>
          <p:nvSpPr>
            <p:cNvPr id="948" name="FUNDAMENTALS">
              <a:extLst>
                <a:ext uri="{FF2B5EF4-FFF2-40B4-BE49-F238E27FC236}">
                  <a16:creationId xmlns:a16="http://schemas.microsoft.com/office/drawing/2014/main" id="{60CFDC8D-4FB8-0A8E-D9DF-62D3DE702E93}"/>
                </a:ext>
              </a:extLst>
            </p:cNvPr>
            <p:cNvSpPr txBox="1"/>
            <p:nvPr/>
          </p:nvSpPr>
          <p:spPr>
            <a:xfrm>
              <a:off x="1627311" y="-101600"/>
              <a:ext cx="3636519" cy="3757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FUNDAMENTALS</a:t>
              </a:r>
            </a:p>
          </p:txBody>
        </p:sp>
        <p:sp>
          <p:nvSpPr>
            <p:cNvPr id="949" name="Line">
              <a:extLst>
                <a:ext uri="{FF2B5EF4-FFF2-40B4-BE49-F238E27FC236}">
                  <a16:creationId xmlns:a16="http://schemas.microsoft.com/office/drawing/2014/main" id="{97AEB1FD-9933-FEFB-8007-95BAB5DAF35C}"/>
                </a:ext>
              </a:extLst>
            </p:cNvPr>
            <p:cNvSpPr/>
            <p:nvPr/>
          </p:nvSpPr>
          <p:spPr>
            <a:xfrm>
              <a:off x="847293" y="124304"/>
              <a:ext cx="95822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958" name="Group">
            <a:extLst>
              <a:ext uri="{FF2B5EF4-FFF2-40B4-BE49-F238E27FC236}">
                <a16:creationId xmlns:a16="http://schemas.microsoft.com/office/drawing/2014/main" id="{8D255E32-DD35-81F3-1339-9CF5F3B0D9A2}"/>
              </a:ext>
            </a:extLst>
          </p:cNvPr>
          <p:cNvGrpSpPr/>
          <p:nvPr/>
        </p:nvGrpSpPr>
        <p:grpSpPr>
          <a:xfrm>
            <a:off x="9442145" y="1452749"/>
            <a:ext cx="3678441" cy="2333972"/>
            <a:chOff x="0" y="-71442"/>
            <a:chExt cx="3678439" cy="2333971"/>
          </a:xfrm>
        </p:grpSpPr>
        <p:sp>
          <p:nvSpPr>
            <p:cNvPr id="951" name="R project &amp; R Script…">
              <a:extLst>
                <a:ext uri="{FF2B5EF4-FFF2-40B4-BE49-F238E27FC236}">
                  <a16:creationId xmlns:a16="http://schemas.microsoft.com/office/drawing/2014/main" id="{B27DDBD9-EECD-DBBC-0D48-DE87DF37BAFC}"/>
                </a:ext>
              </a:extLst>
            </p:cNvPr>
            <p:cNvSpPr txBox="1"/>
            <p:nvPr/>
          </p:nvSpPr>
          <p:spPr>
            <a:xfrm>
              <a:off x="312135" y="-71442"/>
              <a:ext cx="3366304" cy="2333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R project &amp; R Script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Read &amp; Write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Basic calculus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R help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Save &amp; Shutdown</a:t>
              </a:r>
            </a:p>
          </p:txBody>
        </p:sp>
        <p:sp>
          <p:nvSpPr>
            <p:cNvPr id="952" name="Oval 23">
              <a:extLst>
                <a:ext uri="{FF2B5EF4-FFF2-40B4-BE49-F238E27FC236}">
                  <a16:creationId xmlns:a16="http://schemas.microsoft.com/office/drawing/2014/main" id="{95BFBF88-B143-22CA-E454-C2DB4E7C6824}"/>
                </a:ext>
              </a:extLst>
            </p:cNvPr>
            <p:cNvSpPr/>
            <p:nvPr/>
          </p:nvSpPr>
          <p:spPr>
            <a:xfrm>
              <a:off x="0" y="149924"/>
              <a:ext cx="155496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53" name="Oval 23">
              <a:extLst>
                <a:ext uri="{FF2B5EF4-FFF2-40B4-BE49-F238E27FC236}">
                  <a16:creationId xmlns:a16="http://schemas.microsoft.com/office/drawing/2014/main" id="{201E0F61-3483-21CE-56F1-CEDAE5CFC83A}"/>
                </a:ext>
              </a:extLst>
            </p:cNvPr>
            <p:cNvSpPr/>
            <p:nvPr/>
          </p:nvSpPr>
          <p:spPr>
            <a:xfrm>
              <a:off x="0" y="598658"/>
              <a:ext cx="155497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54" name="Oval 23">
              <a:extLst>
                <a:ext uri="{FF2B5EF4-FFF2-40B4-BE49-F238E27FC236}">
                  <a16:creationId xmlns:a16="http://schemas.microsoft.com/office/drawing/2014/main" id="{B09ADF22-6A2E-4B87-FBC7-50CE431807AD}"/>
                </a:ext>
              </a:extLst>
            </p:cNvPr>
            <p:cNvSpPr/>
            <p:nvPr/>
          </p:nvSpPr>
          <p:spPr>
            <a:xfrm>
              <a:off x="0" y="1047391"/>
              <a:ext cx="155497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55" name="Oval 23">
              <a:extLst>
                <a:ext uri="{FF2B5EF4-FFF2-40B4-BE49-F238E27FC236}">
                  <a16:creationId xmlns:a16="http://schemas.microsoft.com/office/drawing/2014/main" id="{39BB52F2-4EFE-DE44-8054-189F56A34515}"/>
                </a:ext>
              </a:extLst>
            </p:cNvPr>
            <p:cNvSpPr/>
            <p:nvPr/>
          </p:nvSpPr>
          <p:spPr>
            <a:xfrm>
              <a:off x="0" y="1496124"/>
              <a:ext cx="155497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56" name="Oval 23">
              <a:extLst>
                <a:ext uri="{FF2B5EF4-FFF2-40B4-BE49-F238E27FC236}">
                  <a16:creationId xmlns:a16="http://schemas.microsoft.com/office/drawing/2014/main" id="{3E44B068-8A68-4807-2A8D-A19ABD6FD80A}"/>
                </a:ext>
              </a:extLst>
            </p:cNvPr>
            <p:cNvSpPr/>
            <p:nvPr/>
          </p:nvSpPr>
          <p:spPr>
            <a:xfrm>
              <a:off x="0" y="1944858"/>
              <a:ext cx="155497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  <p:grpSp>
        <p:nvGrpSpPr>
          <p:cNvPr id="994" name="Group">
            <a:extLst>
              <a:ext uri="{FF2B5EF4-FFF2-40B4-BE49-F238E27FC236}">
                <a16:creationId xmlns:a16="http://schemas.microsoft.com/office/drawing/2014/main" id="{2EEBCFE1-7346-9E7F-6231-27B71352C144}"/>
              </a:ext>
            </a:extLst>
          </p:cNvPr>
          <p:cNvGrpSpPr/>
          <p:nvPr/>
        </p:nvGrpSpPr>
        <p:grpSpPr>
          <a:xfrm>
            <a:off x="3894441" y="3975814"/>
            <a:ext cx="10553179" cy="6806657"/>
            <a:chOff x="0" y="737421"/>
            <a:chExt cx="10553175" cy="6806655"/>
          </a:xfrm>
        </p:grpSpPr>
        <p:sp>
          <p:nvSpPr>
            <p:cNvPr id="959" name="Line 18">
              <a:extLst>
                <a:ext uri="{FF2B5EF4-FFF2-40B4-BE49-F238E27FC236}">
                  <a16:creationId xmlns:a16="http://schemas.microsoft.com/office/drawing/2014/main" id="{837178EE-E0B3-00E5-24F2-0AC761A89AAB}"/>
                </a:ext>
              </a:extLst>
            </p:cNvPr>
            <p:cNvSpPr/>
            <p:nvPr/>
          </p:nvSpPr>
          <p:spPr>
            <a:xfrm>
              <a:off x="576575" y="3773856"/>
              <a:ext cx="3743717" cy="1"/>
            </a:xfrm>
            <a:prstGeom prst="lin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0" name="Oval 9">
              <a:extLst>
                <a:ext uri="{FF2B5EF4-FFF2-40B4-BE49-F238E27FC236}">
                  <a16:creationId xmlns:a16="http://schemas.microsoft.com/office/drawing/2014/main" id="{E64EC36E-C775-3428-02FC-8523CBB00843}"/>
                </a:ext>
              </a:extLst>
            </p:cNvPr>
            <p:cNvSpPr/>
            <p:nvPr/>
          </p:nvSpPr>
          <p:spPr>
            <a:xfrm>
              <a:off x="4552661" y="3109328"/>
              <a:ext cx="1331012" cy="1331012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1" name="Oval 14">
              <a:extLst>
                <a:ext uri="{FF2B5EF4-FFF2-40B4-BE49-F238E27FC236}">
                  <a16:creationId xmlns:a16="http://schemas.microsoft.com/office/drawing/2014/main" id="{05B790BF-6B80-D268-CCDC-F547CE321039}"/>
                </a:ext>
              </a:extLst>
            </p:cNvPr>
            <p:cNvSpPr/>
            <p:nvPr/>
          </p:nvSpPr>
          <p:spPr>
            <a:xfrm>
              <a:off x="4384575" y="2939286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2" name="Oval 27">
              <a:extLst>
                <a:ext uri="{FF2B5EF4-FFF2-40B4-BE49-F238E27FC236}">
                  <a16:creationId xmlns:a16="http://schemas.microsoft.com/office/drawing/2014/main" id="{6DF4161F-7576-B2A4-7A3F-C755B2B9FAEE}"/>
                </a:ext>
              </a:extLst>
            </p:cNvPr>
            <p:cNvSpPr/>
            <p:nvPr/>
          </p:nvSpPr>
          <p:spPr>
            <a:xfrm>
              <a:off x="408488" y="3695676"/>
              <a:ext cx="158316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3" name="Oval 28">
              <a:extLst>
                <a:ext uri="{FF2B5EF4-FFF2-40B4-BE49-F238E27FC236}">
                  <a16:creationId xmlns:a16="http://schemas.microsoft.com/office/drawing/2014/main" id="{35A8AABC-85FC-FABC-BDEE-D4CB82A32E98}"/>
                </a:ext>
              </a:extLst>
            </p:cNvPr>
            <p:cNvSpPr/>
            <p:nvPr/>
          </p:nvSpPr>
          <p:spPr>
            <a:xfrm>
              <a:off x="1862970" y="3688589"/>
              <a:ext cx="160270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4" name="Oval 29">
              <a:extLst>
                <a:ext uri="{FF2B5EF4-FFF2-40B4-BE49-F238E27FC236}">
                  <a16:creationId xmlns:a16="http://schemas.microsoft.com/office/drawing/2014/main" id="{83C1D795-81F7-A675-3FBA-42CD21293FCE}"/>
                </a:ext>
              </a:extLst>
            </p:cNvPr>
            <p:cNvSpPr/>
            <p:nvPr/>
          </p:nvSpPr>
          <p:spPr>
            <a:xfrm>
              <a:off x="4304440" y="3695676"/>
              <a:ext cx="158316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5" name="Oval 10">
              <a:extLst>
                <a:ext uri="{FF2B5EF4-FFF2-40B4-BE49-F238E27FC236}">
                  <a16:creationId xmlns:a16="http://schemas.microsoft.com/office/drawing/2014/main" id="{27E596CA-67F1-DF87-8531-8323C529B0A8}"/>
                </a:ext>
              </a:extLst>
            </p:cNvPr>
            <p:cNvSpPr/>
            <p:nvPr/>
          </p:nvSpPr>
          <p:spPr>
            <a:xfrm>
              <a:off x="4432794" y="6039115"/>
              <a:ext cx="1331012" cy="1336875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6" name="Oval 15">
              <a:extLst>
                <a:ext uri="{FF2B5EF4-FFF2-40B4-BE49-F238E27FC236}">
                  <a16:creationId xmlns:a16="http://schemas.microsoft.com/office/drawing/2014/main" id="{C246262C-B92A-412C-41F9-4F7C6DB7EB9E}"/>
                </a:ext>
              </a:extLst>
            </p:cNvPr>
            <p:cNvSpPr/>
            <p:nvPr/>
          </p:nvSpPr>
          <p:spPr>
            <a:xfrm>
              <a:off x="4264707" y="5871028"/>
              <a:ext cx="1667185" cy="1673048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7" name="Freeform 20">
              <a:extLst>
                <a:ext uri="{FF2B5EF4-FFF2-40B4-BE49-F238E27FC236}">
                  <a16:creationId xmlns:a16="http://schemas.microsoft.com/office/drawing/2014/main" id="{D3914124-7BD2-4957-B282-29FB89DC9C5F}"/>
                </a:ext>
              </a:extLst>
            </p:cNvPr>
            <p:cNvSpPr/>
            <p:nvPr/>
          </p:nvSpPr>
          <p:spPr>
            <a:xfrm>
              <a:off x="914703" y="4829283"/>
              <a:ext cx="3350005" cy="1876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944" y="0"/>
                  </a:lnTo>
                  <a:lnTo>
                    <a:pt x="18752" y="21600"/>
                  </a:lnTo>
                  <a:lnTo>
                    <a:pt x="2160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8" name="Oval 33">
              <a:extLst>
                <a:ext uri="{FF2B5EF4-FFF2-40B4-BE49-F238E27FC236}">
                  <a16:creationId xmlns:a16="http://schemas.microsoft.com/office/drawing/2014/main" id="{3A2B35FC-CB49-2376-D4A4-D7138C272679}"/>
                </a:ext>
              </a:extLst>
            </p:cNvPr>
            <p:cNvSpPr/>
            <p:nvPr/>
          </p:nvSpPr>
          <p:spPr>
            <a:xfrm>
              <a:off x="744661" y="4749148"/>
              <a:ext cx="160271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69" name="Oval 34">
              <a:extLst>
                <a:ext uri="{FF2B5EF4-FFF2-40B4-BE49-F238E27FC236}">
                  <a16:creationId xmlns:a16="http://schemas.microsoft.com/office/drawing/2014/main" id="{EEF562EB-EE6C-CDC4-8604-7B837038EF16}"/>
                </a:ext>
              </a:extLst>
            </p:cNvPr>
            <p:cNvSpPr/>
            <p:nvPr/>
          </p:nvSpPr>
          <p:spPr>
            <a:xfrm>
              <a:off x="3031420" y="5898391"/>
              <a:ext cx="160271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0" name="Oval 35">
              <a:extLst>
                <a:ext uri="{FF2B5EF4-FFF2-40B4-BE49-F238E27FC236}">
                  <a16:creationId xmlns:a16="http://schemas.microsoft.com/office/drawing/2014/main" id="{181EB516-EEE7-2208-4823-2E35C712E144}"/>
                </a:ext>
              </a:extLst>
            </p:cNvPr>
            <p:cNvSpPr/>
            <p:nvPr/>
          </p:nvSpPr>
          <p:spPr>
            <a:xfrm>
              <a:off x="4184571" y="6625463"/>
              <a:ext cx="158316" cy="164178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1" name="Oval 8">
              <a:extLst>
                <a:ext uri="{FF2B5EF4-FFF2-40B4-BE49-F238E27FC236}">
                  <a16:creationId xmlns:a16="http://schemas.microsoft.com/office/drawing/2014/main" id="{559044BE-0089-7EBA-4261-D65C6D0F30E6}"/>
                </a:ext>
              </a:extLst>
            </p:cNvPr>
            <p:cNvSpPr/>
            <p:nvPr/>
          </p:nvSpPr>
          <p:spPr>
            <a:xfrm>
              <a:off x="6686325" y="4735468"/>
              <a:ext cx="1331013" cy="1332968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2" name="Oval 13">
              <a:extLst>
                <a:ext uri="{FF2B5EF4-FFF2-40B4-BE49-F238E27FC236}">
                  <a16:creationId xmlns:a16="http://schemas.microsoft.com/office/drawing/2014/main" id="{385A9497-1B21-A1EB-83CA-9CBDDDAE670D}"/>
                </a:ext>
              </a:extLst>
            </p:cNvPr>
            <p:cNvSpPr/>
            <p:nvPr/>
          </p:nvSpPr>
          <p:spPr>
            <a:xfrm>
              <a:off x="6518240" y="4567381"/>
              <a:ext cx="1667185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3" name="Freeform 19">
              <a:extLst>
                <a:ext uri="{FF2B5EF4-FFF2-40B4-BE49-F238E27FC236}">
                  <a16:creationId xmlns:a16="http://schemas.microsoft.com/office/drawing/2014/main" id="{8AC3B596-2F67-555F-8627-376C63121A59}"/>
                </a:ext>
              </a:extLst>
            </p:cNvPr>
            <p:cNvSpPr/>
            <p:nvPr/>
          </p:nvSpPr>
          <p:spPr>
            <a:xfrm>
              <a:off x="238448" y="4305479"/>
              <a:ext cx="6279794" cy="1096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1173" y="0"/>
                  </a:lnTo>
                  <a:lnTo>
                    <a:pt x="15650" y="21600"/>
                  </a:lnTo>
                  <a:lnTo>
                    <a:pt x="2160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4" name="Oval 30">
              <a:extLst>
                <a:ext uri="{FF2B5EF4-FFF2-40B4-BE49-F238E27FC236}">
                  <a16:creationId xmlns:a16="http://schemas.microsoft.com/office/drawing/2014/main" id="{373D07FF-DD7D-E51C-759E-DDF095FC1CE9}"/>
                </a:ext>
              </a:extLst>
            </p:cNvPr>
            <p:cNvSpPr/>
            <p:nvPr/>
          </p:nvSpPr>
          <p:spPr>
            <a:xfrm>
              <a:off x="70361" y="4219481"/>
              <a:ext cx="160271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5" name="Oval 31">
              <a:extLst>
                <a:ext uri="{FF2B5EF4-FFF2-40B4-BE49-F238E27FC236}">
                  <a16:creationId xmlns:a16="http://schemas.microsoft.com/office/drawing/2014/main" id="{C0DC997A-420A-01B7-B720-B2ED459CBF87}"/>
                </a:ext>
              </a:extLst>
            </p:cNvPr>
            <p:cNvSpPr/>
            <p:nvPr/>
          </p:nvSpPr>
          <p:spPr>
            <a:xfrm>
              <a:off x="3410275" y="4225345"/>
              <a:ext cx="160270" cy="164178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6" name="Oval 32">
              <a:extLst>
                <a:ext uri="{FF2B5EF4-FFF2-40B4-BE49-F238E27FC236}">
                  <a16:creationId xmlns:a16="http://schemas.microsoft.com/office/drawing/2014/main" id="{095401D4-7CB5-6163-7E11-FA787721F6B7}"/>
                </a:ext>
              </a:extLst>
            </p:cNvPr>
            <p:cNvSpPr/>
            <p:nvPr/>
          </p:nvSpPr>
          <p:spPr>
            <a:xfrm>
              <a:off x="6432242" y="5321816"/>
              <a:ext cx="164178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7" name="Freeform 17">
              <a:extLst>
                <a:ext uri="{FF2B5EF4-FFF2-40B4-BE49-F238E27FC236}">
                  <a16:creationId xmlns:a16="http://schemas.microsoft.com/office/drawing/2014/main" id="{126629A3-F2E1-2D49-DE01-60864AA78978}"/>
                </a:ext>
              </a:extLst>
            </p:cNvPr>
            <p:cNvSpPr/>
            <p:nvPr/>
          </p:nvSpPr>
          <p:spPr>
            <a:xfrm>
              <a:off x="168086" y="2596322"/>
              <a:ext cx="6015937" cy="6537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9453" y="0"/>
                  </a:lnTo>
                  <a:lnTo>
                    <a:pt x="7234" y="21600"/>
                  </a:lnTo>
                  <a:lnTo>
                    <a:pt x="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8" name="Oval 7">
              <a:extLst>
                <a:ext uri="{FF2B5EF4-FFF2-40B4-BE49-F238E27FC236}">
                  <a16:creationId xmlns:a16="http://schemas.microsoft.com/office/drawing/2014/main" id="{1886039E-977A-574E-481D-3938406758E0}"/>
                </a:ext>
              </a:extLst>
            </p:cNvPr>
            <p:cNvSpPr/>
            <p:nvPr/>
          </p:nvSpPr>
          <p:spPr>
            <a:xfrm>
              <a:off x="6370139" y="1926674"/>
              <a:ext cx="1331012" cy="1331012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79" name="Oval 12">
              <a:extLst>
                <a:ext uri="{FF2B5EF4-FFF2-40B4-BE49-F238E27FC236}">
                  <a16:creationId xmlns:a16="http://schemas.microsoft.com/office/drawing/2014/main" id="{9A504CB3-A2C5-5828-3DD7-9CEB906CCF54}"/>
                </a:ext>
              </a:extLst>
            </p:cNvPr>
            <p:cNvSpPr/>
            <p:nvPr/>
          </p:nvSpPr>
          <p:spPr>
            <a:xfrm>
              <a:off x="6202050" y="1758587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0" name="Oval 24">
              <a:extLst>
                <a:ext uri="{FF2B5EF4-FFF2-40B4-BE49-F238E27FC236}">
                  <a16:creationId xmlns:a16="http://schemas.microsoft.com/office/drawing/2014/main" id="{4D9101C2-444A-E345-A03F-620A83AD3619}"/>
                </a:ext>
              </a:extLst>
            </p:cNvPr>
            <p:cNvSpPr/>
            <p:nvPr/>
          </p:nvSpPr>
          <p:spPr>
            <a:xfrm>
              <a:off x="0" y="3166007"/>
              <a:ext cx="160270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1" name="Oval 25">
              <a:extLst>
                <a:ext uri="{FF2B5EF4-FFF2-40B4-BE49-F238E27FC236}">
                  <a16:creationId xmlns:a16="http://schemas.microsoft.com/office/drawing/2014/main" id="{C055DC29-8962-ED66-65D1-825305EDC15A}"/>
                </a:ext>
              </a:extLst>
            </p:cNvPr>
            <p:cNvSpPr/>
            <p:nvPr/>
          </p:nvSpPr>
          <p:spPr>
            <a:xfrm>
              <a:off x="2740542" y="2517734"/>
              <a:ext cx="160271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2" name="Oval 26">
              <a:extLst>
                <a:ext uri="{FF2B5EF4-FFF2-40B4-BE49-F238E27FC236}">
                  <a16:creationId xmlns:a16="http://schemas.microsoft.com/office/drawing/2014/main" id="{2669896F-8426-25CB-4237-CE21453DAEF2}"/>
                </a:ext>
              </a:extLst>
            </p:cNvPr>
            <p:cNvSpPr/>
            <p:nvPr/>
          </p:nvSpPr>
          <p:spPr>
            <a:xfrm>
              <a:off x="6118008" y="2513022"/>
              <a:ext cx="164178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3" name="Oval 6">
              <a:extLst>
                <a:ext uri="{FF2B5EF4-FFF2-40B4-BE49-F238E27FC236}">
                  <a16:creationId xmlns:a16="http://schemas.microsoft.com/office/drawing/2014/main" id="{36982A03-4ABC-AE9F-F358-7AE7424FC4D1}"/>
                </a:ext>
              </a:extLst>
            </p:cNvPr>
            <p:cNvSpPr/>
            <p:nvPr/>
          </p:nvSpPr>
          <p:spPr>
            <a:xfrm>
              <a:off x="8509183" y="905507"/>
              <a:ext cx="1331013" cy="1332965"/>
            </a:xfrm>
            <a:prstGeom prst="ellipse">
              <a:avLst/>
            </a:pr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4" name="Oval 11">
              <a:extLst>
                <a:ext uri="{FF2B5EF4-FFF2-40B4-BE49-F238E27FC236}">
                  <a16:creationId xmlns:a16="http://schemas.microsoft.com/office/drawing/2014/main" id="{93DCC610-0B3F-A18D-76BD-C7F727BBC204}"/>
                </a:ext>
              </a:extLst>
            </p:cNvPr>
            <p:cNvSpPr/>
            <p:nvPr/>
          </p:nvSpPr>
          <p:spPr>
            <a:xfrm>
              <a:off x="8341098" y="737421"/>
              <a:ext cx="1667186" cy="1669138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5" name="Freeform 16">
              <a:extLst>
                <a:ext uri="{FF2B5EF4-FFF2-40B4-BE49-F238E27FC236}">
                  <a16:creationId xmlns:a16="http://schemas.microsoft.com/office/drawing/2014/main" id="{4E901C86-F789-C3DF-EDB8-1DDFCE70693B}"/>
                </a:ext>
              </a:extLst>
            </p:cNvPr>
            <p:cNvSpPr/>
            <p:nvPr/>
          </p:nvSpPr>
          <p:spPr>
            <a:xfrm>
              <a:off x="1197321" y="1581488"/>
              <a:ext cx="7101925" cy="1300652"/>
            </a:xfrm>
            <a:custGeom>
              <a:avLst/>
              <a:gdLst>
                <a:gd name="csX0" fmla="*/ 21600 w 21600"/>
                <a:gd name="csY0" fmla="*/ 0 h 24077"/>
                <a:gd name="csX1" fmla="*/ 11178 w 21600"/>
                <a:gd name="csY1" fmla="*/ 0 h 24077"/>
                <a:gd name="csX2" fmla="*/ 3186 w 21600"/>
                <a:gd name="csY2" fmla="*/ 24077 h 24077"/>
                <a:gd name="csX3" fmla="*/ 0 w 21600"/>
                <a:gd name="csY3" fmla="*/ 21600 h 24077"/>
                <a:gd name="csX0" fmla="*/ 21239 w 21239"/>
                <a:gd name="csY0" fmla="*/ 0 h 24077"/>
                <a:gd name="csX1" fmla="*/ 10817 w 21239"/>
                <a:gd name="csY1" fmla="*/ 0 h 24077"/>
                <a:gd name="csX2" fmla="*/ 2825 w 21239"/>
                <a:gd name="csY2" fmla="*/ 24077 h 24077"/>
                <a:gd name="csX3" fmla="*/ 0 w 21239"/>
                <a:gd name="csY3" fmla="*/ 24077 h 24077"/>
                <a:gd name="csX0" fmla="*/ 21239 w 21239"/>
                <a:gd name="csY0" fmla="*/ 0 h 24077"/>
                <a:gd name="csX1" fmla="*/ 10817 w 21239"/>
                <a:gd name="csY1" fmla="*/ 0 h 24077"/>
                <a:gd name="csX2" fmla="*/ 3038 w 21239"/>
                <a:gd name="csY2" fmla="*/ 14973 h 24077"/>
                <a:gd name="csX3" fmla="*/ 0 w 21239"/>
                <a:gd name="csY3" fmla="*/ 24077 h 24077"/>
                <a:gd name="csX0" fmla="*/ 20422 w 20422"/>
                <a:gd name="csY0" fmla="*/ 0 h 15400"/>
                <a:gd name="csX1" fmla="*/ 10000 w 20422"/>
                <a:gd name="csY1" fmla="*/ 0 h 15400"/>
                <a:gd name="csX2" fmla="*/ 2221 w 20422"/>
                <a:gd name="csY2" fmla="*/ 14973 h 15400"/>
                <a:gd name="csX3" fmla="*/ 0 w 20422"/>
                <a:gd name="csY3" fmla="*/ 15400 h 15400"/>
                <a:gd name="csX0" fmla="*/ 20422 w 20422"/>
                <a:gd name="csY0" fmla="*/ 0 h 15400"/>
                <a:gd name="csX1" fmla="*/ 6589 w 20422"/>
                <a:gd name="csY1" fmla="*/ 285 h 15400"/>
                <a:gd name="csX2" fmla="*/ 2221 w 20422"/>
                <a:gd name="csY2" fmla="*/ 14973 h 15400"/>
                <a:gd name="csX3" fmla="*/ 0 w 20422"/>
                <a:gd name="csY3" fmla="*/ 15400 h 15400"/>
                <a:gd name="csX0" fmla="*/ 20422 w 20422"/>
                <a:gd name="csY0" fmla="*/ 0 h 14973"/>
                <a:gd name="csX1" fmla="*/ 6589 w 20422"/>
                <a:gd name="csY1" fmla="*/ 285 h 14973"/>
                <a:gd name="csX2" fmla="*/ 2221 w 20422"/>
                <a:gd name="csY2" fmla="*/ 14973 h 14973"/>
                <a:gd name="csX3" fmla="*/ 0 w 20422"/>
                <a:gd name="csY3" fmla="*/ 14973 h 14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22" h="14973" extrusionOk="0">
                  <a:moveTo>
                    <a:pt x="20422" y="0"/>
                  </a:moveTo>
                  <a:lnTo>
                    <a:pt x="6589" y="285"/>
                  </a:lnTo>
                  <a:lnTo>
                    <a:pt x="2221" y="14973"/>
                  </a:lnTo>
                  <a:lnTo>
                    <a:pt x="0" y="14973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6" name="Freeform 21">
              <a:extLst>
                <a:ext uri="{FF2B5EF4-FFF2-40B4-BE49-F238E27FC236}">
                  <a16:creationId xmlns:a16="http://schemas.microsoft.com/office/drawing/2014/main" id="{0002CC90-B45D-FF7D-9C0A-8B91F660D238}"/>
                </a:ext>
              </a:extLst>
            </p:cNvPr>
            <p:cNvSpPr/>
            <p:nvPr/>
          </p:nvSpPr>
          <p:spPr>
            <a:xfrm>
              <a:off x="615724" y="2641660"/>
              <a:ext cx="160151" cy="157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29" h="18125" extrusionOk="0">
                  <a:moveTo>
                    <a:pt x="11906" y="17702"/>
                  </a:moveTo>
                  <a:cubicBezTo>
                    <a:pt x="4706" y="19862"/>
                    <a:pt x="-1386" y="13382"/>
                    <a:pt x="276" y="6362"/>
                  </a:cubicBezTo>
                  <a:cubicBezTo>
                    <a:pt x="1383" y="3662"/>
                    <a:pt x="3599" y="962"/>
                    <a:pt x="6922" y="422"/>
                  </a:cubicBezTo>
                  <a:cubicBezTo>
                    <a:pt x="14122" y="-1738"/>
                    <a:pt x="20214" y="4742"/>
                    <a:pt x="18552" y="11762"/>
                  </a:cubicBezTo>
                  <a:cubicBezTo>
                    <a:pt x="17445" y="14462"/>
                    <a:pt x="15229" y="17162"/>
                    <a:pt x="11906" y="17702"/>
                  </a:cubicBezTo>
                  <a:close/>
                </a:path>
              </a:pathLst>
            </a:cu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7" name="Freeform 22">
              <a:extLst>
                <a:ext uri="{FF2B5EF4-FFF2-40B4-BE49-F238E27FC236}">
                  <a16:creationId xmlns:a16="http://schemas.microsoft.com/office/drawing/2014/main" id="{8568ED6E-BCD3-F984-B8C7-1699708CA2F0}"/>
                </a:ext>
              </a:extLst>
            </p:cNvPr>
            <p:cNvSpPr/>
            <p:nvPr/>
          </p:nvSpPr>
          <p:spPr>
            <a:xfrm>
              <a:off x="8248474" y="1550582"/>
              <a:ext cx="157444" cy="160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25" h="18511" extrusionOk="0">
                  <a:moveTo>
                    <a:pt x="11762" y="18242"/>
                  </a:moveTo>
                  <a:cubicBezTo>
                    <a:pt x="4742" y="19862"/>
                    <a:pt x="-1738" y="13922"/>
                    <a:pt x="422" y="6902"/>
                  </a:cubicBezTo>
                  <a:cubicBezTo>
                    <a:pt x="962" y="3662"/>
                    <a:pt x="3662" y="962"/>
                    <a:pt x="6362" y="422"/>
                  </a:cubicBezTo>
                  <a:cubicBezTo>
                    <a:pt x="13382" y="-1738"/>
                    <a:pt x="19862" y="4742"/>
                    <a:pt x="17702" y="11762"/>
                  </a:cubicBezTo>
                  <a:cubicBezTo>
                    <a:pt x="17162" y="15002"/>
                    <a:pt x="14462" y="17162"/>
                    <a:pt x="11762" y="18242"/>
                  </a:cubicBezTo>
                  <a:close/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88" name="1">
              <a:extLst>
                <a:ext uri="{FF2B5EF4-FFF2-40B4-BE49-F238E27FC236}">
                  <a16:creationId xmlns:a16="http://schemas.microsoft.com/office/drawing/2014/main" id="{EE8BAC77-A0BA-3084-EBA6-1317DC2D6F3D}"/>
                </a:ext>
              </a:extLst>
            </p:cNvPr>
            <p:cNvSpPr txBox="1"/>
            <p:nvPr/>
          </p:nvSpPr>
          <p:spPr>
            <a:xfrm>
              <a:off x="8885989" y="1044629"/>
              <a:ext cx="1667186" cy="1265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989" name="2">
              <a:extLst>
                <a:ext uri="{FF2B5EF4-FFF2-40B4-BE49-F238E27FC236}">
                  <a16:creationId xmlns:a16="http://schemas.microsoft.com/office/drawing/2014/main" id="{EF696829-7475-A163-FC4E-6258A63F2343}"/>
                </a:ext>
              </a:extLst>
            </p:cNvPr>
            <p:cNvSpPr txBox="1"/>
            <p:nvPr/>
          </p:nvSpPr>
          <p:spPr>
            <a:xfrm>
              <a:off x="6741495" y="2038706"/>
              <a:ext cx="567761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990" name="3">
              <a:extLst>
                <a:ext uri="{FF2B5EF4-FFF2-40B4-BE49-F238E27FC236}">
                  <a16:creationId xmlns:a16="http://schemas.microsoft.com/office/drawing/2014/main" id="{5C00B387-8BAF-E9A1-F204-6BDC9966E12D}"/>
                </a:ext>
              </a:extLst>
            </p:cNvPr>
            <p:cNvSpPr txBox="1"/>
            <p:nvPr/>
          </p:nvSpPr>
          <p:spPr>
            <a:xfrm>
              <a:off x="4934286" y="3224012"/>
              <a:ext cx="567762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991" name="4">
              <a:extLst>
                <a:ext uri="{FF2B5EF4-FFF2-40B4-BE49-F238E27FC236}">
                  <a16:creationId xmlns:a16="http://schemas.microsoft.com/office/drawing/2014/main" id="{22F02C5B-2DB6-4BC5-546F-A2E5DD67C5FA}"/>
                </a:ext>
              </a:extLst>
            </p:cNvPr>
            <p:cNvSpPr txBox="1"/>
            <p:nvPr/>
          </p:nvSpPr>
          <p:spPr>
            <a:xfrm>
              <a:off x="7084768" y="4885443"/>
              <a:ext cx="567761" cy="13310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992" name="5">
              <a:extLst>
                <a:ext uri="{FF2B5EF4-FFF2-40B4-BE49-F238E27FC236}">
                  <a16:creationId xmlns:a16="http://schemas.microsoft.com/office/drawing/2014/main" id="{C7421C1D-1465-C83D-DA1D-471C68249065}"/>
                </a:ext>
              </a:extLst>
            </p:cNvPr>
            <p:cNvSpPr txBox="1"/>
            <p:nvPr/>
          </p:nvSpPr>
          <p:spPr>
            <a:xfrm>
              <a:off x="4839511" y="6195063"/>
              <a:ext cx="567761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993" name="Oval 23">
              <a:extLst>
                <a:ext uri="{FF2B5EF4-FFF2-40B4-BE49-F238E27FC236}">
                  <a16:creationId xmlns:a16="http://schemas.microsoft.com/office/drawing/2014/main" id="{C0A851B0-B9E8-93E7-2569-2F6B107B79DF}"/>
                </a:ext>
              </a:extLst>
            </p:cNvPr>
            <p:cNvSpPr/>
            <p:nvPr/>
          </p:nvSpPr>
          <p:spPr>
            <a:xfrm>
              <a:off x="3381229" y="1517254"/>
              <a:ext cx="160270" cy="160269"/>
            </a:xfrm>
            <a:prstGeom prst="ellipse">
              <a:avLst/>
            </a:pr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  <p:grpSp>
        <p:nvGrpSpPr>
          <p:cNvPr id="1004" name="Group">
            <a:extLst>
              <a:ext uri="{FF2B5EF4-FFF2-40B4-BE49-F238E27FC236}">
                <a16:creationId xmlns:a16="http://schemas.microsoft.com/office/drawing/2014/main" id="{B5851023-14E2-4260-365C-A89B49A39D10}"/>
              </a:ext>
            </a:extLst>
          </p:cNvPr>
          <p:cNvGrpSpPr/>
          <p:nvPr/>
        </p:nvGrpSpPr>
        <p:grpSpPr>
          <a:xfrm>
            <a:off x="1193626" y="5716885"/>
            <a:ext cx="4393055" cy="2587093"/>
            <a:chOff x="0" y="0"/>
            <a:chExt cx="4393053" cy="2587091"/>
          </a:xfrm>
        </p:grpSpPr>
        <p:sp>
          <p:nvSpPr>
            <p:cNvPr id="995" name="Freeform 395">
              <a:extLst>
                <a:ext uri="{FF2B5EF4-FFF2-40B4-BE49-F238E27FC236}">
                  <a16:creationId xmlns:a16="http://schemas.microsoft.com/office/drawing/2014/main" id="{6EF91C03-217A-807E-45E4-61E5C2F0E86A}"/>
                </a:ext>
              </a:extLst>
            </p:cNvPr>
            <p:cNvSpPr/>
            <p:nvPr/>
          </p:nvSpPr>
          <p:spPr>
            <a:xfrm>
              <a:off x="402774" y="0"/>
              <a:ext cx="3585943" cy="2510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84" y="21600"/>
                  </a:moveTo>
                  <a:cubicBezTo>
                    <a:pt x="316" y="21600"/>
                    <a:pt x="316" y="21600"/>
                    <a:pt x="316" y="21600"/>
                  </a:cubicBezTo>
                  <a:cubicBezTo>
                    <a:pt x="158" y="21600"/>
                    <a:pt x="0" y="21402"/>
                    <a:pt x="0" y="21137"/>
                  </a:cubicBezTo>
                  <a:cubicBezTo>
                    <a:pt x="0" y="1025"/>
                    <a:pt x="0" y="1025"/>
                    <a:pt x="0" y="1025"/>
                  </a:cubicBezTo>
                  <a:cubicBezTo>
                    <a:pt x="0" y="463"/>
                    <a:pt x="316" y="0"/>
                    <a:pt x="699" y="0"/>
                  </a:cubicBezTo>
                  <a:cubicBezTo>
                    <a:pt x="20901" y="0"/>
                    <a:pt x="20901" y="0"/>
                    <a:pt x="20901" y="0"/>
                  </a:cubicBezTo>
                  <a:cubicBezTo>
                    <a:pt x="21284" y="0"/>
                    <a:pt x="21600" y="463"/>
                    <a:pt x="21600" y="1025"/>
                  </a:cubicBezTo>
                  <a:cubicBezTo>
                    <a:pt x="21600" y="21137"/>
                    <a:pt x="21600" y="21137"/>
                    <a:pt x="21600" y="21137"/>
                  </a:cubicBezTo>
                  <a:cubicBezTo>
                    <a:pt x="21600" y="21402"/>
                    <a:pt x="21442" y="21600"/>
                    <a:pt x="21284" y="21600"/>
                  </a:cubicBezTo>
                  <a:close/>
                </a:path>
              </a:pathLst>
            </a:custGeom>
            <a:solidFill>
              <a:srgbClr val="407B9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96" name="Freeform 396">
              <a:extLst>
                <a:ext uri="{FF2B5EF4-FFF2-40B4-BE49-F238E27FC236}">
                  <a16:creationId xmlns:a16="http://schemas.microsoft.com/office/drawing/2014/main" id="{2D38134F-2E2B-2979-9AA8-A6F44D7A8C51}"/>
                </a:ext>
              </a:extLst>
            </p:cNvPr>
            <p:cNvSpPr/>
            <p:nvPr/>
          </p:nvSpPr>
          <p:spPr>
            <a:xfrm>
              <a:off x="402774" y="2402869"/>
              <a:ext cx="3585943" cy="107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10800"/>
                    <a:pt x="0" y="10800"/>
                    <a:pt x="0" y="10800"/>
                  </a:cubicBezTo>
                  <a:cubicBezTo>
                    <a:pt x="0" y="16971"/>
                    <a:pt x="158" y="21600"/>
                    <a:pt x="316" y="21600"/>
                  </a:cubicBezTo>
                  <a:cubicBezTo>
                    <a:pt x="21284" y="21600"/>
                    <a:pt x="21284" y="21600"/>
                    <a:pt x="21284" y="21600"/>
                  </a:cubicBezTo>
                  <a:cubicBezTo>
                    <a:pt x="21442" y="21600"/>
                    <a:pt x="21600" y="16971"/>
                    <a:pt x="21600" y="10800"/>
                  </a:cubicBezTo>
                  <a:cubicBezTo>
                    <a:pt x="21600" y="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87F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97" name="Rectangle 397">
              <a:extLst>
                <a:ext uri="{FF2B5EF4-FFF2-40B4-BE49-F238E27FC236}">
                  <a16:creationId xmlns:a16="http://schemas.microsoft.com/office/drawing/2014/main" id="{BB71F2D5-9A17-381C-8784-2AF919B829AC}"/>
                </a:ext>
              </a:extLst>
            </p:cNvPr>
            <p:cNvSpPr/>
            <p:nvPr/>
          </p:nvSpPr>
          <p:spPr>
            <a:xfrm>
              <a:off x="546399" y="177812"/>
              <a:ext cx="3300254" cy="212413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98" name="Freeform 398">
              <a:extLst>
                <a:ext uri="{FF2B5EF4-FFF2-40B4-BE49-F238E27FC236}">
                  <a16:creationId xmlns:a16="http://schemas.microsoft.com/office/drawing/2014/main" id="{026A45CB-05BB-E2A1-0FB6-23C54AEFAD9E}"/>
                </a:ext>
              </a:extLst>
            </p:cNvPr>
            <p:cNvSpPr/>
            <p:nvPr/>
          </p:nvSpPr>
          <p:spPr>
            <a:xfrm>
              <a:off x="0" y="2521411"/>
              <a:ext cx="4393053" cy="6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0"/>
                    <a:pt x="405" y="21600"/>
                    <a:pt x="2741" y="21600"/>
                  </a:cubicBezTo>
                  <a:cubicBezTo>
                    <a:pt x="5096" y="21600"/>
                    <a:pt x="16504" y="21600"/>
                    <a:pt x="18840" y="21600"/>
                  </a:cubicBezTo>
                  <a:cubicBezTo>
                    <a:pt x="21195" y="2160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880A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999" name="Rectangle 399">
              <a:extLst>
                <a:ext uri="{FF2B5EF4-FFF2-40B4-BE49-F238E27FC236}">
                  <a16:creationId xmlns:a16="http://schemas.microsoft.com/office/drawing/2014/main" id="{25461FEA-88C5-D695-FFF9-FE80CCB35A64}"/>
                </a:ext>
              </a:extLst>
            </p:cNvPr>
            <p:cNvSpPr/>
            <p:nvPr/>
          </p:nvSpPr>
          <p:spPr>
            <a:xfrm>
              <a:off x="0" y="2494178"/>
              <a:ext cx="4393053" cy="27234"/>
            </a:xfrm>
            <a:prstGeom prst="rect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000" name="Oval">
              <a:extLst>
                <a:ext uri="{FF2B5EF4-FFF2-40B4-BE49-F238E27FC236}">
                  <a16:creationId xmlns:a16="http://schemas.microsoft.com/office/drawing/2014/main" id="{D793BD74-C19D-9480-EDD8-CC7D2D5BA7B6}"/>
                </a:ext>
              </a:extLst>
            </p:cNvPr>
            <p:cNvSpPr/>
            <p:nvPr/>
          </p:nvSpPr>
          <p:spPr>
            <a:xfrm>
              <a:off x="1094086" y="812619"/>
              <a:ext cx="785398" cy="780611"/>
            </a:xfrm>
            <a:prstGeom prst="ellipse">
              <a:avLst/>
            </a:prstGeom>
            <a:solidFill>
              <a:srgbClr val="687F9F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01" name="Oval">
              <a:extLst>
                <a:ext uri="{FF2B5EF4-FFF2-40B4-BE49-F238E27FC236}">
                  <a16:creationId xmlns:a16="http://schemas.microsoft.com/office/drawing/2014/main" id="{3FEE6E49-56BA-9F81-BB0A-55600C0948A8}"/>
                </a:ext>
              </a:extLst>
            </p:cNvPr>
            <p:cNvSpPr/>
            <p:nvPr/>
          </p:nvSpPr>
          <p:spPr>
            <a:xfrm>
              <a:off x="1238205" y="848178"/>
              <a:ext cx="497161" cy="292106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02" name="R">
              <a:extLst>
                <a:ext uri="{FF2B5EF4-FFF2-40B4-BE49-F238E27FC236}">
                  <a16:creationId xmlns:a16="http://schemas.microsoft.com/office/drawing/2014/main" id="{AB88766B-5E49-4BAC-D4B3-E3207B90F4CC}"/>
                </a:ext>
              </a:extLst>
            </p:cNvPr>
            <p:cNvSpPr txBox="1"/>
            <p:nvPr/>
          </p:nvSpPr>
          <p:spPr>
            <a:xfrm>
              <a:off x="1278745" y="798106"/>
              <a:ext cx="493840" cy="7464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400">
                  <a:solidFill>
                    <a:srgbClr val="EBEBEB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003" name="Studio">
              <a:extLst>
                <a:ext uri="{FF2B5EF4-FFF2-40B4-BE49-F238E27FC236}">
                  <a16:creationId xmlns:a16="http://schemas.microsoft.com/office/drawing/2014/main" id="{F0FB7FF5-91B5-17B3-0119-AEC2847AB2AD}"/>
                </a:ext>
              </a:extLst>
            </p:cNvPr>
            <p:cNvSpPr txBox="1"/>
            <p:nvPr/>
          </p:nvSpPr>
          <p:spPr>
            <a:xfrm>
              <a:off x="1898247" y="848178"/>
              <a:ext cx="1219284" cy="7319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000">
                  <a:solidFill>
                    <a:srgbClr val="30525E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Studio</a:t>
              </a:r>
            </a:p>
          </p:txBody>
        </p:sp>
      </p:grpSp>
      <p:sp>
        <p:nvSpPr>
          <p:cNvPr id="1006" name="17">
            <a:extLst>
              <a:ext uri="{FF2B5EF4-FFF2-40B4-BE49-F238E27FC236}">
                <a16:creationId xmlns:a16="http://schemas.microsoft.com/office/drawing/2014/main" id="{7D1DE2F6-CE38-8AF9-A733-56ECC511C392}"/>
              </a:ext>
            </a:extLst>
          </p:cNvPr>
          <p:cNvSpPr txBox="1"/>
          <p:nvPr/>
        </p:nvSpPr>
        <p:spPr>
          <a:xfrm>
            <a:off x="374649" y="13090488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6</a:t>
            </a:r>
            <a:endParaRPr/>
          </a:p>
          <a:p>
            <a:pPr lvl="1"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7E0F1A6-9E90-2117-EAF0-B203C0C981C9}"/>
              </a:ext>
            </a:extLst>
          </p:cNvPr>
          <p:cNvSpPr/>
          <p:nvPr/>
        </p:nvSpPr>
        <p:spPr>
          <a:xfrm>
            <a:off x="7307120" y="2237011"/>
            <a:ext cx="1331013" cy="1331012"/>
          </a:xfrm>
          <a:prstGeom prst="ellipse">
            <a:avLst/>
          </a:prstGeom>
          <a:solidFill>
            <a:srgbClr val="407B9D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4" name="Oval 12">
            <a:extLst>
              <a:ext uri="{FF2B5EF4-FFF2-40B4-BE49-F238E27FC236}">
                <a16:creationId xmlns:a16="http://schemas.microsoft.com/office/drawing/2014/main" id="{93E052F4-9FFD-BF44-07E2-23F259CBBF90}"/>
              </a:ext>
            </a:extLst>
          </p:cNvPr>
          <p:cNvSpPr/>
          <p:nvPr/>
        </p:nvSpPr>
        <p:spPr>
          <a:xfrm>
            <a:off x="7139031" y="2068923"/>
            <a:ext cx="1667187" cy="1669141"/>
          </a:xfrm>
          <a:prstGeom prst="ellipse">
            <a:avLst/>
          </a:pr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70AF6C3D-AB50-3F6D-4ACC-C0DB2495E7C9}"/>
              </a:ext>
            </a:extLst>
          </p:cNvPr>
          <p:cNvSpPr txBox="1"/>
          <p:nvPr/>
        </p:nvSpPr>
        <p:spPr>
          <a:xfrm>
            <a:off x="7682423" y="2334537"/>
            <a:ext cx="935300" cy="1265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0</a:t>
            </a:r>
            <a:endParaRPr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33FE810-9D43-D5BC-31D5-DDA4B91D6EA1}"/>
              </a:ext>
            </a:extLst>
          </p:cNvPr>
          <p:cNvSpPr/>
          <p:nvPr/>
        </p:nvSpPr>
        <p:spPr>
          <a:xfrm>
            <a:off x="5179926" y="3403113"/>
            <a:ext cx="2138563" cy="2493034"/>
          </a:xfrm>
          <a:custGeom>
            <a:avLst/>
            <a:gdLst>
              <a:gd name="csX0" fmla="*/ 21600 w 21600"/>
              <a:gd name="csY0" fmla="*/ 0 h 21600"/>
              <a:gd name="csX1" fmla="*/ 10307 w 21600"/>
              <a:gd name="csY1" fmla="*/ 9701 h 21600"/>
              <a:gd name="csX2" fmla="*/ 2722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0307 w 21600"/>
              <a:gd name="csY1" fmla="*/ 9701 h 21600"/>
              <a:gd name="csX2" fmla="*/ 7514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7514 w 21600"/>
              <a:gd name="csY3" fmla="*/ 21600 h 21600"/>
              <a:gd name="csX4" fmla="*/ 0 w 21600"/>
              <a:gd name="csY4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4962 w 21600"/>
              <a:gd name="csY3" fmla="*/ 21600 h 21600"/>
              <a:gd name="csX4" fmla="*/ 0 w 21600"/>
              <a:gd name="csY4" fmla="*/ 21600 h 21600"/>
              <a:gd name="csX0" fmla="*/ 26339 w 26339"/>
              <a:gd name="csY0" fmla="*/ 0 h 22365"/>
              <a:gd name="csX1" fmla="*/ 15756 w 26339"/>
              <a:gd name="csY1" fmla="*/ 6103 h 22365"/>
              <a:gd name="csX2" fmla="*/ 10307 w 26339"/>
              <a:gd name="csY2" fmla="*/ 10466 h 22365"/>
              <a:gd name="csX3" fmla="*/ 4962 w 26339"/>
              <a:gd name="csY3" fmla="*/ 22365 h 22365"/>
              <a:gd name="csX4" fmla="*/ 0 w 26339"/>
              <a:gd name="csY4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5792 w 25792"/>
              <a:gd name="csY0" fmla="*/ 0 h 21982"/>
              <a:gd name="csX1" fmla="*/ 10307 w 25792"/>
              <a:gd name="csY1" fmla="*/ 10083 h 21982"/>
              <a:gd name="csX2" fmla="*/ 4962 w 25792"/>
              <a:gd name="csY2" fmla="*/ 21982 h 21982"/>
              <a:gd name="csX3" fmla="*/ 0 w 25792"/>
              <a:gd name="csY3" fmla="*/ 21982 h 21982"/>
              <a:gd name="csX0" fmla="*/ 24004 w 24004"/>
              <a:gd name="csY0" fmla="*/ 0 h 16063"/>
              <a:gd name="csX1" fmla="*/ 10307 w 24004"/>
              <a:gd name="csY1" fmla="*/ 4164 h 16063"/>
              <a:gd name="csX2" fmla="*/ 4962 w 24004"/>
              <a:gd name="csY2" fmla="*/ 16063 h 16063"/>
              <a:gd name="csX3" fmla="*/ 0 w 24004"/>
              <a:gd name="csY3" fmla="*/ 16063 h 16063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740" h="17730" extrusionOk="0">
                <a:moveTo>
                  <a:pt x="21740" y="0"/>
                </a:moveTo>
                <a:cubicBezTo>
                  <a:pt x="11452" y="5325"/>
                  <a:pt x="20684" y="495"/>
                  <a:pt x="10307" y="5831"/>
                </a:cubicBezTo>
                <a:lnTo>
                  <a:pt x="4962" y="17730"/>
                </a:lnTo>
                <a:lnTo>
                  <a:pt x="0" y="17730"/>
                </a:lnTo>
              </a:path>
            </a:pathLst>
          </a:cu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8" name="Oval 25">
            <a:extLst>
              <a:ext uri="{FF2B5EF4-FFF2-40B4-BE49-F238E27FC236}">
                <a16:creationId xmlns:a16="http://schemas.microsoft.com/office/drawing/2014/main" id="{1A8C2E72-C625-5673-D800-5DFD215BFD2F}"/>
              </a:ext>
            </a:extLst>
          </p:cNvPr>
          <p:cNvSpPr/>
          <p:nvPr/>
        </p:nvSpPr>
        <p:spPr>
          <a:xfrm>
            <a:off x="6121816" y="4157654"/>
            <a:ext cx="160271" cy="158316"/>
          </a:xfrm>
          <a:prstGeom prst="ellipse">
            <a:avLst/>
          </a:prstGeom>
          <a:solidFill>
            <a:srgbClr val="407B9D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9" name="Oval 25">
            <a:extLst>
              <a:ext uri="{FF2B5EF4-FFF2-40B4-BE49-F238E27FC236}">
                <a16:creationId xmlns:a16="http://schemas.microsoft.com/office/drawing/2014/main" id="{6078296C-C5DC-3948-7663-A74D80918101}"/>
              </a:ext>
            </a:extLst>
          </p:cNvPr>
          <p:cNvSpPr/>
          <p:nvPr/>
        </p:nvSpPr>
        <p:spPr>
          <a:xfrm>
            <a:off x="7223781" y="3337044"/>
            <a:ext cx="160271" cy="158316"/>
          </a:xfrm>
          <a:prstGeom prst="ellipse">
            <a:avLst/>
          </a:prstGeom>
          <a:solidFill>
            <a:srgbClr val="407B9D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75505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A630-E50F-19A8-45D6-4EE36F1A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">
            <a:extLst>
              <a:ext uri="{FF2B5EF4-FFF2-40B4-BE49-F238E27FC236}">
                <a16:creationId xmlns:a16="http://schemas.microsoft.com/office/drawing/2014/main" id="{2057A14B-E7E8-F6AC-0C4F-9EBD860E29AD}"/>
              </a:ext>
            </a:extLst>
          </p:cNvPr>
          <p:cNvSpPr/>
          <p:nvPr/>
        </p:nvSpPr>
        <p:spPr>
          <a:xfrm>
            <a:off x="0" y="-27802"/>
            <a:ext cx="24371300" cy="4283279"/>
          </a:xfrm>
          <a:prstGeom prst="rect">
            <a:avLst/>
          </a:prstGeom>
          <a:solidFill>
            <a:srgbClr val="407B9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93" name="Group">
            <a:extLst>
              <a:ext uri="{FF2B5EF4-FFF2-40B4-BE49-F238E27FC236}">
                <a16:creationId xmlns:a16="http://schemas.microsoft.com/office/drawing/2014/main" id="{DF3ED8E5-62A3-5FFE-CC9D-5D096654E84E}"/>
              </a:ext>
            </a:extLst>
          </p:cNvPr>
          <p:cNvGrpSpPr/>
          <p:nvPr/>
        </p:nvGrpSpPr>
        <p:grpSpPr>
          <a:xfrm>
            <a:off x="3325648" y="1250391"/>
            <a:ext cx="17720001" cy="3829811"/>
            <a:chOff x="26512" y="-106260"/>
            <a:chExt cx="17720000" cy="3829809"/>
          </a:xfrm>
        </p:grpSpPr>
        <p:sp>
          <p:nvSpPr>
            <p:cNvPr id="390" name="LET’S GET STARTED">
              <a:extLst>
                <a:ext uri="{FF2B5EF4-FFF2-40B4-BE49-F238E27FC236}">
                  <a16:creationId xmlns:a16="http://schemas.microsoft.com/office/drawing/2014/main" id="{C071B481-F728-FABB-B5EA-6B0295E93043}"/>
                </a:ext>
              </a:extLst>
            </p:cNvPr>
            <p:cNvSpPr txBox="1"/>
            <p:nvPr/>
          </p:nvSpPr>
          <p:spPr>
            <a:xfrm>
              <a:off x="26513" y="664546"/>
              <a:ext cx="17719999" cy="305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8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>
                <a:defRPr sz="9000"/>
              </a:pPr>
              <a:r>
                <a:rPr lang="da-DK"/>
                <a:t>LIVE CODING 0 – INTRO TO R</a:t>
              </a:r>
              <a:endParaRPr/>
            </a:p>
          </p:txBody>
        </p:sp>
        <p:sp>
          <p:nvSpPr>
            <p:cNvPr id="391" name="FROM EXCEL TO R">
              <a:extLst>
                <a:ext uri="{FF2B5EF4-FFF2-40B4-BE49-F238E27FC236}">
                  <a16:creationId xmlns:a16="http://schemas.microsoft.com/office/drawing/2014/main" id="{A40535A2-0460-E5DE-E5F0-B6BBD1BC1A60}"/>
                </a:ext>
              </a:extLst>
            </p:cNvPr>
            <p:cNvSpPr txBox="1"/>
            <p:nvPr/>
          </p:nvSpPr>
          <p:spPr>
            <a:xfrm>
              <a:off x="1831374" y="-106260"/>
              <a:ext cx="7185392" cy="675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392" name="Line">
              <a:extLst>
                <a:ext uri="{FF2B5EF4-FFF2-40B4-BE49-F238E27FC236}">
                  <a16:creationId xmlns:a16="http://schemas.microsoft.com/office/drawing/2014/main" id="{EDBA175F-3C04-4164-0B03-A39884E1B2F9}"/>
                </a:ext>
              </a:extLst>
            </p:cNvPr>
            <p:cNvSpPr/>
            <p:nvPr/>
          </p:nvSpPr>
          <p:spPr>
            <a:xfrm flipV="1">
              <a:off x="26512" y="166022"/>
              <a:ext cx="1440000" cy="0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5" name="Grafik 4" descr="Programmør med massiv udfyldning">
            <a:extLst>
              <a:ext uri="{FF2B5EF4-FFF2-40B4-BE49-F238E27FC236}">
                <a16:creationId xmlns:a16="http://schemas.microsoft.com/office/drawing/2014/main" id="{0E859E06-6350-1595-2DCF-21733714F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8159" y="4542095"/>
            <a:ext cx="8794981" cy="87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436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roup"/>
          <p:cNvGrpSpPr/>
          <p:nvPr/>
        </p:nvGrpSpPr>
        <p:grpSpPr>
          <a:xfrm>
            <a:off x="1398317" y="1523420"/>
            <a:ext cx="12664524" cy="3265800"/>
            <a:chOff x="0" y="0"/>
            <a:chExt cx="12664521" cy="3265799"/>
          </a:xfrm>
        </p:grpSpPr>
        <p:sp>
          <p:nvSpPr>
            <p:cNvPr id="610" name="ONLINE RESOURCES FOR R"/>
            <p:cNvSpPr txBox="1"/>
            <p:nvPr/>
          </p:nvSpPr>
          <p:spPr>
            <a:xfrm>
              <a:off x="0" y="677228"/>
              <a:ext cx="12664521" cy="2588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5000"/>
                <a:t>ONLINE RESOURCES </a:t>
              </a:r>
              <a:r>
                <a:rPr sz="5000">
                  <a:solidFill>
                    <a:srgbClr val="374556"/>
                  </a:solidFill>
                </a:rPr>
                <a:t>FOR</a:t>
              </a:r>
              <a:r>
                <a:rPr sz="5000"/>
                <a:t> </a:t>
              </a:r>
              <a:r>
                <a:rPr sz="5000" b="1"/>
                <a:t>R</a:t>
              </a:r>
            </a:p>
          </p:txBody>
        </p:sp>
        <p:sp>
          <p:nvSpPr>
            <p:cNvPr id="611" name="FROM EXCEL TO R"/>
            <p:cNvSpPr txBox="1"/>
            <p:nvPr/>
          </p:nvSpPr>
          <p:spPr>
            <a:xfrm>
              <a:off x="1802991" y="0"/>
              <a:ext cx="6080379" cy="4105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612" name="Line"/>
            <p:cNvSpPr/>
            <p:nvPr/>
          </p:nvSpPr>
          <p:spPr>
            <a:xfrm>
              <a:off x="104760" y="205070"/>
              <a:ext cx="1440000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614" name="Скругленный прямоугольник 7"/>
          <p:cNvSpPr/>
          <p:nvPr/>
        </p:nvSpPr>
        <p:spPr>
          <a:xfrm>
            <a:off x="1487563" y="4975958"/>
            <a:ext cx="5179300" cy="7216622"/>
          </a:xfrm>
          <a:prstGeom prst="roundRect">
            <a:avLst>
              <a:gd name="adj" fmla="val 3314"/>
            </a:avLst>
          </a:prstGeom>
          <a:solidFill>
            <a:srgbClr val="7893B7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5" name="Скругленный прямоугольник 85"/>
          <p:cNvSpPr/>
          <p:nvPr/>
        </p:nvSpPr>
        <p:spPr>
          <a:xfrm>
            <a:off x="7025248" y="4975958"/>
            <a:ext cx="5179300" cy="7216622"/>
          </a:xfrm>
          <a:prstGeom prst="roundRect">
            <a:avLst>
              <a:gd name="adj" fmla="val 3314"/>
            </a:avLst>
          </a:prstGeom>
          <a:solidFill>
            <a:srgbClr val="407B9E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6" name="Скругленный прямоугольник 86"/>
          <p:cNvSpPr/>
          <p:nvPr/>
        </p:nvSpPr>
        <p:spPr>
          <a:xfrm>
            <a:off x="12562932" y="4975958"/>
            <a:ext cx="5179298" cy="7216622"/>
          </a:xfrm>
          <a:prstGeom prst="roundRect">
            <a:avLst>
              <a:gd name="adj" fmla="val 3314"/>
            </a:avLst>
          </a:prstGeom>
          <a:solidFill>
            <a:srgbClr val="436C6E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7" name="Скругленный прямоугольник 88"/>
          <p:cNvSpPr/>
          <p:nvPr/>
        </p:nvSpPr>
        <p:spPr>
          <a:xfrm>
            <a:off x="18054895" y="4975958"/>
            <a:ext cx="4913750" cy="7216622"/>
          </a:xfrm>
          <a:prstGeom prst="roundRect">
            <a:avLst>
              <a:gd name="adj" fmla="val 3493"/>
            </a:avLst>
          </a:prstGeom>
          <a:solidFill>
            <a:srgbClr val="2D494A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8" name="https://rseek.org/…"/>
          <p:cNvSpPr txBox="1"/>
          <p:nvPr/>
        </p:nvSpPr>
        <p:spPr>
          <a:xfrm>
            <a:off x="1692754" y="7766492"/>
            <a:ext cx="4768918" cy="4272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https://rseek.org/</a:t>
            </a:r>
            <a:r>
              <a:rPr>
                <a:solidFill>
                  <a:schemeClr val="bg1"/>
                </a:solidFill>
              </a:rPr>
              <a:t> 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chemeClr val="bg1"/>
              </a:solidFill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https://rstudio.com/resources/cheatsheets/</a:t>
            </a:r>
            <a:r>
              <a:rPr>
                <a:solidFill>
                  <a:schemeClr val="bg1"/>
                </a:solidFill>
              </a:rPr>
              <a:t> 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chemeClr val="bg1"/>
              </a:solidFill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http://www.cookbook-r.com/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>
              <a:solidFill>
                <a:schemeClr val="bg1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https://www.statmethods.net/r-tutorial/index.html</a:t>
            </a:r>
          </a:p>
          <a:p>
            <a:pPr>
              <a:defRPr sz="28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>
              <a:solidFill>
                <a:schemeClr val="bg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19" name="Line"/>
          <p:cNvSpPr/>
          <p:nvPr/>
        </p:nvSpPr>
        <p:spPr>
          <a:xfrm>
            <a:off x="7755648" y="7099299"/>
            <a:ext cx="3718499" cy="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620" name="https://github.com/trending/r…"/>
          <p:cNvSpPr txBox="1"/>
          <p:nvPr/>
        </p:nvSpPr>
        <p:spPr>
          <a:xfrm>
            <a:off x="18263921" y="7422227"/>
            <a:ext cx="4569279" cy="3011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https://github.com/trending/r</a:t>
            </a:r>
            <a:r>
              <a:rPr>
                <a:solidFill>
                  <a:schemeClr val="bg1"/>
                </a:solidFill>
              </a:rPr>
              <a:t> 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chemeClr val="bg1"/>
              </a:solidFill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https://blog.revolutionanalytics.com/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>
              <a:solidFill>
                <a:schemeClr val="bg1"/>
              </a:solidFill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https://stackoverflow.com/questions/tagged/r</a:t>
            </a:r>
            <a:r>
              <a:rPr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21" name="https://www.r-graph-gallery.com/…"/>
          <p:cNvSpPr txBox="1"/>
          <p:nvPr/>
        </p:nvSpPr>
        <p:spPr>
          <a:xfrm>
            <a:off x="7230439" y="8218741"/>
            <a:ext cx="4768917" cy="259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https://www.r-graph-gallery.com/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>
              <a:solidFill>
                <a:schemeClr val="bg1"/>
              </a:solidFill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http://r-statistics.co/Top50-Ggplot2-Visualizations-MasterList-R-Code.html</a:t>
            </a:r>
            <a:r>
              <a:rPr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622" name="https://www.r-bloggers.com/best-books-to-learn-r-programming/…"/>
          <p:cNvSpPr txBox="1"/>
          <p:nvPr/>
        </p:nvSpPr>
        <p:spPr>
          <a:xfrm>
            <a:off x="12768124" y="7395439"/>
            <a:ext cx="4768917" cy="4242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https://www.r-bloggers.com/best-books-to-learn-r-programming/</a:t>
            </a:r>
            <a:r>
              <a:rPr>
                <a:solidFill>
                  <a:schemeClr val="bg1"/>
                </a:solidFill>
              </a:rPr>
              <a:t> 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chemeClr val="bg1"/>
              </a:solidFill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https://www.datacamp.com/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>
              <a:solidFill>
                <a:schemeClr val="bg1"/>
              </a:solidFill>
              <a:hlinkClick r:id="rId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https://www.codecademy.com/</a:t>
            </a: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u="sng">
              <a:solidFill>
                <a:schemeClr val="bg1"/>
              </a:solidFill>
              <a:hlinkClick r:id="rId1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defRPr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https://www.coursera.org/</a:t>
            </a:r>
            <a:r>
              <a:rPr>
                <a:solidFill>
                  <a:schemeClr val="bg1"/>
                </a:solidFill>
              </a:rPr>
              <a:t> </a:t>
            </a:r>
          </a:p>
          <a:p>
            <a:pPr algn="ctr">
              <a:defRPr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23" name="Line"/>
          <p:cNvSpPr/>
          <p:nvPr/>
        </p:nvSpPr>
        <p:spPr>
          <a:xfrm>
            <a:off x="2344964" y="7082365"/>
            <a:ext cx="3718498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624" name="Line"/>
          <p:cNvSpPr/>
          <p:nvPr/>
        </p:nvSpPr>
        <p:spPr>
          <a:xfrm>
            <a:off x="13293332" y="7082365"/>
            <a:ext cx="371849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625" name="Line"/>
          <p:cNvSpPr/>
          <p:nvPr/>
        </p:nvSpPr>
        <p:spPr>
          <a:xfrm>
            <a:off x="18698241" y="7082365"/>
            <a:ext cx="371849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626" name="GRAPHICS"/>
          <p:cNvSpPr txBox="1"/>
          <p:nvPr/>
        </p:nvSpPr>
        <p:spPr>
          <a:xfrm>
            <a:off x="7230439" y="6301974"/>
            <a:ext cx="4768917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GRAPHICS</a:t>
            </a:r>
          </a:p>
        </p:txBody>
      </p:sp>
      <p:sp>
        <p:nvSpPr>
          <p:cNvPr id="627" name="BOOKS &amp; COURSES"/>
          <p:cNvSpPr txBox="1"/>
          <p:nvPr/>
        </p:nvSpPr>
        <p:spPr>
          <a:xfrm>
            <a:off x="12768124" y="6303432"/>
            <a:ext cx="4768917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BOOKS &amp; COURSES</a:t>
            </a:r>
          </a:p>
        </p:txBody>
      </p:sp>
      <p:sp>
        <p:nvSpPr>
          <p:cNvPr id="628" name="GET STARTED"/>
          <p:cNvSpPr txBox="1"/>
          <p:nvPr/>
        </p:nvSpPr>
        <p:spPr>
          <a:xfrm>
            <a:off x="1692754" y="6302634"/>
            <a:ext cx="476891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GET STARTED</a:t>
            </a:r>
          </a:p>
        </p:txBody>
      </p:sp>
      <p:sp>
        <p:nvSpPr>
          <p:cNvPr id="629" name="OTHER RESOURCES"/>
          <p:cNvSpPr txBox="1"/>
          <p:nvPr/>
        </p:nvSpPr>
        <p:spPr>
          <a:xfrm>
            <a:off x="18173031" y="6303432"/>
            <a:ext cx="476891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OTHER RESOURCES</a:t>
            </a:r>
          </a:p>
        </p:txBody>
      </p:sp>
      <p:sp>
        <p:nvSpPr>
          <p:cNvPr id="630" name="Shape"/>
          <p:cNvSpPr/>
          <p:nvPr/>
        </p:nvSpPr>
        <p:spPr>
          <a:xfrm>
            <a:off x="14755110" y="5208159"/>
            <a:ext cx="794941" cy="887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65" extrusionOk="0">
                <a:moveTo>
                  <a:pt x="21382" y="20661"/>
                </a:moveTo>
                <a:cubicBezTo>
                  <a:pt x="21382" y="19722"/>
                  <a:pt x="20291" y="18595"/>
                  <a:pt x="18764" y="18407"/>
                </a:cubicBezTo>
                <a:cubicBezTo>
                  <a:pt x="19418" y="17843"/>
                  <a:pt x="19855" y="17280"/>
                  <a:pt x="19855" y="16529"/>
                </a:cubicBezTo>
                <a:cubicBezTo>
                  <a:pt x="19855" y="15590"/>
                  <a:pt x="18982" y="14838"/>
                  <a:pt x="17891" y="14838"/>
                </a:cubicBezTo>
                <a:cubicBezTo>
                  <a:pt x="16800" y="14838"/>
                  <a:pt x="15927" y="15590"/>
                  <a:pt x="15927" y="16529"/>
                </a:cubicBezTo>
                <a:cubicBezTo>
                  <a:pt x="15927" y="17280"/>
                  <a:pt x="16364" y="17843"/>
                  <a:pt x="17018" y="18407"/>
                </a:cubicBezTo>
                <a:cubicBezTo>
                  <a:pt x="15491" y="18595"/>
                  <a:pt x="14400" y="19722"/>
                  <a:pt x="14400" y="20661"/>
                </a:cubicBezTo>
                <a:cubicBezTo>
                  <a:pt x="14400" y="21600"/>
                  <a:pt x="21382" y="21600"/>
                  <a:pt x="21382" y="20661"/>
                </a:cubicBezTo>
                <a:close/>
                <a:moveTo>
                  <a:pt x="4800" y="3944"/>
                </a:moveTo>
                <a:cubicBezTo>
                  <a:pt x="5673" y="3944"/>
                  <a:pt x="6327" y="3005"/>
                  <a:pt x="6327" y="2254"/>
                </a:cubicBezTo>
                <a:cubicBezTo>
                  <a:pt x="6327" y="1503"/>
                  <a:pt x="5673" y="751"/>
                  <a:pt x="4800" y="751"/>
                </a:cubicBezTo>
                <a:cubicBezTo>
                  <a:pt x="3927" y="751"/>
                  <a:pt x="3273" y="1503"/>
                  <a:pt x="3273" y="2254"/>
                </a:cubicBezTo>
                <a:cubicBezTo>
                  <a:pt x="3273" y="3005"/>
                  <a:pt x="3927" y="3944"/>
                  <a:pt x="4800" y="3944"/>
                </a:cubicBezTo>
                <a:close/>
                <a:moveTo>
                  <a:pt x="21600" y="7889"/>
                </a:moveTo>
                <a:cubicBezTo>
                  <a:pt x="21600" y="2066"/>
                  <a:pt x="21600" y="2066"/>
                  <a:pt x="21600" y="2066"/>
                </a:cubicBezTo>
                <a:cubicBezTo>
                  <a:pt x="21600" y="1503"/>
                  <a:pt x="21164" y="1127"/>
                  <a:pt x="20509" y="1127"/>
                </a:cubicBezTo>
                <a:cubicBezTo>
                  <a:pt x="16145" y="1127"/>
                  <a:pt x="16145" y="1127"/>
                  <a:pt x="16145" y="1127"/>
                </a:cubicBezTo>
                <a:cubicBezTo>
                  <a:pt x="16145" y="376"/>
                  <a:pt x="16145" y="376"/>
                  <a:pt x="16145" y="376"/>
                </a:cubicBezTo>
                <a:cubicBezTo>
                  <a:pt x="16145" y="188"/>
                  <a:pt x="15927" y="0"/>
                  <a:pt x="15709" y="0"/>
                </a:cubicBezTo>
                <a:cubicBezTo>
                  <a:pt x="15491" y="0"/>
                  <a:pt x="15273" y="188"/>
                  <a:pt x="15273" y="376"/>
                </a:cubicBezTo>
                <a:cubicBezTo>
                  <a:pt x="15273" y="1127"/>
                  <a:pt x="15273" y="1127"/>
                  <a:pt x="15273" y="1127"/>
                </a:cubicBezTo>
                <a:cubicBezTo>
                  <a:pt x="10909" y="1127"/>
                  <a:pt x="10909" y="1127"/>
                  <a:pt x="10909" y="1127"/>
                </a:cubicBezTo>
                <a:cubicBezTo>
                  <a:pt x="10255" y="1127"/>
                  <a:pt x="9818" y="1503"/>
                  <a:pt x="9818" y="2066"/>
                </a:cubicBezTo>
                <a:cubicBezTo>
                  <a:pt x="9818" y="5071"/>
                  <a:pt x="9818" y="5071"/>
                  <a:pt x="9818" y="5071"/>
                </a:cubicBezTo>
                <a:cubicBezTo>
                  <a:pt x="7636" y="4508"/>
                  <a:pt x="7636" y="4508"/>
                  <a:pt x="7636" y="4508"/>
                </a:cubicBezTo>
                <a:cubicBezTo>
                  <a:pt x="7418" y="4320"/>
                  <a:pt x="6109" y="3944"/>
                  <a:pt x="5018" y="3944"/>
                </a:cubicBezTo>
                <a:cubicBezTo>
                  <a:pt x="4800" y="4320"/>
                  <a:pt x="4800" y="4320"/>
                  <a:pt x="4800" y="4320"/>
                </a:cubicBezTo>
                <a:cubicBezTo>
                  <a:pt x="4800" y="4320"/>
                  <a:pt x="4800" y="4320"/>
                  <a:pt x="4800" y="4320"/>
                </a:cubicBezTo>
                <a:cubicBezTo>
                  <a:pt x="5236" y="7137"/>
                  <a:pt x="5236" y="7137"/>
                  <a:pt x="5236" y="7137"/>
                </a:cubicBezTo>
                <a:cubicBezTo>
                  <a:pt x="4800" y="7889"/>
                  <a:pt x="4800" y="7889"/>
                  <a:pt x="4800" y="7889"/>
                </a:cubicBezTo>
                <a:cubicBezTo>
                  <a:pt x="4364" y="7137"/>
                  <a:pt x="4364" y="7137"/>
                  <a:pt x="4364" y="7137"/>
                </a:cubicBezTo>
                <a:cubicBezTo>
                  <a:pt x="4800" y="4320"/>
                  <a:pt x="4800" y="4320"/>
                  <a:pt x="4800" y="4320"/>
                </a:cubicBezTo>
                <a:cubicBezTo>
                  <a:pt x="4800" y="4320"/>
                  <a:pt x="4800" y="4320"/>
                  <a:pt x="4800" y="4320"/>
                </a:cubicBezTo>
                <a:cubicBezTo>
                  <a:pt x="4582" y="3944"/>
                  <a:pt x="4582" y="3944"/>
                  <a:pt x="4582" y="3944"/>
                </a:cubicBezTo>
                <a:cubicBezTo>
                  <a:pt x="3273" y="3944"/>
                  <a:pt x="2182" y="4508"/>
                  <a:pt x="1964" y="4508"/>
                </a:cubicBezTo>
                <a:cubicBezTo>
                  <a:pt x="1964" y="4508"/>
                  <a:pt x="1964" y="4508"/>
                  <a:pt x="1964" y="4508"/>
                </a:cubicBezTo>
                <a:cubicBezTo>
                  <a:pt x="1964" y="4508"/>
                  <a:pt x="1964" y="4508"/>
                  <a:pt x="1964" y="4508"/>
                </a:cubicBezTo>
                <a:cubicBezTo>
                  <a:pt x="1745" y="4508"/>
                  <a:pt x="1745" y="4508"/>
                  <a:pt x="1745" y="4508"/>
                </a:cubicBezTo>
                <a:cubicBezTo>
                  <a:pt x="1745" y="4696"/>
                  <a:pt x="1745" y="4696"/>
                  <a:pt x="1745" y="4696"/>
                </a:cubicBezTo>
                <a:cubicBezTo>
                  <a:pt x="1745" y="4696"/>
                  <a:pt x="1745" y="4696"/>
                  <a:pt x="1745" y="4696"/>
                </a:cubicBezTo>
                <a:cubicBezTo>
                  <a:pt x="1745" y="4883"/>
                  <a:pt x="1745" y="4883"/>
                  <a:pt x="1527" y="4883"/>
                </a:cubicBezTo>
                <a:cubicBezTo>
                  <a:pt x="655" y="8828"/>
                  <a:pt x="655" y="8828"/>
                  <a:pt x="655" y="8828"/>
                </a:cubicBezTo>
                <a:cubicBezTo>
                  <a:pt x="436" y="9016"/>
                  <a:pt x="655" y="9391"/>
                  <a:pt x="1091" y="9391"/>
                </a:cubicBezTo>
                <a:cubicBezTo>
                  <a:pt x="1091" y="9391"/>
                  <a:pt x="1091" y="9391"/>
                  <a:pt x="1309" y="9391"/>
                </a:cubicBezTo>
                <a:cubicBezTo>
                  <a:pt x="1527" y="9391"/>
                  <a:pt x="1745" y="9203"/>
                  <a:pt x="1745" y="9016"/>
                </a:cubicBezTo>
                <a:cubicBezTo>
                  <a:pt x="2836" y="5447"/>
                  <a:pt x="2836" y="5447"/>
                  <a:pt x="2836" y="5447"/>
                </a:cubicBezTo>
                <a:cubicBezTo>
                  <a:pt x="2836" y="5259"/>
                  <a:pt x="2836" y="5259"/>
                  <a:pt x="3055" y="5259"/>
                </a:cubicBezTo>
                <a:cubicBezTo>
                  <a:pt x="3055" y="9016"/>
                  <a:pt x="3055" y="9016"/>
                  <a:pt x="3055" y="9016"/>
                </a:cubicBezTo>
                <a:cubicBezTo>
                  <a:pt x="2400" y="14463"/>
                  <a:pt x="2400" y="14463"/>
                  <a:pt x="2400" y="14463"/>
                </a:cubicBezTo>
                <a:cubicBezTo>
                  <a:pt x="2400" y="14650"/>
                  <a:pt x="2618" y="14838"/>
                  <a:pt x="2836" y="15026"/>
                </a:cubicBezTo>
                <a:cubicBezTo>
                  <a:pt x="1964" y="15214"/>
                  <a:pt x="1527" y="15777"/>
                  <a:pt x="1527" y="16529"/>
                </a:cubicBezTo>
                <a:cubicBezTo>
                  <a:pt x="1527" y="17280"/>
                  <a:pt x="1964" y="17843"/>
                  <a:pt x="2618" y="18219"/>
                </a:cubicBezTo>
                <a:cubicBezTo>
                  <a:pt x="1091" y="18595"/>
                  <a:pt x="0" y="19722"/>
                  <a:pt x="0" y="20661"/>
                </a:cubicBezTo>
                <a:cubicBezTo>
                  <a:pt x="0" y="21600"/>
                  <a:pt x="7200" y="21600"/>
                  <a:pt x="7200" y="20661"/>
                </a:cubicBezTo>
                <a:cubicBezTo>
                  <a:pt x="7200" y="19722"/>
                  <a:pt x="6109" y="18595"/>
                  <a:pt x="4364" y="18219"/>
                </a:cubicBezTo>
                <a:cubicBezTo>
                  <a:pt x="5018" y="17843"/>
                  <a:pt x="5455" y="17280"/>
                  <a:pt x="5455" y="16529"/>
                </a:cubicBezTo>
                <a:cubicBezTo>
                  <a:pt x="5455" y="15777"/>
                  <a:pt x="4800" y="15026"/>
                  <a:pt x="3927" y="14838"/>
                </a:cubicBezTo>
                <a:cubicBezTo>
                  <a:pt x="3927" y="14838"/>
                  <a:pt x="3927" y="14650"/>
                  <a:pt x="3927" y="14463"/>
                </a:cubicBezTo>
                <a:cubicBezTo>
                  <a:pt x="4582" y="9579"/>
                  <a:pt x="4582" y="9579"/>
                  <a:pt x="4582" y="9579"/>
                </a:cubicBezTo>
                <a:cubicBezTo>
                  <a:pt x="4582" y="9767"/>
                  <a:pt x="4582" y="9767"/>
                  <a:pt x="4800" y="9767"/>
                </a:cubicBezTo>
                <a:cubicBezTo>
                  <a:pt x="4800" y="9767"/>
                  <a:pt x="5018" y="9767"/>
                  <a:pt x="5018" y="9579"/>
                </a:cubicBezTo>
                <a:cubicBezTo>
                  <a:pt x="5455" y="14463"/>
                  <a:pt x="5455" y="14463"/>
                  <a:pt x="5455" y="14463"/>
                </a:cubicBezTo>
                <a:cubicBezTo>
                  <a:pt x="5673" y="14838"/>
                  <a:pt x="5891" y="15214"/>
                  <a:pt x="6327" y="15214"/>
                </a:cubicBezTo>
                <a:cubicBezTo>
                  <a:pt x="6327" y="15214"/>
                  <a:pt x="6327" y="15214"/>
                  <a:pt x="6327" y="15214"/>
                </a:cubicBezTo>
                <a:cubicBezTo>
                  <a:pt x="6764" y="15214"/>
                  <a:pt x="7200" y="14838"/>
                  <a:pt x="6982" y="14463"/>
                </a:cubicBezTo>
                <a:cubicBezTo>
                  <a:pt x="6545" y="9016"/>
                  <a:pt x="6545" y="9016"/>
                  <a:pt x="6545" y="9016"/>
                </a:cubicBezTo>
                <a:cubicBezTo>
                  <a:pt x="6545" y="5259"/>
                  <a:pt x="6545" y="5259"/>
                  <a:pt x="6545" y="5259"/>
                </a:cubicBezTo>
                <a:cubicBezTo>
                  <a:pt x="6982" y="5447"/>
                  <a:pt x="7200" y="5447"/>
                  <a:pt x="7200" y="5447"/>
                </a:cubicBezTo>
                <a:cubicBezTo>
                  <a:pt x="7200" y="5447"/>
                  <a:pt x="7200" y="5447"/>
                  <a:pt x="7200" y="5447"/>
                </a:cubicBezTo>
                <a:cubicBezTo>
                  <a:pt x="7200" y="5447"/>
                  <a:pt x="7200" y="5447"/>
                  <a:pt x="7200" y="5447"/>
                </a:cubicBezTo>
                <a:cubicBezTo>
                  <a:pt x="9818" y="6198"/>
                  <a:pt x="9818" y="6198"/>
                  <a:pt x="9818" y="6198"/>
                </a:cubicBezTo>
                <a:cubicBezTo>
                  <a:pt x="9818" y="7889"/>
                  <a:pt x="9818" y="7889"/>
                  <a:pt x="9818" y="7889"/>
                </a:cubicBezTo>
                <a:cubicBezTo>
                  <a:pt x="9818" y="8452"/>
                  <a:pt x="10255" y="8828"/>
                  <a:pt x="10909" y="8828"/>
                </a:cubicBezTo>
                <a:cubicBezTo>
                  <a:pt x="12873" y="8828"/>
                  <a:pt x="12873" y="8828"/>
                  <a:pt x="12873" y="8828"/>
                </a:cubicBezTo>
                <a:cubicBezTo>
                  <a:pt x="11127" y="14650"/>
                  <a:pt x="11127" y="14650"/>
                  <a:pt x="11127" y="14650"/>
                </a:cubicBezTo>
                <a:cubicBezTo>
                  <a:pt x="11127" y="14838"/>
                  <a:pt x="11127" y="14838"/>
                  <a:pt x="11127" y="14838"/>
                </a:cubicBezTo>
                <a:cubicBezTo>
                  <a:pt x="10909" y="14838"/>
                  <a:pt x="10909" y="14838"/>
                  <a:pt x="10691" y="14838"/>
                </a:cubicBezTo>
                <a:cubicBezTo>
                  <a:pt x="9600" y="14838"/>
                  <a:pt x="8727" y="15590"/>
                  <a:pt x="8727" y="16529"/>
                </a:cubicBezTo>
                <a:cubicBezTo>
                  <a:pt x="8727" y="17280"/>
                  <a:pt x="9164" y="17843"/>
                  <a:pt x="9818" y="18219"/>
                </a:cubicBezTo>
                <a:cubicBezTo>
                  <a:pt x="8291" y="18595"/>
                  <a:pt x="7200" y="19722"/>
                  <a:pt x="7200" y="20661"/>
                </a:cubicBezTo>
                <a:cubicBezTo>
                  <a:pt x="7200" y="21600"/>
                  <a:pt x="14400" y="21600"/>
                  <a:pt x="14400" y="20661"/>
                </a:cubicBezTo>
                <a:cubicBezTo>
                  <a:pt x="14400" y="19722"/>
                  <a:pt x="13091" y="18595"/>
                  <a:pt x="11564" y="18219"/>
                </a:cubicBezTo>
                <a:cubicBezTo>
                  <a:pt x="12218" y="17843"/>
                  <a:pt x="12655" y="17280"/>
                  <a:pt x="12655" y="16529"/>
                </a:cubicBezTo>
                <a:cubicBezTo>
                  <a:pt x="12655" y="15965"/>
                  <a:pt x="12436" y="15402"/>
                  <a:pt x="11782" y="15026"/>
                </a:cubicBezTo>
                <a:cubicBezTo>
                  <a:pt x="11782" y="15026"/>
                  <a:pt x="12000" y="15026"/>
                  <a:pt x="12000" y="14838"/>
                </a:cubicBezTo>
                <a:cubicBezTo>
                  <a:pt x="13745" y="8828"/>
                  <a:pt x="13745" y="8828"/>
                  <a:pt x="13745" y="8828"/>
                </a:cubicBezTo>
                <a:cubicBezTo>
                  <a:pt x="15273" y="8828"/>
                  <a:pt x="15273" y="8828"/>
                  <a:pt x="15273" y="8828"/>
                </a:cubicBezTo>
                <a:cubicBezTo>
                  <a:pt x="15273" y="13148"/>
                  <a:pt x="15273" y="13148"/>
                  <a:pt x="15273" y="13148"/>
                </a:cubicBezTo>
                <a:cubicBezTo>
                  <a:pt x="15273" y="13336"/>
                  <a:pt x="15491" y="13523"/>
                  <a:pt x="15709" y="13523"/>
                </a:cubicBezTo>
                <a:cubicBezTo>
                  <a:pt x="15927" y="13523"/>
                  <a:pt x="16145" y="13336"/>
                  <a:pt x="16145" y="13148"/>
                </a:cubicBezTo>
                <a:cubicBezTo>
                  <a:pt x="16145" y="8828"/>
                  <a:pt x="16145" y="8828"/>
                  <a:pt x="16145" y="8828"/>
                </a:cubicBezTo>
                <a:cubicBezTo>
                  <a:pt x="17455" y="8828"/>
                  <a:pt x="17455" y="8828"/>
                  <a:pt x="17455" y="8828"/>
                </a:cubicBezTo>
                <a:cubicBezTo>
                  <a:pt x="19418" y="14838"/>
                  <a:pt x="19418" y="14838"/>
                  <a:pt x="19418" y="14838"/>
                </a:cubicBezTo>
                <a:cubicBezTo>
                  <a:pt x="19418" y="15026"/>
                  <a:pt x="19636" y="15214"/>
                  <a:pt x="19855" y="15214"/>
                </a:cubicBezTo>
                <a:cubicBezTo>
                  <a:pt x="19855" y="15214"/>
                  <a:pt x="19855" y="15214"/>
                  <a:pt x="19855" y="15214"/>
                </a:cubicBezTo>
                <a:cubicBezTo>
                  <a:pt x="20073" y="15026"/>
                  <a:pt x="20291" y="14838"/>
                  <a:pt x="20291" y="14650"/>
                </a:cubicBezTo>
                <a:cubicBezTo>
                  <a:pt x="18327" y="8828"/>
                  <a:pt x="18327" y="8828"/>
                  <a:pt x="18327" y="8828"/>
                </a:cubicBezTo>
                <a:cubicBezTo>
                  <a:pt x="20509" y="8828"/>
                  <a:pt x="20509" y="8828"/>
                  <a:pt x="20509" y="8828"/>
                </a:cubicBezTo>
                <a:cubicBezTo>
                  <a:pt x="21164" y="8828"/>
                  <a:pt x="21600" y="8452"/>
                  <a:pt x="21600" y="7889"/>
                </a:cubicBezTo>
                <a:close/>
                <a:moveTo>
                  <a:pt x="10909" y="8452"/>
                </a:moveTo>
                <a:cubicBezTo>
                  <a:pt x="10473" y="8452"/>
                  <a:pt x="10255" y="8264"/>
                  <a:pt x="10255" y="7889"/>
                </a:cubicBezTo>
                <a:cubicBezTo>
                  <a:pt x="10255" y="6386"/>
                  <a:pt x="10255" y="6386"/>
                  <a:pt x="10255" y="6386"/>
                </a:cubicBezTo>
                <a:cubicBezTo>
                  <a:pt x="10255" y="6386"/>
                  <a:pt x="10255" y="6386"/>
                  <a:pt x="10473" y="6386"/>
                </a:cubicBezTo>
                <a:cubicBezTo>
                  <a:pt x="10691" y="6386"/>
                  <a:pt x="10909" y="6198"/>
                  <a:pt x="10909" y="6010"/>
                </a:cubicBezTo>
                <a:cubicBezTo>
                  <a:pt x="11127" y="5635"/>
                  <a:pt x="10909" y="5447"/>
                  <a:pt x="10473" y="5259"/>
                </a:cubicBezTo>
                <a:cubicBezTo>
                  <a:pt x="10255" y="5259"/>
                  <a:pt x="10255" y="5259"/>
                  <a:pt x="10255" y="5259"/>
                </a:cubicBezTo>
                <a:cubicBezTo>
                  <a:pt x="10255" y="2066"/>
                  <a:pt x="10255" y="2066"/>
                  <a:pt x="10255" y="2066"/>
                </a:cubicBezTo>
                <a:cubicBezTo>
                  <a:pt x="10255" y="1878"/>
                  <a:pt x="10473" y="1503"/>
                  <a:pt x="10909" y="1503"/>
                </a:cubicBezTo>
                <a:cubicBezTo>
                  <a:pt x="20509" y="1503"/>
                  <a:pt x="20509" y="1503"/>
                  <a:pt x="20509" y="1503"/>
                </a:cubicBezTo>
                <a:cubicBezTo>
                  <a:pt x="20727" y="1503"/>
                  <a:pt x="20945" y="1878"/>
                  <a:pt x="20945" y="2066"/>
                </a:cubicBezTo>
                <a:cubicBezTo>
                  <a:pt x="20945" y="7889"/>
                  <a:pt x="20945" y="7889"/>
                  <a:pt x="20945" y="7889"/>
                </a:cubicBezTo>
                <a:cubicBezTo>
                  <a:pt x="20945" y="8264"/>
                  <a:pt x="20727" y="8452"/>
                  <a:pt x="20509" y="8452"/>
                </a:cubicBezTo>
                <a:lnTo>
                  <a:pt x="10909" y="845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31" name="Shape"/>
          <p:cNvSpPr/>
          <p:nvPr/>
        </p:nvSpPr>
        <p:spPr>
          <a:xfrm flipH="1">
            <a:off x="3765259" y="5449384"/>
            <a:ext cx="877908" cy="495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918" y="10484"/>
                </a:moveTo>
                <a:cubicBezTo>
                  <a:pt x="18000" y="10484"/>
                  <a:pt x="18000" y="10484"/>
                  <a:pt x="18000" y="10484"/>
                </a:cubicBezTo>
                <a:cubicBezTo>
                  <a:pt x="18000" y="21600"/>
                  <a:pt x="18000" y="21600"/>
                  <a:pt x="1800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8857"/>
                  <a:pt x="21600" y="8857"/>
                  <a:pt x="21600" y="8857"/>
                </a:cubicBezTo>
                <a:cubicBezTo>
                  <a:pt x="21600" y="6417"/>
                  <a:pt x="20282" y="4067"/>
                  <a:pt x="18862" y="4067"/>
                </a:cubicBezTo>
                <a:cubicBezTo>
                  <a:pt x="4918" y="4067"/>
                  <a:pt x="4918" y="4067"/>
                  <a:pt x="4918" y="4067"/>
                </a:cubicBezTo>
                <a:cubicBezTo>
                  <a:pt x="4918" y="0"/>
                  <a:pt x="4918" y="0"/>
                  <a:pt x="4918" y="0"/>
                </a:cubicBezTo>
                <a:cubicBezTo>
                  <a:pt x="0" y="7230"/>
                  <a:pt x="0" y="7230"/>
                  <a:pt x="0" y="7230"/>
                </a:cubicBezTo>
                <a:cubicBezTo>
                  <a:pt x="4918" y="14460"/>
                  <a:pt x="4918" y="14460"/>
                  <a:pt x="4918" y="14460"/>
                </a:cubicBezTo>
                <a:lnTo>
                  <a:pt x="4918" y="10484"/>
                </a:ln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2438400">
              <a:defRPr sz="4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32" name="Shape"/>
          <p:cNvSpPr/>
          <p:nvPr/>
        </p:nvSpPr>
        <p:spPr>
          <a:xfrm>
            <a:off x="9136416" y="5310863"/>
            <a:ext cx="956963" cy="772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413" y="17319"/>
                </a:moveTo>
                <a:cubicBezTo>
                  <a:pt x="7594" y="17319"/>
                  <a:pt x="8606" y="16346"/>
                  <a:pt x="8606" y="14984"/>
                </a:cubicBezTo>
                <a:cubicBezTo>
                  <a:pt x="8606" y="14400"/>
                  <a:pt x="8438" y="13816"/>
                  <a:pt x="8100" y="13232"/>
                </a:cubicBezTo>
                <a:cubicBezTo>
                  <a:pt x="12150" y="7200"/>
                  <a:pt x="12150" y="7200"/>
                  <a:pt x="12150" y="7200"/>
                </a:cubicBezTo>
                <a:cubicBezTo>
                  <a:pt x="12319" y="7395"/>
                  <a:pt x="12656" y="7395"/>
                  <a:pt x="12994" y="7395"/>
                </a:cubicBezTo>
                <a:cubicBezTo>
                  <a:pt x="13500" y="7395"/>
                  <a:pt x="14006" y="7200"/>
                  <a:pt x="14344" y="6811"/>
                </a:cubicBezTo>
                <a:cubicBezTo>
                  <a:pt x="17381" y="9535"/>
                  <a:pt x="17381" y="9535"/>
                  <a:pt x="17381" y="9535"/>
                </a:cubicBezTo>
                <a:cubicBezTo>
                  <a:pt x="17213" y="9924"/>
                  <a:pt x="17213" y="10314"/>
                  <a:pt x="17213" y="10703"/>
                </a:cubicBezTo>
                <a:cubicBezTo>
                  <a:pt x="17213" y="12065"/>
                  <a:pt x="18225" y="13038"/>
                  <a:pt x="19406" y="13038"/>
                </a:cubicBezTo>
                <a:cubicBezTo>
                  <a:pt x="20587" y="13038"/>
                  <a:pt x="21600" y="12065"/>
                  <a:pt x="21600" y="10703"/>
                </a:cubicBezTo>
                <a:cubicBezTo>
                  <a:pt x="21600" y="9341"/>
                  <a:pt x="20587" y="8173"/>
                  <a:pt x="19406" y="8173"/>
                </a:cubicBezTo>
                <a:cubicBezTo>
                  <a:pt x="18900" y="8173"/>
                  <a:pt x="18394" y="8368"/>
                  <a:pt x="18056" y="8757"/>
                </a:cubicBezTo>
                <a:cubicBezTo>
                  <a:pt x="14850" y="6032"/>
                  <a:pt x="14850" y="6032"/>
                  <a:pt x="14850" y="6032"/>
                </a:cubicBezTo>
                <a:cubicBezTo>
                  <a:pt x="15019" y="5643"/>
                  <a:pt x="15019" y="5254"/>
                  <a:pt x="15019" y="4865"/>
                </a:cubicBezTo>
                <a:cubicBezTo>
                  <a:pt x="15019" y="3503"/>
                  <a:pt x="14175" y="2530"/>
                  <a:pt x="12994" y="2530"/>
                </a:cubicBezTo>
                <a:cubicBezTo>
                  <a:pt x="11812" y="2530"/>
                  <a:pt x="10800" y="3503"/>
                  <a:pt x="10800" y="4865"/>
                </a:cubicBezTo>
                <a:cubicBezTo>
                  <a:pt x="10800" y="5643"/>
                  <a:pt x="10969" y="6032"/>
                  <a:pt x="11306" y="6616"/>
                </a:cubicBezTo>
                <a:cubicBezTo>
                  <a:pt x="7425" y="12649"/>
                  <a:pt x="7425" y="12649"/>
                  <a:pt x="7425" y="12649"/>
                </a:cubicBezTo>
                <a:cubicBezTo>
                  <a:pt x="7088" y="12649"/>
                  <a:pt x="6750" y="12454"/>
                  <a:pt x="6413" y="12454"/>
                </a:cubicBezTo>
                <a:cubicBezTo>
                  <a:pt x="5231" y="12454"/>
                  <a:pt x="4388" y="13622"/>
                  <a:pt x="4388" y="14984"/>
                </a:cubicBezTo>
                <a:cubicBezTo>
                  <a:pt x="4388" y="16346"/>
                  <a:pt x="5231" y="17319"/>
                  <a:pt x="6413" y="17319"/>
                </a:cubicBezTo>
                <a:close/>
                <a:moveTo>
                  <a:pt x="20419" y="10703"/>
                </a:moveTo>
                <a:cubicBezTo>
                  <a:pt x="20419" y="11481"/>
                  <a:pt x="19912" y="12065"/>
                  <a:pt x="19237" y="12065"/>
                </a:cubicBezTo>
                <a:cubicBezTo>
                  <a:pt x="18731" y="12065"/>
                  <a:pt x="18056" y="11481"/>
                  <a:pt x="18056" y="10703"/>
                </a:cubicBezTo>
                <a:cubicBezTo>
                  <a:pt x="18056" y="9924"/>
                  <a:pt x="18731" y="9341"/>
                  <a:pt x="19237" y="9341"/>
                </a:cubicBezTo>
                <a:cubicBezTo>
                  <a:pt x="19912" y="9341"/>
                  <a:pt x="20419" y="9924"/>
                  <a:pt x="20419" y="10703"/>
                </a:cubicBezTo>
                <a:close/>
                <a:moveTo>
                  <a:pt x="12994" y="3697"/>
                </a:moveTo>
                <a:cubicBezTo>
                  <a:pt x="13669" y="3697"/>
                  <a:pt x="14175" y="4281"/>
                  <a:pt x="14175" y="5059"/>
                </a:cubicBezTo>
                <a:cubicBezTo>
                  <a:pt x="14175" y="5838"/>
                  <a:pt x="13669" y="6422"/>
                  <a:pt x="12994" y="6422"/>
                </a:cubicBezTo>
                <a:cubicBezTo>
                  <a:pt x="12319" y="6422"/>
                  <a:pt x="11812" y="5838"/>
                  <a:pt x="11812" y="5059"/>
                </a:cubicBezTo>
                <a:cubicBezTo>
                  <a:pt x="11812" y="4281"/>
                  <a:pt x="12319" y="3697"/>
                  <a:pt x="12994" y="3697"/>
                </a:cubicBezTo>
                <a:close/>
                <a:moveTo>
                  <a:pt x="6413" y="13622"/>
                </a:moveTo>
                <a:cubicBezTo>
                  <a:pt x="7088" y="13622"/>
                  <a:pt x="7594" y="14205"/>
                  <a:pt x="7594" y="14984"/>
                </a:cubicBezTo>
                <a:cubicBezTo>
                  <a:pt x="7594" y="15762"/>
                  <a:pt x="7088" y="16346"/>
                  <a:pt x="6413" y="16346"/>
                </a:cubicBezTo>
                <a:cubicBezTo>
                  <a:pt x="5906" y="16346"/>
                  <a:pt x="5231" y="15762"/>
                  <a:pt x="5231" y="14984"/>
                </a:cubicBezTo>
                <a:cubicBezTo>
                  <a:pt x="5231" y="14205"/>
                  <a:pt x="5906" y="13622"/>
                  <a:pt x="6413" y="13622"/>
                </a:cubicBezTo>
                <a:close/>
                <a:moveTo>
                  <a:pt x="21600" y="21211"/>
                </a:moveTo>
                <a:cubicBezTo>
                  <a:pt x="21600" y="21405"/>
                  <a:pt x="21431" y="21600"/>
                  <a:pt x="21262" y="21600"/>
                </a:cubicBezTo>
                <a:cubicBezTo>
                  <a:pt x="2869" y="21600"/>
                  <a:pt x="2869" y="21600"/>
                  <a:pt x="2869" y="21600"/>
                </a:cubicBezTo>
                <a:cubicBezTo>
                  <a:pt x="2700" y="21600"/>
                  <a:pt x="2363" y="21600"/>
                  <a:pt x="2025" y="21211"/>
                </a:cubicBezTo>
                <a:cubicBezTo>
                  <a:pt x="1688" y="21016"/>
                  <a:pt x="1519" y="20432"/>
                  <a:pt x="1519" y="19849"/>
                </a:cubicBezTo>
                <a:cubicBezTo>
                  <a:pt x="1519" y="19070"/>
                  <a:pt x="1519" y="19070"/>
                  <a:pt x="1519" y="19070"/>
                </a:cubicBezTo>
                <a:cubicBezTo>
                  <a:pt x="506" y="19070"/>
                  <a:pt x="506" y="19070"/>
                  <a:pt x="506" y="19070"/>
                </a:cubicBezTo>
                <a:cubicBezTo>
                  <a:pt x="169" y="19070"/>
                  <a:pt x="0" y="18681"/>
                  <a:pt x="0" y="18486"/>
                </a:cubicBezTo>
                <a:cubicBezTo>
                  <a:pt x="0" y="18097"/>
                  <a:pt x="169" y="17903"/>
                  <a:pt x="506" y="17903"/>
                </a:cubicBezTo>
                <a:cubicBezTo>
                  <a:pt x="1519" y="17903"/>
                  <a:pt x="1519" y="17903"/>
                  <a:pt x="1519" y="17903"/>
                </a:cubicBezTo>
                <a:cubicBezTo>
                  <a:pt x="1519" y="15373"/>
                  <a:pt x="1519" y="15373"/>
                  <a:pt x="1519" y="15373"/>
                </a:cubicBezTo>
                <a:cubicBezTo>
                  <a:pt x="506" y="15373"/>
                  <a:pt x="506" y="15373"/>
                  <a:pt x="506" y="15373"/>
                </a:cubicBezTo>
                <a:cubicBezTo>
                  <a:pt x="169" y="15373"/>
                  <a:pt x="0" y="15178"/>
                  <a:pt x="0" y="14984"/>
                </a:cubicBezTo>
                <a:cubicBezTo>
                  <a:pt x="0" y="14595"/>
                  <a:pt x="169" y="14400"/>
                  <a:pt x="506" y="14400"/>
                </a:cubicBezTo>
                <a:cubicBezTo>
                  <a:pt x="1519" y="14400"/>
                  <a:pt x="1519" y="14400"/>
                  <a:pt x="1519" y="14400"/>
                </a:cubicBezTo>
                <a:cubicBezTo>
                  <a:pt x="1519" y="11870"/>
                  <a:pt x="1519" y="11870"/>
                  <a:pt x="1519" y="11870"/>
                </a:cubicBezTo>
                <a:cubicBezTo>
                  <a:pt x="506" y="11870"/>
                  <a:pt x="506" y="11870"/>
                  <a:pt x="506" y="11870"/>
                </a:cubicBezTo>
                <a:cubicBezTo>
                  <a:pt x="169" y="11870"/>
                  <a:pt x="0" y="11676"/>
                  <a:pt x="0" y="11286"/>
                </a:cubicBezTo>
                <a:cubicBezTo>
                  <a:pt x="0" y="11092"/>
                  <a:pt x="169" y="10897"/>
                  <a:pt x="506" y="10897"/>
                </a:cubicBezTo>
                <a:cubicBezTo>
                  <a:pt x="1519" y="10897"/>
                  <a:pt x="1519" y="10897"/>
                  <a:pt x="1519" y="10897"/>
                </a:cubicBezTo>
                <a:cubicBezTo>
                  <a:pt x="1519" y="8368"/>
                  <a:pt x="1519" y="8368"/>
                  <a:pt x="1519" y="8368"/>
                </a:cubicBezTo>
                <a:cubicBezTo>
                  <a:pt x="506" y="8368"/>
                  <a:pt x="506" y="8368"/>
                  <a:pt x="506" y="8368"/>
                </a:cubicBezTo>
                <a:cubicBezTo>
                  <a:pt x="169" y="8368"/>
                  <a:pt x="0" y="8173"/>
                  <a:pt x="0" y="7784"/>
                </a:cubicBezTo>
                <a:cubicBezTo>
                  <a:pt x="0" y="7589"/>
                  <a:pt x="169" y="7200"/>
                  <a:pt x="506" y="7200"/>
                </a:cubicBezTo>
                <a:cubicBezTo>
                  <a:pt x="1519" y="7200"/>
                  <a:pt x="1519" y="7200"/>
                  <a:pt x="1519" y="7200"/>
                </a:cubicBezTo>
                <a:cubicBezTo>
                  <a:pt x="1519" y="4865"/>
                  <a:pt x="1519" y="4865"/>
                  <a:pt x="1519" y="4865"/>
                </a:cubicBezTo>
                <a:cubicBezTo>
                  <a:pt x="506" y="4865"/>
                  <a:pt x="506" y="4865"/>
                  <a:pt x="506" y="4865"/>
                </a:cubicBezTo>
                <a:cubicBezTo>
                  <a:pt x="169" y="4865"/>
                  <a:pt x="0" y="4476"/>
                  <a:pt x="0" y="4281"/>
                </a:cubicBezTo>
                <a:cubicBezTo>
                  <a:pt x="0" y="3892"/>
                  <a:pt x="169" y="3697"/>
                  <a:pt x="506" y="3697"/>
                </a:cubicBezTo>
                <a:cubicBezTo>
                  <a:pt x="1519" y="3697"/>
                  <a:pt x="1519" y="3697"/>
                  <a:pt x="1519" y="3697"/>
                </a:cubicBezTo>
                <a:cubicBezTo>
                  <a:pt x="1519" y="1168"/>
                  <a:pt x="1519" y="1168"/>
                  <a:pt x="1519" y="1168"/>
                </a:cubicBezTo>
                <a:cubicBezTo>
                  <a:pt x="506" y="1168"/>
                  <a:pt x="506" y="1168"/>
                  <a:pt x="506" y="1168"/>
                </a:cubicBezTo>
                <a:cubicBezTo>
                  <a:pt x="169" y="1168"/>
                  <a:pt x="0" y="778"/>
                  <a:pt x="0" y="584"/>
                </a:cubicBezTo>
                <a:cubicBezTo>
                  <a:pt x="0" y="195"/>
                  <a:pt x="169" y="0"/>
                  <a:pt x="506" y="0"/>
                </a:cubicBezTo>
                <a:cubicBezTo>
                  <a:pt x="2025" y="0"/>
                  <a:pt x="2025" y="0"/>
                  <a:pt x="2025" y="0"/>
                </a:cubicBezTo>
                <a:cubicBezTo>
                  <a:pt x="2194" y="0"/>
                  <a:pt x="2363" y="195"/>
                  <a:pt x="2363" y="584"/>
                </a:cubicBezTo>
                <a:cubicBezTo>
                  <a:pt x="2363" y="19849"/>
                  <a:pt x="2363" y="19849"/>
                  <a:pt x="2363" y="19849"/>
                </a:cubicBezTo>
                <a:cubicBezTo>
                  <a:pt x="2363" y="20043"/>
                  <a:pt x="2531" y="20432"/>
                  <a:pt x="2531" y="20432"/>
                </a:cubicBezTo>
                <a:cubicBezTo>
                  <a:pt x="2700" y="20627"/>
                  <a:pt x="2869" y="20627"/>
                  <a:pt x="2869" y="20627"/>
                </a:cubicBezTo>
                <a:cubicBezTo>
                  <a:pt x="21262" y="20627"/>
                  <a:pt x="21262" y="20627"/>
                  <a:pt x="21262" y="20627"/>
                </a:cubicBezTo>
                <a:cubicBezTo>
                  <a:pt x="21431" y="20627"/>
                  <a:pt x="21600" y="20822"/>
                  <a:pt x="21600" y="21211"/>
                </a:cubicBezTo>
                <a:close/>
                <a:moveTo>
                  <a:pt x="21600" y="21211"/>
                </a:moveTo>
                <a:cubicBezTo>
                  <a:pt x="21600" y="21211"/>
                  <a:pt x="21600" y="21211"/>
                  <a:pt x="21600" y="21211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33" name="Shape"/>
          <p:cNvSpPr/>
          <p:nvPr/>
        </p:nvSpPr>
        <p:spPr>
          <a:xfrm>
            <a:off x="20172257" y="5310863"/>
            <a:ext cx="770467" cy="772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90" y="0"/>
                  <a:pt x="0" y="4790"/>
                  <a:pt x="0" y="10800"/>
                </a:cubicBezTo>
                <a:cubicBezTo>
                  <a:pt x="0" y="16810"/>
                  <a:pt x="4790" y="21600"/>
                  <a:pt x="10800" y="21600"/>
                </a:cubicBezTo>
                <a:cubicBezTo>
                  <a:pt x="16810" y="21600"/>
                  <a:pt x="21600" y="16810"/>
                  <a:pt x="21600" y="10800"/>
                </a:cubicBezTo>
                <a:cubicBezTo>
                  <a:pt x="21600" y="4790"/>
                  <a:pt x="16810" y="0"/>
                  <a:pt x="10800" y="0"/>
                </a:cubicBezTo>
                <a:close/>
                <a:moveTo>
                  <a:pt x="20018" y="10800"/>
                </a:moveTo>
                <a:cubicBezTo>
                  <a:pt x="20018" y="13195"/>
                  <a:pt x="19205" y="14822"/>
                  <a:pt x="18030" y="16403"/>
                </a:cubicBezTo>
                <a:cubicBezTo>
                  <a:pt x="17623" y="16403"/>
                  <a:pt x="17217" y="15590"/>
                  <a:pt x="17623" y="14822"/>
                </a:cubicBezTo>
                <a:cubicBezTo>
                  <a:pt x="18030" y="14008"/>
                  <a:pt x="18030" y="12427"/>
                  <a:pt x="18030" y="11613"/>
                </a:cubicBezTo>
                <a:cubicBezTo>
                  <a:pt x="18030" y="10800"/>
                  <a:pt x="17623" y="9218"/>
                  <a:pt x="16810" y="9218"/>
                </a:cubicBezTo>
                <a:cubicBezTo>
                  <a:pt x="15635" y="9218"/>
                  <a:pt x="15228" y="9218"/>
                  <a:pt x="14415" y="8044"/>
                </a:cubicBezTo>
                <a:cubicBezTo>
                  <a:pt x="13602" y="5603"/>
                  <a:pt x="16810" y="5197"/>
                  <a:pt x="15635" y="3977"/>
                </a:cubicBezTo>
                <a:cubicBezTo>
                  <a:pt x="15228" y="3615"/>
                  <a:pt x="13602" y="5197"/>
                  <a:pt x="13240" y="2802"/>
                </a:cubicBezTo>
                <a:lnTo>
                  <a:pt x="13602" y="2395"/>
                </a:lnTo>
                <a:cubicBezTo>
                  <a:pt x="17217" y="3615"/>
                  <a:pt x="20018" y="6778"/>
                  <a:pt x="20018" y="10800"/>
                </a:cubicBezTo>
                <a:close/>
                <a:moveTo>
                  <a:pt x="9580" y="1988"/>
                </a:moveTo>
                <a:cubicBezTo>
                  <a:pt x="9218" y="2395"/>
                  <a:pt x="8767" y="2395"/>
                  <a:pt x="8405" y="2802"/>
                </a:cubicBezTo>
                <a:cubicBezTo>
                  <a:pt x="7592" y="3615"/>
                  <a:pt x="7185" y="3208"/>
                  <a:pt x="6778" y="3977"/>
                </a:cubicBezTo>
                <a:cubicBezTo>
                  <a:pt x="6372" y="4790"/>
                  <a:pt x="5197" y="5603"/>
                  <a:pt x="5197" y="6010"/>
                </a:cubicBezTo>
                <a:cubicBezTo>
                  <a:pt x="5197" y="6417"/>
                  <a:pt x="6010" y="7185"/>
                  <a:pt x="6010" y="7185"/>
                </a:cubicBezTo>
                <a:cubicBezTo>
                  <a:pt x="6372" y="6778"/>
                  <a:pt x="7185" y="6778"/>
                  <a:pt x="7998" y="7185"/>
                </a:cubicBezTo>
                <a:cubicBezTo>
                  <a:pt x="8405" y="7185"/>
                  <a:pt x="12427" y="7637"/>
                  <a:pt x="11207" y="10800"/>
                </a:cubicBezTo>
                <a:cubicBezTo>
                  <a:pt x="10800" y="12020"/>
                  <a:pt x="8767" y="11613"/>
                  <a:pt x="8405" y="13195"/>
                </a:cubicBezTo>
                <a:cubicBezTo>
                  <a:pt x="8405" y="13602"/>
                  <a:pt x="8405" y="14822"/>
                  <a:pt x="7998" y="15228"/>
                </a:cubicBezTo>
                <a:cubicBezTo>
                  <a:pt x="7998" y="15590"/>
                  <a:pt x="8405" y="17623"/>
                  <a:pt x="7998" y="17623"/>
                </a:cubicBezTo>
                <a:cubicBezTo>
                  <a:pt x="7592" y="17623"/>
                  <a:pt x="6010" y="15590"/>
                  <a:pt x="6010" y="15590"/>
                </a:cubicBezTo>
                <a:cubicBezTo>
                  <a:pt x="6010" y="15228"/>
                  <a:pt x="5603" y="14008"/>
                  <a:pt x="5603" y="12833"/>
                </a:cubicBezTo>
                <a:cubicBezTo>
                  <a:pt x="5603" y="12020"/>
                  <a:pt x="3977" y="12020"/>
                  <a:pt x="3977" y="10800"/>
                </a:cubicBezTo>
                <a:cubicBezTo>
                  <a:pt x="3977" y="9625"/>
                  <a:pt x="4790" y="8812"/>
                  <a:pt x="4790" y="8405"/>
                </a:cubicBezTo>
                <a:cubicBezTo>
                  <a:pt x="4383" y="7637"/>
                  <a:pt x="2802" y="7637"/>
                  <a:pt x="2395" y="7637"/>
                </a:cubicBezTo>
                <a:cubicBezTo>
                  <a:pt x="3615" y="4383"/>
                  <a:pt x="6372" y="2395"/>
                  <a:pt x="9580" y="1988"/>
                </a:cubicBezTo>
                <a:close/>
                <a:moveTo>
                  <a:pt x="7998" y="19612"/>
                </a:moveTo>
                <a:cubicBezTo>
                  <a:pt x="8405" y="19205"/>
                  <a:pt x="8405" y="18798"/>
                  <a:pt x="9218" y="18798"/>
                </a:cubicBezTo>
                <a:cubicBezTo>
                  <a:pt x="9580" y="18798"/>
                  <a:pt x="9987" y="18798"/>
                  <a:pt x="10800" y="18392"/>
                </a:cubicBezTo>
                <a:cubicBezTo>
                  <a:pt x="11207" y="18392"/>
                  <a:pt x="12427" y="17985"/>
                  <a:pt x="13240" y="17623"/>
                </a:cubicBezTo>
                <a:cubicBezTo>
                  <a:pt x="14008" y="17623"/>
                  <a:pt x="15635" y="17985"/>
                  <a:pt x="15997" y="18392"/>
                </a:cubicBezTo>
                <a:cubicBezTo>
                  <a:pt x="14415" y="19612"/>
                  <a:pt x="12833" y="20018"/>
                  <a:pt x="10800" y="20018"/>
                </a:cubicBezTo>
                <a:cubicBezTo>
                  <a:pt x="9987" y="20018"/>
                  <a:pt x="8767" y="20018"/>
                  <a:pt x="7998" y="1961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2438400">
              <a:defRPr sz="480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644" name="Group"/>
          <p:cNvGrpSpPr/>
          <p:nvPr/>
        </p:nvGrpSpPr>
        <p:grpSpPr>
          <a:xfrm>
            <a:off x="19259343" y="10786506"/>
            <a:ext cx="2596295" cy="466960"/>
            <a:chOff x="0" y="0"/>
            <a:chExt cx="2596293" cy="466959"/>
          </a:xfrm>
        </p:grpSpPr>
        <p:sp>
          <p:nvSpPr>
            <p:cNvPr id="634" name="Shape"/>
            <p:cNvSpPr/>
            <p:nvPr/>
          </p:nvSpPr>
          <p:spPr>
            <a:xfrm>
              <a:off x="1055225" y="5172"/>
              <a:ext cx="454685" cy="461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6" y="0"/>
                  </a:moveTo>
                  <a:cubicBezTo>
                    <a:pt x="2694" y="0"/>
                    <a:pt x="2694" y="0"/>
                    <a:pt x="2694" y="0"/>
                  </a:cubicBezTo>
                  <a:cubicBezTo>
                    <a:pt x="1372" y="0"/>
                    <a:pt x="0" y="1369"/>
                    <a:pt x="0" y="2687"/>
                  </a:cubicBezTo>
                  <a:cubicBezTo>
                    <a:pt x="0" y="18862"/>
                    <a:pt x="0" y="18862"/>
                    <a:pt x="0" y="18862"/>
                  </a:cubicBezTo>
                  <a:cubicBezTo>
                    <a:pt x="0" y="20231"/>
                    <a:pt x="1372" y="21600"/>
                    <a:pt x="2694" y="21600"/>
                  </a:cubicBezTo>
                  <a:cubicBezTo>
                    <a:pt x="10825" y="21600"/>
                    <a:pt x="10825" y="21600"/>
                    <a:pt x="10825" y="21600"/>
                  </a:cubicBezTo>
                  <a:cubicBezTo>
                    <a:pt x="10825" y="13893"/>
                    <a:pt x="10825" y="13893"/>
                    <a:pt x="10825" y="13893"/>
                  </a:cubicBezTo>
                  <a:cubicBezTo>
                    <a:pt x="8132" y="13893"/>
                    <a:pt x="8132" y="13893"/>
                    <a:pt x="8132" y="13893"/>
                  </a:cubicBezTo>
                  <a:cubicBezTo>
                    <a:pt x="8132" y="10344"/>
                    <a:pt x="8132" y="10344"/>
                    <a:pt x="8132" y="10344"/>
                  </a:cubicBezTo>
                  <a:cubicBezTo>
                    <a:pt x="10825" y="10344"/>
                    <a:pt x="10825" y="10344"/>
                    <a:pt x="10825" y="10344"/>
                  </a:cubicBezTo>
                  <a:cubicBezTo>
                    <a:pt x="10825" y="8518"/>
                    <a:pt x="10825" y="8518"/>
                    <a:pt x="10825" y="8518"/>
                  </a:cubicBezTo>
                  <a:cubicBezTo>
                    <a:pt x="10825" y="6287"/>
                    <a:pt x="13062" y="4056"/>
                    <a:pt x="15298" y="4056"/>
                  </a:cubicBezTo>
                  <a:cubicBezTo>
                    <a:pt x="17585" y="4056"/>
                    <a:pt x="17585" y="4056"/>
                    <a:pt x="17585" y="4056"/>
                  </a:cubicBezTo>
                  <a:cubicBezTo>
                    <a:pt x="17585" y="8113"/>
                    <a:pt x="17585" y="8113"/>
                    <a:pt x="17585" y="8113"/>
                  </a:cubicBezTo>
                  <a:cubicBezTo>
                    <a:pt x="15755" y="8113"/>
                    <a:pt x="15755" y="8113"/>
                    <a:pt x="15755" y="8113"/>
                  </a:cubicBezTo>
                  <a:cubicBezTo>
                    <a:pt x="14840" y="8113"/>
                    <a:pt x="14840" y="8113"/>
                    <a:pt x="14840" y="8518"/>
                  </a:cubicBezTo>
                  <a:cubicBezTo>
                    <a:pt x="14840" y="10344"/>
                    <a:pt x="14840" y="10344"/>
                    <a:pt x="14840" y="10344"/>
                  </a:cubicBezTo>
                  <a:cubicBezTo>
                    <a:pt x="17585" y="10344"/>
                    <a:pt x="17585" y="10344"/>
                    <a:pt x="17585" y="10344"/>
                  </a:cubicBezTo>
                  <a:cubicBezTo>
                    <a:pt x="17585" y="13893"/>
                    <a:pt x="17585" y="13893"/>
                    <a:pt x="17585" y="13893"/>
                  </a:cubicBezTo>
                  <a:cubicBezTo>
                    <a:pt x="14840" y="13893"/>
                    <a:pt x="14840" y="13893"/>
                    <a:pt x="14840" y="13893"/>
                  </a:cubicBezTo>
                  <a:cubicBezTo>
                    <a:pt x="14840" y="21600"/>
                    <a:pt x="14840" y="21600"/>
                    <a:pt x="14840" y="21600"/>
                  </a:cubicBezTo>
                  <a:cubicBezTo>
                    <a:pt x="18906" y="21600"/>
                    <a:pt x="18906" y="21600"/>
                    <a:pt x="18906" y="21600"/>
                  </a:cubicBezTo>
                  <a:cubicBezTo>
                    <a:pt x="20279" y="21600"/>
                    <a:pt x="21600" y="20231"/>
                    <a:pt x="21600" y="18862"/>
                  </a:cubicBezTo>
                  <a:cubicBezTo>
                    <a:pt x="21600" y="2687"/>
                    <a:pt x="21600" y="2687"/>
                    <a:pt x="21600" y="2687"/>
                  </a:cubicBezTo>
                  <a:cubicBezTo>
                    <a:pt x="21600" y="1369"/>
                    <a:pt x="20279" y="0"/>
                    <a:pt x="18906" y="0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5" name="Shape"/>
            <p:cNvSpPr/>
            <p:nvPr/>
          </p:nvSpPr>
          <p:spPr>
            <a:xfrm>
              <a:off x="543191" y="5172"/>
              <a:ext cx="412870" cy="461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529"/>
                  </a:moveTo>
                  <a:cubicBezTo>
                    <a:pt x="21600" y="17071"/>
                    <a:pt x="21600" y="17071"/>
                    <a:pt x="21600" y="17071"/>
                  </a:cubicBezTo>
                  <a:cubicBezTo>
                    <a:pt x="21600" y="19510"/>
                    <a:pt x="19830" y="21600"/>
                    <a:pt x="17351" y="21600"/>
                  </a:cubicBezTo>
                  <a:cubicBezTo>
                    <a:pt x="4603" y="21600"/>
                    <a:pt x="4603" y="21600"/>
                    <a:pt x="4603" y="21600"/>
                  </a:cubicBezTo>
                  <a:cubicBezTo>
                    <a:pt x="2125" y="21600"/>
                    <a:pt x="0" y="19510"/>
                    <a:pt x="0" y="17071"/>
                  </a:cubicBezTo>
                  <a:cubicBezTo>
                    <a:pt x="0" y="4529"/>
                    <a:pt x="0" y="4529"/>
                    <a:pt x="0" y="4529"/>
                  </a:cubicBezTo>
                  <a:cubicBezTo>
                    <a:pt x="0" y="2090"/>
                    <a:pt x="2125" y="0"/>
                    <a:pt x="4603" y="0"/>
                  </a:cubicBezTo>
                  <a:cubicBezTo>
                    <a:pt x="17351" y="0"/>
                    <a:pt x="17351" y="0"/>
                    <a:pt x="17351" y="0"/>
                  </a:cubicBezTo>
                  <a:cubicBezTo>
                    <a:pt x="19830" y="0"/>
                    <a:pt x="21600" y="2090"/>
                    <a:pt x="21600" y="4529"/>
                  </a:cubicBezTo>
                  <a:close/>
                  <a:moveTo>
                    <a:pt x="19830" y="9755"/>
                  </a:moveTo>
                  <a:cubicBezTo>
                    <a:pt x="19830" y="9058"/>
                    <a:pt x="19121" y="8013"/>
                    <a:pt x="18059" y="8013"/>
                  </a:cubicBezTo>
                  <a:cubicBezTo>
                    <a:pt x="17351" y="8013"/>
                    <a:pt x="16997" y="8361"/>
                    <a:pt x="16643" y="8710"/>
                  </a:cubicBezTo>
                  <a:cubicBezTo>
                    <a:pt x="15226" y="8013"/>
                    <a:pt x="13456" y="7316"/>
                    <a:pt x="11331" y="7316"/>
                  </a:cubicBezTo>
                  <a:cubicBezTo>
                    <a:pt x="12393" y="3484"/>
                    <a:pt x="12393" y="3484"/>
                    <a:pt x="12393" y="3484"/>
                  </a:cubicBezTo>
                  <a:cubicBezTo>
                    <a:pt x="15580" y="4181"/>
                    <a:pt x="15580" y="4181"/>
                    <a:pt x="15580" y="4181"/>
                  </a:cubicBezTo>
                  <a:cubicBezTo>
                    <a:pt x="15580" y="5226"/>
                    <a:pt x="16289" y="5923"/>
                    <a:pt x="17351" y="5923"/>
                  </a:cubicBezTo>
                  <a:cubicBezTo>
                    <a:pt x="18059" y="5923"/>
                    <a:pt x="18767" y="5226"/>
                    <a:pt x="18767" y="4181"/>
                  </a:cubicBezTo>
                  <a:cubicBezTo>
                    <a:pt x="18767" y="3135"/>
                    <a:pt x="18059" y="2439"/>
                    <a:pt x="17351" y="2439"/>
                  </a:cubicBezTo>
                  <a:cubicBezTo>
                    <a:pt x="16643" y="2439"/>
                    <a:pt x="15934" y="2787"/>
                    <a:pt x="15580" y="3484"/>
                  </a:cubicBezTo>
                  <a:cubicBezTo>
                    <a:pt x="12393" y="2787"/>
                    <a:pt x="12393" y="2787"/>
                    <a:pt x="12393" y="2787"/>
                  </a:cubicBezTo>
                  <a:cubicBezTo>
                    <a:pt x="12039" y="2787"/>
                    <a:pt x="12039" y="2787"/>
                    <a:pt x="12039" y="3135"/>
                  </a:cubicBezTo>
                  <a:cubicBezTo>
                    <a:pt x="10623" y="7316"/>
                    <a:pt x="10623" y="7316"/>
                    <a:pt x="10623" y="7316"/>
                  </a:cubicBezTo>
                  <a:cubicBezTo>
                    <a:pt x="8498" y="7316"/>
                    <a:pt x="6728" y="8013"/>
                    <a:pt x="5311" y="8710"/>
                  </a:cubicBezTo>
                  <a:cubicBezTo>
                    <a:pt x="4957" y="8361"/>
                    <a:pt x="4249" y="8361"/>
                    <a:pt x="3895" y="8361"/>
                  </a:cubicBezTo>
                  <a:cubicBezTo>
                    <a:pt x="2833" y="8361"/>
                    <a:pt x="2125" y="9058"/>
                    <a:pt x="2125" y="10103"/>
                  </a:cubicBezTo>
                  <a:cubicBezTo>
                    <a:pt x="2125" y="10800"/>
                    <a:pt x="2479" y="11148"/>
                    <a:pt x="3187" y="11497"/>
                  </a:cubicBezTo>
                  <a:cubicBezTo>
                    <a:pt x="3187" y="11845"/>
                    <a:pt x="3187" y="12194"/>
                    <a:pt x="3187" y="12194"/>
                  </a:cubicBezTo>
                  <a:cubicBezTo>
                    <a:pt x="3187" y="14981"/>
                    <a:pt x="6728" y="17419"/>
                    <a:pt x="10977" y="17419"/>
                  </a:cubicBezTo>
                  <a:cubicBezTo>
                    <a:pt x="15226" y="17419"/>
                    <a:pt x="18767" y="14981"/>
                    <a:pt x="18767" y="12194"/>
                  </a:cubicBezTo>
                  <a:cubicBezTo>
                    <a:pt x="18767" y="12194"/>
                    <a:pt x="18767" y="11845"/>
                    <a:pt x="18767" y="11497"/>
                  </a:cubicBezTo>
                  <a:cubicBezTo>
                    <a:pt x="19475" y="11148"/>
                    <a:pt x="19830" y="10800"/>
                    <a:pt x="19830" y="9755"/>
                  </a:cubicBezTo>
                  <a:close/>
                  <a:moveTo>
                    <a:pt x="8144" y="12542"/>
                  </a:moveTo>
                  <a:cubicBezTo>
                    <a:pt x="7436" y="12542"/>
                    <a:pt x="7082" y="11845"/>
                    <a:pt x="7082" y="11148"/>
                  </a:cubicBezTo>
                  <a:cubicBezTo>
                    <a:pt x="7082" y="10452"/>
                    <a:pt x="7436" y="10103"/>
                    <a:pt x="8144" y="10103"/>
                  </a:cubicBezTo>
                  <a:cubicBezTo>
                    <a:pt x="8852" y="10103"/>
                    <a:pt x="9561" y="10452"/>
                    <a:pt x="9561" y="11148"/>
                  </a:cubicBezTo>
                  <a:cubicBezTo>
                    <a:pt x="9561" y="11845"/>
                    <a:pt x="8852" y="12542"/>
                    <a:pt x="8144" y="12542"/>
                  </a:cubicBezTo>
                  <a:close/>
                  <a:moveTo>
                    <a:pt x="13810" y="14284"/>
                  </a:moveTo>
                  <a:cubicBezTo>
                    <a:pt x="14164" y="14632"/>
                    <a:pt x="14164" y="14632"/>
                    <a:pt x="13810" y="14981"/>
                  </a:cubicBezTo>
                  <a:cubicBezTo>
                    <a:pt x="13456" y="15329"/>
                    <a:pt x="12393" y="15677"/>
                    <a:pt x="10977" y="15677"/>
                  </a:cubicBezTo>
                  <a:cubicBezTo>
                    <a:pt x="10977" y="15677"/>
                    <a:pt x="10977" y="15677"/>
                    <a:pt x="10977" y="15677"/>
                  </a:cubicBezTo>
                  <a:cubicBezTo>
                    <a:pt x="10977" y="15677"/>
                    <a:pt x="10977" y="15677"/>
                    <a:pt x="10977" y="15677"/>
                  </a:cubicBezTo>
                  <a:cubicBezTo>
                    <a:pt x="9561" y="15677"/>
                    <a:pt x="8498" y="15329"/>
                    <a:pt x="8144" y="14981"/>
                  </a:cubicBezTo>
                  <a:cubicBezTo>
                    <a:pt x="7790" y="14632"/>
                    <a:pt x="7790" y="14632"/>
                    <a:pt x="8144" y="14284"/>
                  </a:cubicBezTo>
                  <a:cubicBezTo>
                    <a:pt x="8144" y="14284"/>
                    <a:pt x="8498" y="14284"/>
                    <a:pt x="8498" y="14284"/>
                  </a:cubicBezTo>
                  <a:cubicBezTo>
                    <a:pt x="8852" y="14981"/>
                    <a:pt x="9915" y="14981"/>
                    <a:pt x="10977" y="14981"/>
                  </a:cubicBezTo>
                  <a:cubicBezTo>
                    <a:pt x="10977" y="14981"/>
                    <a:pt x="10977" y="14981"/>
                    <a:pt x="10977" y="14981"/>
                  </a:cubicBezTo>
                  <a:cubicBezTo>
                    <a:pt x="10977" y="14981"/>
                    <a:pt x="10977" y="14981"/>
                    <a:pt x="10977" y="14981"/>
                  </a:cubicBezTo>
                  <a:cubicBezTo>
                    <a:pt x="12039" y="14981"/>
                    <a:pt x="13102" y="14981"/>
                    <a:pt x="13456" y="14284"/>
                  </a:cubicBezTo>
                  <a:cubicBezTo>
                    <a:pt x="13456" y="14284"/>
                    <a:pt x="13810" y="14284"/>
                    <a:pt x="13810" y="14284"/>
                  </a:cubicBezTo>
                  <a:close/>
                  <a:moveTo>
                    <a:pt x="14872" y="11148"/>
                  </a:moveTo>
                  <a:cubicBezTo>
                    <a:pt x="14872" y="11845"/>
                    <a:pt x="14518" y="12542"/>
                    <a:pt x="13810" y="12542"/>
                  </a:cubicBezTo>
                  <a:cubicBezTo>
                    <a:pt x="13102" y="12542"/>
                    <a:pt x="12393" y="11845"/>
                    <a:pt x="12393" y="11148"/>
                  </a:cubicBezTo>
                  <a:cubicBezTo>
                    <a:pt x="12393" y="10452"/>
                    <a:pt x="13102" y="10103"/>
                    <a:pt x="13810" y="10103"/>
                  </a:cubicBezTo>
                  <a:cubicBezTo>
                    <a:pt x="14518" y="10103"/>
                    <a:pt x="14872" y="10452"/>
                    <a:pt x="14872" y="11148"/>
                  </a:cubicBezTo>
                  <a:close/>
                  <a:moveTo>
                    <a:pt x="16289" y="4181"/>
                  </a:moveTo>
                  <a:cubicBezTo>
                    <a:pt x="16289" y="3484"/>
                    <a:pt x="16643" y="3135"/>
                    <a:pt x="17351" y="3135"/>
                  </a:cubicBezTo>
                  <a:cubicBezTo>
                    <a:pt x="17705" y="3135"/>
                    <a:pt x="18059" y="3484"/>
                    <a:pt x="18059" y="4181"/>
                  </a:cubicBezTo>
                  <a:cubicBezTo>
                    <a:pt x="18059" y="4877"/>
                    <a:pt x="17705" y="5226"/>
                    <a:pt x="17351" y="5226"/>
                  </a:cubicBezTo>
                  <a:cubicBezTo>
                    <a:pt x="16643" y="5226"/>
                    <a:pt x="16289" y="4877"/>
                    <a:pt x="16289" y="418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6" name="Rounded Rectangle"/>
            <p:cNvSpPr/>
            <p:nvPr/>
          </p:nvSpPr>
          <p:spPr>
            <a:xfrm>
              <a:off x="1609074" y="10656"/>
              <a:ext cx="444028" cy="450819"/>
            </a:xfrm>
            <a:prstGeom prst="roundRect">
              <a:avLst>
                <a:gd name="adj" fmla="val 14509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7" name="Shape"/>
            <p:cNvSpPr/>
            <p:nvPr/>
          </p:nvSpPr>
          <p:spPr>
            <a:xfrm>
              <a:off x="1645966" y="93994"/>
              <a:ext cx="391556" cy="2694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917" extrusionOk="0">
                  <a:moveTo>
                    <a:pt x="0" y="8345"/>
                  </a:moveTo>
                  <a:cubicBezTo>
                    <a:pt x="815" y="8345"/>
                    <a:pt x="1834" y="8345"/>
                    <a:pt x="2445" y="7855"/>
                  </a:cubicBezTo>
                  <a:cubicBezTo>
                    <a:pt x="1223" y="7855"/>
                    <a:pt x="408" y="7118"/>
                    <a:pt x="204" y="6136"/>
                  </a:cubicBezTo>
                  <a:cubicBezTo>
                    <a:pt x="611" y="6627"/>
                    <a:pt x="2038" y="6873"/>
                    <a:pt x="2649" y="6627"/>
                  </a:cubicBezTo>
                  <a:cubicBezTo>
                    <a:pt x="2649" y="6382"/>
                    <a:pt x="2853" y="6136"/>
                    <a:pt x="2853" y="5891"/>
                  </a:cubicBezTo>
                  <a:cubicBezTo>
                    <a:pt x="3464" y="3436"/>
                    <a:pt x="5298" y="1473"/>
                    <a:pt x="7336" y="1718"/>
                  </a:cubicBezTo>
                  <a:cubicBezTo>
                    <a:pt x="7132" y="1473"/>
                    <a:pt x="7132" y="1473"/>
                    <a:pt x="6928" y="1473"/>
                  </a:cubicBezTo>
                  <a:cubicBezTo>
                    <a:pt x="6725" y="1227"/>
                    <a:pt x="5298" y="982"/>
                    <a:pt x="5502" y="491"/>
                  </a:cubicBezTo>
                  <a:cubicBezTo>
                    <a:pt x="5706" y="0"/>
                    <a:pt x="7336" y="982"/>
                    <a:pt x="7743" y="982"/>
                  </a:cubicBezTo>
                  <a:cubicBezTo>
                    <a:pt x="7336" y="736"/>
                    <a:pt x="6521" y="491"/>
                    <a:pt x="6521" y="0"/>
                  </a:cubicBezTo>
                  <a:cubicBezTo>
                    <a:pt x="7132" y="0"/>
                    <a:pt x="7743" y="491"/>
                    <a:pt x="8151" y="982"/>
                  </a:cubicBezTo>
                  <a:cubicBezTo>
                    <a:pt x="7947" y="736"/>
                    <a:pt x="7947" y="491"/>
                    <a:pt x="7947" y="245"/>
                  </a:cubicBezTo>
                  <a:cubicBezTo>
                    <a:pt x="9577" y="1473"/>
                    <a:pt x="10392" y="3927"/>
                    <a:pt x="11208" y="6382"/>
                  </a:cubicBezTo>
                  <a:cubicBezTo>
                    <a:pt x="11819" y="5645"/>
                    <a:pt x="12430" y="5155"/>
                    <a:pt x="12838" y="4909"/>
                  </a:cubicBezTo>
                  <a:cubicBezTo>
                    <a:pt x="14264" y="3927"/>
                    <a:pt x="15894" y="2945"/>
                    <a:pt x="18543" y="1964"/>
                  </a:cubicBezTo>
                  <a:cubicBezTo>
                    <a:pt x="18543" y="2945"/>
                    <a:pt x="18136" y="4173"/>
                    <a:pt x="16709" y="5155"/>
                  </a:cubicBezTo>
                  <a:cubicBezTo>
                    <a:pt x="16913" y="5155"/>
                    <a:pt x="17525" y="5155"/>
                    <a:pt x="17932" y="5400"/>
                  </a:cubicBezTo>
                  <a:cubicBezTo>
                    <a:pt x="17728" y="6627"/>
                    <a:pt x="17117" y="7609"/>
                    <a:pt x="15487" y="8100"/>
                  </a:cubicBezTo>
                  <a:cubicBezTo>
                    <a:pt x="16302" y="8100"/>
                    <a:pt x="16709" y="8345"/>
                    <a:pt x="16913" y="8591"/>
                  </a:cubicBezTo>
                  <a:cubicBezTo>
                    <a:pt x="16709" y="9573"/>
                    <a:pt x="15894" y="10555"/>
                    <a:pt x="14264" y="10309"/>
                  </a:cubicBezTo>
                  <a:cubicBezTo>
                    <a:pt x="16098" y="11045"/>
                    <a:pt x="15079" y="12764"/>
                    <a:pt x="13653" y="12518"/>
                  </a:cubicBezTo>
                  <a:cubicBezTo>
                    <a:pt x="15894" y="15464"/>
                    <a:pt x="19562" y="15218"/>
                    <a:pt x="21600" y="12764"/>
                  </a:cubicBezTo>
                  <a:cubicBezTo>
                    <a:pt x="16302" y="21600"/>
                    <a:pt x="4483" y="18164"/>
                    <a:pt x="2649" y="9327"/>
                  </a:cubicBezTo>
                  <a:cubicBezTo>
                    <a:pt x="1223" y="9327"/>
                    <a:pt x="611" y="8836"/>
                    <a:pt x="0" y="8345"/>
                  </a:cubicBezTo>
                  <a:close/>
                </a:path>
              </a:pathLst>
            </a:custGeom>
            <a:solidFill>
              <a:srgbClr val="2D494A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8" name="Rounded Rectangle"/>
            <p:cNvSpPr/>
            <p:nvPr/>
          </p:nvSpPr>
          <p:spPr>
            <a:xfrm>
              <a:off x="2152266" y="0"/>
              <a:ext cx="444028" cy="450818"/>
            </a:xfrm>
            <a:prstGeom prst="roundRect">
              <a:avLst>
                <a:gd name="adj" fmla="val 14509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solidFill>
                  <a:schemeClr val="bg1"/>
                </a:solidFill>
              </a:endParaRPr>
            </a:p>
          </p:txBody>
        </p:sp>
        <p:grpSp>
          <p:nvGrpSpPr>
            <p:cNvPr id="641" name="Group"/>
            <p:cNvGrpSpPr/>
            <p:nvPr/>
          </p:nvGrpSpPr>
          <p:grpSpPr>
            <a:xfrm>
              <a:off x="2243801" y="83337"/>
              <a:ext cx="282271" cy="284144"/>
              <a:chOff x="0" y="0"/>
              <a:chExt cx="282269" cy="284143"/>
            </a:xfrm>
          </p:grpSpPr>
          <p:sp>
            <p:nvSpPr>
              <p:cNvPr id="639" name="Shape"/>
              <p:cNvSpPr/>
              <p:nvPr/>
            </p:nvSpPr>
            <p:spPr>
              <a:xfrm>
                <a:off x="0" y="0"/>
                <a:ext cx="61612" cy="280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90"/>
                    </a:moveTo>
                    <a:cubicBezTo>
                      <a:pt x="21600" y="3534"/>
                      <a:pt x="17633" y="4380"/>
                      <a:pt x="9918" y="4380"/>
                    </a:cubicBezTo>
                    <a:cubicBezTo>
                      <a:pt x="3747" y="4380"/>
                      <a:pt x="0" y="3534"/>
                      <a:pt x="0" y="2190"/>
                    </a:cubicBezTo>
                    <a:cubicBezTo>
                      <a:pt x="0" y="896"/>
                      <a:pt x="3747" y="0"/>
                      <a:pt x="9918" y="0"/>
                    </a:cubicBezTo>
                    <a:cubicBezTo>
                      <a:pt x="17633" y="0"/>
                      <a:pt x="21600" y="896"/>
                      <a:pt x="21600" y="2190"/>
                    </a:cubicBezTo>
                    <a:close/>
                    <a:moveTo>
                      <a:pt x="0" y="21600"/>
                    </a:moveTo>
                    <a:cubicBezTo>
                      <a:pt x="0" y="6570"/>
                      <a:pt x="0" y="6570"/>
                      <a:pt x="0" y="6570"/>
                    </a:cubicBezTo>
                    <a:cubicBezTo>
                      <a:pt x="21600" y="6570"/>
                      <a:pt x="21600" y="6570"/>
                      <a:pt x="21600" y="657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2D49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21919" tIns="121919" rIns="121919" bIns="121919" numCol="1" anchor="ctr">
                <a:noAutofit/>
              </a:bodyPr>
              <a:lstStyle/>
              <a:p>
                <a:pPr defTabSz="2438400">
                  <a:defRPr sz="4800">
                    <a:solidFill>
                      <a:srgbClr val="000000"/>
                    </a:solidFill>
                  </a:defRPr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0" name="Shape"/>
              <p:cNvSpPr/>
              <p:nvPr/>
            </p:nvSpPr>
            <p:spPr>
              <a:xfrm>
                <a:off x="96188" y="82985"/>
                <a:ext cx="186082" cy="2011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7386"/>
                    </a:moveTo>
                    <a:cubicBezTo>
                      <a:pt x="0" y="4320"/>
                      <a:pt x="0" y="2439"/>
                      <a:pt x="0" y="557"/>
                    </a:cubicBezTo>
                    <a:cubicBezTo>
                      <a:pt x="5844" y="557"/>
                      <a:pt x="5844" y="557"/>
                      <a:pt x="5844" y="557"/>
                    </a:cubicBezTo>
                    <a:cubicBezTo>
                      <a:pt x="6510" y="3066"/>
                      <a:pt x="6510" y="3066"/>
                      <a:pt x="6510" y="3066"/>
                    </a:cubicBezTo>
                    <a:cubicBezTo>
                      <a:pt x="7175" y="1812"/>
                      <a:pt x="9764" y="0"/>
                      <a:pt x="13759" y="0"/>
                    </a:cubicBezTo>
                    <a:cubicBezTo>
                      <a:pt x="18345" y="0"/>
                      <a:pt x="21600" y="3066"/>
                      <a:pt x="21600" y="9197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4351" y="21600"/>
                      <a:pt x="14351" y="21600"/>
                      <a:pt x="14351" y="21600"/>
                    </a:cubicBezTo>
                    <a:cubicBezTo>
                      <a:pt x="14351" y="9825"/>
                      <a:pt x="14351" y="9825"/>
                      <a:pt x="14351" y="9825"/>
                    </a:cubicBezTo>
                    <a:cubicBezTo>
                      <a:pt x="14351" y="7386"/>
                      <a:pt x="13759" y="5505"/>
                      <a:pt x="11096" y="5505"/>
                    </a:cubicBezTo>
                    <a:cubicBezTo>
                      <a:pt x="9099" y="5505"/>
                      <a:pt x="7841" y="6759"/>
                      <a:pt x="7175" y="8013"/>
                    </a:cubicBezTo>
                    <a:cubicBezTo>
                      <a:pt x="7175" y="8013"/>
                      <a:pt x="7175" y="8640"/>
                      <a:pt x="7175" y="9197"/>
                    </a:cubicBezTo>
                    <a:cubicBezTo>
                      <a:pt x="7175" y="21600"/>
                      <a:pt x="7175" y="21600"/>
                      <a:pt x="7175" y="21600"/>
                    </a:cubicBezTo>
                    <a:cubicBezTo>
                      <a:pt x="0" y="21600"/>
                      <a:pt x="0" y="21600"/>
                      <a:pt x="0" y="21600"/>
                    </a:cubicBezTo>
                    <a:lnTo>
                      <a:pt x="0" y="7386"/>
                    </a:lnTo>
                  </a:path>
                </a:pathLst>
              </a:custGeom>
              <a:solidFill>
                <a:srgbClr val="2D49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21919" tIns="121919" rIns="121919" bIns="121919" numCol="1" anchor="ctr">
                <a:noAutofit/>
              </a:bodyPr>
              <a:lstStyle/>
              <a:p>
                <a:pPr defTabSz="2438400">
                  <a:defRPr sz="4800">
                    <a:solidFill>
                      <a:srgbClr val="000000"/>
                    </a:solidFill>
                  </a:defRPr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42" name="Rounded Rectangle"/>
            <p:cNvSpPr/>
            <p:nvPr/>
          </p:nvSpPr>
          <p:spPr>
            <a:xfrm>
              <a:off x="0" y="10656"/>
              <a:ext cx="444027" cy="450819"/>
            </a:xfrm>
            <a:prstGeom prst="roundRect">
              <a:avLst>
                <a:gd name="adj" fmla="val 14509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43" name="Shape"/>
            <p:cNvSpPr/>
            <p:nvPr/>
          </p:nvSpPr>
          <p:spPr>
            <a:xfrm>
              <a:off x="51337" y="80057"/>
              <a:ext cx="341352" cy="312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34" y="19800"/>
                  </a:moveTo>
                  <a:cubicBezTo>
                    <a:pt x="21234" y="20700"/>
                    <a:pt x="20136" y="21300"/>
                    <a:pt x="19037" y="21300"/>
                  </a:cubicBezTo>
                  <a:cubicBezTo>
                    <a:pt x="16475" y="21600"/>
                    <a:pt x="13546" y="21600"/>
                    <a:pt x="10983" y="21600"/>
                  </a:cubicBezTo>
                  <a:cubicBezTo>
                    <a:pt x="8054" y="21600"/>
                    <a:pt x="5492" y="21600"/>
                    <a:pt x="2563" y="21300"/>
                  </a:cubicBezTo>
                  <a:cubicBezTo>
                    <a:pt x="1464" y="21300"/>
                    <a:pt x="732" y="20700"/>
                    <a:pt x="366" y="19800"/>
                  </a:cubicBezTo>
                  <a:cubicBezTo>
                    <a:pt x="0" y="18300"/>
                    <a:pt x="0" y="16800"/>
                    <a:pt x="0" y="15600"/>
                  </a:cubicBezTo>
                  <a:cubicBezTo>
                    <a:pt x="0" y="14100"/>
                    <a:pt x="0" y="12600"/>
                    <a:pt x="366" y="11400"/>
                  </a:cubicBezTo>
                  <a:cubicBezTo>
                    <a:pt x="732" y="10200"/>
                    <a:pt x="1464" y="9600"/>
                    <a:pt x="2563" y="9600"/>
                  </a:cubicBezTo>
                  <a:cubicBezTo>
                    <a:pt x="5492" y="9300"/>
                    <a:pt x="8054" y="9300"/>
                    <a:pt x="10983" y="9300"/>
                  </a:cubicBezTo>
                  <a:cubicBezTo>
                    <a:pt x="13546" y="9300"/>
                    <a:pt x="16475" y="9300"/>
                    <a:pt x="19037" y="9600"/>
                  </a:cubicBezTo>
                  <a:cubicBezTo>
                    <a:pt x="20136" y="9600"/>
                    <a:pt x="21234" y="10200"/>
                    <a:pt x="21234" y="11400"/>
                  </a:cubicBezTo>
                  <a:cubicBezTo>
                    <a:pt x="21600" y="12600"/>
                    <a:pt x="21600" y="14100"/>
                    <a:pt x="21600" y="15600"/>
                  </a:cubicBezTo>
                  <a:cubicBezTo>
                    <a:pt x="21600" y="16800"/>
                    <a:pt x="21600" y="18300"/>
                    <a:pt x="21234" y="19800"/>
                  </a:cubicBezTo>
                  <a:close/>
                  <a:moveTo>
                    <a:pt x="6224" y="12600"/>
                  </a:moveTo>
                  <a:cubicBezTo>
                    <a:pt x="6224" y="11400"/>
                    <a:pt x="6224" y="11400"/>
                    <a:pt x="6224" y="11400"/>
                  </a:cubicBezTo>
                  <a:cubicBezTo>
                    <a:pt x="1464" y="11400"/>
                    <a:pt x="1464" y="11400"/>
                    <a:pt x="1464" y="11400"/>
                  </a:cubicBezTo>
                  <a:cubicBezTo>
                    <a:pt x="1464" y="12600"/>
                    <a:pt x="1464" y="12600"/>
                    <a:pt x="1464" y="12600"/>
                  </a:cubicBezTo>
                  <a:cubicBezTo>
                    <a:pt x="3295" y="12600"/>
                    <a:pt x="3295" y="12600"/>
                    <a:pt x="3295" y="12600"/>
                  </a:cubicBezTo>
                  <a:cubicBezTo>
                    <a:pt x="3295" y="19200"/>
                    <a:pt x="3295" y="19200"/>
                    <a:pt x="3295" y="19200"/>
                  </a:cubicBezTo>
                  <a:cubicBezTo>
                    <a:pt x="4759" y="19200"/>
                    <a:pt x="4759" y="19200"/>
                    <a:pt x="4759" y="19200"/>
                  </a:cubicBezTo>
                  <a:cubicBezTo>
                    <a:pt x="4759" y="12600"/>
                    <a:pt x="4759" y="12600"/>
                    <a:pt x="4759" y="12600"/>
                  </a:cubicBezTo>
                  <a:lnTo>
                    <a:pt x="6224" y="12600"/>
                  </a:lnTo>
                  <a:close/>
                  <a:moveTo>
                    <a:pt x="8420" y="0"/>
                  </a:moveTo>
                  <a:cubicBezTo>
                    <a:pt x="6956" y="4800"/>
                    <a:pt x="6956" y="4800"/>
                    <a:pt x="6956" y="4800"/>
                  </a:cubicBezTo>
                  <a:cubicBezTo>
                    <a:pt x="6956" y="8100"/>
                    <a:pt x="6956" y="8100"/>
                    <a:pt x="6956" y="8100"/>
                  </a:cubicBezTo>
                  <a:cubicBezTo>
                    <a:pt x="5492" y="8100"/>
                    <a:pt x="5492" y="8100"/>
                    <a:pt x="5492" y="8100"/>
                  </a:cubicBezTo>
                  <a:cubicBezTo>
                    <a:pt x="5492" y="4800"/>
                    <a:pt x="5492" y="4800"/>
                    <a:pt x="5492" y="4800"/>
                  </a:cubicBezTo>
                  <a:cubicBezTo>
                    <a:pt x="5125" y="4200"/>
                    <a:pt x="4759" y="3600"/>
                    <a:pt x="4393" y="2400"/>
                  </a:cubicBezTo>
                  <a:cubicBezTo>
                    <a:pt x="4027" y="1500"/>
                    <a:pt x="3661" y="900"/>
                    <a:pt x="3295" y="0"/>
                  </a:cubicBezTo>
                  <a:cubicBezTo>
                    <a:pt x="5125" y="0"/>
                    <a:pt x="5125" y="0"/>
                    <a:pt x="5125" y="0"/>
                  </a:cubicBezTo>
                  <a:cubicBezTo>
                    <a:pt x="6224" y="3300"/>
                    <a:pt x="6224" y="3300"/>
                    <a:pt x="6224" y="3300"/>
                  </a:cubicBezTo>
                  <a:cubicBezTo>
                    <a:pt x="6956" y="0"/>
                    <a:pt x="6956" y="0"/>
                    <a:pt x="6956" y="0"/>
                  </a:cubicBezTo>
                  <a:lnTo>
                    <a:pt x="8420" y="0"/>
                  </a:lnTo>
                  <a:close/>
                  <a:moveTo>
                    <a:pt x="10251" y="19200"/>
                  </a:moveTo>
                  <a:cubicBezTo>
                    <a:pt x="10251" y="13500"/>
                    <a:pt x="10251" y="13500"/>
                    <a:pt x="10251" y="13500"/>
                  </a:cubicBezTo>
                  <a:cubicBezTo>
                    <a:pt x="8786" y="13500"/>
                    <a:pt x="8786" y="13500"/>
                    <a:pt x="8786" y="13500"/>
                  </a:cubicBezTo>
                  <a:cubicBezTo>
                    <a:pt x="8786" y="18000"/>
                    <a:pt x="8786" y="18000"/>
                    <a:pt x="8786" y="18000"/>
                  </a:cubicBezTo>
                  <a:cubicBezTo>
                    <a:pt x="8420" y="18300"/>
                    <a:pt x="8420" y="18300"/>
                    <a:pt x="8054" y="18300"/>
                  </a:cubicBezTo>
                  <a:cubicBezTo>
                    <a:pt x="7688" y="18300"/>
                    <a:pt x="7688" y="18300"/>
                    <a:pt x="7688" y="18300"/>
                  </a:cubicBezTo>
                  <a:cubicBezTo>
                    <a:pt x="7688" y="18000"/>
                    <a:pt x="7688" y="18000"/>
                    <a:pt x="7688" y="17700"/>
                  </a:cubicBezTo>
                  <a:cubicBezTo>
                    <a:pt x="7688" y="13500"/>
                    <a:pt x="7688" y="13500"/>
                    <a:pt x="7688" y="13500"/>
                  </a:cubicBezTo>
                  <a:cubicBezTo>
                    <a:pt x="6224" y="13500"/>
                    <a:pt x="6224" y="13500"/>
                    <a:pt x="6224" y="13500"/>
                  </a:cubicBezTo>
                  <a:cubicBezTo>
                    <a:pt x="6224" y="18000"/>
                    <a:pt x="6224" y="18000"/>
                    <a:pt x="6224" y="18000"/>
                  </a:cubicBezTo>
                  <a:cubicBezTo>
                    <a:pt x="6224" y="18600"/>
                    <a:pt x="6224" y="18900"/>
                    <a:pt x="6590" y="18900"/>
                  </a:cubicBezTo>
                  <a:cubicBezTo>
                    <a:pt x="6590" y="19200"/>
                    <a:pt x="6956" y="19500"/>
                    <a:pt x="7322" y="19500"/>
                  </a:cubicBezTo>
                  <a:cubicBezTo>
                    <a:pt x="7688" y="19500"/>
                    <a:pt x="8420" y="19200"/>
                    <a:pt x="8786" y="18600"/>
                  </a:cubicBezTo>
                  <a:cubicBezTo>
                    <a:pt x="8786" y="19200"/>
                    <a:pt x="8786" y="19200"/>
                    <a:pt x="8786" y="19200"/>
                  </a:cubicBezTo>
                  <a:lnTo>
                    <a:pt x="10251" y="19200"/>
                  </a:lnTo>
                  <a:close/>
                  <a:moveTo>
                    <a:pt x="12447" y="6300"/>
                  </a:moveTo>
                  <a:cubicBezTo>
                    <a:pt x="12447" y="6900"/>
                    <a:pt x="12447" y="7200"/>
                    <a:pt x="12081" y="7500"/>
                  </a:cubicBezTo>
                  <a:cubicBezTo>
                    <a:pt x="11715" y="8100"/>
                    <a:pt x="11349" y="8400"/>
                    <a:pt x="10617" y="8400"/>
                  </a:cubicBezTo>
                  <a:cubicBezTo>
                    <a:pt x="9885" y="8400"/>
                    <a:pt x="9519" y="8100"/>
                    <a:pt x="9153" y="7500"/>
                  </a:cubicBezTo>
                  <a:cubicBezTo>
                    <a:pt x="8786" y="7200"/>
                    <a:pt x="8420" y="6900"/>
                    <a:pt x="8420" y="6300"/>
                  </a:cubicBezTo>
                  <a:cubicBezTo>
                    <a:pt x="8420" y="4200"/>
                    <a:pt x="8420" y="4200"/>
                    <a:pt x="8420" y="4200"/>
                  </a:cubicBezTo>
                  <a:cubicBezTo>
                    <a:pt x="8420" y="3600"/>
                    <a:pt x="8786" y="3000"/>
                    <a:pt x="9153" y="2700"/>
                  </a:cubicBezTo>
                  <a:cubicBezTo>
                    <a:pt x="9519" y="2400"/>
                    <a:pt x="9885" y="2100"/>
                    <a:pt x="10617" y="2100"/>
                  </a:cubicBezTo>
                  <a:cubicBezTo>
                    <a:pt x="11349" y="2100"/>
                    <a:pt x="11715" y="2400"/>
                    <a:pt x="12081" y="2700"/>
                  </a:cubicBezTo>
                  <a:cubicBezTo>
                    <a:pt x="12447" y="3000"/>
                    <a:pt x="12447" y="3600"/>
                    <a:pt x="12447" y="4200"/>
                  </a:cubicBezTo>
                  <a:lnTo>
                    <a:pt x="12447" y="6300"/>
                  </a:lnTo>
                  <a:close/>
                  <a:moveTo>
                    <a:pt x="10983" y="3900"/>
                  </a:moveTo>
                  <a:cubicBezTo>
                    <a:pt x="10983" y="3300"/>
                    <a:pt x="10983" y="3000"/>
                    <a:pt x="10617" y="3000"/>
                  </a:cubicBezTo>
                  <a:cubicBezTo>
                    <a:pt x="10251" y="3000"/>
                    <a:pt x="9885" y="3300"/>
                    <a:pt x="9885" y="3900"/>
                  </a:cubicBezTo>
                  <a:cubicBezTo>
                    <a:pt x="9885" y="6300"/>
                    <a:pt x="9885" y="6300"/>
                    <a:pt x="9885" y="6300"/>
                  </a:cubicBezTo>
                  <a:cubicBezTo>
                    <a:pt x="9885" y="6900"/>
                    <a:pt x="10251" y="7200"/>
                    <a:pt x="10617" y="7200"/>
                  </a:cubicBezTo>
                  <a:cubicBezTo>
                    <a:pt x="10983" y="7200"/>
                    <a:pt x="10983" y="6900"/>
                    <a:pt x="10983" y="6300"/>
                  </a:cubicBezTo>
                  <a:lnTo>
                    <a:pt x="10983" y="3900"/>
                  </a:lnTo>
                  <a:close/>
                  <a:moveTo>
                    <a:pt x="15010" y="15300"/>
                  </a:moveTo>
                  <a:cubicBezTo>
                    <a:pt x="15010" y="14700"/>
                    <a:pt x="15010" y="14100"/>
                    <a:pt x="15010" y="14100"/>
                  </a:cubicBezTo>
                  <a:cubicBezTo>
                    <a:pt x="15010" y="13500"/>
                    <a:pt x="14644" y="13200"/>
                    <a:pt x="13912" y="13200"/>
                  </a:cubicBezTo>
                  <a:cubicBezTo>
                    <a:pt x="13546" y="13200"/>
                    <a:pt x="13180" y="13500"/>
                    <a:pt x="12447" y="13800"/>
                  </a:cubicBezTo>
                  <a:cubicBezTo>
                    <a:pt x="12447" y="11400"/>
                    <a:pt x="12447" y="11400"/>
                    <a:pt x="12447" y="11400"/>
                  </a:cubicBezTo>
                  <a:cubicBezTo>
                    <a:pt x="11349" y="11400"/>
                    <a:pt x="11349" y="11400"/>
                    <a:pt x="11349" y="11400"/>
                  </a:cubicBezTo>
                  <a:cubicBezTo>
                    <a:pt x="11349" y="19200"/>
                    <a:pt x="11349" y="19200"/>
                    <a:pt x="11349" y="19200"/>
                  </a:cubicBezTo>
                  <a:cubicBezTo>
                    <a:pt x="12447" y="19200"/>
                    <a:pt x="12447" y="19200"/>
                    <a:pt x="12447" y="19200"/>
                  </a:cubicBezTo>
                  <a:cubicBezTo>
                    <a:pt x="12447" y="18600"/>
                    <a:pt x="12447" y="18600"/>
                    <a:pt x="12447" y="18600"/>
                  </a:cubicBezTo>
                  <a:cubicBezTo>
                    <a:pt x="13180" y="19200"/>
                    <a:pt x="13546" y="19500"/>
                    <a:pt x="13912" y="19500"/>
                  </a:cubicBezTo>
                  <a:cubicBezTo>
                    <a:pt x="14644" y="19500"/>
                    <a:pt x="15010" y="19200"/>
                    <a:pt x="15010" y="18600"/>
                  </a:cubicBezTo>
                  <a:cubicBezTo>
                    <a:pt x="15010" y="18600"/>
                    <a:pt x="15010" y="18000"/>
                    <a:pt x="15010" y="17400"/>
                  </a:cubicBezTo>
                  <a:lnTo>
                    <a:pt x="15010" y="15300"/>
                  </a:lnTo>
                  <a:close/>
                  <a:moveTo>
                    <a:pt x="13912" y="17700"/>
                  </a:moveTo>
                  <a:cubicBezTo>
                    <a:pt x="13912" y="18300"/>
                    <a:pt x="13546" y="18300"/>
                    <a:pt x="13180" y="18300"/>
                  </a:cubicBezTo>
                  <a:cubicBezTo>
                    <a:pt x="13180" y="18300"/>
                    <a:pt x="12814" y="18300"/>
                    <a:pt x="12447" y="18300"/>
                  </a:cubicBezTo>
                  <a:cubicBezTo>
                    <a:pt x="12447" y="14400"/>
                    <a:pt x="12447" y="14400"/>
                    <a:pt x="12447" y="14400"/>
                  </a:cubicBezTo>
                  <a:cubicBezTo>
                    <a:pt x="12814" y="14400"/>
                    <a:pt x="13180" y="14400"/>
                    <a:pt x="13180" y="14400"/>
                  </a:cubicBezTo>
                  <a:cubicBezTo>
                    <a:pt x="13546" y="14400"/>
                    <a:pt x="13912" y="14700"/>
                    <a:pt x="13912" y="15000"/>
                  </a:cubicBezTo>
                  <a:lnTo>
                    <a:pt x="13912" y="17700"/>
                  </a:lnTo>
                  <a:close/>
                  <a:moveTo>
                    <a:pt x="17573" y="8100"/>
                  </a:moveTo>
                  <a:cubicBezTo>
                    <a:pt x="16108" y="8100"/>
                    <a:pt x="16108" y="8100"/>
                    <a:pt x="16108" y="8100"/>
                  </a:cubicBezTo>
                  <a:cubicBezTo>
                    <a:pt x="16108" y="7500"/>
                    <a:pt x="16108" y="7500"/>
                    <a:pt x="16108" y="7500"/>
                  </a:cubicBezTo>
                  <a:cubicBezTo>
                    <a:pt x="15376" y="8100"/>
                    <a:pt x="15010" y="8400"/>
                    <a:pt x="14644" y="8400"/>
                  </a:cubicBezTo>
                  <a:cubicBezTo>
                    <a:pt x="14278" y="8400"/>
                    <a:pt x="13912" y="8100"/>
                    <a:pt x="13546" y="7800"/>
                  </a:cubicBezTo>
                  <a:cubicBezTo>
                    <a:pt x="13546" y="7500"/>
                    <a:pt x="13546" y="7200"/>
                    <a:pt x="13546" y="6900"/>
                  </a:cubicBezTo>
                  <a:cubicBezTo>
                    <a:pt x="13546" y="2100"/>
                    <a:pt x="13546" y="2100"/>
                    <a:pt x="13546" y="2100"/>
                  </a:cubicBezTo>
                  <a:cubicBezTo>
                    <a:pt x="15010" y="2100"/>
                    <a:pt x="15010" y="2100"/>
                    <a:pt x="15010" y="2100"/>
                  </a:cubicBezTo>
                  <a:cubicBezTo>
                    <a:pt x="15010" y="6600"/>
                    <a:pt x="15010" y="6600"/>
                    <a:pt x="15010" y="6600"/>
                  </a:cubicBezTo>
                  <a:cubicBezTo>
                    <a:pt x="15010" y="6900"/>
                    <a:pt x="15010" y="6900"/>
                    <a:pt x="15010" y="6900"/>
                  </a:cubicBezTo>
                  <a:cubicBezTo>
                    <a:pt x="15010" y="7200"/>
                    <a:pt x="15010" y="7200"/>
                    <a:pt x="15376" y="7200"/>
                  </a:cubicBezTo>
                  <a:cubicBezTo>
                    <a:pt x="15376" y="7200"/>
                    <a:pt x="15742" y="7200"/>
                    <a:pt x="16108" y="6600"/>
                  </a:cubicBezTo>
                  <a:cubicBezTo>
                    <a:pt x="16108" y="2100"/>
                    <a:pt x="16108" y="2100"/>
                    <a:pt x="16108" y="2100"/>
                  </a:cubicBezTo>
                  <a:cubicBezTo>
                    <a:pt x="17573" y="2100"/>
                    <a:pt x="17573" y="2100"/>
                    <a:pt x="17573" y="2100"/>
                  </a:cubicBezTo>
                  <a:lnTo>
                    <a:pt x="17573" y="8100"/>
                  </a:lnTo>
                  <a:close/>
                  <a:moveTo>
                    <a:pt x="20136" y="17400"/>
                  </a:moveTo>
                  <a:cubicBezTo>
                    <a:pt x="18671" y="17400"/>
                    <a:pt x="18671" y="17400"/>
                    <a:pt x="18671" y="17400"/>
                  </a:cubicBezTo>
                  <a:cubicBezTo>
                    <a:pt x="18671" y="17700"/>
                    <a:pt x="18671" y="18000"/>
                    <a:pt x="18671" y="18000"/>
                  </a:cubicBezTo>
                  <a:cubicBezTo>
                    <a:pt x="18671" y="18300"/>
                    <a:pt x="18305" y="18300"/>
                    <a:pt x="18305" y="18300"/>
                  </a:cubicBezTo>
                  <a:cubicBezTo>
                    <a:pt x="17573" y="18300"/>
                    <a:pt x="17573" y="18300"/>
                    <a:pt x="17573" y="17700"/>
                  </a:cubicBezTo>
                  <a:cubicBezTo>
                    <a:pt x="17573" y="16500"/>
                    <a:pt x="17573" y="16500"/>
                    <a:pt x="17573" y="16500"/>
                  </a:cubicBezTo>
                  <a:cubicBezTo>
                    <a:pt x="20136" y="16500"/>
                    <a:pt x="20136" y="16500"/>
                    <a:pt x="20136" y="16500"/>
                  </a:cubicBezTo>
                  <a:cubicBezTo>
                    <a:pt x="20136" y="15300"/>
                    <a:pt x="20136" y="15300"/>
                    <a:pt x="20136" y="15300"/>
                  </a:cubicBezTo>
                  <a:cubicBezTo>
                    <a:pt x="20136" y="14700"/>
                    <a:pt x="20136" y="14100"/>
                    <a:pt x="19769" y="13800"/>
                  </a:cubicBezTo>
                  <a:cubicBezTo>
                    <a:pt x="19403" y="13500"/>
                    <a:pt x="18671" y="13200"/>
                    <a:pt x="18305" y="13200"/>
                  </a:cubicBezTo>
                  <a:cubicBezTo>
                    <a:pt x="17573" y="13200"/>
                    <a:pt x="16841" y="13500"/>
                    <a:pt x="16475" y="13800"/>
                  </a:cubicBezTo>
                  <a:cubicBezTo>
                    <a:pt x="16475" y="14100"/>
                    <a:pt x="16108" y="14700"/>
                    <a:pt x="16108" y="15300"/>
                  </a:cubicBezTo>
                  <a:cubicBezTo>
                    <a:pt x="16108" y="17400"/>
                    <a:pt x="16108" y="17400"/>
                    <a:pt x="16108" y="17400"/>
                  </a:cubicBezTo>
                  <a:cubicBezTo>
                    <a:pt x="16108" y="18000"/>
                    <a:pt x="16475" y="18600"/>
                    <a:pt x="16475" y="18900"/>
                  </a:cubicBezTo>
                  <a:cubicBezTo>
                    <a:pt x="16841" y="19200"/>
                    <a:pt x="17573" y="19500"/>
                    <a:pt x="18305" y="19500"/>
                  </a:cubicBezTo>
                  <a:cubicBezTo>
                    <a:pt x="19037" y="19500"/>
                    <a:pt x="19403" y="19200"/>
                    <a:pt x="19769" y="18900"/>
                  </a:cubicBezTo>
                  <a:cubicBezTo>
                    <a:pt x="19769" y="18600"/>
                    <a:pt x="20136" y="18300"/>
                    <a:pt x="20136" y="18000"/>
                  </a:cubicBezTo>
                  <a:cubicBezTo>
                    <a:pt x="20136" y="18000"/>
                    <a:pt x="20136" y="17700"/>
                    <a:pt x="20136" y="17400"/>
                  </a:cubicBezTo>
                  <a:close/>
                  <a:moveTo>
                    <a:pt x="18671" y="15600"/>
                  </a:moveTo>
                  <a:cubicBezTo>
                    <a:pt x="17573" y="15600"/>
                    <a:pt x="17573" y="15600"/>
                    <a:pt x="17573" y="15600"/>
                  </a:cubicBezTo>
                  <a:cubicBezTo>
                    <a:pt x="17573" y="15000"/>
                    <a:pt x="17573" y="15000"/>
                    <a:pt x="17573" y="15000"/>
                  </a:cubicBezTo>
                  <a:cubicBezTo>
                    <a:pt x="17573" y="14700"/>
                    <a:pt x="17573" y="14400"/>
                    <a:pt x="18305" y="14400"/>
                  </a:cubicBezTo>
                  <a:cubicBezTo>
                    <a:pt x="18671" y="14400"/>
                    <a:pt x="18671" y="14700"/>
                    <a:pt x="18671" y="15000"/>
                  </a:cubicBezTo>
                  <a:lnTo>
                    <a:pt x="18671" y="15600"/>
                  </a:lnTo>
                  <a:close/>
                </a:path>
              </a:pathLst>
            </a:custGeom>
            <a:solidFill>
              <a:srgbClr val="2D494A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645" name="https://www.r-project.org/"/>
          <p:cNvSpPr txBox="1"/>
          <p:nvPr/>
        </p:nvSpPr>
        <p:spPr>
          <a:xfrm>
            <a:off x="1400425" y="3197640"/>
            <a:ext cx="4098879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2600" u="sng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  <a:hlinkClick r:id="rId16"/>
              </a:defRPr>
            </a:lvl1pPr>
          </a:lstStyle>
          <a:p>
            <a:pPr>
              <a:defRPr u="none"/>
            </a:pPr>
            <a:r>
              <a:rPr sz="2800" u="sng"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https://www.r-project.org/</a:t>
            </a:r>
          </a:p>
        </p:txBody>
      </p:sp>
      <p:sp>
        <p:nvSpPr>
          <p:cNvPr id="646" name="12"/>
          <p:cNvSpPr txBox="1"/>
          <p:nvPr/>
        </p:nvSpPr>
        <p:spPr>
          <a:xfrm>
            <a:off x="374649" y="13090488"/>
            <a:ext cx="575561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15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41D7-5580-C074-8C71-DD819621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Rectangle">
            <a:extLst>
              <a:ext uri="{FF2B5EF4-FFF2-40B4-BE49-F238E27FC236}">
                <a16:creationId xmlns:a16="http://schemas.microsoft.com/office/drawing/2014/main" id="{7BA568DC-9659-C104-CFB0-49DD8F424AC3}"/>
              </a:ext>
            </a:extLst>
          </p:cNvPr>
          <p:cNvSpPr/>
          <p:nvPr/>
        </p:nvSpPr>
        <p:spPr>
          <a:xfrm>
            <a:off x="-29388" y="-53314"/>
            <a:ext cx="24430076" cy="4005392"/>
          </a:xfrm>
          <a:prstGeom prst="rect">
            <a:avLst/>
          </a:prstGeom>
          <a:solidFill>
            <a:srgbClr val="E7B07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72" name="16">
            <a:extLst>
              <a:ext uri="{FF2B5EF4-FFF2-40B4-BE49-F238E27FC236}">
                <a16:creationId xmlns:a16="http://schemas.microsoft.com/office/drawing/2014/main" id="{049A3AD0-67A8-47B2-1AFB-B18E2C062926}"/>
              </a:ext>
            </a:extLst>
          </p:cNvPr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4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876" name="Group">
            <a:extLst>
              <a:ext uri="{FF2B5EF4-FFF2-40B4-BE49-F238E27FC236}">
                <a16:creationId xmlns:a16="http://schemas.microsoft.com/office/drawing/2014/main" id="{94D6D4BA-AE73-91AD-58FF-CCE0CFDA7077}"/>
              </a:ext>
            </a:extLst>
          </p:cNvPr>
          <p:cNvGrpSpPr/>
          <p:nvPr/>
        </p:nvGrpSpPr>
        <p:grpSpPr>
          <a:xfrm>
            <a:off x="7597475" y="1016314"/>
            <a:ext cx="10520403" cy="2334482"/>
            <a:chOff x="97444" y="0"/>
            <a:chExt cx="10520402" cy="2334480"/>
          </a:xfrm>
        </p:grpSpPr>
        <p:sp>
          <p:nvSpPr>
            <p:cNvPr id="873" name="BASE R CHEAT SHEET">
              <a:extLst>
                <a:ext uri="{FF2B5EF4-FFF2-40B4-BE49-F238E27FC236}">
                  <a16:creationId xmlns:a16="http://schemas.microsoft.com/office/drawing/2014/main" id="{2BAD93F7-2C5C-70E6-87A2-FE1B8AADCA20}"/>
                </a:ext>
              </a:extLst>
            </p:cNvPr>
            <p:cNvSpPr txBox="1"/>
            <p:nvPr/>
          </p:nvSpPr>
          <p:spPr>
            <a:xfrm>
              <a:off x="97444" y="1102724"/>
              <a:ext cx="9467169" cy="1231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5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da-DK"/>
                <a:t>INTRO</a:t>
              </a:r>
              <a:r>
                <a:t> CHEAT SHEET </a:t>
              </a:r>
            </a:p>
          </p:txBody>
        </p:sp>
        <p:sp>
          <p:nvSpPr>
            <p:cNvPr id="874" name="https://www.rstudio.com/wp-content/uploads/2016/10/r-cheat-sheet-3.pdf">
              <a:extLst>
                <a:ext uri="{FF2B5EF4-FFF2-40B4-BE49-F238E27FC236}">
                  <a16:creationId xmlns:a16="http://schemas.microsoft.com/office/drawing/2014/main" id="{A81859AE-180D-1BC4-8AD2-269C754D8521}"/>
                </a:ext>
              </a:extLst>
            </p:cNvPr>
            <p:cNvSpPr txBox="1"/>
            <p:nvPr/>
          </p:nvSpPr>
          <p:spPr>
            <a:xfrm>
              <a:off x="1859336" y="0"/>
              <a:ext cx="8758510" cy="11107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</a:t>
              </a:r>
              <a:r>
                <a:rPr err="1"/>
                <a:t>www.rstudio.com</a:t>
              </a:r>
              <a:r>
                <a:t>/wp-content/uploads/2016/10/r-cheat-sheet-3.pdf</a:t>
              </a:r>
            </a:p>
          </p:txBody>
        </p:sp>
        <p:sp>
          <p:nvSpPr>
            <p:cNvPr id="875" name="Line">
              <a:extLst>
                <a:ext uri="{FF2B5EF4-FFF2-40B4-BE49-F238E27FC236}">
                  <a16:creationId xmlns:a16="http://schemas.microsoft.com/office/drawing/2014/main" id="{414220CF-BD9E-4BAA-529F-883832425B04}"/>
                </a:ext>
              </a:extLst>
            </p:cNvPr>
            <p:cNvSpPr/>
            <p:nvPr/>
          </p:nvSpPr>
          <p:spPr>
            <a:xfrm>
              <a:off x="97444" y="190749"/>
              <a:ext cx="1440000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877" name="Группа 36">
            <a:extLst>
              <a:ext uri="{FF2B5EF4-FFF2-40B4-BE49-F238E27FC236}">
                <a16:creationId xmlns:a16="http://schemas.microsoft.com/office/drawing/2014/main" id="{ADD88EF0-837E-E199-546A-B1759A733DB6}"/>
              </a:ext>
            </a:extLst>
          </p:cNvPr>
          <p:cNvSpPr/>
          <p:nvPr/>
        </p:nvSpPr>
        <p:spPr>
          <a:xfrm>
            <a:off x="1748862" y="4596970"/>
            <a:ext cx="17366815" cy="1788800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878" name="Группа 54">
            <a:extLst>
              <a:ext uri="{FF2B5EF4-FFF2-40B4-BE49-F238E27FC236}">
                <a16:creationId xmlns:a16="http://schemas.microsoft.com/office/drawing/2014/main" id="{1C0FDF41-DB67-BC7F-3D92-20F336964B67}"/>
              </a:ext>
            </a:extLst>
          </p:cNvPr>
          <p:cNvSpPr/>
          <p:nvPr/>
        </p:nvSpPr>
        <p:spPr>
          <a:xfrm>
            <a:off x="1748862" y="6757803"/>
            <a:ext cx="17366815" cy="1788800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879" name="Группа 63">
            <a:extLst>
              <a:ext uri="{FF2B5EF4-FFF2-40B4-BE49-F238E27FC236}">
                <a16:creationId xmlns:a16="http://schemas.microsoft.com/office/drawing/2014/main" id="{EDAAFD2F-003C-3ECB-FCC2-557878925EE3}"/>
              </a:ext>
            </a:extLst>
          </p:cNvPr>
          <p:cNvSpPr/>
          <p:nvPr/>
        </p:nvSpPr>
        <p:spPr>
          <a:xfrm>
            <a:off x="1748862" y="8918634"/>
            <a:ext cx="17366815" cy="17888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 lang="en-US"/>
          </a:p>
        </p:txBody>
      </p:sp>
      <p:sp>
        <p:nvSpPr>
          <p:cNvPr id="880" name="Группа 69">
            <a:extLst>
              <a:ext uri="{FF2B5EF4-FFF2-40B4-BE49-F238E27FC236}">
                <a16:creationId xmlns:a16="http://schemas.microsoft.com/office/drawing/2014/main" id="{5ADBB998-6BCA-98E9-76B9-DAF076CFFAB5}"/>
              </a:ext>
            </a:extLst>
          </p:cNvPr>
          <p:cNvSpPr/>
          <p:nvPr/>
        </p:nvSpPr>
        <p:spPr>
          <a:xfrm>
            <a:off x="1748862" y="11079465"/>
            <a:ext cx="17366815" cy="178880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881" name="Line">
            <a:extLst>
              <a:ext uri="{FF2B5EF4-FFF2-40B4-BE49-F238E27FC236}">
                <a16:creationId xmlns:a16="http://schemas.microsoft.com/office/drawing/2014/main" id="{31BDE851-D8E8-468F-0A0E-4448A2351197}"/>
              </a:ext>
            </a:extLst>
          </p:cNvPr>
          <p:cNvSpPr/>
          <p:nvPr/>
        </p:nvSpPr>
        <p:spPr>
          <a:xfrm flipV="1">
            <a:off x="10820511" y="4716912"/>
            <a:ext cx="1" cy="1548914"/>
          </a:xfrm>
          <a:prstGeom prst="line">
            <a:avLst/>
          </a:prstGeom>
          <a:ln w="50800">
            <a:solidFill>
              <a:srgbClr val="525067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4" name="Line">
            <a:extLst>
              <a:ext uri="{FF2B5EF4-FFF2-40B4-BE49-F238E27FC236}">
                <a16:creationId xmlns:a16="http://schemas.microsoft.com/office/drawing/2014/main" id="{C89FA491-9207-BC93-B91A-308658F1D174}"/>
              </a:ext>
            </a:extLst>
          </p:cNvPr>
          <p:cNvSpPr/>
          <p:nvPr/>
        </p:nvSpPr>
        <p:spPr>
          <a:xfrm flipV="1">
            <a:off x="10948100" y="11205274"/>
            <a:ext cx="1" cy="1548914"/>
          </a:xfrm>
          <a:prstGeom prst="line">
            <a:avLst/>
          </a:prstGeom>
          <a:ln w="50800">
            <a:solidFill>
              <a:srgbClr val="920813">
                <a:alpha val="59936"/>
              </a:srgbClr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5" name="Read in data:">
            <a:extLst>
              <a:ext uri="{FF2B5EF4-FFF2-40B4-BE49-F238E27FC236}">
                <a16:creationId xmlns:a16="http://schemas.microsoft.com/office/drawing/2014/main" id="{830306B6-FA9F-593B-6516-29EA384C7B1E}"/>
              </a:ext>
            </a:extLst>
          </p:cNvPr>
          <p:cNvSpPr txBox="1"/>
          <p:nvPr/>
        </p:nvSpPr>
        <p:spPr>
          <a:xfrm>
            <a:off x="11056566" y="4685468"/>
            <a:ext cx="2635284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Read in </a:t>
            </a:r>
            <a:r>
              <a:rPr lang="en-US"/>
              <a:t>D</a:t>
            </a:r>
            <a:r>
              <a:t>ata:</a:t>
            </a:r>
          </a:p>
        </p:txBody>
      </p:sp>
      <p:sp>
        <p:nvSpPr>
          <p:cNvPr id="886" name="plot(x)…">
            <a:extLst>
              <a:ext uri="{FF2B5EF4-FFF2-40B4-BE49-F238E27FC236}">
                <a16:creationId xmlns:a16="http://schemas.microsoft.com/office/drawing/2014/main" id="{5D539220-82DA-71AA-3190-AEE947BFF53A}"/>
              </a:ext>
            </a:extLst>
          </p:cNvPr>
          <p:cNvSpPr txBox="1"/>
          <p:nvPr/>
        </p:nvSpPr>
        <p:spPr>
          <a:xfrm>
            <a:off x="11144532" y="11599110"/>
            <a:ext cx="7526353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plot(x)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plot(x,</a:t>
            </a:r>
            <a:r>
              <a:rPr lang="da-DK"/>
              <a:t> </a:t>
            </a:r>
            <a:r>
              <a:t>y)</a:t>
            </a:r>
            <a:r>
              <a:rPr lang="da-DK"/>
              <a:t> </a:t>
            </a:r>
            <a:r>
              <a:rPr lang="da-DK" u="sng"/>
              <a:t>or</a:t>
            </a:r>
            <a:r>
              <a:rPr lang="da-DK"/>
              <a:t> plot(col1, col2, df)</a:t>
            </a:r>
            <a:r>
              <a:t> </a:t>
            </a:r>
            <a:r>
              <a:rPr>
                <a:solidFill>
                  <a:srgbClr val="DA8522">
                    <a:alpha val="76291"/>
                  </a:srgbClr>
                </a:solidFill>
              </a:rPr>
              <a:t># scatter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hist(x) </a:t>
            </a:r>
            <a:r>
              <a:rPr>
                <a:solidFill>
                  <a:srgbClr val="DA8522">
                    <a:alpha val="76291"/>
                  </a:srgbClr>
                </a:solidFill>
              </a:rPr>
              <a:t># histogram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DA8522">
                  <a:alpha val="76291"/>
                </a:srgbClr>
              </a:solidFill>
            </a:endParaRPr>
          </a:p>
        </p:txBody>
      </p:sp>
      <p:sp>
        <p:nvSpPr>
          <p:cNvPr id="887" name="Overview:">
            <a:extLst>
              <a:ext uri="{FF2B5EF4-FFF2-40B4-BE49-F238E27FC236}">
                <a16:creationId xmlns:a16="http://schemas.microsoft.com/office/drawing/2014/main" id="{8E6C1BF9-43E5-9102-39AD-ED19E914F9D6}"/>
              </a:ext>
            </a:extLst>
          </p:cNvPr>
          <p:cNvSpPr txBox="1"/>
          <p:nvPr/>
        </p:nvSpPr>
        <p:spPr>
          <a:xfrm>
            <a:off x="1974245" y="6844557"/>
            <a:ext cx="300042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Overview:</a:t>
            </a:r>
          </a:p>
        </p:txBody>
      </p:sp>
      <p:sp>
        <p:nvSpPr>
          <p:cNvPr id="888" name="Basics:">
            <a:extLst>
              <a:ext uri="{FF2B5EF4-FFF2-40B4-BE49-F238E27FC236}">
                <a16:creationId xmlns:a16="http://schemas.microsoft.com/office/drawing/2014/main" id="{2B7A2AA8-43A7-22EE-8823-F1FA59BDE5F5}"/>
              </a:ext>
            </a:extLst>
          </p:cNvPr>
          <p:cNvSpPr txBox="1"/>
          <p:nvPr/>
        </p:nvSpPr>
        <p:spPr>
          <a:xfrm>
            <a:off x="1973365" y="4685468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Basics:</a:t>
            </a:r>
          </a:p>
        </p:txBody>
      </p:sp>
      <p:sp>
        <p:nvSpPr>
          <p:cNvPr id="889" name="Is/As type:">
            <a:extLst>
              <a:ext uri="{FF2B5EF4-FFF2-40B4-BE49-F238E27FC236}">
                <a16:creationId xmlns:a16="http://schemas.microsoft.com/office/drawing/2014/main" id="{2F92241A-4D48-1B0B-BB5E-86379C60D7A5}"/>
              </a:ext>
            </a:extLst>
          </p:cNvPr>
          <p:cNvSpPr txBox="1"/>
          <p:nvPr/>
        </p:nvSpPr>
        <p:spPr>
          <a:xfrm>
            <a:off x="1973365" y="9011381"/>
            <a:ext cx="312123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Type/Class</a:t>
            </a:r>
            <a:r>
              <a:t>:</a:t>
            </a:r>
          </a:p>
        </p:txBody>
      </p:sp>
      <p:sp>
        <p:nvSpPr>
          <p:cNvPr id="890" name="Plots:">
            <a:extLst>
              <a:ext uri="{FF2B5EF4-FFF2-40B4-BE49-F238E27FC236}">
                <a16:creationId xmlns:a16="http://schemas.microsoft.com/office/drawing/2014/main" id="{5793B11C-3ED5-24B4-7BD4-8585E7EBFE44}"/>
              </a:ext>
            </a:extLst>
          </p:cNvPr>
          <p:cNvSpPr txBox="1"/>
          <p:nvPr/>
        </p:nvSpPr>
        <p:spPr>
          <a:xfrm>
            <a:off x="11144532" y="11143497"/>
            <a:ext cx="157232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Plots:</a:t>
            </a:r>
          </a:p>
        </p:txBody>
      </p:sp>
      <p:sp>
        <p:nvSpPr>
          <p:cNvPr id="891" name="c() # vector…">
            <a:extLst>
              <a:ext uri="{FF2B5EF4-FFF2-40B4-BE49-F238E27FC236}">
                <a16:creationId xmlns:a16="http://schemas.microsoft.com/office/drawing/2014/main" id="{7FE705EE-0397-6215-46C5-B6CD3D0545FB}"/>
              </a:ext>
            </a:extLst>
          </p:cNvPr>
          <p:cNvSpPr txBox="1"/>
          <p:nvPr/>
        </p:nvSpPr>
        <p:spPr>
          <a:xfrm>
            <a:off x="11415837" y="7112372"/>
            <a:ext cx="7699840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view()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view data as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table</a:t>
            </a:r>
            <a:endParaRPr lang="da-DK"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df$col1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extract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 column from dataframe</a:t>
            </a:r>
            <a:endParaRPr lang="da-DK"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 err="1"/>
              <a:t>nrow</a:t>
            </a:r>
            <a:r>
              <a:rPr lang="da-DK"/>
              <a:t>(df), </a:t>
            </a:r>
            <a:r>
              <a:rPr lang="da-DK" err="1"/>
              <a:t>ncol</a:t>
            </a:r>
            <a:r>
              <a:rPr lang="da-DK"/>
              <a:t>(df)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number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 of rows/columns</a:t>
            </a:r>
            <a:endParaRPr/>
          </a:p>
        </p:txBody>
      </p:sp>
      <p:sp>
        <p:nvSpPr>
          <p:cNvPr id="892" name="is.numeric(x) (character, factor, integer, etc.)…">
            <a:extLst>
              <a:ext uri="{FF2B5EF4-FFF2-40B4-BE49-F238E27FC236}">
                <a16:creationId xmlns:a16="http://schemas.microsoft.com/office/drawing/2014/main" id="{52C686BE-FB89-2EBA-7387-1A09017F5325}"/>
              </a:ext>
            </a:extLst>
          </p:cNvPr>
          <p:cNvSpPr txBox="1"/>
          <p:nvPr/>
        </p:nvSpPr>
        <p:spPr>
          <a:xfrm>
            <a:off x="1971455" y="9427697"/>
            <a:ext cx="10214196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class()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get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 data type/class</a:t>
            </a:r>
            <a:endParaRPr lang="da-DK"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is.numeric</a:t>
            </a:r>
            <a:r>
              <a:t>(x)</a:t>
            </a:r>
            <a:r>
              <a:rPr lang="da-DK"/>
              <a:t>, </a:t>
            </a:r>
            <a:r>
              <a:rPr lang="da-DK" err="1"/>
              <a:t>is.character</a:t>
            </a:r>
            <a:r>
              <a:rPr lang="da-DK"/>
              <a:t>(), </a:t>
            </a:r>
            <a:r>
              <a:rPr lang="da-DK" err="1"/>
              <a:t>is.factor</a:t>
            </a:r>
            <a:r>
              <a:rPr lang="da-DK"/>
              <a:t>()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is data type</a:t>
            </a:r>
            <a:endParaRPr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as.numeric</a:t>
            </a:r>
            <a:r>
              <a:t>(x)</a:t>
            </a:r>
            <a:r>
              <a:rPr lang="da-DK"/>
              <a:t>, </a:t>
            </a:r>
            <a:r>
              <a:rPr lang="da-DK" err="1"/>
              <a:t>as.character</a:t>
            </a:r>
            <a:r>
              <a:rPr lang="da-DK"/>
              <a:t>(), </a:t>
            </a:r>
            <a:r>
              <a:rPr lang="da-DK" err="1"/>
              <a:t>as.factor</a:t>
            </a:r>
            <a:r>
              <a:rPr lang="da-DK"/>
              <a:t>()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change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 data type</a:t>
            </a:r>
            <a:endParaRPr/>
          </a:p>
        </p:txBody>
      </p:sp>
      <p:sp>
        <p:nvSpPr>
          <p:cNvPr id="893" name="head(df, n=10), df[1:10,] tail(df, n=10)…">
            <a:extLst>
              <a:ext uri="{FF2B5EF4-FFF2-40B4-BE49-F238E27FC236}">
                <a16:creationId xmlns:a16="http://schemas.microsoft.com/office/drawing/2014/main" id="{74313197-C793-E1AC-0B6D-6C464ECB3C78}"/>
              </a:ext>
            </a:extLst>
          </p:cNvPr>
          <p:cNvSpPr txBox="1"/>
          <p:nvPr/>
        </p:nvSpPr>
        <p:spPr>
          <a:xfrm>
            <a:off x="1973365" y="7376243"/>
            <a:ext cx="9237898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head(</a:t>
            </a:r>
            <a:r>
              <a:rPr err="1"/>
              <a:t>df</a:t>
            </a:r>
            <a:r>
              <a:t>, n=10), tail(</a:t>
            </a:r>
            <a:r>
              <a:rPr err="1"/>
              <a:t>df</a:t>
            </a:r>
            <a:r>
              <a:t>, n=10)</a:t>
            </a:r>
            <a:r>
              <a:rPr lang="da-DK"/>
              <a:t> </a:t>
            </a:r>
            <a:r>
              <a:rPr>
                <a:solidFill>
                  <a:srgbClr val="DA8522">
                    <a:alpha val="76291"/>
                  </a:srgbClr>
                </a:solidFill>
              </a:rPr>
              <a:t># first or last 10 rows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unique(), table()</a:t>
            </a:r>
            <a:r>
              <a:rPr lang="da-DK"/>
              <a:t>, </a:t>
            </a:r>
            <a:r>
              <a:rPr lang="da-DK" err="1"/>
              <a:t>count</a:t>
            </a:r>
            <a:r>
              <a:rPr lang="da-DK"/>
              <a:t>()</a:t>
            </a:r>
            <a:r>
              <a:t> </a:t>
            </a:r>
            <a:r>
              <a:rPr>
                <a:solidFill>
                  <a:srgbClr val="DA8522">
                    <a:alpha val="76291"/>
                  </a:srgbClr>
                </a:solidFill>
              </a:rPr>
              <a:t># unique </a:t>
            </a:r>
            <a:r>
              <a:rPr err="1">
                <a:solidFill>
                  <a:srgbClr val="DA8522">
                    <a:alpha val="76291"/>
                  </a:srgbClr>
                </a:solidFill>
              </a:rPr>
              <a:t>vals</a:t>
            </a:r>
            <a:r>
              <a:rPr>
                <a:solidFill>
                  <a:srgbClr val="DA8522">
                    <a:alpha val="76291"/>
                  </a:srgbClr>
                </a:solidFill>
              </a:rPr>
              <a:t>, count </a:t>
            </a:r>
            <a:r>
              <a:rPr err="1">
                <a:solidFill>
                  <a:srgbClr val="DA8522">
                    <a:alpha val="76291"/>
                  </a:srgbClr>
                </a:solidFill>
              </a:rPr>
              <a:t>vals</a:t>
            </a:r>
            <a:endParaRPr>
              <a:solidFill>
                <a:srgbClr val="DA8522">
                  <a:alpha val="76291"/>
                </a:srgbClr>
              </a:solidFill>
            </a:endParaRPr>
          </a:p>
        </p:txBody>
      </p:sp>
      <p:sp>
        <p:nvSpPr>
          <p:cNvPr id="894" name="read.xlsx('name.xlsx'), read.delim('name.txt', sep ='\t') read.csv('name.csv', sep=';')">
            <a:extLst>
              <a:ext uri="{FF2B5EF4-FFF2-40B4-BE49-F238E27FC236}">
                <a16:creationId xmlns:a16="http://schemas.microsoft.com/office/drawing/2014/main" id="{C6012A5A-86B7-95E8-1646-245A71C05DA0}"/>
              </a:ext>
            </a:extLst>
          </p:cNvPr>
          <p:cNvSpPr txBox="1"/>
          <p:nvPr/>
        </p:nvSpPr>
        <p:spPr>
          <a:xfrm>
            <a:off x="11057737" y="5126613"/>
            <a:ext cx="8275900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rPr err="1"/>
              <a:t>read.xlsx</a:t>
            </a:r>
            <a:r>
              <a:t>(</a:t>
            </a:r>
            <a:r>
              <a:rPr lang="da-DK"/>
              <a:t>"</a:t>
            </a:r>
            <a:r>
              <a:rPr err="1"/>
              <a:t>name.xlsx</a:t>
            </a:r>
            <a:r>
              <a:rPr lang="da-DK"/>
              <a:t>”)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library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(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readxl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)</a:t>
            </a:r>
          </a:p>
          <a:p>
            <a:r>
              <a:rPr err="1"/>
              <a:t>read.delim</a:t>
            </a:r>
            <a:r>
              <a:t>(</a:t>
            </a:r>
            <a:r>
              <a:rPr lang="da-DK"/>
              <a:t>"</a:t>
            </a:r>
            <a:r>
              <a:rPr err="1"/>
              <a:t>name.txt</a:t>
            </a:r>
            <a:r>
              <a:rPr lang="da-DK"/>
              <a:t>"</a:t>
            </a:r>
            <a:r>
              <a:t>, </a:t>
            </a:r>
            <a:r>
              <a:rPr err="1"/>
              <a:t>sep</a:t>
            </a:r>
            <a:r>
              <a:t> =</a:t>
            </a:r>
            <a:r>
              <a:rPr lang="da-DK"/>
              <a:t>"</a:t>
            </a:r>
            <a:r>
              <a:t>\t</a:t>
            </a:r>
            <a:r>
              <a:rPr lang="da-DK"/>
              <a:t>"</a:t>
            </a:r>
            <a:r>
              <a:t>) </a:t>
            </a:r>
            <a:r>
              <a:rPr err="1"/>
              <a:t>read.csv</a:t>
            </a:r>
            <a:r>
              <a:t>(</a:t>
            </a:r>
            <a:r>
              <a:rPr lang="da-DK"/>
              <a:t>"</a:t>
            </a:r>
            <a:r>
              <a:rPr err="1"/>
              <a:t>name.csv</a:t>
            </a:r>
            <a:r>
              <a:rPr lang="da-DK"/>
              <a:t>"</a:t>
            </a:r>
            <a:r>
              <a:t>, </a:t>
            </a:r>
            <a:r>
              <a:rPr err="1"/>
              <a:t>sep</a:t>
            </a:r>
            <a:r>
              <a:t>=</a:t>
            </a:r>
            <a:r>
              <a:rPr lang="da-DK"/>
              <a:t>"</a:t>
            </a:r>
            <a:r>
              <a:t>;</a:t>
            </a:r>
            <a:r>
              <a:rPr lang="da-DK"/>
              <a:t>"</a:t>
            </a:r>
            <a:r>
              <a:t>)</a:t>
            </a:r>
          </a:p>
        </p:txBody>
      </p:sp>
      <p:sp>
        <p:nvSpPr>
          <p:cNvPr id="895" name="Rectangle">
            <a:extLst>
              <a:ext uri="{FF2B5EF4-FFF2-40B4-BE49-F238E27FC236}">
                <a16:creationId xmlns:a16="http://schemas.microsoft.com/office/drawing/2014/main" id="{17C5E2E6-392A-0B19-95EB-8C4B37E949F8}"/>
              </a:ext>
            </a:extLst>
          </p:cNvPr>
          <p:cNvSpPr/>
          <p:nvPr/>
        </p:nvSpPr>
        <p:spPr>
          <a:xfrm>
            <a:off x="19334808" y="4585842"/>
            <a:ext cx="4409739" cy="1811055"/>
          </a:xfrm>
          <a:prstGeom prst="rect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96" name="CHUNK OPTIONS">
            <a:extLst>
              <a:ext uri="{FF2B5EF4-FFF2-40B4-BE49-F238E27FC236}">
                <a16:creationId xmlns:a16="http://schemas.microsoft.com/office/drawing/2014/main" id="{4304298D-0873-8CCE-4FE1-957C8A55B758}"/>
              </a:ext>
            </a:extLst>
          </p:cNvPr>
          <p:cNvSpPr txBox="1"/>
          <p:nvPr/>
        </p:nvSpPr>
        <p:spPr>
          <a:xfrm>
            <a:off x="21008643" y="8224618"/>
            <a:ext cx="1872962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CHUNK OPTIONS</a:t>
            </a:r>
          </a:p>
        </p:txBody>
      </p:sp>
      <p:sp>
        <p:nvSpPr>
          <p:cNvPr id="897" name="GETTING…">
            <a:extLst>
              <a:ext uri="{FF2B5EF4-FFF2-40B4-BE49-F238E27FC236}">
                <a16:creationId xmlns:a16="http://schemas.microsoft.com/office/drawing/2014/main" id="{7C8CDBCD-6C0A-6777-5D16-38858EC6C3F7}"/>
              </a:ext>
            </a:extLst>
          </p:cNvPr>
          <p:cNvSpPr txBox="1"/>
          <p:nvPr/>
        </p:nvSpPr>
        <p:spPr>
          <a:xfrm>
            <a:off x="20642510" y="4983369"/>
            <a:ext cx="2239095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GETTING</a:t>
            </a:r>
          </a:p>
          <a:p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STARTED</a:t>
            </a:r>
          </a:p>
        </p:txBody>
      </p:sp>
      <p:sp>
        <p:nvSpPr>
          <p:cNvPr id="898" name="Rectangle">
            <a:extLst>
              <a:ext uri="{FF2B5EF4-FFF2-40B4-BE49-F238E27FC236}">
                <a16:creationId xmlns:a16="http://schemas.microsoft.com/office/drawing/2014/main" id="{122F2545-BA34-1837-F78C-DC0DCEB2F9BA}"/>
              </a:ext>
            </a:extLst>
          </p:cNvPr>
          <p:cNvSpPr/>
          <p:nvPr/>
        </p:nvSpPr>
        <p:spPr>
          <a:xfrm>
            <a:off x="19320251" y="6744331"/>
            <a:ext cx="4409739" cy="1811055"/>
          </a:xfrm>
          <a:prstGeom prst="rect">
            <a:avLst/>
          </a:prstGeom>
          <a:solidFill>
            <a:srgbClr val="747193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99" name="DATA STRUCTURES &amp; OVERVIEW">
            <a:extLst>
              <a:ext uri="{FF2B5EF4-FFF2-40B4-BE49-F238E27FC236}">
                <a16:creationId xmlns:a16="http://schemas.microsoft.com/office/drawing/2014/main" id="{62932DB4-5884-4597-C852-DCD6E65B4512}"/>
              </a:ext>
            </a:extLst>
          </p:cNvPr>
          <p:cNvSpPr txBox="1"/>
          <p:nvPr/>
        </p:nvSpPr>
        <p:spPr>
          <a:xfrm>
            <a:off x="19540345" y="7370074"/>
            <a:ext cx="3975694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OVERVIEW </a:t>
            </a:r>
          </a:p>
        </p:txBody>
      </p:sp>
      <p:sp>
        <p:nvSpPr>
          <p:cNvPr id="900" name="getwd(), setwd() # location…">
            <a:extLst>
              <a:ext uri="{FF2B5EF4-FFF2-40B4-BE49-F238E27FC236}">
                <a16:creationId xmlns:a16="http://schemas.microsoft.com/office/drawing/2014/main" id="{E87B9579-D94D-1A3B-7F49-CB073CC8585A}"/>
              </a:ext>
            </a:extLst>
          </p:cNvPr>
          <p:cNvSpPr txBox="1"/>
          <p:nvPr/>
        </p:nvSpPr>
        <p:spPr>
          <a:xfrm>
            <a:off x="1966822" y="5137581"/>
            <a:ext cx="8778005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getwd</a:t>
            </a:r>
            <a:r>
              <a:t>()</a:t>
            </a:r>
            <a:r>
              <a:rPr>
                <a:solidFill>
                  <a:srgbClr val="DA8522">
                    <a:alpha val="76291"/>
                  </a:srgbClr>
                </a:solidFill>
              </a:rPr>
              <a:t> # location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install.packages</a:t>
            </a:r>
            <a:r>
              <a:t>(</a:t>
            </a:r>
            <a:r>
              <a:rPr lang="da-DK"/>
              <a:t>"</a:t>
            </a:r>
            <a:r>
              <a:t>p</a:t>
            </a:r>
            <a:r>
              <a:rPr lang="da-DK" err="1"/>
              <a:t>ackage</a:t>
            </a:r>
            <a:r>
              <a:rPr lang="da-DK"/>
              <a:t>_</a:t>
            </a:r>
            <a:r>
              <a:t>name</a:t>
            </a:r>
            <a:r>
              <a:rPr lang="da-DK"/>
              <a:t>"</a:t>
            </a:r>
            <a:r>
              <a:t>)</a:t>
            </a:r>
            <a:r>
              <a:rPr lang="da-DK"/>
              <a:t>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install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packages</a:t>
            </a:r>
            <a:endParaRPr lang="da-DK"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library(</a:t>
            </a:r>
            <a:r>
              <a:rPr lang="da-DK" err="1"/>
              <a:t>package_name</a:t>
            </a:r>
            <a:r>
              <a:t>)</a:t>
            </a:r>
            <a:r>
              <a:rPr lang="da-DK"/>
              <a:t>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load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packages</a:t>
            </a:r>
            <a:endParaRPr/>
          </a:p>
        </p:txBody>
      </p:sp>
      <p:sp>
        <p:nvSpPr>
          <p:cNvPr id="904" name="Other:">
            <a:extLst>
              <a:ext uri="{FF2B5EF4-FFF2-40B4-BE49-F238E27FC236}">
                <a16:creationId xmlns:a16="http://schemas.microsoft.com/office/drawing/2014/main" id="{24D1FA99-1F82-3B0C-C66D-A4543CCD0B40}"/>
              </a:ext>
            </a:extLst>
          </p:cNvPr>
          <p:cNvSpPr txBox="1"/>
          <p:nvPr/>
        </p:nvSpPr>
        <p:spPr>
          <a:xfrm>
            <a:off x="1966821" y="11164679"/>
            <a:ext cx="4880545" cy="548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Summary Stats</a:t>
            </a:r>
            <a:r>
              <a:t>:</a:t>
            </a:r>
          </a:p>
        </p:txBody>
      </p:sp>
      <p:sp>
        <p:nvSpPr>
          <p:cNvPr id="905" name="seq(1, 10, by = 1.0) # sequence from-to…">
            <a:extLst>
              <a:ext uri="{FF2B5EF4-FFF2-40B4-BE49-F238E27FC236}">
                <a16:creationId xmlns:a16="http://schemas.microsoft.com/office/drawing/2014/main" id="{7787B294-589F-2D6A-D7FB-DBF7F8082EDC}"/>
              </a:ext>
            </a:extLst>
          </p:cNvPr>
          <p:cNvSpPr txBox="1"/>
          <p:nvPr/>
        </p:nvSpPr>
        <p:spPr>
          <a:xfrm>
            <a:off x="1973365" y="11504169"/>
            <a:ext cx="7526358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summary()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summary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statistics</a:t>
            </a:r>
            <a:endParaRPr lang="da-DK">
              <a:solidFill>
                <a:srgbClr val="DA8522">
                  <a:alpha val="76291"/>
                </a:srgbClr>
              </a:solidFill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mean(), median(), sd(), sum(), log(), max(), min(), </a:t>
            </a:r>
            <a:r>
              <a:rPr lang="da-DK" err="1"/>
              <a:t>quantile</a:t>
            </a:r>
            <a:r>
              <a:rPr lang="da-DK"/>
              <a:t>(), var()</a:t>
            </a:r>
          </a:p>
        </p:txBody>
      </p:sp>
      <p:sp>
        <p:nvSpPr>
          <p:cNvPr id="906" name="Rectangle">
            <a:extLst>
              <a:ext uri="{FF2B5EF4-FFF2-40B4-BE49-F238E27FC236}">
                <a16:creationId xmlns:a16="http://schemas.microsoft.com/office/drawing/2014/main" id="{D696B75D-81E0-A5DC-68E1-459DEC5FE0B6}"/>
              </a:ext>
            </a:extLst>
          </p:cNvPr>
          <p:cNvSpPr/>
          <p:nvPr/>
        </p:nvSpPr>
        <p:spPr>
          <a:xfrm>
            <a:off x="19374122" y="8898558"/>
            <a:ext cx="4409739" cy="1811055"/>
          </a:xfrm>
          <a:prstGeom prst="rect">
            <a:avLst/>
          </a:prstGeom>
          <a:solidFill>
            <a:srgbClr val="B39C8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07" name="DATA TYPES &amp; STRINGS">
            <a:extLst>
              <a:ext uri="{FF2B5EF4-FFF2-40B4-BE49-F238E27FC236}">
                <a16:creationId xmlns:a16="http://schemas.microsoft.com/office/drawing/2014/main" id="{4D0A1E20-57DA-0632-B7B0-D7BD8209D2F6}"/>
              </a:ext>
            </a:extLst>
          </p:cNvPr>
          <p:cNvSpPr txBox="1"/>
          <p:nvPr/>
        </p:nvSpPr>
        <p:spPr>
          <a:xfrm>
            <a:off x="19641945" y="9340107"/>
            <a:ext cx="3975694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DATA TYPES</a:t>
            </a:r>
            <a:r>
              <a:rPr lang="en-US"/>
              <a:t> &amp; CONDITIONS</a:t>
            </a:r>
            <a:endParaRPr/>
          </a:p>
        </p:txBody>
      </p:sp>
      <p:sp>
        <p:nvSpPr>
          <p:cNvPr id="908" name="Rectangle">
            <a:extLst>
              <a:ext uri="{FF2B5EF4-FFF2-40B4-BE49-F238E27FC236}">
                <a16:creationId xmlns:a16="http://schemas.microsoft.com/office/drawing/2014/main" id="{4C4F8CA1-3A8B-492C-0B7D-1D21C14A84C2}"/>
              </a:ext>
            </a:extLst>
          </p:cNvPr>
          <p:cNvSpPr/>
          <p:nvPr/>
        </p:nvSpPr>
        <p:spPr>
          <a:xfrm>
            <a:off x="19374122" y="11053536"/>
            <a:ext cx="4409739" cy="1811055"/>
          </a:xfrm>
          <a:prstGeom prst="rect">
            <a:avLst/>
          </a:prstGeom>
          <a:solidFill>
            <a:srgbClr val="880C0A">
              <a:alpha val="6783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09" name="VECTORS &amp;…">
            <a:extLst>
              <a:ext uri="{FF2B5EF4-FFF2-40B4-BE49-F238E27FC236}">
                <a16:creationId xmlns:a16="http://schemas.microsoft.com/office/drawing/2014/main" id="{663B0BF0-3C08-674B-D52C-7B0BEEE820A2}"/>
              </a:ext>
            </a:extLst>
          </p:cNvPr>
          <p:cNvSpPr txBox="1"/>
          <p:nvPr/>
        </p:nvSpPr>
        <p:spPr>
          <a:xfrm>
            <a:off x="19629245" y="11465866"/>
            <a:ext cx="3975694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STATISTICS</a:t>
            </a:r>
            <a:r>
              <a:t> &amp; </a:t>
            </a:r>
          </a:p>
          <a:p>
            <a: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BASE PLOTS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2737318C-6E55-8404-6697-89E3DF422671}"/>
              </a:ext>
            </a:extLst>
          </p:cNvPr>
          <p:cNvSpPr/>
          <p:nvPr/>
        </p:nvSpPr>
        <p:spPr>
          <a:xfrm flipV="1">
            <a:off x="12636778" y="9047933"/>
            <a:ext cx="1" cy="1548914"/>
          </a:xfrm>
          <a:prstGeom prst="line">
            <a:avLst/>
          </a:prstGeom>
          <a:ln w="50800">
            <a:solidFill>
              <a:srgbClr val="525067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" name="Is/As type:">
            <a:extLst>
              <a:ext uri="{FF2B5EF4-FFF2-40B4-BE49-F238E27FC236}">
                <a16:creationId xmlns:a16="http://schemas.microsoft.com/office/drawing/2014/main" id="{CA09CC81-2593-9BFE-245E-E87181B701FF}"/>
              </a:ext>
            </a:extLst>
          </p:cNvPr>
          <p:cNvSpPr txBox="1"/>
          <p:nvPr/>
        </p:nvSpPr>
        <p:spPr>
          <a:xfrm>
            <a:off x="12962686" y="9011381"/>
            <a:ext cx="312123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 err="1"/>
              <a:t>Conditions</a:t>
            </a:r>
            <a:r>
              <a:t>:</a:t>
            </a:r>
          </a:p>
        </p:txBody>
      </p:sp>
      <p:sp>
        <p:nvSpPr>
          <p:cNvPr id="8" name="c() # vector…">
            <a:extLst>
              <a:ext uri="{FF2B5EF4-FFF2-40B4-BE49-F238E27FC236}">
                <a16:creationId xmlns:a16="http://schemas.microsoft.com/office/drawing/2014/main" id="{A1287451-3050-4C00-E595-B84AA9B7B0E5}"/>
              </a:ext>
            </a:extLst>
          </p:cNvPr>
          <p:cNvSpPr txBox="1"/>
          <p:nvPr/>
        </p:nvSpPr>
        <p:spPr>
          <a:xfrm>
            <a:off x="13015211" y="9626402"/>
            <a:ext cx="2614362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a == b   a != b</a:t>
            </a:r>
            <a:endParaRPr/>
          </a:p>
        </p:txBody>
      </p:sp>
      <p:sp>
        <p:nvSpPr>
          <p:cNvPr id="9" name="c() # vector…">
            <a:extLst>
              <a:ext uri="{FF2B5EF4-FFF2-40B4-BE49-F238E27FC236}">
                <a16:creationId xmlns:a16="http://schemas.microsoft.com/office/drawing/2014/main" id="{A47C2710-4F56-AEA7-9CDE-3BE37BE5B854}"/>
              </a:ext>
            </a:extLst>
          </p:cNvPr>
          <p:cNvSpPr txBox="1"/>
          <p:nvPr/>
        </p:nvSpPr>
        <p:spPr>
          <a:xfrm>
            <a:off x="16189655" y="9569622"/>
            <a:ext cx="2614362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a &gt; b    a &lt; b</a:t>
            </a:r>
            <a:endParaRPr/>
          </a:p>
        </p:txBody>
      </p:sp>
      <p:sp>
        <p:nvSpPr>
          <p:cNvPr id="10" name="c() # vector…">
            <a:extLst>
              <a:ext uri="{FF2B5EF4-FFF2-40B4-BE49-F238E27FC236}">
                <a16:creationId xmlns:a16="http://schemas.microsoft.com/office/drawing/2014/main" id="{56E7F491-E00E-9A8D-E5A8-D6547D2C9655}"/>
              </a:ext>
            </a:extLst>
          </p:cNvPr>
          <p:cNvSpPr txBox="1"/>
          <p:nvPr/>
        </p:nvSpPr>
        <p:spPr>
          <a:xfrm>
            <a:off x="13015211" y="10105423"/>
            <a:ext cx="2614362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a &gt;= b   a &lt;= b</a:t>
            </a:r>
            <a:endParaRPr/>
          </a:p>
        </p:txBody>
      </p:sp>
      <p:sp>
        <p:nvSpPr>
          <p:cNvPr id="11" name="c() # vector…">
            <a:extLst>
              <a:ext uri="{FF2B5EF4-FFF2-40B4-BE49-F238E27FC236}">
                <a16:creationId xmlns:a16="http://schemas.microsoft.com/office/drawing/2014/main" id="{35AD88F7-082F-C187-8D8F-C889828FB84F}"/>
              </a:ext>
            </a:extLst>
          </p:cNvPr>
          <p:cNvSpPr txBox="1"/>
          <p:nvPr/>
        </p:nvSpPr>
        <p:spPr>
          <a:xfrm>
            <a:off x="16189655" y="10105422"/>
            <a:ext cx="3018243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 err="1"/>
              <a:t>is.na</a:t>
            </a:r>
            <a:r>
              <a:rPr lang="da-DK"/>
              <a:t>() </a:t>
            </a:r>
            <a:r>
              <a:rPr lang="da-DK" err="1"/>
              <a:t>is.null</a:t>
            </a:r>
            <a:r>
              <a:rPr lang="da-DK"/>
              <a:t>()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423063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32F4-44BC-DEA0-968B-1BF7AFC80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">
            <a:extLst>
              <a:ext uri="{FF2B5EF4-FFF2-40B4-BE49-F238E27FC236}">
                <a16:creationId xmlns:a16="http://schemas.microsoft.com/office/drawing/2014/main" id="{F236C566-7276-3A0D-160F-97D4DD8DFB1A}"/>
              </a:ext>
            </a:extLst>
          </p:cNvPr>
          <p:cNvSpPr/>
          <p:nvPr/>
        </p:nvSpPr>
        <p:spPr>
          <a:xfrm>
            <a:off x="-98444" y="-106110"/>
            <a:ext cx="24568188" cy="3306509"/>
          </a:xfrm>
          <a:prstGeom prst="rect">
            <a:avLst/>
          </a:prstGeom>
          <a:solidFill>
            <a:srgbClr val="7893B7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solidFill>
                <a:srgbClr val="2E6698"/>
              </a:solidFill>
            </a:endParaRPr>
          </a:p>
        </p:txBody>
      </p:sp>
      <p:grpSp>
        <p:nvGrpSpPr>
          <p:cNvPr id="1054" name="Group">
            <a:extLst>
              <a:ext uri="{FF2B5EF4-FFF2-40B4-BE49-F238E27FC236}">
                <a16:creationId xmlns:a16="http://schemas.microsoft.com/office/drawing/2014/main" id="{2E5C571F-A10B-2275-C8A9-180DC999C951}"/>
              </a:ext>
            </a:extLst>
          </p:cNvPr>
          <p:cNvGrpSpPr/>
          <p:nvPr/>
        </p:nvGrpSpPr>
        <p:grpSpPr>
          <a:xfrm>
            <a:off x="6082219" y="661017"/>
            <a:ext cx="12206862" cy="2383378"/>
            <a:chOff x="-2481944" y="32657"/>
            <a:chExt cx="12206861" cy="2383377"/>
          </a:xfrm>
        </p:grpSpPr>
        <p:sp>
          <p:nvSpPr>
            <p:cNvPr id="1051" name="CECI N'EST PAS UNE PIPE…">
              <a:extLst>
                <a:ext uri="{FF2B5EF4-FFF2-40B4-BE49-F238E27FC236}">
                  <a16:creationId xmlns:a16="http://schemas.microsoft.com/office/drawing/2014/main" id="{EBEF7E9C-1ACA-90D4-40E6-06EE9EE017BD}"/>
                </a:ext>
              </a:extLst>
            </p:cNvPr>
            <p:cNvSpPr txBox="1"/>
            <p:nvPr/>
          </p:nvSpPr>
          <p:spPr>
            <a:xfrm>
              <a:off x="-2481944" y="746730"/>
              <a:ext cx="12206861" cy="16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 sz="5000"/>
                <a:t>QUARTO DOCUMENTS</a:t>
              </a:r>
              <a:endParaRPr sz="5000"/>
            </a:p>
          </p:txBody>
        </p:sp>
        <p:sp>
          <p:nvSpPr>
            <p:cNvPr id="1052" name="https://www.tidyverse.org/">
              <a:extLst>
                <a:ext uri="{FF2B5EF4-FFF2-40B4-BE49-F238E27FC236}">
                  <a16:creationId xmlns:a16="http://schemas.microsoft.com/office/drawing/2014/main" id="{083D9745-850F-4317-C66B-21B629EEFF60}"/>
                </a:ext>
              </a:extLst>
            </p:cNvPr>
            <p:cNvSpPr txBox="1"/>
            <p:nvPr/>
          </p:nvSpPr>
          <p:spPr>
            <a:xfrm>
              <a:off x="1859337" y="32657"/>
              <a:ext cx="6375877" cy="584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</a:t>
              </a:r>
              <a:r>
                <a:rPr lang="da-DK" err="1"/>
                <a:t>quarto</a:t>
              </a:r>
              <a:r>
                <a:t>.org/</a:t>
              </a:r>
            </a:p>
          </p:txBody>
        </p:sp>
        <p:sp>
          <p:nvSpPr>
            <p:cNvPr id="1053" name="Line">
              <a:extLst>
                <a:ext uri="{FF2B5EF4-FFF2-40B4-BE49-F238E27FC236}">
                  <a16:creationId xmlns:a16="http://schemas.microsoft.com/office/drawing/2014/main" id="{99F53CB6-F550-ED20-195F-F25C5D63F31E}"/>
                </a:ext>
              </a:extLst>
            </p:cNvPr>
            <p:cNvSpPr/>
            <p:nvPr/>
          </p:nvSpPr>
          <p:spPr>
            <a:xfrm>
              <a:off x="97444" y="190749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101" name="19">
            <a:extLst>
              <a:ext uri="{FF2B5EF4-FFF2-40B4-BE49-F238E27FC236}">
                <a16:creationId xmlns:a16="http://schemas.microsoft.com/office/drawing/2014/main" id="{2F5975F4-229D-7DA1-6533-71E553271DC6}"/>
              </a:ext>
            </a:extLst>
          </p:cNvPr>
          <p:cNvSpPr txBox="1"/>
          <p:nvPr/>
        </p:nvSpPr>
        <p:spPr>
          <a:xfrm>
            <a:off x="341992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0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7401467A-D9E3-AC56-4391-A73638C69339}"/>
              </a:ext>
            </a:extLst>
          </p:cNvPr>
          <p:cNvSpPr txBox="1"/>
          <p:nvPr/>
        </p:nvSpPr>
        <p:spPr>
          <a:xfrm>
            <a:off x="1973065" y="9443657"/>
            <a:ext cx="12158900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l" defTabSz="1828433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da-DK" sz="3000" b="1">
                <a:solidFill>
                  <a:srgbClr val="364556"/>
                </a:solidFill>
                <a:latin typeface="Helvetica" pitchFamily="2" charset="0"/>
              </a:rPr>
              <a:t>Pointers for </a:t>
            </a:r>
            <a:r>
              <a:rPr lang="da-DK" sz="3000" b="1" err="1">
                <a:solidFill>
                  <a:srgbClr val="364556"/>
                </a:solidFill>
                <a:latin typeface="Helvetica" pitchFamily="2" charset="0"/>
              </a:rPr>
              <a:t>quarto</a:t>
            </a:r>
            <a:r>
              <a:rPr lang="da-DK" sz="3000" b="1">
                <a:solidFill>
                  <a:srgbClr val="364556"/>
                </a:solidFill>
                <a:latin typeface="Helvetica" pitchFamily="2" charset="0"/>
              </a:rPr>
              <a:t>:</a:t>
            </a:r>
          </a:p>
          <a:p>
            <a:pPr marL="571500" marR="0" indent="-571500" algn="l" defTabSz="1828433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a-DK" sz="3000">
                <a:solidFill>
                  <a:srgbClr val="364556"/>
                </a:solidFill>
                <a:latin typeface="Helvetica" pitchFamily="2" charset="0"/>
              </a:rPr>
              <a:t>Separate </a:t>
            </a:r>
            <a:r>
              <a:rPr lang="da-DK" sz="3000" err="1">
                <a:solidFill>
                  <a:srgbClr val="364556"/>
                </a:solidFill>
                <a:latin typeface="Helvetica" pitchFamily="2" charset="0"/>
              </a:rPr>
              <a:t>sections</a:t>
            </a:r>
            <a:r>
              <a:rPr lang="da-DK" sz="3000">
                <a:solidFill>
                  <a:srgbClr val="364556"/>
                </a:solidFill>
                <a:latin typeface="Helvetica" pitchFamily="2" charset="0"/>
              </a:rPr>
              <a:t> with </a:t>
            </a:r>
            <a:r>
              <a:rPr lang="da-DK" sz="3000" err="1">
                <a:solidFill>
                  <a:srgbClr val="364556"/>
                </a:solidFill>
                <a:latin typeface="Helvetica" pitchFamily="2" charset="0"/>
              </a:rPr>
              <a:t>headers</a:t>
            </a:r>
            <a:endParaRPr lang="da-DK" sz="3000">
              <a:solidFill>
                <a:srgbClr val="364556"/>
              </a:solidFill>
              <a:latin typeface="Helvetica" pitchFamily="2" charset="0"/>
            </a:endParaRPr>
          </a:p>
          <a:p>
            <a:pPr marL="571500" marR="0" indent="-571500" algn="l" defTabSz="1828433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a-DK" sz="3000" b="0" i="0" u="none" strike="noStrike" cap="none" spc="0" normalizeH="0" baseline="0">
                <a:ln>
                  <a:noFill/>
                </a:ln>
                <a:solidFill>
                  <a:srgbClr val="364556"/>
                </a:solidFill>
                <a:effectLst/>
                <a:uFillTx/>
                <a:latin typeface="Helvetica" pitchFamily="2" charset="0"/>
                <a:sym typeface="Calibri"/>
              </a:rPr>
              <a:t>Do not </a:t>
            </a:r>
            <a:r>
              <a:rPr kumimoji="0" lang="da-DK" sz="3000" b="0" i="0" u="none" strike="noStrike" cap="none" spc="0" normalizeH="0" baseline="0" err="1">
                <a:ln>
                  <a:noFill/>
                </a:ln>
                <a:solidFill>
                  <a:srgbClr val="364556"/>
                </a:solidFill>
                <a:effectLst/>
                <a:uFillTx/>
                <a:latin typeface="Helvetica" pitchFamily="2" charset="0"/>
                <a:sym typeface="Calibri"/>
              </a:rPr>
              <a:t>overfill</a:t>
            </a:r>
            <a:r>
              <a:rPr lang="da-DK" sz="3000">
                <a:solidFill>
                  <a:srgbClr val="364556"/>
                </a:solidFill>
                <a:latin typeface="Helvetica" pitchFamily="2" charset="0"/>
              </a:rPr>
              <a:t> </a:t>
            </a:r>
            <a:r>
              <a:rPr kumimoji="0" lang="da-DK" sz="3000" b="0" i="0" u="none" strike="noStrike" cap="none" spc="0" normalizeH="0" baseline="0" err="1">
                <a:ln>
                  <a:noFill/>
                </a:ln>
                <a:solidFill>
                  <a:srgbClr val="364556"/>
                </a:solidFill>
                <a:effectLst/>
                <a:uFillTx/>
                <a:latin typeface="Helvetica" pitchFamily="2" charset="0"/>
                <a:sym typeface="Calibri"/>
              </a:rPr>
              <a:t>code</a:t>
            </a:r>
            <a:r>
              <a:rPr kumimoji="0" lang="da-DK" sz="3000" b="0" i="0" u="none" strike="noStrike" cap="none" spc="0" normalizeH="0" baseline="0">
                <a:ln>
                  <a:noFill/>
                </a:ln>
                <a:solidFill>
                  <a:srgbClr val="364556"/>
                </a:solidFill>
                <a:effectLst/>
                <a:uFillTx/>
                <a:latin typeface="Helvetica" pitchFamily="2" charset="0"/>
                <a:sym typeface="Calibri"/>
              </a:rPr>
              <a:t> </a:t>
            </a:r>
            <a:r>
              <a:rPr kumimoji="0" lang="da-DK" sz="3000" b="0" i="0" u="none" strike="noStrike" cap="none" spc="0" normalizeH="0" baseline="0" err="1">
                <a:ln>
                  <a:noFill/>
                </a:ln>
                <a:solidFill>
                  <a:srgbClr val="364556"/>
                </a:solidFill>
                <a:effectLst/>
                <a:uFillTx/>
                <a:latin typeface="Helvetica" pitchFamily="2" charset="0"/>
                <a:sym typeface="Calibri"/>
              </a:rPr>
              <a:t>chunks</a:t>
            </a:r>
            <a:endParaRPr kumimoji="0" lang="da-DK" sz="3000" b="0" i="0" u="none" strike="noStrike" cap="none" spc="0" normalizeH="0" baseline="0">
              <a:ln>
                <a:noFill/>
              </a:ln>
              <a:solidFill>
                <a:srgbClr val="364556"/>
              </a:solidFill>
              <a:effectLst/>
              <a:uFillTx/>
              <a:latin typeface="Helvetica" pitchFamily="2" charset="0"/>
              <a:sym typeface="Calibri"/>
            </a:endParaRPr>
          </a:p>
          <a:p>
            <a:pPr marL="571500" marR="0" indent="-571500" algn="l" defTabSz="1828433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a-DK" sz="3000">
                <a:solidFill>
                  <a:srgbClr val="364556"/>
                </a:solidFill>
                <a:latin typeface="Helvetica" pitchFamily="2" charset="0"/>
              </a:rPr>
              <a:t>Write </a:t>
            </a:r>
            <a:r>
              <a:rPr lang="da-DK" sz="3000" err="1">
                <a:solidFill>
                  <a:srgbClr val="364556"/>
                </a:solidFill>
                <a:latin typeface="Helvetica" pitchFamily="2" charset="0"/>
              </a:rPr>
              <a:t>meaningful</a:t>
            </a:r>
            <a:r>
              <a:rPr lang="da-DK" sz="3000">
                <a:solidFill>
                  <a:srgbClr val="364556"/>
                </a:solidFill>
                <a:latin typeface="Helvetica" pitchFamily="2" charset="0"/>
              </a:rPr>
              <a:t> and </a:t>
            </a:r>
            <a:r>
              <a:rPr lang="da-DK" sz="3000" err="1">
                <a:solidFill>
                  <a:srgbClr val="364556"/>
                </a:solidFill>
                <a:latin typeface="Helvetica" pitchFamily="2" charset="0"/>
              </a:rPr>
              <a:t>precise</a:t>
            </a:r>
            <a:r>
              <a:rPr lang="da-DK" sz="3000">
                <a:solidFill>
                  <a:srgbClr val="364556"/>
                </a:solidFill>
                <a:latin typeface="Helvetica" pitchFamily="2" charset="0"/>
              </a:rPr>
              <a:t> </a:t>
            </a:r>
            <a:r>
              <a:rPr lang="da-DK" sz="3000" err="1">
                <a:solidFill>
                  <a:srgbClr val="364556"/>
                </a:solidFill>
                <a:latin typeface="Helvetica" pitchFamily="2" charset="0"/>
              </a:rPr>
              <a:t>comments</a:t>
            </a:r>
            <a:endParaRPr lang="da-DK" sz="3000">
              <a:solidFill>
                <a:srgbClr val="364556"/>
              </a:solidFill>
              <a:latin typeface="Helvetica" pitchFamily="2" charset="0"/>
            </a:endParaRPr>
          </a:p>
          <a:p>
            <a:pPr marR="0" algn="l" defTabSz="1828433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da-DK" sz="3000">
              <a:solidFill>
                <a:srgbClr val="364556"/>
              </a:solidFill>
              <a:latin typeface="Helvetica" pitchFamily="2" charset="0"/>
            </a:endParaRPr>
          </a:p>
        </p:txBody>
      </p:sp>
      <p:pic>
        <p:nvPicPr>
          <p:cNvPr id="5" name="Picture 4" descr="A cat with a sticker on its head&#10;&#10;Description automatically generated">
            <a:extLst>
              <a:ext uri="{FF2B5EF4-FFF2-40B4-BE49-F238E27FC236}">
                <a16:creationId xmlns:a16="http://schemas.microsoft.com/office/drawing/2014/main" id="{BC464A25-16F5-A0AE-92AB-4BAC6F010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9975" y="4146447"/>
            <a:ext cx="8367961" cy="8873196"/>
          </a:xfrm>
          <a:prstGeom prst="rect">
            <a:avLst/>
          </a:prstGeom>
        </p:spPr>
      </p:pic>
      <p:sp>
        <p:nvSpPr>
          <p:cNvPr id="6" name="Tekstfelt 3">
            <a:extLst>
              <a:ext uri="{FF2B5EF4-FFF2-40B4-BE49-F238E27FC236}">
                <a16:creationId xmlns:a16="http://schemas.microsoft.com/office/drawing/2014/main" id="{DB518863-BB89-6548-54AD-038174340C77}"/>
              </a:ext>
            </a:extLst>
          </p:cNvPr>
          <p:cNvSpPr txBox="1"/>
          <p:nvPr/>
        </p:nvSpPr>
        <p:spPr>
          <a:xfrm>
            <a:off x="1974053" y="5212207"/>
            <a:ext cx="12157910" cy="4257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742950" indent="-7429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Tool which supports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reproducible</a:t>
            </a: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 coding/publication (reports)</a:t>
            </a:r>
          </a:p>
          <a:p>
            <a:pPr marL="742950" indent="-7429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Quarto works with a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markup language </a:t>
            </a:r>
          </a:p>
          <a:p>
            <a:pPr marL="742950" indent="-7429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A markup language is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text-coding system</a:t>
            </a: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 which specifies structure &amp; format of a document and the text within it</a:t>
            </a:r>
          </a:p>
          <a:p>
            <a:pPr marL="742950" indent="-7429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We </a:t>
            </a:r>
            <a:r>
              <a:rPr lang="en-US" sz="3000" b="1">
                <a:solidFill>
                  <a:srgbClr val="364556"/>
                </a:solidFill>
                <a:latin typeface="Helvetica" pitchFamily="2" charset="0"/>
              </a:rPr>
              <a:t>render</a:t>
            </a:r>
            <a:r>
              <a:rPr lang="en-US" sz="3000">
                <a:solidFill>
                  <a:srgbClr val="364556"/>
                </a:solidFill>
                <a:latin typeface="Helvetica" pitchFamily="2" charset="0"/>
              </a:rPr>
              <a:t> (compile) a Quarto </a:t>
            </a:r>
            <a:r>
              <a:rPr lang="en-US" sz="3000">
                <a:solidFill>
                  <a:srgbClr val="364556"/>
                </a:solidFill>
                <a:latin typeface="Helvetica" pitchFamily="2" charset="0"/>
                <a:sym typeface="Wingdings" pitchFamily="2" charset="2"/>
              </a:rPr>
              <a:t> html, pdf, word, website</a:t>
            </a:r>
            <a:endParaRPr lang="en-US" sz="3000">
              <a:latin typeface="Helvetica" pitchFamily="2" charset="0"/>
            </a:endParaRPr>
          </a:p>
          <a:p>
            <a:pPr marL="571500" marR="0" indent="-571500" algn="l" defTabSz="1828433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da-DK" sz="3000">
              <a:solidFill>
                <a:srgbClr val="364556"/>
              </a:solidFill>
              <a:latin typeface="Helvetica" pitchFamily="2" charset="0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F44726FF-9A1A-73DD-09D6-2D53007B3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0" t="25610" r="18896" b="33624"/>
          <a:stretch/>
        </p:blipFill>
        <p:spPr>
          <a:xfrm>
            <a:off x="1973065" y="3806813"/>
            <a:ext cx="3126771" cy="10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7764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Прямоугольник 80"/>
          <p:cNvSpPr/>
          <p:nvPr/>
        </p:nvSpPr>
        <p:spPr>
          <a:xfrm rot="5400000" flipH="1">
            <a:off x="13163999" y="7949637"/>
            <a:ext cx="10043792" cy="45278"/>
          </a:xfrm>
          <a:prstGeom prst="rect">
            <a:avLst/>
          </a:prstGeom>
          <a:solidFill>
            <a:srgbClr val="393C3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49" name="Скругленный прямоугольник 7"/>
          <p:cNvSpPr/>
          <p:nvPr/>
        </p:nvSpPr>
        <p:spPr>
          <a:xfrm rot="5400000" flipH="1">
            <a:off x="12340550" y="10316542"/>
            <a:ext cx="1668042" cy="3444066"/>
          </a:xfrm>
          <a:prstGeom prst="roundRect">
            <a:avLst>
              <a:gd name="adj" fmla="val 4340"/>
            </a:avLst>
          </a:prstGeom>
          <a:solidFill>
            <a:srgbClr val="234C54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0" name="Скругленный прямоугольник 85"/>
          <p:cNvSpPr/>
          <p:nvPr/>
        </p:nvSpPr>
        <p:spPr>
          <a:xfrm rot="5400000" flipH="1">
            <a:off x="12315206" y="5782442"/>
            <a:ext cx="1718730" cy="3444065"/>
          </a:xfrm>
          <a:prstGeom prst="roundRect">
            <a:avLst>
              <a:gd name="adj" fmla="val 4212"/>
            </a:avLst>
          </a:prstGeom>
          <a:solidFill>
            <a:srgbClr val="436C6E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1" name="Скругленный прямоугольник 86"/>
          <p:cNvSpPr/>
          <p:nvPr/>
        </p:nvSpPr>
        <p:spPr>
          <a:xfrm rot="5400000" flipH="1">
            <a:off x="12438581" y="3559728"/>
            <a:ext cx="1471980" cy="3444066"/>
          </a:xfrm>
          <a:prstGeom prst="roundRect">
            <a:avLst>
              <a:gd name="adj" fmla="val 4918"/>
            </a:avLst>
          </a:prstGeom>
          <a:solidFill>
            <a:srgbClr val="89A8A8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2" name="Скругленный прямоугольник 88"/>
          <p:cNvSpPr/>
          <p:nvPr/>
        </p:nvSpPr>
        <p:spPr>
          <a:xfrm rot="5400000" flipH="1">
            <a:off x="12795622" y="1602943"/>
            <a:ext cx="757895" cy="3444065"/>
          </a:xfrm>
          <a:prstGeom prst="roundRect">
            <a:avLst>
              <a:gd name="adj" fmla="val 9553"/>
            </a:avLst>
          </a:prstGeom>
          <a:solidFill>
            <a:srgbClr val="93B08E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3" name="Прямоугольник 80"/>
          <p:cNvSpPr/>
          <p:nvPr/>
        </p:nvSpPr>
        <p:spPr>
          <a:xfrm rot="5400000" flipH="1">
            <a:off x="6168265" y="7949637"/>
            <a:ext cx="10043793" cy="45278"/>
          </a:xfrm>
          <a:prstGeom prst="rect">
            <a:avLst/>
          </a:prstGeom>
          <a:solidFill>
            <a:srgbClr val="393C3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54" name="Овал 4"/>
          <p:cNvSpPr/>
          <p:nvPr/>
        </p:nvSpPr>
        <p:spPr>
          <a:xfrm rot="5400000" flipH="1">
            <a:off x="11102096" y="11963495"/>
            <a:ext cx="165179" cy="150161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55" name="Овал 81"/>
          <p:cNvSpPr/>
          <p:nvPr/>
        </p:nvSpPr>
        <p:spPr>
          <a:xfrm rot="5400000" flipH="1">
            <a:off x="11102096" y="9705289"/>
            <a:ext cx="165179" cy="150162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56" name="Овал 82"/>
          <p:cNvSpPr/>
          <p:nvPr/>
        </p:nvSpPr>
        <p:spPr>
          <a:xfrm rot="5400000" flipH="1">
            <a:off x="11102096" y="7455984"/>
            <a:ext cx="165179" cy="150162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57" name="Овал 83"/>
          <p:cNvSpPr/>
          <p:nvPr/>
        </p:nvSpPr>
        <p:spPr>
          <a:xfrm rot="5400000" flipH="1">
            <a:off x="11102096" y="3249895"/>
            <a:ext cx="165179" cy="150161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664" name="Group"/>
          <p:cNvGrpSpPr/>
          <p:nvPr/>
        </p:nvGrpSpPr>
        <p:grpSpPr>
          <a:xfrm>
            <a:off x="12041200" y="3140025"/>
            <a:ext cx="2266741" cy="375430"/>
            <a:chOff x="0" y="0"/>
            <a:chExt cx="2266740" cy="375428"/>
          </a:xfrm>
        </p:grpSpPr>
        <p:sp>
          <p:nvSpPr>
            <p:cNvPr id="658" name="Square"/>
            <p:cNvSpPr/>
            <p:nvPr/>
          </p:nvSpPr>
          <p:spPr>
            <a:xfrm>
              <a:off x="0" y="0"/>
              <a:ext cx="377791" cy="37542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234C54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59" name="Square"/>
            <p:cNvSpPr/>
            <p:nvPr/>
          </p:nvSpPr>
          <p:spPr>
            <a:xfrm>
              <a:off x="377790" y="0"/>
              <a:ext cx="377791" cy="37542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234C54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0" name="Square"/>
            <p:cNvSpPr/>
            <p:nvPr/>
          </p:nvSpPr>
          <p:spPr>
            <a:xfrm>
              <a:off x="755580" y="0"/>
              <a:ext cx="377791" cy="37542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234C54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1" name="Square"/>
            <p:cNvSpPr/>
            <p:nvPr/>
          </p:nvSpPr>
          <p:spPr>
            <a:xfrm>
              <a:off x="1133370" y="0"/>
              <a:ext cx="377791" cy="37542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234C54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2" name="Square"/>
            <p:cNvSpPr/>
            <p:nvPr/>
          </p:nvSpPr>
          <p:spPr>
            <a:xfrm>
              <a:off x="1511160" y="0"/>
              <a:ext cx="377791" cy="37542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234C54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3" name="Square"/>
            <p:cNvSpPr/>
            <p:nvPr/>
          </p:nvSpPr>
          <p:spPr>
            <a:xfrm>
              <a:off x="1888950" y="0"/>
              <a:ext cx="377791" cy="37542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234C54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680" name="Group"/>
          <p:cNvGrpSpPr/>
          <p:nvPr/>
        </p:nvGrpSpPr>
        <p:grpSpPr>
          <a:xfrm>
            <a:off x="12176816" y="4704189"/>
            <a:ext cx="1979125" cy="1155144"/>
            <a:chOff x="0" y="0"/>
            <a:chExt cx="1979124" cy="1155143"/>
          </a:xfrm>
        </p:grpSpPr>
        <p:sp>
          <p:nvSpPr>
            <p:cNvPr id="665" name="Square"/>
            <p:cNvSpPr/>
            <p:nvPr/>
          </p:nvSpPr>
          <p:spPr>
            <a:xfrm>
              <a:off x="0" y="0"/>
              <a:ext cx="395825" cy="39335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6" name="Square"/>
            <p:cNvSpPr/>
            <p:nvPr/>
          </p:nvSpPr>
          <p:spPr>
            <a:xfrm>
              <a:off x="395824" y="0"/>
              <a:ext cx="395826" cy="39335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7" name="Square"/>
            <p:cNvSpPr/>
            <p:nvPr/>
          </p:nvSpPr>
          <p:spPr>
            <a:xfrm>
              <a:off x="791649" y="0"/>
              <a:ext cx="395826" cy="39335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8" name="Square"/>
            <p:cNvSpPr/>
            <p:nvPr/>
          </p:nvSpPr>
          <p:spPr>
            <a:xfrm>
              <a:off x="1187474" y="0"/>
              <a:ext cx="395826" cy="39335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69" name="Square"/>
            <p:cNvSpPr/>
            <p:nvPr/>
          </p:nvSpPr>
          <p:spPr>
            <a:xfrm>
              <a:off x="1583299" y="0"/>
              <a:ext cx="395826" cy="39335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0" name="Square"/>
            <p:cNvSpPr/>
            <p:nvPr/>
          </p:nvSpPr>
          <p:spPr>
            <a:xfrm>
              <a:off x="0" y="376374"/>
              <a:ext cx="395825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1" name="Square"/>
            <p:cNvSpPr/>
            <p:nvPr/>
          </p:nvSpPr>
          <p:spPr>
            <a:xfrm>
              <a:off x="395824" y="376374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2" name="Square"/>
            <p:cNvSpPr/>
            <p:nvPr/>
          </p:nvSpPr>
          <p:spPr>
            <a:xfrm>
              <a:off x="791649" y="376374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3" name="Square"/>
            <p:cNvSpPr/>
            <p:nvPr/>
          </p:nvSpPr>
          <p:spPr>
            <a:xfrm>
              <a:off x="1187474" y="376374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4" name="Square"/>
            <p:cNvSpPr/>
            <p:nvPr/>
          </p:nvSpPr>
          <p:spPr>
            <a:xfrm>
              <a:off x="1583299" y="376374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5" name="Square"/>
            <p:cNvSpPr/>
            <p:nvPr/>
          </p:nvSpPr>
          <p:spPr>
            <a:xfrm>
              <a:off x="0" y="761792"/>
              <a:ext cx="395825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6" name="Square"/>
            <p:cNvSpPr/>
            <p:nvPr/>
          </p:nvSpPr>
          <p:spPr>
            <a:xfrm>
              <a:off x="395824" y="761792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7" name="Square"/>
            <p:cNvSpPr/>
            <p:nvPr/>
          </p:nvSpPr>
          <p:spPr>
            <a:xfrm>
              <a:off x="791649" y="761792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8" name="Square"/>
            <p:cNvSpPr/>
            <p:nvPr/>
          </p:nvSpPr>
          <p:spPr>
            <a:xfrm>
              <a:off x="1187474" y="761792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79" name="Square"/>
            <p:cNvSpPr/>
            <p:nvPr/>
          </p:nvSpPr>
          <p:spPr>
            <a:xfrm>
              <a:off x="1583299" y="761792"/>
              <a:ext cx="395826" cy="3933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696" name="Group"/>
          <p:cNvGrpSpPr/>
          <p:nvPr/>
        </p:nvGrpSpPr>
        <p:grpSpPr>
          <a:xfrm>
            <a:off x="12147491" y="6830684"/>
            <a:ext cx="2328435" cy="1366198"/>
            <a:chOff x="0" y="0"/>
            <a:chExt cx="2328434" cy="1366197"/>
          </a:xfrm>
        </p:grpSpPr>
        <p:sp>
          <p:nvSpPr>
            <p:cNvPr id="681" name="Rectangle"/>
            <p:cNvSpPr/>
            <p:nvPr/>
          </p:nvSpPr>
          <p:spPr>
            <a:xfrm>
              <a:off x="0" y="0"/>
              <a:ext cx="388073" cy="3856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2" name="Rectangle"/>
            <p:cNvSpPr/>
            <p:nvPr/>
          </p:nvSpPr>
          <p:spPr>
            <a:xfrm>
              <a:off x="388072" y="0"/>
              <a:ext cx="388073" cy="3856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3" name="Rectangle"/>
            <p:cNvSpPr/>
            <p:nvPr/>
          </p:nvSpPr>
          <p:spPr>
            <a:xfrm>
              <a:off x="776144" y="0"/>
              <a:ext cx="388074" cy="3856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4" name="Rectangle"/>
            <p:cNvSpPr/>
            <p:nvPr/>
          </p:nvSpPr>
          <p:spPr>
            <a:xfrm>
              <a:off x="1164217" y="0"/>
              <a:ext cx="388073" cy="3856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5" name="Rectangle"/>
            <p:cNvSpPr/>
            <p:nvPr/>
          </p:nvSpPr>
          <p:spPr>
            <a:xfrm>
              <a:off x="1552289" y="0"/>
              <a:ext cx="388073" cy="3856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6" name="Rectangle"/>
            <p:cNvSpPr/>
            <p:nvPr/>
          </p:nvSpPr>
          <p:spPr>
            <a:xfrm>
              <a:off x="0" y="490274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7" name="Rectangle"/>
            <p:cNvSpPr/>
            <p:nvPr/>
          </p:nvSpPr>
          <p:spPr>
            <a:xfrm>
              <a:off x="388072" y="490274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8" name="Rectangle"/>
            <p:cNvSpPr/>
            <p:nvPr/>
          </p:nvSpPr>
          <p:spPr>
            <a:xfrm>
              <a:off x="776144" y="490274"/>
              <a:ext cx="388074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9" name="Rectangle"/>
            <p:cNvSpPr/>
            <p:nvPr/>
          </p:nvSpPr>
          <p:spPr>
            <a:xfrm>
              <a:off x="1164217" y="490274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0" name="Rectangle"/>
            <p:cNvSpPr/>
            <p:nvPr/>
          </p:nvSpPr>
          <p:spPr>
            <a:xfrm>
              <a:off x="1552289" y="490274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1" name="Rectangle"/>
            <p:cNvSpPr/>
            <p:nvPr/>
          </p:nvSpPr>
          <p:spPr>
            <a:xfrm>
              <a:off x="1940361" y="490274"/>
              <a:ext cx="388074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2" name="Rectangle"/>
            <p:cNvSpPr/>
            <p:nvPr/>
          </p:nvSpPr>
          <p:spPr>
            <a:xfrm>
              <a:off x="0" y="980550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3" name="Rectangle"/>
            <p:cNvSpPr/>
            <p:nvPr/>
          </p:nvSpPr>
          <p:spPr>
            <a:xfrm>
              <a:off x="388072" y="980550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4" name="Rectangle"/>
            <p:cNvSpPr/>
            <p:nvPr/>
          </p:nvSpPr>
          <p:spPr>
            <a:xfrm>
              <a:off x="776144" y="980550"/>
              <a:ext cx="388074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95" name="Rectangle"/>
            <p:cNvSpPr/>
            <p:nvPr/>
          </p:nvSpPr>
          <p:spPr>
            <a:xfrm>
              <a:off x="1164217" y="980550"/>
              <a:ext cx="388073" cy="38564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8445A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697" name="Vector"/>
          <p:cNvSpPr txBox="1"/>
          <p:nvPr/>
        </p:nvSpPr>
        <p:spPr>
          <a:xfrm>
            <a:off x="12567507" y="2444636"/>
            <a:ext cx="1214129" cy="473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Vector</a:t>
            </a:r>
          </a:p>
        </p:txBody>
      </p:sp>
      <p:sp>
        <p:nvSpPr>
          <p:cNvPr id="698" name="Data Frame"/>
          <p:cNvSpPr txBox="1"/>
          <p:nvPr/>
        </p:nvSpPr>
        <p:spPr>
          <a:xfrm>
            <a:off x="12176816" y="4061880"/>
            <a:ext cx="2190697" cy="473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Data Frame</a:t>
            </a:r>
          </a:p>
        </p:txBody>
      </p:sp>
      <p:sp>
        <p:nvSpPr>
          <p:cNvPr id="699" name="Tibble"/>
          <p:cNvSpPr txBox="1"/>
          <p:nvPr/>
        </p:nvSpPr>
        <p:spPr>
          <a:xfrm>
            <a:off x="12614837" y="10716361"/>
            <a:ext cx="1752676" cy="480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Tibble</a:t>
            </a:r>
          </a:p>
        </p:txBody>
      </p:sp>
      <p:sp>
        <p:nvSpPr>
          <p:cNvPr id="700" name="List"/>
          <p:cNvSpPr txBox="1"/>
          <p:nvPr/>
        </p:nvSpPr>
        <p:spPr>
          <a:xfrm>
            <a:off x="12820636" y="6153093"/>
            <a:ext cx="707867" cy="473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List</a:t>
            </a:r>
          </a:p>
        </p:txBody>
      </p:sp>
      <p:grpSp>
        <p:nvGrpSpPr>
          <p:cNvPr id="721" name="Group"/>
          <p:cNvGrpSpPr/>
          <p:nvPr/>
        </p:nvGrpSpPr>
        <p:grpSpPr>
          <a:xfrm>
            <a:off x="12197132" y="11202146"/>
            <a:ext cx="1954879" cy="1436881"/>
            <a:chOff x="0" y="0"/>
            <a:chExt cx="1954878" cy="1436879"/>
          </a:xfrm>
        </p:grpSpPr>
        <p:sp>
          <p:nvSpPr>
            <p:cNvPr id="701" name="Square"/>
            <p:cNvSpPr/>
            <p:nvPr/>
          </p:nvSpPr>
          <p:spPr>
            <a:xfrm>
              <a:off x="0" y="305661"/>
              <a:ext cx="390976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2" name="Square"/>
            <p:cNvSpPr/>
            <p:nvPr/>
          </p:nvSpPr>
          <p:spPr>
            <a:xfrm>
              <a:off x="390975" y="305661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3" name="Square"/>
            <p:cNvSpPr/>
            <p:nvPr/>
          </p:nvSpPr>
          <p:spPr>
            <a:xfrm>
              <a:off x="781951" y="305661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4" name="Square"/>
            <p:cNvSpPr/>
            <p:nvPr/>
          </p:nvSpPr>
          <p:spPr>
            <a:xfrm>
              <a:off x="1172926" y="305661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5" name="Square"/>
            <p:cNvSpPr/>
            <p:nvPr/>
          </p:nvSpPr>
          <p:spPr>
            <a:xfrm>
              <a:off x="1563902" y="305661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6" name="Square"/>
            <p:cNvSpPr/>
            <p:nvPr/>
          </p:nvSpPr>
          <p:spPr>
            <a:xfrm>
              <a:off x="0" y="677424"/>
              <a:ext cx="390976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7" name="Square"/>
            <p:cNvSpPr/>
            <p:nvPr/>
          </p:nvSpPr>
          <p:spPr>
            <a:xfrm>
              <a:off x="390975" y="677424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8" name="Square"/>
            <p:cNvSpPr/>
            <p:nvPr/>
          </p:nvSpPr>
          <p:spPr>
            <a:xfrm>
              <a:off x="781951" y="677424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09" name="Square"/>
            <p:cNvSpPr/>
            <p:nvPr/>
          </p:nvSpPr>
          <p:spPr>
            <a:xfrm>
              <a:off x="1172926" y="677424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0" name="Square"/>
            <p:cNvSpPr/>
            <p:nvPr/>
          </p:nvSpPr>
          <p:spPr>
            <a:xfrm>
              <a:off x="1563902" y="677424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1" name="Square"/>
            <p:cNvSpPr/>
            <p:nvPr/>
          </p:nvSpPr>
          <p:spPr>
            <a:xfrm>
              <a:off x="0" y="1048347"/>
              <a:ext cx="390976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2" name="Square"/>
            <p:cNvSpPr/>
            <p:nvPr/>
          </p:nvSpPr>
          <p:spPr>
            <a:xfrm>
              <a:off x="390975" y="1048347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3" name="Square"/>
            <p:cNvSpPr/>
            <p:nvPr/>
          </p:nvSpPr>
          <p:spPr>
            <a:xfrm>
              <a:off x="781951" y="1048347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4" name="Square"/>
            <p:cNvSpPr/>
            <p:nvPr/>
          </p:nvSpPr>
          <p:spPr>
            <a:xfrm>
              <a:off x="1172926" y="1048347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5" name="Square"/>
            <p:cNvSpPr/>
            <p:nvPr/>
          </p:nvSpPr>
          <p:spPr>
            <a:xfrm>
              <a:off x="1563902" y="1048347"/>
              <a:ext cx="390977" cy="38853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A1C09B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716" name="&lt; &gt;"/>
            <p:cNvSpPr txBox="1"/>
            <p:nvPr/>
          </p:nvSpPr>
          <p:spPr>
            <a:xfrm>
              <a:off x="8151" y="-1"/>
              <a:ext cx="374673" cy="361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700">
                  <a:solidFill>
                    <a:srgbClr val="FFFFFF"/>
                  </a:solidFill>
                </a:defRPr>
              </a:lvl1pPr>
            </a:lstStyle>
            <a:p>
              <a:r>
                <a:t>&lt; &gt;</a:t>
              </a:r>
            </a:p>
          </p:txBody>
        </p:sp>
        <p:sp>
          <p:nvSpPr>
            <p:cNvPr id="717" name="&lt; &gt;"/>
            <p:cNvSpPr txBox="1"/>
            <p:nvPr/>
          </p:nvSpPr>
          <p:spPr>
            <a:xfrm>
              <a:off x="407279" y="-1"/>
              <a:ext cx="374673" cy="361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700">
                  <a:solidFill>
                    <a:srgbClr val="FFFFFF"/>
                  </a:solidFill>
                </a:defRPr>
              </a:lvl1pPr>
            </a:lstStyle>
            <a:p>
              <a:r>
                <a:t>&lt; &gt;</a:t>
              </a:r>
            </a:p>
          </p:txBody>
        </p:sp>
        <p:sp>
          <p:nvSpPr>
            <p:cNvPr id="718" name="&lt; &gt;"/>
            <p:cNvSpPr txBox="1"/>
            <p:nvPr/>
          </p:nvSpPr>
          <p:spPr>
            <a:xfrm>
              <a:off x="798254" y="-1"/>
              <a:ext cx="374673" cy="361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700">
                  <a:solidFill>
                    <a:srgbClr val="FFFFFF"/>
                  </a:solidFill>
                </a:defRPr>
              </a:lvl1pPr>
            </a:lstStyle>
            <a:p>
              <a:r>
                <a:t>&lt; &gt;</a:t>
              </a:r>
            </a:p>
          </p:txBody>
        </p:sp>
        <p:sp>
          <p:nvSpPr>
            <p:cNvPr id="719" name="&lt; &gt;"/>
            <p:cNvSpPr txBox="1"/>
            <p:nvPr/>
          </p:nvSpPr>
          <p:spPr>
            <a:xfrm>
              <a:off x="1168039" y="-1"/>
              <a:ext cx="374674" cy="361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700">
                  <a:solidFill>
                    <a:srgbClr val="FFFFFF"/>
                  </a:solidFill>
                </a:defRPr>
              </a:lvl1pPr>
            </a:lstStyle>
            <a:p>
              <a:r>
                <a:t>&lt; &gt;</a:t>
              </a:r>
            </a:p>
          </p:txBody>
        </p:sp>
        <p:sp>
          <p:nvSpPr>
            <p:cNvPr id="720" name="&lt; &gt;"/>
            <p:cNvSpPr txBox="1"/>
            <p:nvPr/>
          </p:nvSpPr>
          <p:spPr>
            <a:xfrm>
              <a:off x="1559015" y="-1"/>
              <a:ext cx="374673" cy="3616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700">
                  <a:solidFill>
                    <a:srgbClr val="FFFFFF"/>
                  </a:solidFill>
                </a:defRPr>
              </a:lvl1pPr>
            </a:lstStyle>
            <a:p>
              <a:r>
                <a:t>&lt; &gt;</a:t>
              </a:r>
            </a:p>
          </p:txBody>
        </p:sp>
      </p:grpSp>
      <p:sp>
        <p:nvSpPr>
          <p:cNvPr id="722" name="Скругленный прямоугольник 88"/>
          <p:cNvSpPr/>
          <p:nvPr/>
        </p:nvSpPr>
        <p:spPr>
          <a:xfrm rot="5400000" flipH="1">
            <a:off x="19618099" y="1771713"/>
            <a:ext cx="1104410" cy="3444065"/>
          </a:xfrm>
          <a:prstGeom prst="roundRect">
            <a:avLst>
              <a:gd name="adj" fmla="val 6555"/>
            </a:avLst>
          </a:prstGeom>
          <a:solidFill>
            <a:srgbClr val="880C0A">
              <a:alpha val="67831"/>
            </a:srgbClr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23" name="Овал 4"/>
          <p:cNvSpPr/>
          <p:nvPr/>
        </p:nvSpPr>
        <p:spPr>
          <a:xfrm rot="5400000" flipH="1">
            <a:off x="18097829" y="11918565"/>
            <a:ext cx="165178" cy="150161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24" name="Овал 81"/>
          <p:cNvSpPr/>
          <p:nvPr/>
        </p:nvSpPr>
        <p:spPr>
          <a:xfrm rot="5400000" flipH="1">
            <a:off x="18097829" y="9793590"/>
            <a:ext cx="165178" cy="150161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25" name="Овал 82"/>
          <p:cNvSpPr/>
          <p:nvPr/>
        </p:nvSpPr>
        <p:spPr>
          <a:xfrm rot="5400000" flipH="1">
            <a:off x="18097829" y="7668614"/>
            <a:ext cx="165178" cy="150162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26" name="Овал 83"/>
          <p:cNvSpPr/>
          <p:nvPr/>
        </p:nvSpPr>
        <p:spPr>
          <a:xfrm rot="5400000" flipH="1">
            <a:off x="18103306" y="3418665"/>
            <a:ext cx="165179" cy="150161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27" name="Numeric"/>
          <p:cNvSpPr txBox="1"/>
          <p:nvPr/>
        </p:nvSpPr>
        <p:spPr>
          <a:xfrm>
            <a:off x="19373228" y="2444636"/>
            <a:ext cx="1594152" cy="473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Numeric</a:t>
            </a:r>
          </a:p>
        </p:txBody>
      </p:sp>
      <p:sp>
        <p:nvSpPr>
          <p:cNvPr id="728" name="Integer"/>
          <p:cNvSpPr txBox="1"/>
          <p:nvPr/>
        </p:nvSpPr>
        <p:spPr>
          <a:xfrm>
            <a:off x="19497832" y="4500682"/>
            <a:ext cx="1344945" cy="581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Integer</a:t>
            </a:r>
          </a:p>
        </p:txBody>
      </p:sp>
      <p:sp>
        <p:nvSpPr>
          <p:cNvPr id="729" name="Logical"/>
          <p:cNvSpPr txBox="1"/>
          <p:nvPr/>
        </p:nvSpPr>
        <p:spPr>
          <a:xfrm>
            <a:off x="19497832" y="10827231"/>
            <a:ext cx="1344945" cy="581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Logical</a:t>
            </a:r>
          </a:p>
        </p:txBody>
      </p:sp>
      <p:sp>
        <p:nvSpPr>
          <p:cNvPr id="730" name="Character"/>
          <p:cNvSpPr txBox="1"/>
          <p:nvPr/>
        </p:nvSpPr>
        <p:spPr>
          <a:xfrm>
            <a:off x="19290116" y="6597617"/>
            <a:ext cx="1864914" cy="549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Character</a:t>
            </a:r>
          </a:p>
        </p:txBody>
      </p:sp>
      <p:sp>
        <p:nvSpPr>
          <p:cNvPr id="731" name="Factor"/>
          <p:cNvSpPr txBox="1"/>
          <p:nvPr/>
        </p:nvSpPr>
        <p:spPr>
          <a:xfrm>
            <a:off x="19562245" y="8762023"/>
            <a:ext cx="1216119" cy="473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Factor</a:t>
            </a:r>
          </a:p>
        </p:txBody>
      </p:sp>
      <p:sp>
        <p:nvSpPr>
          <p:cNvPr id="732" name="Скругленный прямоугольник 88"/>
          <p:cNvSpPr/>
          <p:nvPr/>
        </p:nvSpPr>
        <p:spPr>
          <a:xfrm rot="5400000" flipH="1">
            <a:off x="19618099" y="3896688"/>
            <a:ext cx="1104410" cy="3444065"/>
          </a:xfrm>
          <a:prstGeom prst="roundRect">
            <a:avLst>
              <a:gd name="adj" fmla="val 6555"/>
            </a:avLst>
          </a:prstGeom>
          <a:solidFill>
            <a:srgbClr val="390608">
              <a:alpha val="67831"/>
            </a:srgbClr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3" name="Скругленный прямоугольник 88"/>
          <p:cNvSpPr/>
          <p:nvPr/>
        </p:nvSpPr>
        <p:spPr>
          <a:xfrm rot="5400000" flipH="1">
            <a:off x="19618099" y="6021663"/>
            <a:ext cx="1104410" cy="3444065"/>
          </a:xfrm>
          <a:prstGeom prst="roundRect">
            <a:avLst>
              <a:gd name="adj" fmla="val 6555"/>
            </a:avLst>
          </a:prstGeom>
          <a:solidFill>
            <a:srgbClr val="390622">
              <a:alpha val="67831"/>
            </a:srgbClr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4" name="Скругленный прямоугольник 88"/>
          <p:cNvSpPr/>
          <p:nvPr/>
        </p:nvSpPr>
        <p:spPr>
          <a:xfrm rot="5400000" flipH="1">
            <a:off x="19618099" y="8146638"/>
            <a:ext cx="1104410" cy="3444065"/>
          </a:xfrm>
          <a:prstGeom prst="roundRect">
            <a:avLst>
              <a:gd name="adj" fmla="val 6555"/>
            </a:avLst>
          </a:prstGeom>
          <a:solidFill>
            <a:srgbClr val="525067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5" name="Скругленный прямоугольник 88"/>
          <p:cNvSpPr/>
          <p:nvPr/>
        </p:nvSpPr>
        <p:spPr>
          <a:xfrm rot="5400000" flipH="1">
            <a:off x="19618099" y="10271613"/>
            <a:ext cx="1104410" cy="3444065"/>
          </a:xfrm>
          <a:prstGeom prst="roundRect">
            <a:avLst>
              <a:gd name="adj" fmla="val 6555"/>
            </a:avLst>
          </a:prstGeom>
          <a:solidFill>
            <a:srgbClr val="8E8CA7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6" name="Овал 83"/>
          <p:cNvSpPr/>
          <p:nvPr/>
        </p:nvSpPr>
        <p:spPr>
          <a:xfrm rot="5400000" flipH="1">
            <a:off x="18103306" y="5543640"/>
            <a:ext cx="165179" cy="150161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37" name="-1.5, 2.7, 3.2"/>
          <p:cNvSpPr txBox="1"/>
          <p:nvPr/>
        </p:nvSpPr>
        <p:spPr>
          <a:xfrm>
            <a:off x="19006086" y="3231749"/>
            <a:ext cx="2328436" cy="52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-1.5, 2.7, 3.2</a:t>
            </a:r>
          </a:p>
        </p:txBody>
      </p:sp>
      <p:sp>
        <p:nvSpPr>
          <p:cNvPr id="738" name="-2, -1, 0, 3, 5"/>
          <p:cNvSpPr txBox="1"/>
          <p:nvPr/>
        </p:nvSpPr>
        <p:spPr>
          <a:xfrm>
            <a:off x="18999941" y="5356724"/>
            <a:ext cx="2340726" cy="52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-2, -1, 0, 3, 5</a:t>
            </a:r>
          </a:p>
        </p:txBody>
      </p:sp>
      <p:sp>
        <p:nvSpPr>
          <p:cNvPr id="739" name="“A”, “Bat”, “Tom”"/>
          <p:cNvSpPr txBox="1"/>
          <p:nvPr/>
        </p:nvSpPr>
        <p:spPr>
          <a:xfrm>
            <a:off x="18818044" y="7481700"/>
            <a:ext cx="2901698" cy="52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“A”, “Bat”, “Tom”</a:t>
            </a:r>
          </a:p>
        </p:txBody>
      </p:sp>
      <p:sp>
        <p:nvSpPr>
          <p:cNvPr id="740" name="G1, G1, G2, G3"/>
          <p:cNvSpPr txBox="1"/>
          <p:nvPr/>
        </p:nvSpPr>
        <p:spPr>
          <a:xfrm>
            <a:off x="18818044" y="9606675"/>
            <a:ext cx="2901698" cy="52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G1, G1, G2, G3</a:t>
            </a:r>
          </a:p>
        </p:txBody>
      </p:sp>
      <p:sp>
        <p:nvSpPr>
          <p:cNvPr id="741" name="TRUE, FALSE"/>
          <p:cNvSpPr txBox="1"/>
          <p:nvPr/>
        </p:nvSpPr>
        <p:spPr>
          <a:xfrm>
            <a:off x="18954476" y="11731651"/>
            <a:ext cx="2628836" cy="52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TRUE, FALSE</a:t>
            </a:r>
          </a:p>
        </p:txBody>
      </p:sp>
      <p:sp>
        <p:nvSpPr>
          <p:cNvPr id="742" name="DATA STRUCTURES"/>
          <p:cNvSpPr txBox="1"/>
          <p:nvPr/>
        </p:nvSpPr>
        <p:spPr>
          <a:xfrm>
            <a:off x="11162565" y="927560"/>
            <a:ext cx="3752340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b="1"/>
              <a:t>DATA STRUCTURES</a:t>
            </a:r>
          </a:p>
        </p:txBody>
      </p:sp>
      <p:sp>
        <p:nvSpPr>
          <p:cNvPr id="743" name="DATA TYPES"/>
          <p:cNvSpPr txBox="1"/>
          <p:nvPr/>
        </p:nvSpPr>
        <p:spPr>
          <a:xfrm>
            <a:off x="18818044" y="900852"/>
            <a:ext cx="25647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b="1"/>
              <a:t>DATA TYPES</a:t>
            </a:r>
          </a:p>
        </p:txBody>
      </p:sp>
      <p:sp>
        <p:nvSpPr>
          <p:cNvPr id="744" name="Скругленный прямоугольник 85"/>
          <p:cNvSpPr/>
          <p:nvPr/>
        </p:nvSpPr>
        <p:spPr>
          <a:xfrm rot="5400000" flipH="1">
            <a:off x="12378954" y="8058337"/>
            <a:ext cx="1591234" cy="3444065"/>
          </a:xfrm>
          <a:prstGeom prst="roundRect">
            <a:avLst>
              <a:gd name="adj" fmla="val 4550"/>
            </a:avLst>
          </a:prstGeom>
          <a:solidFill>
            <a:srgbClr val="436C6E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793" name="Group"/>
          <p:cNvGrpSpPr/>
          <p:nvPr/>
        </p:nvGrpSpPr>
        <p:grpSpPr>
          <a:xfrm>
            <a:off x="12223690" y="9177397"/>
            <a:ext cx="1954880" cy="1213333"/>
            <a:chOff x="0" y="0"/>
            <a:chExt cx="1954878" cy="1213331"/>
          </a:xfrm>
        </p:grpSpPr>
        <p:grpSp>
          <p:nvGrpSpPr>
            <p:cNvPr id="760" name="Group"/>
            <p:cNvGrpSpPr/>
            <p:nvPr/>
          </p:nvGrpSpPr>
          <p:grpSpPr>
            <a:xfrm>
              <a:off x="313959" y="0"/>
              <a:ext cx="1640920" cy="957746"/>
              <a:chOff x="0" y="0"/>
              <a:chExt cx="1640919" cy="957745"/>
            </a:xfrm>
          </p:grpSpPr>
          <p:sp>
            <p:nvSpPr>
              <p:cNvPr id="745" name="Square"/>
              <p:cNvSpPr/>
              <p:nvPr/>
            </p:nvSpPr>
            <p:spPr>
              <a:xfrm>
                <a:off x="0" y="0"/>
                <a:ext cx="328184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46" name="Square"/>
              <p:cNvSpPr/>
              <p:nvPr/>
            </p:nvSpPr>
            <p:spPr>
              <a:xfrm>
                <a:off x="328183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47" name="Square"/>
              <p:cNvSpPr/>
              <p:nvPr/>
            </p:nvSpPr>
            <p:spPr>
              <a:xfrm>
                <a:off x="656367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48" name="Square"/>
              <p:cNvSpPr/>
              <p:nvPr/>
            </p:nvSpPr>
            <p:spPr>
              <a:xfrm>
                <a:off x="984551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49" name="Square"/>
              <p:cNvSpPr/>
              <p:nvPr/>
            </p:nvSpPr>
            <p:spPr>
              <a:xfrm>
                <a:off x="1312735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0" name="Square"/>
              <p:cNvSpPr/>
              <p:nvPr/>
            </p:nvSpPr>
            <p:spPr>
              <a:xfrm>
                <a:off x="0" y="312056"/>
                <a:ext cx="328184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1" name="Square"/>
              <p:cNvSpPr/>
              <p:nvPr/>
            </p:nvSpPr>
            <p:spPr>
              <a:xfrm>
                <a:off x="328183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2" name="Square"/>
              <p:cNvSpPr/>
              <p:nvPr/>
            </p:nvSpPr>
            <p:spPr>
              <a:xfrm>
                <a:off x="656367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3" name="Square"/>
              <p:cNvSpPr/>
              <p:nvPr/>
            </p:nvSpPr>
            <p:spPr>
              <a:xfrm>
                <a:off x="984551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4" name="Square"/>
              <p:cNvSpPr/>
              <p:nvPr/>
            </p:nvSpPr>
            <p:spPr>
              <a:xfrm>
                <a:off x="1312735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5" name="Square"/>
              <p:cNvSpPr/>
              <p:nvPr/>
            </p:nvSpPr>
            <p:spPr>
              <a:xfrm>
                <a:off x="0" y="631612"/>
                <a:ext cx="328184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6" name="Square"/>
              <p:cNvSpPr/>
              <p:nvPr/>
            </p:nvSpPr>
            <p:spPr>
              <a:xfrm>
                <a:off x="328183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7" name="Square"/>
              <p:cNvSpPr/>
              <p:nvPr/>
            </p:nvSpPr>
            <p:spPr>
              <a:xfrm>
                <a:off x="656367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8" name="Square"/>
              <p:cNvSpPr/>
              <p:nvPr/>
            </p:nvSpPr>
            <p:spPr>
              <a:xfrm>
                <a:off x="984551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59" name="Square"/>
              <p:cNvSpPr/>
              <p:nvPr/>
            </p:nvSpPr>
            <p:spPr>
              <a:xfrm>
                <a:off x="1312735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776" name="Group"/>
            <p:cNvGrpSpPr/>
            <p:nvPr/>
          </p:nvGrpSpPr>
          <p:grpSpPr>
            <a:xfrm>
              <a:off x="159650" y="119126"/>
              <a:ext cx="1640920" cy="957747"/>
              <a:chOff x="0" y="0"/>
              <a:chExt cx="1640919" cy="957745"/>
            </a:xfrm>
          </p:grpSpPr>
          <p:sp>
            <p:nvSpPr>
              <p:cNvPr id="761" name="Square"/>
              <p:cNvSpPr/>
              <p:nvPr/>
            </p:nvSpPr>
            <p:spPr>
              <a:xfrm>
                <a:off x="0" y="0"/>
                <a:ext cx="328184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2" name="Square"/>
              <p:cNvSpPr/>
              <p:nvPr/>
            </p:nvSpPr>
            <p:spPr>
              <a:xfrm>
                <a:off x="328183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3" name="Square"/>
              <p:cNvSpPr/>
              <p:nvPr/>
            </p:nvSpPr>
            <p:spPr>
              <a:xfrm>
                <a:off x="656367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4" name="Square"/>
              <p:cNvSpPr/>
              <p:nvPr/>
            </p:nvSpPr>
            <p:spPr>
              <a:xfrm>
                <a:off x="984551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5" name="Square"/>
              <p:cNvSpPr/>
              <p:nvPr/>
            </p:nvSpPr>
            <p:spPr>
              <a:xfrm>
                <a:off x="1312735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6" name="Square"/>
              <p:cNvSpPr/>
              <p:nvPr/>
            </p:nvSpPr>
            <p:spPr>
              <a:xfrm>
                <a:off x="0" y="312056"/>
                <a:ext cx="328184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7" name="Square"/>
              <p:cNvSpPr/>
              <p:nvPr/>
            </p:nvSpPr>
            <p:spPr>
              <a:xfrm>
                <a:off x="328183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8" name="Square"/>
              <p:cNvSpPr/>
              <p:nvPr/>
            </p:nvSpPr>
            <p:spPr>
              <a:xfrm>
                <a:off x="656367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69" name="Square"/>
              <p:cNvSpPr/>
              <p:nvPr/>
            </p:nvSpPr>
            <p:spPr>
              <a:xfrm>
                <a:off x="984551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0" name="Square"/>
              <p:cNvSpPr/>
              <p:nvPr/>
            </p:nvSpPr>
            <p:spPr>
              <a:xfrm>
                <a:off x="1312735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1" name="Square"/>
              <p:cNvSpPr/>
              <p:nvPr/>
            </p:nvSpPr>
            <p:spPr>
              <a:xfrm>
                <a:off x="0" y="631612"/>
                <a:ext cx="328184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2" name="Square"/>
              <p:cNvSpPr/>
              <p:nvPr/>
            </p:nvSpPr>
            <p:spPr>
              <a:xfrm>
                <a:off x="328183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3" name="Square"/>
              <p:cNvSpPr/>
              <p:nvPr/>
            </p:nvSpPr>
            <p:spPr>
              <a:xfrm>
                <a:off x="656367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4" name="Square"/>
              <p:cNvSpPr/>
              <p:nvPr/>
            </p:nvSpPr>
            <p:spPr>
              <a:xfrm>
                <a:off x="984551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5" name="Square"/>
              <p:cNvSpPr/>
              <p:nvPr/>
            </p:nvSpPr>
            <p:spPr>
              <a:xfrm>
                <a:off x="1312735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792" name="Group"/>
            <p:cNvGrpSpPr/>
            <p:nvPr/>
          </p:nvGrpSpPr>
          <p:grpSpPr>
            <a:xfrm>
              <a:off x="0" y="255586"/>
              <a:ext cx="1640920" cy="957746"/>
              <a:chOff x="0" y="0"/>
              <a:chExt cx="1640919" cy="957745"/>
            </a:xfrm>
          </p:grpSpPr>
          <p:sp>
            <p:nvSpPr>
              <p:cNvPr id="777" name="Square"/>
              <p:cNvSpPr/>
              <p:nvPr/>
            </p:nvSpPr>
            <p:spPr>
              <a:xfrm>
                <a:off x="0" y="0"/>
                <a:ext cx="328184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8" name="Square"/>
              <p:cNvSpPr/>
              <p:nvPr/>
            </p:nvSpPr>
            <p:spPr>
              <a:xfrm>
                <a:off x="328183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79" name="Square"/>
              <p:cNvSpPr/>
              <p:nvPr/>
            </p:nvSpPr>
            <p:spPr>
              <a:xfrm>
                <a:off x="656367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0" name="Square"/>
              <p:cNvSpPr/>
              <p:nvPr/>
            </p:nvSpPr>
            <p:spPr>
              <a:xfrm>
                <a:off x="984551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1" name="Square"/>
              <p:cNvSpPr/>
              <p:nvPr/>
            </p:nvSpPr>
            <p:spPr>
              <a:xfrm>
                <a:off x="1312735" y="0"/>
                <a:ext cx="328185" cy="32613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2" name="Square"/>
              <p:cNvSpPr/>
              <p:nvPr/>
            </p:nvSpPr>
            <p:spPr>
              <a:xfrm>
                <a:off x="0" y="312056"/>
                <a:ext cx="328184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3" name="Square"/>
              <p:cNvSpPr/>
              <p:nvPr/>
            </p:nvSpPr>
            <p:spPr>
              <a:xfrm>
                <a:off x="328183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4" name="Square"/>
              <p:cNvSpPr/>
              <p:nvPr/>
            </p:nvSpPr>
            <p:spPr>
              <a:xfrm>
                <a:off x="656367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5" name="Square"/>
              <p:cNvSpPr/>
              <p:nvPr/>
            </p:nvSpPr>
            <p:spPr>
              <a:xfrm>
                <a:off x="984551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6" name="Square"/>
              <p:cNvSpPr/>
              <p:nvPr/>
            </p:nvSpPr>
            <p:spPr>
              <a:xfrm>
                <a:off x="1312735" y="312056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7" name="Square"/>
              <p:cNvSpPr/>
              <p:nvPr/>
            </p:nvSpPr>
            <p:spPr>
              <a:xfrm>
                <a:off x="0" y="631612"/>
                <a:ext cx="328184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8" name="Square"/>
              <p:cNvSpPr/>
              <p:nvPr/>
            </p:nvSpPr>
            <p:spPr>
              <a:xfrm>
                <a:off x="328183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89" name="Square"/>
              <p:cNvSpPr/>
              <p:nvPr/>
            </p:nvSpPr>
            <p:spPr>
              <a:xfrm>
                <a:off x="656367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90" name="Square"/>
              <p:cNvSpPr/>
              <p:nvPr/>
            </p:nvSpPr>
            <p:spPr>
              <a:xfrm>
                <a:off x="984551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791" name="Square"/>
              <p:cNvSpPr/>
              <p:nvPr/>
            </p:nvSpPr>
            <p:spPr>
              <a:xfrm>
                <a:off x="1312735" y="631612"/>
                <a:ext cx="328185" cy="32613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18445A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794" name="Array"/>
          <p:cNvSpPr txBox="1"/>
          <p:nvPr/>
        </p:nvSpPr>
        <p:spPr>
          <a:xfrm>
            <a:off x="12677108" y="8457794"/>
            <a:ext cx="1119468" cy="581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Array</a:t>
            </a:r>
          </a:p>
        </p:txBody>
      </p:sp>
      <p:sp>
        <p:nvSpPr>
          <p:cNvPr id="795" name="Овал 83"/>
          <p:cNvSpPr/>
          <p:nvPr/>
        </p:nvSpPr>
        <p:spPr>
          <a:xfrm rot="5400000" flipH="1">
            <a:off x="11102096" y="5206680"/>
            <a:ext cx="165179" cy="150162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93C39"/>
            </a:solidFill>
            <a:miter/>
          </a:ln>
        </p:spPr>
        <p:txBody>
          <a:bodyPr lIns="45719" rIns="45719" anchor="ctr"/>
          <a:lstStyle/>
          <a:p>
            <a:pPr algn="ctr" defTabSz="2438644">
              <a:lnSpc>
                <a:spcPct val="150000"/>
              </a:lnSpc>
              <a:spcBef>
                <a:spcPts val="400"/>
              </a:spcBef>
              <a:defRPr sz="14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96" name="Rectangle"/>
          <p:cNvSpPr/>
          <p:nvPr/>
        </p:nvSpPr>
        <p:spPr>
          <a:xfrm>
            <a:off x="-107457" y="-75559"/>
            <a:ext cx="8087541" cy="13830860"/>
          </a:xfrm>
          <a:prstGeom prst="rect">
            <a:avLst/>
          </a:prstGeom>
          <a:solidFill>
            <a:srgbClr val="7893B7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800" name="Group"/>
          <p:cNvGrpSpPr/>
          <p:nvPr/>
        </p:nvGrpSpPr>
        <p:grpSpPr>
          <a:xfrm>
            <a:off x="1106491" y="4671189"/>
            <a:ext cx="5835840" cy="2216352"/>
            <a:chOff x="-176926" y="-373157"/>
            <a:chExt cx="5835839" cy="2216351"/>
          </a:xfrm>
        </p:grpSpPr>
        <p:sp>
          <p:nvSpPr>
            <p:cNvPr id="797" name="R DATA TYPES &amp; STRUCTURES"/>
            <p:cNvSpPr txBox="1"/>
            <p:nvPr/>
          </p:nvSpPr>
          <p:spPr>
            <a:xfrm>
              <a:off x="-176926" y="343925"/>
              <a:ext cx="5835839" cy="1499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R DATA TYPES &amp; STRUCTURES</a:t>
              </a:r>
            </a:p>
          </p:txBody>
        </p:sp>
        <p:sp>
          <p:nvSpPr>
            <p:cNvPr id="798" name="FROM EXCEL TO R"/>
            <p:cNvSpPr txBox="1"/>
            <p:nvPr/>
          </p:nvSpPr>
          <p:spPr>
            <a:xfrm>
              <a:off x="951131" y="-373157"/>
              <a:ext cx="4252343" cy="446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1800" spc="337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200"/>
                <a:t>FROM EXCEL TO R</a:t>
              </a:r>
            </a:p>
          </p:txBody>
        </p:sp>
        <p:sp>
          <p:nvSpPr>
            <p:cNvPr id="799" name="Line"/>
            <p:cNvSpPr/>
            <p:nvPr/>
          </p:nvSpPr>
          <p:spPr>
            <a:xfrm>
              <a:off x="167280" y="-168956"/>
              <a:ext cx="927961" cy="0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816" name="Group"/>
          <p:cNvGrpSpPr/>
          <p:nvPr/>
        </p:nvGrpSpPr>
        <p:grpSpPr>
          <a:xfrm>
            <a:off x="2584943" y="7906199"/>
            <a:ext cx="3051213" cy="1780391"/>
            <a:chOff x="0" y="0"/>
            <a:chExt cx="2340724" cy="1366196"/>
          </a:xfrm>
        </p:grpSpPr>
        <p:sp>
          <p:nvSpPr>
            <p:cNvPr id="801" name="Square"/>
            <p:cNvSpPr/>
            <p:nvPr/>
          </p:nvSpPr>
          <p:spPr>
            <a:xfrm>
              <a:off x="0" y="0"/>
              <a:ext cx="468145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2" name="Square"/>
            <p:cNvSpPr/>
            <p:nvPr/>
          </p:nvSpPr>
          <p:spPr>
            <a:xfrm>
              <a:off x="468144" y="0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3" name="Square"/>
            <p:cNvSpPr/>
            <p:nvPr/>
          </p:nvSpPr>
          <p:spPr>
            <a:xfrm>
              <a:off x="936289" y="0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4" name="Square"/>
            <p:cNvSpPr/>
            <p:nvPr/>
          </p:nvSpPr>
          <p:spPr>
            <a:xfrm>
              <a:off x="1404434" y="0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5" name="Square"/>
            <p:cNvSpPr/>
            <p:nvPr/>
          </p:nvSpPr>
          <p:spPr>
            <a:xfrm>
              <a:off x="1872579" y="0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6" name="Square"/>
            <p:cNvSpPr/>
            <p:nvPr/>
          </p:nvSpPr>
          <p:spPr>
            <a:xfrm>
              <a:off x="0" y="445141"/>
              <a:ext cx="468145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7" name="Square"/>
            <p:cNvSpPr/>
            <p:nvPr/>
          </p:nvSpPr>
          <p:spPr>
            <a:xfrm>
              <a:off x="468144" y="445141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8" name="Square"/>
            <p:cNvSpPr/>
            <p:nvPr/>
          </p:nvSpPr>
          <p:spPr>
            <a:xfrm>
              <a:off x="936289" y="445141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09" name="Square"/>
            <p:cNvSpPr/>
            <p:nvPr/>
          </p:nvSpPr>
          <p:spPr>
            <a:xfrm>
              <a:off x="1404434" y="445141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10" name="Square"/>
            <p:cNvSpPr/>
            <p:nvPr/>
          </p:nvSpPr>
          <p:spPr>
            <a:xfrm>
              <a:off x="1872579" y="445141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11" name="Square"/>
            <p:cNvSpPr/>
            <p:nvPr/>
          </p:nvSpPr>
          <p:spPr>
            <a:xfrm>
              <a:off x="0" y="900978"/>
              <a:ext cx="468145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12" name="Square"/>
            <p:cNvSpPr/>
            <p:nvPr/>
          </p:nvSpPr>
          <p:spPr>
            <a:xfrm>
              <a:off x="468144" y="900978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13" name="Square"/>
            <p:cNvSpPr/>
            <p:nvPr/>
          </p:nvSpPr>
          <p:spPr>
            <a:xfrm>
              <a:off x="936289" y="900978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14" name="Square"/>
            <p:cNvSpPr/>
            <p:nvPr/>
          </p:nvSpPr>
          <p:spPr>
            <a:xfrm>
              <a:off x="1404434" y="900978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15" name="Square"/>
            <p:cNvSpPr/>
            <p:nvPr/>
          </p:nvSpPr>
          <p:spPr>
            <a:xfrm>
              <a:off x="1872579" y="900978"/>
              <a:ext cx="468146" cy="46521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525067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817" name="VARIABLES"/>
          <p:cNvSpPr txBox="1"/>
          <p:nvPr/>
        </p:nvSpPr>
        <p:spPr>
          <a:xfrm rot="16200000">
            <a:off x="959533" y="8614692"/>
            <a:ext cx="2158129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/>
              <a:t>VARIABLES</a:t>
            </a:r>
          </a:p>
        </p:txBody>
      </p:sp>
      <p:sp>
        <p:nvSpPr>
          <p:cNvPr id="818" name="OBSERVATIONS"/>
          <p:cNvSpPr txBox="1"/>
          <p:nvPr/>
        </p:nvSpPr>
        <p:spPr>
          <a:xfrm>
            <a:off x="2606522" y="10020681"/>
            <a:ext cx="332520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lvl1pPr>
              <a:defRPr sz="2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/>
              <a:t>OBSERVATIONS</a:t>
            </a:r>
          </a:p>
        </p:txBody>
      </p:sp>
      <p:sp>
        <p:nvSpPr>
          <p:cNvPr id="819" name="13"/>
          <p:cNvSpPr txBox="1"/>
          <p:nvPr/>
        </p:nvSpPr>
        <p:spPr>
          <a:xfrm>
            <a:off x="374649" y="13153924"/>
            <a:ext cx="665164" cy="90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2</a:t>
            </a:r>
            <a:endParaRPr/>
          </a:p>
          <a:p>
            <a:pPr lvl="1">
              <a:defRPr sz="26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20" name="Age…"/>
          <p:cNvSpPr txBox="1"/>
          <p:nvPr/>
        </p:nvSpPr>
        <p:spPr>
          <a:xfrm>
            <a:off x="9806744" y="4676644"/>
            <a:ext cx="1119469" cy="1213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Age</a:t>
            </a:r>
          </a:p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Height</a:t>
            </a:r>
          </a:p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BMI</a:t>
            </a:r>
          </a:p>
        </p:txBody>
      </p:sp>
      <p:sp>
        <p:nvSpPr>
          <p:cNvPr id="821" name="Age"/>
          <p:cNvSpPr txBox="1"/>
          <p:nvPr/>
        </p:nvSpPr>
        <p:spPr>
          <a:xfrm>
            <a:off x="9806744" y="3088380"/>
            <a:ext cx="1119469" cy="549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Age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" grpId="1" animBg="1" advAuto="0"/>
      <p:bldP spid="821" grpId="2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06A6-8969-4190-97CE-4A055BAF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">
            <a:extLst>
              <a:ext uri="{FF2B5EF4-FFF2-40B4-BE49-F238E27FC236}">
                <a16:creationId xmlns:a16="http://schemas.microsoft.com/office/drawing/2014/main" id="{F4CBBBA1-0982-26B0-5815-C4FF4F557D42}"/>
              </a:ext>
            </a:extLst>
          </p:cNvPr>
          <p:cNvSpPr/>
          <p:nvPr/>
        </p:nvSpPr>
        <p:spPr>
          <a:xfrm>
            <a:off x="-146892" y="-27802"/>
            <a:ext cx="24665084" cy="4522483"/>
          </a:xfrm>
          <a:prstGeom prst="rect">
            <a:avLst/>
          </a:prstGeom>
          <a:solidFill>
            <a:srgbClr val="7893B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93" name="Group">
            <a:extLst>
              <a:ext uri="{FF2B5EF4-FFF2-40B4-BE49-F238E27FC236}">
                <a16:creationId xmlns:a16="http://schemas.microsoft.com/office/drawing/2014/main" id="{A5E67F14-35A9-55F3-D801-4B5084A7F9E9}"/>
              </a:ext>
            </a:extLst>
          </p:cNvPr>
          <p:cNvGrpSpPr/>
          <p:nvPr/>
        </p:nvGrpSpPr>
        <p:grpSpPr>
          <a:xfrm>
            <a:off x="3906382" y="1337704"/>
            <a:ext cx="16558534" cy="3716297"/>
            <a:chOff x="-1203197" y="237250"/>
            <a:chExt cx="16558533" cy="3716295"/>
          </a:xfrm>
        </p:grpSpPr>
        <p:sp>
          <p:nvSpPr>
            <p:cNvPr id="390" name="LET’S GET STARTED">
              <a:extLst>
                <a:ext uri="{FF2B5EF4-FFF2-40B4-BE49-F238E27FC236}">
                  <a16:creationId xmlns:a16="http://schemas.microsoft.com/office/drawing/2014/main" id="{F7FE26F7-1105-9175-802E-A0C6966C62E6}"/>
                </a:ext>
              </a:extLst>
            </p:cNvPr>
            <p:cNvSpPr txBox="1"/>
            <p:nvPr/>
          </p:nvSpPr>
          <p:spPr>
            <a:xfrm>
              <a:off x="-1203197" y="894542"/>
              <a:ext cx="16558533" cy="305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8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>
                <a:defRPr sz="9000"/>
              </a:pPr>
              <a:r>
                <a:rPr lang="da-DK" sz="8000"/>
                <a:t>LIVE CODING 1 – QUARTO</a:t>
              </a:r>
              <a:endParaRPr sz="8000"/>
            </a:p>
          </p:txBody>
        </p:sp>
        <p:sp>
          <p:nvSpPr>
            <p:cNvPr id="391" name="FROM EXCEL TO R">
              <a:extLst>
                <a:ext uri="{FF2B5EF4-FFF2-40B4-BE49-F238E27FC236}">
                  <a16:creationId xmlns:a16="http://schemas.microsoft.com/office/drawing/2014/main" id="{D61B2803-2EF8-DE33-B1DD-3CD355BB7E20}"/>
                </a:ext>
              </a:extLst>
            </p:cNvPr>
            <p:cNvSpPr txBox="1"/>
            <p:nvPr/>
          </p:nvSpPr>
          <p:spPr>
            <a:xfrm>
              <a:off x="1035214" y="237250"/>
              <a:ext cx="7185392" cy="675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392" name="Line">
              <a:extLst>
                <a:ext uri="{FF2B5EF4-FFF2-40B4-BE49-F238E27FC236}">
                  <a16:creationId xmlns:a16="http://schemas.microsoft.com/office/drawing/2014/main" id="{A2D445DD-2A13-6893-4178-C899D2631C02}"/>
                </a:ext>
              </a:extLst>
            </p:cNvPr>
            <p:cNvSpPr/>
            <p:nvPr/>
          </p:nvSpPr>
          <p:spPr>
            <a:xfrm>
              <a:off x="-1203197" y="456064"/>
              <a:ext cx="1893346" cy="1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5" name="Grafik 4" descr="Programmør med massiv udfyldning">
            <a:extLst>
              <a:ext uri="{FF2B5EF4-FFF2-40B4-BE49-F238E27FC236}">
                <a16:creationId xmlns:a16="http://schemas.microsoft.com/office/drawing/2014/main" id="{8850F825-E529-A205-D3C9-FDE11ACDFE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8159" y="4542095"/>
            <a:ext cx="8794981" cy="87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2659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D956-A931-81D1-CE00-C707C83C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Rectangle">
            <a:extLst>
              <a:ext uri="{FF2B5EF4-FFF2-40B4-BE49-F238E27FC236}">
                <a16:creationId xmlns:a16="http://schemas.microsoft.com/office/drawing/2014/main" id="{F1A4EE30-5BE0-655D-8AA8-6D16C7733F39}"/>
              </a:ext>
            </a:extLst>
          </p:cNvPr>
          <p:cNvSpPr/>
          <p:nvPr/>
        </p:nvSpPr>
        <p:spPr>
          <a:xfrm>
            <a:off x="-29388" y="-19956"/>
            <a:ext cx="24430076" cy="4005392"/>
          </a:xfrm>
          <a:prstGeom prst="rect">
            <a:avLst/>
          </a:prstGeom>
          <a:solidFill>
            <a:srgbClr val="E7B07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2" name="Oval 16">
            <a:extLst>
              <a:ext uri="{FF2B5EF4-FFF2-40B4-BE49-F238E27FC236}">
                <a16:creationId xmlns:a16="http://schemas.microsoft.com/office/drawing/2014/main" id="{28C51954-4661-A9A9-F5EB-C22F4E27CA8E}"/>
              </a:ext>
            </a:extLst>
          </p:cNvPr>
          <p:cNvSpPr/>
          <p:nvPr/>
        </p:nvSpPr>
        <p:spPr>
          <a:xfrm rot="5400000" flipH="1">
            <a:off x="14997186" y="14325748"/>
            <a:ext cx="182788" cy="177330"/>
          </a:xfrm>
          <a:prstGeom prst="ellipse">
            <a:avLst/>
          </a:prstGeom>
          <a:solidFill>
            <a:srgbClr val="00ADB5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13" name="25">
            <a:extLst>
              <a:ext uri="{FF2B5EF4-FFF2-40B4-BE49-F238E27FC236}">
                <a16:creationId xmlns:a16="http://schemas.microsoft.com/office/drawing/2014/main" id="{64BDFE49-7248-384B-ECF8-20F0E1BD5785}"/>
              </a:ext>
            </a:extLst>
          </p:cNvPr>
          <p:cNvSpPr txBox="1"/>
          <p:nvPr/>
        </p:nvSpPr>
        <p:spPr>
          <a:xfrm>
            <a:off x="374649" y="13155802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13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317" name="Group">
            <a:extLst>
              <a:ext uri="{FF2B5EF4-FFF2-40B4-BE49-F238E27FC236}">
                <a16:creationId xmlns:a16="http://schemas.microsoft.com/office/drawing/2014/main" id="{12F583D3-7AF7-DB23-35F4-C850FB84207D}"/>
              </a:ext>
            </a:extLst>
          </p:cNvPr>
          <p:cNvGrpSpPr/>
          <p:nvPr/>
        </p:nvGrpSpPr>
        <p:grpSpPr>
          <a:xfrm>
            <a:off x="7311580" y="1214498"/>
            <a:ext cx="11656977" cy="1871751"/>
            <a:chOff x="-1319162" y="143607"/>
            <a:chExt cx="11656975" cy="1871749"/>
          </a:xfrm>
        </p:grpSpPr>
        <p:sp>
          <p:nvSpPr>
            <p:cNvPr id="1314" name="RMARKDOWN CHEAT SHEET">
              <a:extLst>
                <a:ext uri="{FF2B5EF4-FFF2-40B4-BE49-F238E27FC236}">
                  <a16:creationId xmlns:a16="http://schemas.microsoft.com/office/drawing/2014/main" id="{5EAC9E67-51A3-A618-78E0-75CFCC5A1CFC}"/>
                </a:ext>
              </a:extLst>
            </p:cNvPr>
            <p:cNvSpPr txBox="1"/>
            <p:nvPr/>
          </p:nvSpPr>
          <p:spPr>
            <a:xfrm>
              <a:off x="-1319162" y="898027"/>
              <a:ext cx="9372505" cy="1117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5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da-DK"/>
                <a:t>QUARTO</a:t>
              </a:r>
              <a:r>
                <a:t> CHEAT SHEET </a:t>
              </a:r>
            </a:p>
          </p:txBody>
        </p:sp>
        <p:sp>
          <p:nvSpPr>
            <p:cNvPr id="1315" name="https://rstudio.com/wp-content/uploads/2016/03/rmarkdown-cheatsheet-2.0.pdf">
              <a:extLst>
                <a:ext uri="{FF2B5EF4-FFF2-40B4-BE49-F238E27FC236}">
                  <a16:creationId xmlns:a16="http://schemas.microsoft.com/office/drawing/2014/main" id="{65C7DE0A-6B2E-7DA2-FCD9-E14605A2E407}"/>
                </a:ext>
              </a:extLst>
            </p:cNvPr>
            <p:cNvSpPr txBox="1"/>
            <p:nvPr/>
          </p:nvSpPr>
          <p:spPr>
            <a:xfrm>
              <a:off x="1626790" y="143607"/>
              <a:ext cx="8711023" cy="1007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da-DK"/>
                <a:t>https://quarto.org</a:t>
              </a:r>
              <a:endParaRPr/>
            </a:p>
          </p:txBody>
        </p:sp>
        <p:sp>
          <p:nvSpPr>
            <p:cNvPr id="1316" name="Line">
              <a:extLst>
                <a:ext uri="{FF2B5EF4-FFF2-40B4-BE49-F238E27FC236}">
                  <a16:creationId xmlns:a16="http://schemas.microsoft.com/office/drawing/2014/main" id="{A309DE4B-1B97-09F9-99AA-2010473C06EF}"/>
                </a:ext>
              </a:extLst>
            </p:cNvPr>
            <p:cNvSpPr/>
            <p:nvPr/>
          </p:nvSpPr>
          <p:spPr>
            <a:xfrm>
              <a:off x="-36743" y="349294"/>
              <a:ext cx="1440000" cy="0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318" name="Группа 36">
            <a:extLst>
              <a:ext uri="{FF2B5EF4-FFF2-40B4-BE49-F238E27FC236}">
                <a16:creationId xmlns:a16="http://schemas.microsoft.com/office/drawing/2014/main" id="{BA6F8139-4F45-7E24-400C-DA199471215F}"/>
              </a:ext>
            </a:extLst>
          </p:cNvPr>
          <p:cNvSpPr/>
          <p:nvPr/>
        </p:nvSpPr>
        <p:spPr>
          <a:xfrm>
            <a:off x="1266262" y="4596970"/>
            <a:ext cx="19054757" cy="2426037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319" name="Группа 63">
            <a:extLst>
              <a:ext uri="{FF2B5EF4-FFF2-40B4-BE49-F238E27FC236}">
                <a16:creationId xmlns:a16="http://schemas.microsoft.com/office/drawing/2014/main" id="{64352997-7E5A-7330-B9B5-531AEFEE8B9F}"/>
              </a:ext>
            </a:extLst>
          </p:cNvPr>
          <p:cNvSpPr/>
          <p:nvPr/>
        </p:nvSpPr>
        <p:spPr>
          <a:xfrm>
            <a:off x="1266262" y="7519599"/>
            <a:ext cx="19054757" cy="2426037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320" name="Группа 69">
            <a:extLst>
              <a:ext uri="{FF2B5EF4-FFF2-40B4-BE49-F238E27FC236}">
                <a16:creationId xmlns:a16="http://schemas.microsoft.com/office/drawing/2014/main" id="{4079A3E0-1C7F-2275-3E7E-865D95D0BEF8}"/>
              </a:ext>
            </a:extLst>
          </p:cNvPr>
          <p:cNvSpPr/>
          <p:nvPr/>
        </p:nvSpPr>
        <p:spPr>
          <a:xfrm>
            <a:off x="1266262" y="10442229"/>
            <a:ext cx="19054757" cy="2426037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321" name="Line">
            <a:extLst>
              <a:ext uri="{FF2B5EF4-FFF2-40B4-BE49-F238E27FC236}">
                <a16:creationId xmlns:a16="http://schemas.microsoft.com/office/drawing/2014/main" id="{ABEF8754-C231-A2AB-460A-440A17FB0AAA}"/>
              </a:ext>
            </a:extLst>
          </p:cNvPr>
          <p:cNvSpPr/>
          <p:nvPr/>
        </p:nvSpPr>
        <p:spPr>
          <a:xfrm flipV="1">
            <a:off x="10406700" y="4779297"/>
            <a:ext cx="1" cy="2042311"/>
          </a:xfrm>
          <a:prstGeom prst="line">
            <a:avLst/>
          </a:prstGeom>
          <a:ln w="50800">
            <a:solidFill>
              <a:srgbClr val="3C3A4B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22" name="Line">
            <a:extLst>
              <a:ext uri="{FF2B5EF4-FFF2-40B4-BE49-F238E27FC236}">
                <a16:creationId xmlns:a16="http://schemas.microsoft.com/office/drawing/2014/main" id="{9953FEB3-248A-9016-2C8D-01184DFB0E3B}"/>
              </a:ext>
            </a:extLst>
          </p:cNvPr>
          <p:cNvSpPr/>
          <p:nvPr/>
        </p:nvSpPr>
        <p:spPr>
          <a:xfrm flipV="1">
            <a:off x="9499677" y="10643627"/>
            <a:ext cx="1" cy="2115804"/>
          </a:xfrm>
          <a:prstGeom prst="line">
            <a:avLst/>
          </a:prstGeom>
          <a:ln w="50800">
            <a:solidFill>
              <a:srgbClr val="880C0A">
                <a:alpha val="67831"/>
              </a:srgbClr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23" name="Begin .Rmd:">
            <a:extLst>
              <a:ext uri="{FF2B5EF4-FFF2-40B4-BE49-F238E27FC236}">
                <a16:creationId xmlns:a16="http://schemas.microsoft.com/office/drawing/2014/main" id="{ED012538-D166-C86E-D997-CD39D5223D96}"/>
              </a:ext>
            </a:extLst>
          </p:cNvPr>
          <p:cNvSpPr txBox="1"/>
          <p:nvPr/>
        </p:nvSpPr>
        <p:spPr>
          <a:xfrm>
            <a:off x="1587259" y="4782683"/>
            <a:ext cx="4430765" cy="548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YAML parameter</a:t>
            </a:r>
            <a:r>
              <a:t>:</a:t>
            </a:r>
          </a:p>
        </p:txBody>
      </p:sp>
      <p:sp>
        <p:nvSpPr>
          <p:cNvPr id="1324" name="Code Chunk:">
            <a:extLst>
              <a:ext uri="{FF2B5EF4-FFF2-40B4-BE49-F238E27FC236}">
                <a16:creationId xmlns:a16="http://schemas.microsoft.com/office/drawing/2014/main" id="{04750258-D53D-1623-EB42-DC77D207546F}"/>
              </a:ext>
            </a:extLst>
          </p:cNvPr>
          <p:cNvSpPr txBox="1"/>
          <p:nvPr/>
        </p:nvSpPr>
        <p:spPr>
          <a:xfrm>
            <a:off x="10850171" y="4756949"/>
            <a:ext cx="300042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Code Chunk:</a:t>
            </a:r>
          </a:p>
        </p:txBody>
      </p:sp>
      <p:sp>
        <p:nvSpPr>
          <p:cNvPr id="1325" name="---…">
            <a:extLst>
              <a:ext uri="{FF2B5EF4-FFF2-40B4-BE49-F238E27FC236}">
                <a16:creationId xmlns:a16="http://schemas.microsoft.com/office/drawing/2014/main" id="{5C736795-1B5A-D659-97C1-4FC836B05723}"/>
              </a:ext>
            </a:extLst>
          </p:cNvPr>
          <p:cNvSpPr txBox="1"/>
          <p:nvPr/>
        </p:nvSpPr>
        <p:spPr>
          <a:xfrm>
            <a:off x="1587259" y="5102123"/>
            <a:ext cx="6511276" cy="200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---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title: My Project Name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output:</a:t>
            </a:r>
          </a:p>
          <a:p>
            <a:pPr lvl="1"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html_document (pdf_document, …)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---</a:t>
            </a:r>
          </a:p>
        </p:txBody>
      </p:sp>
      <p:sp>
        <p:nvSpPr>
          <p:cNvPr id="1326" name="Figure Options:">
            <a:extLst>
              <a:ext uri="{FF2B5EF4-FFF2-40B4-BE49-F238E27FC236}">
                <a16:creationId xmlns:a16="http://schemas.microsoft.com/office/drawing/2014/main" id="{A199AFE5-F588-6FD1-0BF8-4BA19D12AEB4}"/>
              </a:ext>
            </a:extLst>
          </p:cNvPr>
          <p:cNvSpPr txBox="1"/>
          <p:nvPr/>
        </p:nvSpPr>
        <p:spPr>
          <a:xfrm>
            <a:off x="12659888" y="7708638"/>
            <a:ext cx="426159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Figure Options:</a:t>
            </a:r>
          </a:p>
        </p:txBody>
      </p:sp>
      <p:sp>
        <p:nvSpPr>
          <p:cNvPr id="1327" name="Code Options:">
            <a:extLst>
              <a:ext uri="{FF2B5EF4-FFF2-40B4-BE49-F238E27FC236}">
                <a16:creationId xmlns:a16="http://schemas.microsoft.com/office/drawing/2014/main" id="{774D71C8-A85C-B127-EDF8-0D65F6295C34}"/>
              </a:ext>
            </a:extLst>
          </p:cNvPr>
          <p:cNvSpPr txBox="1"/>
          <p:nvPr/>
        </p:nvSpPr>
        <p:spPr>
          <a:xfrm>
            <a:off x="1587259" y="7710413"/>
            <a:ext cx="426901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Code Options:</a:t>
            </a:r>
          </a:p>
        </p:txBody>
      </p:sp>
      <p:sp>
        <p:nvSpPr>
          <p:cNvPr id="1328" name="Header:">
            <a:extLst>
              <a:ext uri="{FF2B5EF4-FFF2-40B4-BE49-F238E27FC236}">
                <a16:creationId xmlns:a16="http://schemas.microsoft.com/office/drawing/2014/main" id="{F5FFA118-9D38-803E-D702-8EF8E5F56051}"/>
              </a:ext>
            </a:extLst>
          </p:cNvPr>
          <p:cNvSpPr txBox="1"/>
          <p:nvPr/>
        </p:nvSpPr>
        <p:spPr>
          <a:xfrm>
            <a:off x="1582540" y="10626497"/>
            <a:ext cx="3236239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Source mode:</a:t>
            </a:r>
          </a:p>
          <a:p>
            <a:r>
              <a:t>Header</a:t>
            </a:r>
          </a:p>
        </p:txBody>
      </p:sp>
      <p:sp>
        <p:nvSpPr>
          <p:cNvPr id="1329" name="Rectangle">
            <a:extLst>
              <a:ext uri="{FF2B5EF4-FFF2-40B4-BE49-F238E27FC236}">
                <a16:creationId xmlns:a16="http://schemas.microsoft.com/office/drawing/2014/main" id="{27C80E05-6221-70E6-D5B4-0C7EA551767D}"/>
              </a:ext>
            </a:extLst>
          </p:cNvPr>
          <p:cNvSpPr/>
          <p:nvPr/>
        </p:nvSpPr>
        <p:spPr>
          <a:xfrm>
            <a:off x="20635571" y="4597454"/>
            <a:ext cx="2644505" cy="2425069"/>
          </a:xfrm>
          <a:prstGeom prst="rect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30" name="Rectangle">
            <a:extLst>
              <a:ext uri="{FF2B5EF4-FFF2-40B4-BE49-F238E27FC236}">
                <a16:creationId xmlns:a16="http://schemas.microsoft.com/office/drawing/2014/main" id="{90ED92FE-57FA-51BC-CCE7-FC2530140312}"/>
              </a:ext>
            </a:extLst>
          </p:cNvPr>
          <p:cNvSpPr/>
          <p:nvPr/>
        </p:nvSpPr>
        <p:spPr>
          <a:xfrm>
            <a:off x="20646710" y="7513315"/>
            <a:ext cx="2633367" cy="2425069"/>
          </a:xfrm>
          <a:prstGeom prst="rect">
            <a:avLst/>
          </a:prstGeom>
          <a:solidFill>
            <a:srgbClr val="747193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31" name="Rectangle">
            <a:extLst>
              <a:ext uri="{FF2B5EF4-FFF2-40B4-BE49-F238E27FC236}">
                <a16:creationId xmlns:a16="http://schemas.microsoft.com/office/drawing/2014/main" id="{7778B219-51A8-7108-4708-BCB7F05FA1E5}"/>
              </a:ext>
            </a:extLst>
          </p:cNvPr>
          <p:cNvSpPr/>
          <p:nvPr/>
        </p:nvSpPr>
        <p:spPr>
          <a:xfrm>
            <a:off x="20646710" y="10442713"/>
            <a:ext cx="2633367" cy="2425069"/>
          </a:xfrm>
          <a:prstGeom prst="rect">
            <a:avLst/>
          </a:prstGeom>
          <a:solidFill>
            <a:srgbClr val="880C0A">
              <a:alpha val="6783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32" name="CHUNK OPTIONS">
            <a:extLst>
              <a:ext uri="{FF2B5EF4-FFF2-40B4-BE49-F238E27FC236}">
                <a16:creationId xmlns:a16="http://schemas.microsoft.com/office/drawing/2014/main" id="{F18E8FB3-BCC5-4E24-00C3-D42FEFAF6588}"/>
              </a:ext>
            </a:extLst>
          </p:cNvPr>
          <p:cNvSpPr txBox="1"/>
          <p:nvPr/>
        </p:nvSpPr>
        <p:spPr>
          <a:xfrm>
            <a:off x="21008643" y="8224618"/>
            <a:ext cx="1872962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CHUNK OPTIONS</a:t>
            </a:r>
          </a:p>
        </p:txBody>
      </p:sp>
      <p:sp>
        <p:nvSpPr>
          <p:cNvPr id="1333" name="GETTING…">
            <a:extLst>
              <a:ext uri="{FF2B5EF4-FFF2-40B4-BE49-F238E27FC236}">
                <a16:creationId xmlns:a16="http://schemas.microsoft.com/office/drawing/2014/main" id="{7FC38EA5-BC8A-5230-5CD1-8BBFD35FA570}"/>
              </a:ext>
            </a:extLst>
          </p:cNvPr>
          <p:cNvSpPr txBox="1"/>
          <p:nvPr/>
        </p:nvSpPr>
        <p:spPr>
          <a:xfrm>
            <a:off x="21021342" y="5301987"/>
            <a:ext cx="2083695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GETTING</a:t>
            </a:r>
          </a:p>
          <a:p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STARTED</a:t>
            </a:r>
          </a:p>
        </p:txBody>
      </p:sp>
      <p:sp>
        <p:nvSpPr>
          <p:cNvPr id="1338" name="echo (= TRUE or FALSE - print my code)…">
            <a:extLst>
              <a:ext uri="{FF2B5EF4-FFF2-40B4-BE49-F238E27FC236}">
                <a16:creationId xmlns:a16="http://schemas.microsoft.com/office/drawing/2014/main" id="{20554135-B715-F84B-01E2-817A0C8F66D4}"/>
              </a:ext>
            </a:extLst>
          </p:cNvPr>
          <p:cNvSpPr txBox="1"/>
          <p:nvPr/>
        </p:nvSpPr>
        <p:spPr>
          <a:xfrm>
            <a:off x="1587259" y="8188160"/>
            <a:ext cx="1122085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{r echo = FALSE}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don’t print code (default is TRUE)</a:t>
            </a:r>
            <a:endParaRPr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{r eval = FALSE}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don’t run code (default is TRUE)</a:t>
            </a:r>
            <a:endParaRPr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{r error = FALSE}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don’t display error message (default is TRUE)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(Can also be set for warning and</a:t>
            </a:r>
            <a:r>
              <a:t> message)</a:t>
            </a:r>
          </a:p>
        </p:txBody>
      </p:sp>
      <p:sp>
        <p:nvSpPr>
          <p:cNvPr id="1339" name="fig.align (= 'left', 'right', 'center')…">
            <a:extLst>
              <a:ext uri="{FF2B5EF4-FFF2-40B4-BE49-F238E27FC236}">
                <a16:creationId xmlns:a16="http://schemas.microsoft.com/office/drawing/2014/main" id="{14E9B236-0C2D-38F7-6400-920B7F4462EC}"/>
              </a:ext>
            </a:extLst>
          </p:cNvPr>
          <p:cNvSpPr txBox="1"/>
          <p:nvPr/>
        </p:nvSpPr>
        <p:spPr>
          <a:xfrm>
            <a:off x="12659888" y="8294728"/>
            <a:ext cx="8243705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fig.align (=</a:t>
            </a:r>
            <a:r>
              <a:rPr lang="da-DK"/>
              <a:t>'</a:t>
            </a:r>
            <a:r>
              <a:t>left', 'right', 'center')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fig.cap (= 'my figure cation’)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fig.height </a:t>
            </a:r>
            <a:r>
              <a:rPr lang="da-DK"/>
              <a:t>(</a:t>
            </a:r>
            <a:r>
              <a:t>= n</a:t>
            </a:r>
            <a:r>
              <a:rPr lang="da-DK"/>
              <a:t>)</a:t>
            </a:r>
            <a:r>
              <a:t>, fig.width </a:t>
            </a:r>
            <a:r>
              <a:rPr lang="da-DK"/>
              <a:t>(</a:t>
            </a:r>
            <a:r>
              <a:t>= n</a:t>
            </a:r>
            <a:r>
              <a:rPr lang="da-DK"/>
              <a:t>)</a:t>
            </a:r>
            <a:endParaRPr/>
          </a:p>
        </p:txBody>
      </p:sp>
      <p:sp>
        <p:nvSpPr>
          <p:cNvPr id="1340" name="TEXT">
            <a:extLst>
              <a:ext uri="{FF2B5EF4-FFF2-40B4-BE49-F238E27FC236}">
                <a16:creationId xmlns:a16="http://schemas.microsoft.com/office/drawing/2014/main" id="{42114717-FA29-2D6A-4363-E8FFA1436057}"/>
              </a:ext>
            </a:extLst>
          </p:cNvPr>
          <p:cNvSpPr txBox="1"/>
          <p:nvPr/>
        </p:nvSpPr>
        <p:spPr>
          <a:xfrm>
            <a:off x="21394382" y="11375847"/>
            <a:ext cx="1253883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</a:t>
            </a:r>
          </a:p>
        </p:txBody>
      </p:sp>
      <p:sp>
        <p:nvSpPr>
          <p:cNvPr id="1341" name="Header size ranging from largest (one #) to smallest (six #):…">
            <a:extLst>
              <a:ext uri="{FF2B5EF4-FFF2-40B4-BE49-F238E27FC236}">
                <a16:creationId xmlns:a16="http://schemas.microsoft.com/office/drawing/2014/main" id="{8FC7E26C-1E0A-7194-CB4A-9E5A898C5017}"/>
              </a:ext>
            </a:extLst>
          </p:cNvPr>
          <p:cNvSpPr txBox="1"/>
          <p:nvPr/>
        </p:nvSpPr>
        <p:spPr>
          <a:xfrm>
            <a:off x="1594116" y="11524769"/>
            <a:ext cx="7111856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Header size ranging from largest (one #) to smallest (six #):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my.text, ## my.text, ### my.text, etc.</a:t>
            </a:r>
          </a:p>
        </p:txBody>
      </p:sp>
      <p:sp>
        <p:nvSpPr>
          <p:cNvPr id="1342" name="*italics*…">
            <a:extLst>
              <a:ext uri="{FF2B5EF4-FFF2-40B4-BE49-F238E27FC236}">
                <a16:creationId xmlns:a16="http://schemas.microsoft.com/office/drawing/2014/main" id="{70DE1F0F-7A13-2395-D49D-C39A84683A41}"/>
              </a:ext>
            </a:extLst>
          </p:cNvPr>
          <p:cNvSpPr txBox="1"/>
          <p:nvPr/>
        </p:nvSpPr>
        <p:spPr>
          <a:xfrm>
            <a:off x="9732514" y="11138326"/>
            <a:ext cx="2484828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*italics*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**bold**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`highlighted`</a:t>
            </a:r>
          </a:p>
        </p:txBody>
      </p:sp>
      <p:sp>
        <p:nvSpPr>
          <p:cNvPr id="1343" name="Text:">
            <a:extLst>
              <a:ext uri="{FF2B5EF4-FFF2-40B4-BE49-F238E27FC236}">
                <a16:creationId xmlns:a16="http://schemas.microsoft.com/office/drawing/2014/main" id="{DFF9F4F2-8B27-C272-6BED-3B1DF81D135C}"/>
              </a:ext>
            </a:extLst>
          </p:cNvPr>
          <p:cNvSpPr txBox="1"/>
          <p:nvPr/>
        </p:nvSpPr>
        <p:spPr>
          <a:xfrm>
            <a:off x="9732514" y="10683656"/>
            <a:ext cx="157232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</a:t>
            </a:r>
          </a:p>
        </p:txBody>
      </p:sp>
      <p:sp>
        <p:nvSpPr>
          <p:cNvPr id="1344" name="Lists:">
            <a:extLst>
              <a:ext uri="{FF2B5EF4-FFF2-40B4-BE49-F238E27FC236}">
                <a16:creationId xmlns:a16="http://schemas.microsoft.com/office/drawing/2014/main" id="{6E4181B0-FA4B-48DC-7083-C37E1D33F7AC}"/>
              </a:ext>
            </a:extLst>
          </p:cNvPr>
          <p:cNvSpPr txBox="1"/>
          <p:nvPr/>
        </p:nvSpPr>
        <p:spPr>
          <a:xfrm>
            <a:off x="13427593" y="10590894"/>
            <a:ext cx="157232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Lists</a:t>
            </a:r>
          </a:p>
        </p:txBody>
      </p:sp>
      <p:sp>
        <p:nvSpPr>
          <p:cNvPr id="1345" name="List item1 (filled dot)…">
            <a:extLst>
              <a:ext uri="{FF2B5EF4-FFF2-40B4-BE49-F238E27FC236}">
                <a16:creationId xmlns:a16="http://schemas.microsoft.com/office/drawing/2014/main" id="{2807E916-777D-ED42-B3D9-076C8CF31006}"/>
              </a:ext>
            </a:extLst>
          </p:cNvPr>
          <p:cNvSpPr txBox="1"/>
          <p:nvPr/>
        </p:nvSpPr>
        <p:spPr>
          <a:xfrm>
            <a:off x="14803293" y="10982912"/>
            <a:ext cx="5713668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SzPct val="100000"/>
              <a:buChar char="*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List item1 (filled dot)</a:t>
            </a:r>
          </a:p>
          <a:p>
            <a:pPr lvl="2" indent="0"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+ sub-item1 (open dot)</a:t>
            </a:r>
          </a:p>
          <a:p>
            <a:pPr marL="463020" indent="-463020">
              <a:buSzPct val="100000"/>
              <a:buAutoNum type="arabicPeriod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List item1 (numbered)</a:t>
            </a:r>
          </a:p>
          <a:p>
            <a:pPr lvl="1" indent="889000"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i) sub-item1 (roman)</a:t>
            </a:r>
          </a:p>
          <a:p>
            <a:pPr marL="1352020" lvl="1" indent="-463020">
              <a:buSzPct val="100000"/>
              <a:buAutoNum type="arabicPeriod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1346" name="Line">
            <a:extLst>
              <a:ext uri="{FF2B5EF4-FFF2-40B4-BE49-F238E27FC236}">
                <a16:creationId xmlns:a16="http://schemas.microsoft.com/office/drawing/2014/main" id="{3E89DE6A-564C-CE22-EC83-07669E1032A1}"/>
              </a:ext>
            </a:extLst>
          </p:cNvPr>
          <p:cNvSpPr/>
          <p:nvPr/>
        </p:nvSpPr>
        <p:spPr>
          <a:xfrm flipV="1">
            <a:off x="13125084" y="10597345"/>
            <a:ext cx="1" cy="2115805"/>
          </a:xfrm>
          <a:prstGeom prst="line">
            <a:avLst/>
          </a:prstGeom>
          <a:ln w="50800">
            <a:solidFill>
              <a:srgbClr val="880C0A">
                <a:alpha val="67831"/>
              </a:srgbClr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47" name="Line">
            <a:extLst>
              <a:ext uri="{FF2B5EF4-FFF2-40B4-BE49-F238E27FC236}">
                <a16:creationId xmlns:a16="http://schemas.microsoft.com/office/drawing/2014/main" id="{32A37C13-B2F7-4DC5-582E-AC01168C3C42}"/>
              </a:ext>
            </a:extLst>
          </p:cNvPr>
          <p:cNvSpPr/>
          <p:nvPr/>
        </p:nvSpPr>
        <p:spPr>
          <a:xfrm flipV="1">
            <a:off x="12409867" y="7674716"/>
            <a:ext cx="1" cy="2115805"/>
          </a:xfrm>
          <a:prstGeom prst="line">
            <a:avLst/>
          </a:prstGeom>
          <a:ln w="50800">
            <a:solidFill>
              <a:srgbClr val="747193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3C97A1B1-52F3-0181-5859-BCA1D0DFF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171" y="5418733"/>
            <a:ext cx="1530605" cy="1124038"/>
          </a:xfrm>
          <a:prstGeom prst="rect">
            <a:avLst/>
          </a:prstGeom>
        </p:spPr>
      </p:pic>
      <p:sp>
        <p:nvSpPr>
          <p:cNvPr id="4" name="*italics*…">
            <a:extLst>
              <a:ext uri="{FF2B5EF4-FFF2-40B4-BE49-F238E27FC236}">
                <a16:creationId xmlns:a16="http://schemas.microsoft.com/office/drawing/2014/main" id="{4FA7C4A3-0ED5-9E70-D088-2528935C6BDF}"/>
              </a:ext>
            </a:extLst>
          </p:cNvPr>
          <p:cNvSpPr txBox="1"/>
          <p:nvPr/>
        </p:nvSpPr>
        <p:spPr>
          <a:xfrm>
            <a:off x="13140069" y="5334028"/>
            <a:ext cx="3000428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 b="1"/>
              <a:t>Source mode: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```{r}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# some R code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```</a:t>
            </a:r>
            <a:endParaRPr/>
          </a:p>
        </p:txBody>
      </p:sp>
      <p:sp>
        <p:nvSpPr>
          <p:cNvPr id="5" name="*italics*…">
            <a:extLst>
              <a:ext uri="{FF2B5EF4-FFF2-40B4-BE49-F238E27FC236}">
                <a16:creationId xmlns:a16="http://schemas.microsoft.com/office/drawing/2014/main" id="{F029BAA8-BCDA-E3B2-A86A-F1862EC9ACFF}"/>
              </a:ext>
            </a:extLst>
          </p:cNvPr>
          <p:cNvSpPr txBox="1"/>
          <p:nvPr/>
        </p:nvSpPr>
        <p:spPr>
          <a:xfrm>
            <a:off x="16180312" y="5335300"/>
            <a:ext cx="4100892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 b="1"/>
              <a:t>Visual mode: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A8B2499-E14D-B377-6599-91FF16760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0497" y="5762410"/>
            <a:ext cx="2733368" cy="100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0588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78BDE-3311-4F5E-5F05-FE9C67D9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ectangle">
            <a:extLst>
              <a:ext uri="{FF2B5EF4-FFF2-40B4-BE49-F238E27FC236}">
                <a16:creationId xmlns:a16="http://schemas.microsoft.com/office/drawing/2014/main" id="{A961DD34-07B2-A1AC-E55A-CA6AE7FBB8BB}"/>
              </a:ext>
            </a:extLst>
          </p:cNvPr>
          <p:cNvSpPr/>
          <p:nvPr/>
        </p:nvSpPr>
        <p:spPr>
          <a:xfrm>
            <a:off x="17520549" y="-57430"/>
            <a:ext cx="6940820" cy="13830860"/>
          </a:xfrm>
          <a:prstGeom prst="rect">
            <a:avLst/>
          </a:prstGeom>
          <a:solidFill>
            <a:srgbClr val="7893B7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950" name="Group">
            <a:extLst>
              <a:ext uri="{FF2B5EF4-FFF2-40B4-BE49-F238E27FC236}">
                <a16:creationId xmlns:a16="http://schemas.microsoft.com/office/drawing/2014/main" id="{DAB28CC0-8495-B289-1A6C-629D525E4CB8}"/>
              </a:ext>
            </a:extLst>
          </p:cNvPr>
          <p:cNvGrpSpPr/>
          <p:nvPr/>
        </p:nvGrpSpPr>
        <p:grpSpPr>
          <a:xfrm>
            <a:off x="18325766" y="6197004"/>
            <a:ext cx="5330386" cy="2054792"/>
            <a:chOff x="0" y="-101600"/>
            <a:chExt cx="5330385" cy="2054790"/>
          </a:xfrm>
        </p:grpSpPr>
        <p:sp>
          <p:nvSpPr>
            <p:cNvPr id="947" name="EXERCISE 1">
              <a:extLst>
                <a:ext uri="{FF2B5EF4-FFF2-40B4-BE49-F238E27FC236}">
                  <a16:creationId xmlns:a16="http://schemas.microsoft.com/office/drawing/2014/main" id="{49CDCA91-7B9C-5A6C-A212-B87F9105ADC8}"/>
                </a:ext>
              </a:extLst>
            </p:cNvPr>
            <p:cNvSpPr txBox="1"/>
            <p:nvPr/>
          </p:nvSpPr>
          <p:spPr>
            <a:xfrm>
              <a:off x="0" y="405033"/>
              <a:ext cx="5330386" cy="1548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EXERCISE </a:t>
              </a:r>
              <a:r>
                <a:rPr lang="da-DK" b="1"/>
                <a:t>1</a:t>
              </a:r>
              <a:endParaRPr b="1"/>
            </a:p>
          </p:txBody>
        </p:sp>
        <p:sp>
          <p:nvSpPr>
            <p:cNvPr id="948" name="FUNDAMENTALS">
              <a:extLst>
                <a:ext uri="{FF2B5EF4-FFF2-40B4-BE49-F238E27FC236}">
                  <a16:creationId xmlns:a16="http://schemas.microsoft.com/office/drawing/2014/main" id="{6F856E62-72B8-CAAB-19F6-1F77904EB8CE}"/>
                </a:ext>
              </a:extLst>
            </p:cNvPr>
            <p:cNvSpPr txBox="1"/>
            <p:nvPr/>
          </p:nvSpPr>
          <p:spPr>
            <a:xfrm>
              <a:off x="1627311" y="-101600"/>
              <a:ext cx="3636519" cy="3757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da-DK"/>
                <a:t>QUARTO</a:t>
              </a:r>
              <a:endParaRPr/>
            </a:p>
          </p:txBody>
        </p:sp>
        <p:sp>
          <p:nvSpPr>
            <p:cNvPr id="949" name="Line">
              <a:extLst>
                <a:ext uri="{FF2B5EF4-FFF2-40B4-BE49-F238E27FC236}">
                  <a16:creationId xmlns:a16="http://schemas.microsoft.com/office/drawing/2014/main" id="{0A2820DF-FE72-D909-3D97-D957D8E4F249}"/>
                </a:ext>
              </a:extLst>
            </p:cNvPr>
            <p:cNvSpPr/>
            <p:nvPr/>
          </p:nvSpPr>
          <p:spPr>
            <a:xfrm>
              <a:off x="847293" y="124304"/>
              <a:ext cx="95822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958" name="Group">
            <a:extLst>
              <a:ext uri="{FF2B5EF4-FFF2-40B4-BE49-F238E27FC236}">
                <a16:creationId xmlns:a16="http://schemas.microsoft.com/office/drawing/2014/main" id="{5251E34F-1B58-622C-8957-E964C28E12DE}"/>
              </a:ext>
            </a:extLst>
          </p:cNvPr>
          <p:cNvGrpSpPr/>
          <p:nvPr/>
        </p:nvGrpSpPr>
        <p:grpSpPr>
          <a:xfrm>
            <a:off x="12600874" y="5167617"/>
            <a:ext cx="2809615" cy="1441420"/>
            <a:chOff x="0" y="-58301"/>
            <a:chExt cx="2809613" cy="1441419"/>
          </a:xfrm>
        </p:grpSpPr>
        <p:sp>
          <p:nvSpPr>
            <p:cNvPr id="951" name="R project &amp; R Script…">
              <a:extLst>
                <a:ext uri="{FF2B5EF4-FFF2-40B4-BE49-F238E27FC236}">
                  <a16:creationId xmlns:a16="http://schemas.microsoft.com/office/drawing/2014/main" id="{35B1C9D7-874C-E4F4-3C84-FDD4503EE041}"/>
                </a:ext>
              </a:extLst>
            </p:cNvPr>
            <p:cNvSpPr txBox="1"/>
            <p:nvPr/>
          </p:nvSpPr>
          <p:spPr>
            <a:xfrm>
              <a:off x="312135" y="-58301"/>
              <a:ext cx="2497478" cy="1441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/>
                <a:t>Quarto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/>
                <a:t>Data Structure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/>
                <a:t>Data type</a:t>
              </a:r>
              <a:endParaRPr/>
            </a:p>
          </p:txBody>
        </p:sp>
        <p:sp>
          <p:nvSpPr>
            <p:cNvPr id="952" name="Oval 23">
              <a:extLst>
                <a:ext uri="{FF2B5EF4-FFF2-40B4-BE49-F238E27FC236}">
                  <a16:creationId xmlns:a16="http://schemas.microsoft.com/office/drawing/2014/main" id="{ED88392E-3C33-8871-99FC-CF55721D1FD8}"/>
                </a:ext>
              </a:extLst>
            </p:cNvPr>
            <p:cNvSpPr/>
            <p:nvPr/>
          </p:nvSpPr>
          <p:spPr>
            <a:xfrm>
              <a:off x="0" y="149924"/>
              <a:ext cx="155496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53" name="Oval 23">
              <a:extLst>
                <a:ext uri="{FF2B5EF4-FFF2-40B4-BE49-F238E27FC236}">
                  <a16:creationId xmlns:a16="http://schemas.microsoft.com/office/drawing/2014/main" id="{DAC778CB-7742-3D92-D426-8902B2B1C4A5}"/>
                </a:ext>
              </a:extLst>
            </p:cNvPr>
            <p:cNvSpPr/>
            <p:nvPr/>
          </p:nvSpPr>
          <p:spPr>
            <a:xfrm>
              <a:off x="0" y="598658"/>
              <a:ext cx="155497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954" name="Oval 23">
              <a:extLst>
                <a:ext uri="{FF2B5EF4-FFF2-40B4-BE49-F238E27FC236}">
                  <a16:creationId xmlns:a16="http://schemas.microsoft.com/office/drawing/2014/main" id="{20713FDD-D6ED-E3E4-DC16-FC9B2406449E}"/>
                </a:ext>
              </a:extLst>
            </p:cNvPr>
            <p:cNvSpPr/>
            <p:nvPr/>
          </p:nvSpPr>
          <p:spPr>
            <a:xfrm>
              <a:off x="0" y="1047391"/>
              <a:ext cx="155497" cy="155494"/>
            </a:xfrm>
            <a:prstGeom prst="ellipse">
              <a:avLst/>
            </a:pr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  <p:grpSp>
        <p:nvGrpSpPr>
          <p:cNvPr id="1005" name="Group">
            <a:extLst>
              <a:ext uri="{FF2B5EF4-FFF2-40B4-BE49-F238E27FC236}">
                <a16:creationId xmlns:a16="http://schemas.microsoft.com/office/drawing/2014/main" id="{BB185425-9C60-0341-47E5-894B6E1107F7}"/>
              </a:ext>
            </a:extLst>
          </p:cNvPr>
          <p:cNvGrpSpPr/>
          <p:nvPr/>
        </p:nvGrpSpPr>
        <p:grpSpPr>
          <a:xfrm>
            <a:off x="1193626" y="3238393"/>
            <a:ext cx="13253994" cy="7544078"/>
            <a:chOff x="0" y="0"/>
            <a:chExt cx="13253992" cy="7544077"/>
          </a:xfrm>
        </p:grpSpPr>
        <p:grpSp>
          <p:nvGrpSpPr>
            <p:cNvPr id="994" name="Group">
              <a:extLst>
                <a:ext uri="{FF2B5EF4-FFF2-40B4-BE49-F238E27FC236}">
                  <a16:creationId xmlns:a16="http://schemas.microsoft.com/office/drawing/2014/main" id="{752BE960-FB90-5EA9-7B64-648D553A8EF6}"/>
                </a:ext>
              </a:extLst>
            </p:cNvPr>
            <p:cNvGrpSpPr/>
            <p:nvPr/>
          </p:nvGrpSpPr>
          <p:grpSpPr>
            <a:xfrm>
              <a:off x="2700815" y="0"/>
              <a:ext cx="10553177" cy="7544077"/>
              <a:chOff x="0" y="0"/>
              <a:chExt cx="10553175" cy="7544076"/>
            </a:xfrm>
          </p:grpSpPr>
          <p:sp>
            <p:nvSpPr>
              <p:cNvPr id="959" name="Line 18">
                <a:extLst>
                  <a:ext uri="{FF2B5EF4-FFF2-40B4-BE49-F238E27FC236}">
                    <a16:creationId xmlns:a16="http://schemas.microsoft.com/office/drawing/2014/main" id="{B7A6DA52-F3EA-35D2-B8C7-7E93ED42C747}"/>
                  </a:ext>
                </a:extLst>
              </p:cNvPr>
              <p:cNvSpPr/>
              <p:nvPr/>
            </p:nvSpPr>
            <p:spPr>
              <a:xfrm>
                <a:off x="576575" y="3773856"/>
                <a:ext cx="3743717" cy="1"/>
              </a:xfrm>
              <a:prstGeom prst="lin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0" name="Oval 9">
                <a:extLst>
                  <a:ext uri="{FF2B5EF4-FFF2-40B4-BE49-F238E27FC236}">
                    <a16:creationId xmlns:a16="http://schemas.microsoft.com/office/drawing/2014/main" id="{FB521702-AAA2-132A-D740-2E3F47303803}"/>
                  </a:ext>
                </a:extLst>
              </p:cNvPr>
              <p:cNvSpPr/>
              <p:nvPr/>
            </p:nvSpPr>
            <p:spPr>
              <a:xfrm>
                <a:off x="4552661" y="3109328"/>
                <a:ext cx="1331012" cy="1331012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1" name="Oval 14">
                <a:extLst>
                  <a:ext uri="{FF2B5EF4-FFF2-40B4-BE49-F238E27FC236}">
                    <a16:creationId xmlns:a16="http://schemas.microsoft.com/office/drawing/2014/main" id="{E2D4E5F3-104D-1546-A6D9-D0CC6F6885BF}"/>
                  </a:ext>
                </a:extLst>
              </p:cNvPr>
              <p:cNvSpPr/>
              <p:nvPr/>
            </p:nvSpPr>
            <p:spPr>
              <a:xfrm>
                <a:off x="4384575" y="2939286"/>
                <a:ext cx="1667186" cy="1669141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2" name="Oval 27">
                <a:extLst>
                  <a:ext uri="{FF2B5EF4-FFF2-40B4-BE49-F238E27FC236}">
                    <a16:creationId xmlns:a16="http://schemas.microsoft.com/office/drawing/2014/main" id="{2515566C-525B-6277-C126-BDCB054DAD00}"/>
                  </a:ext>
                </a:extLst>
              </p:cNvPr>
              <p:cNvSpPr/>
              <p:nvPr/>
            </p:nvSpPr>
            <p:spPr>
              <a:xfrm>
                <a:off x="408488" y="3695676"/>
                <a:ext cx="158316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3" name="Oval 28">
                <a:extLst>
                  <a:ext uri="{FF2B5EF4-FFF2-40B4-BE49-F238E27FC236}">
                    <a16:creationId xmlns:a16="http://schemas.microsoft.com/office/drawing/2014/main" id="{B89CC5B7-F859-8B0F-51CD-F8F447C13EA4}"/>
                  </a:ext>
                </a:extLst>
              </p:cNvPr>
              <p:cNvSpPr/>
              <p:nvPr/>
            </p:nvSpPr>
            <p:spPr>
              <a:xfrm>
                <a:off x="1862970" y="3688589"/>
                <a:ext cx="160270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4" name="Oval 29">
                <a:extLst>
                  <a:ext uri="{FF2B5EF4-FFF2-40B4-BE49-F238E27FC236}">
                    <a16:creationId xmlns:a16="http://schemas.microsoft.com/office/drawing/2014/main" id="{BCB9110A-4839-D17D-4FAA-EA32815FACE5}"/>
                  </a:ext>
                </a:extLst>
              </p:cNvPr>
              <p:cNvSpPr/>
              <p:nvPr/>
            </p:nvSpPr>
            <p:spPr>
              <a:xfrm>
                <a:off x="4304440" y="3695676"/>
                <a:ext cx="158316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5" name="Oval 10">
                <a:extLst>
                  <a:ext uri="{FF2B5EF4-FFF2-40B4-BE49-F238E27FC236}">
                    <a16:creationId xmlns:a16="http://schemas.microsoft.com/office/drawing/2014/main" id="{DA91D3F2-6A49-608B-425C-237B186F5239}"/>
                  </a:ext>
                </a:extLst>
              </p:cNvPr>
              <p:cNvSpPr/>
              <p:nvPr/>
            </p:nvSpPr>
            <p:spPr>
              <a:xfrm>
                <a:off x="4432794" y="6039115"/>
                <a:ext cx="1331012" cy="1336875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6" name="Oval 15">
                <a:extLst>
                  <a:ext uri="{FF2B5EF4-FFF2-40B4-BE49-F238E27FC236}">
                    <a16:creationId xmlns:a16="http://schemas.microsoft.com/office/drawing/2014/main" id="{7B60AFE4-DA3E-8574-1D29-F461BC0739BA}"/>
                  </a:ext>
                </a:extLst>
              </p:cNvPr>
              <p:cNvSpPr/>
              <p:nvPr/>
            </p:nvSpPr>
            <p:spPr>
              <a:xfrm>
                <a:off x="4264707" y="5871028"/>
                <a:ext cx="1667185" cy="1673048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7" name="Freeform 20">
                <a:extLst>
                  <a:ext uri="{FF2B5EF4-FFF2-40B4-BE49-F238E27FC236}">
                    <a16:creationId xmlns:a16="http://schemas.microsoft.com/office/drawing/2014/main" id="{B8447DB1-1108-BF75-98C2-CF586ADF0CE4}"/>
                  </a:ext>
                </a:extLst>
              </p:cNvPr>
              <p:cNvSpPr/>
              <p:nvPr/>
            </p:nvSpPr>
            <p:spPr>
              <a:xfrm>
                <a:off x="914703" y="4829283"/>
                <a:ext cx="3350005" cy="1876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6944" y="0"/>
                    </a:lnTo>
                    <a:lnTo>
                      <a:pt x="18752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8" name="Oval 33">
                <a:extLst>
                  <a:ext uri="{FF2B5EF4-FFF2-40B4-BE49-F238E27FC236}">
                    <a16:creationId xmlns:a16="http://schemas.microsoft.com/office/drawing/2014/main" id="{73623751-A65C-C011-E1E1-BB32C30C507E}"/>
                  </a:ext>
                </a:extLst>
              </p:cNvPr>
              <p:cNvSpPr/>
              <p:nvPr/>
            </p:nvSpPr>
            <p:spPr>
              <a:xfrm>
                <a:off x="744661" y="4749148"/>
                <a:ext cx="160271" cy="160271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69" name="Oval 34">
                <a:extLst>
                  <a:ext uri="{FF2B5EF4-FFF2-40B4-BE49-F238E27FC236}">
                    <a16:creationId xmlns:a16="http://schemas.microsoft.com/office/drawing/2014/main" id="{5900FDB5-C0D7-A82B-80F0-080FE710EB35}"/>
                  </a:ext>
                </a:extLst>
              </p:cNvPr>
              <p:cNvSpPr/>
              <p:nvPr/>
            </p:nvSpPr>
            <p:spPr>
              <a:xfrm>
                <a:off x="3031420" y="5898391"/>
                <a:ext cx="160271" cy="160271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0" name="Oval 35">
                <a:extLst>
                  <a:ext uri="{FF2B5EF4-FFF2-40B4-BE49-F238E27FC236}">
                    <a16:creationId xmlns:a16="http://schemas.microsoft.com/office/drawing/2014/main" id="{48ED0CE0-DA16-C666-170F-A6AE57BCA1A6}"/>
                  </a:ext>
                </a:extLst>
              </p:cNvPr>
              <p:cNvSpPr/>
              <p:nvPr/>
            </p:nvSpPr>
            <p:spPr>
              <a:xfrm>
                <a:off x="4184571" y="6625463"/>
                <a:ext cx="158316" cy="164178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1" name="Oval 8">
                <a:extLst>
                  <a:ext uri="{FF2B5EF4-FFF2-40B4-BE49-F238E27FC236}">
                    <a16:creationId xmlns:a16="http://schemas.microsoft.com/office/drawing/2014/main" id="{3EA77740-C41F-E2A0-5063-073ADA9F3138}"/>
                  </a:ext>
                </a:extLst>
              </p:cNvPr>
              <p:cNvSpPr/>
              <p:nvPr/>
            </p:nvSpPr>
            <p:spPr>
              <a:xfrm>
                <a:off x="6686325" y="4735468"/>
                <a:ext cx="1331013" cy="1332968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2" name="Oval 13">
                <a:extLst>
                  <a:ext uri="{FF2B5EF4-FFF2-40B4-BE49-F238E27FC236}">
                    <a16:creationId xmlns:a16="http://schemas.microsoft.com/office/drawing/2014/main" id="{6888266D-4FA6-72E5-375C-914E4E1D25B7}"/>
                  </a:ext>
                </a:extLst>
              </p:cNvPr>
              <p:cNvSpPr/>
              <p:nvPr/>
            </p:nvSpPr>
            <p:spPr>
              <a:xfrm>
                <a:off x="6518240" y="4567381"/>
                <a:ext cx="1667185" cy="1669141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3" name="Freeform 19">
                <a:extLst>
                  <a:ext uri="{FF2B5EF4-FFF2-40B4-BE49-F238E27FC236}">
                    <a16:creationId xmlns:a16="http://schemas.microsoft.com/office/drawing/2014/main" id="{AA81E670-E7E1-120B-3F92-0A48AF0535C4}"/>
                  </a:ext>
                </a:extLst>
              </p:cNvPr>
              <p:cNvSpPr/>
              <p:nvPr/>
            </p:nvSpPr>
            <p:spPr>
              <a:xfrm>
                <a:off x="238448" y="4305479"/>
                <a:ext cx="6279794" cy="10964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1173" y="0"/>
                    </a:lnTo>
                    <a:lnTo>
                      <a:pt x="156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4" name="Oval 30">
                <a:extLst>
                  <a:ext uri="{FF2B5EF4-FFF2-40B4-BE49-F238E27FC236}">
                    <a16:creationId xmlns:a16="http://schemas.microsoft.com/office/drawing/2014/main" id="{EB5719A2-C67E-72E3-5CA5-726152EBA607}"/>
                  </a:ext>
                </a:extLst>
              </p:cNvPr>
              <p:cNvSpPr/>
              <p:nvPr/>
            </p:nvSpPr>
            <p:spPr>
              <a:xfrm>
                <a:off x="70361" y="4219481"/>
                <a:ext cx="160271" cy="164179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5" name="Oval 31">
                <a:extLst>
                  <a:ext uri="{FF2B5EF4-FFF2-40B4-BE49-F238E27FC236}">
                    <a16:creationId xmlns:a16="http://schemas.microsoft.com/office/drawing/2014/main" id="{B422CB27-B811-BD42-F892-752ABFCE2DDD}"/>
                  </a:ext>
                </a:extLst>
              </p:cNvPr>
              <p:cNvSpPr/>
              <p:nvPr/>
            </p:nvSpPr>
            <p:spPr>
              <a:xfrm>
                <a:off x="3410275" y="4225345"/>
                <a:ext cx="160270" cy="164178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6" name="Oval 32">
                <a:extLst>
                  <a:ext uri="{FF2B5EF4-FFF2-40B4-BE49-F238E27FC236}">
                    <a16:creationId xmlns:a16="http://schemas.microsoft.com/office/drawing/2014/main" id="{C41D911E-E981-BB51-66A3-D8081A4AACE5}"/>
                  </a:ext>
                </a:extLst>
              </p:cNvPr>
              <p:cNvSpPr/>
              <p:nvPr/>
            </p:nvSpPr>
            <p:spPr>
              <a:xfrm>
                <a:off x="6432242" y="5321816"/>
                <a:ext cx="164178" cy="160271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7" name="Freeform 17">
                <a:extLst>
                  <a:ext uri="{FF2B5EF4-FFF2-40B4-BE49-F238E27FC236}">
                    <a16:creationId xmlns:a16="http://schemas.microsoft.com/office/drawing/2014/main" id="{F4251245-A306-D561-D584-548BE734C2C8}"/>
                  </a:ext>
                </a:extLst>
              </p:cNvPr>
              <p:cNvSpPr/>
              <p:nvPr/>
            </p:nvSpPr>
            <p:spPr>
              <a:xfrm>
                <a:off x="168086" y="2596322"/>
                <a:ext cx="6015937" cy="6537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9453" y="0"/>
                    </a:lnTo>
                    <a:lnTo>
                      <a:pt x="723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8" name="Oval 7">
                <a:extLst>
                  <a:ext uri="{FF2B5EF4-FFF2-40B4-BE49-F238E27FC236}">
                    <a16:creationId xmlns:a16="http://schemas.microsoft.com/office/drawing/2014/main" id="{B93DC553-DDFD-BD6F-C18B-3C466DFF7FF3}"/>
                  </a:ext>
                </a:extLst>
              </p:cNvPr>
              <p:cNvSpPr/>
              <p:nvPr/>
            </p:nvSpPr>
            <p:spPr>
              <a:xfrm>
                <a:off x="6370139" y="1926674"/>
                <a:ext cx="1331012" cy="1331012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79" name="Oval 12">
                <a:extLst>
                  <a:ext uri="{FF2B5EF4-FFF2-40B4-BE49-F238E27FC236}">
                    <a16:creationId xmlns:a16="http://schemas.microsoft.com/office/drawing/2014/main" id="{0576CA42-667A-0160-DBFB-0B49919FD729}"/>
                  </a:ext>
                </a:extLst>
              </p:cNvPr>
              <p:cNvSpPr/>
              <p:nvPr/>
            </p:nvSpPr>
            <p:spPr>
              <a:xfrm>
                <a:off x="6202050" y="1758587"/>
                <a:ext cx="1667186" cy="1669141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0" name="Oval 24">
                <a:extLst>
                  <a:ext uri="{FF2B5EF4-FFF2-40B4-BE49-F238E27FC236}">
                    <a16:creationId xmlns:a16="http://schemas.microsoft.com/office/drawing/2014/main" id="{08FD4023-9104-8B75-C681-CE34D94CA9D8}"/>
                  </a:ext>
                </a:extLst>
              </p:cNvPr>
              <p:cNvSpPr/>
              <p:nvPr/>
            </p:nvSpPr>
            <p:spPr>
              <a:xfrm>
                <a:off x="0" y="3166007"/>
                <a:ext cx="160270" cy="164179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1" name="Oval 25">
                <a:extLst>
                  <a:ext uri="{FF2B5EF4-FFF2-40B4-BE49-F238E27FC236}">
                    <a16:creationId xmlns:a16="http://schemas.microsoft.com/office/drawing/2014/main" id="{697E17F1-FFD1-59D5-3CDF-A5810DA06346}"/>
                  </a:ext>
                </a:extLst>
              </p:cNvPr>
              <p:cNvSpPr/>
              <p:nvPr/>
            </p:nvSpPr>
            <p:spPr>
              <a:xfrm>
                <a:off x="2740542" y="2517734"/>
                <a:ext cx="160271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2" name="Oval 26">
                <a:extLst>
                  <a:ext uri="{FF2B5EF4-FFF2-40B4-BE49-F238E27FC236}">
                    <a16:creationId xmlns:a16="http://schemas.microsoft.com/office/drawing/2014/main" id="{70844F0D-C809-957C-5147-FE81DD621A54}"/>
                  </a:ext>
                </a:extLst>
              </p:cNvPr>
              <p:cNvSpPr/>
              <p:nvPr/>
            </p:nvSpPr>
            <p:spPr>
              <a:xfrm>
                <a:off x="6118008" y="2513022"/>
                <a:ext cx="164178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3" name="Oval 6">
                <a:extLst>
                  <a:ext uri="{FF2B5EF4-FFF2-40B4-BE49-F238E27FC236}">
                    <a16:creationId xmlns:a16="http://schemas.microsoft.com/office/drawing/2014/main" id="{C156F996-4682-31DE-5A5B-05F591143117}"/>
                  </a:ext>
                </a:extLst>
              </p:cNvPr>
              <p:cNvSpPr/>
              <p:nvPr/>
            </p:nvSpPr>
            <p:spPr>
              <a:xfrm>
                <a:off x="8509183" y="168086"/>
                <a:ext cx="1331013" cy="1332965"/>
              </a:xfrm>
              <a:prstGeom prst="ellipse">
                <a:avLst/>
              </a:prstGeom>
              <a:solidFill>
                <a:srgbClr val="7893B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4" name="Oval 11">
                <a:extLst>
                  <a:ext uri="{FF2B5EF4-FFF2-40B4-BE49-F238E27FC236}">
                    <a16:creationId xmlns:a16="http://schemas.microsoft.com/office/drawing/2014/main" id="{EDC0F590-6A98-37A3-F2AD-B987824B9073}"/>
                  </a:ext>
                </a:extLst>
              </p:cNvPr>
              <p:cNvSpPr/>
              <p:nvPr/>
            </p:nvSpPr>
            <p:spPr>
              <a:xfrm>
                <a:off x="8341098" y="0"/>
                <a:ext cx="1667186" cy="1669138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5" name="Freeform 16">
                <a:extLst>
                  <a:ext uri="{FF2B5EF4-FFF2-40B4-BE49-F238E27FC236}">
                    <a16:creationId xmlns:a16="http://schemas.microsoft.com/office/drawing/2014/main" id="{8AED1F26-0703-A3D9-3FA4-12F123032093}"/>
                  </a:ext>
                </a:extLst>
              </p:cNvPr>
              <p:cNvSpPr/>
              <p:nvPr/>
            </p:nvSpPr>
            <p:spPr>
              <a:xfrm>
                <a:off x="913201" y="844067"/>
                <a:ext cx="7386044" cy="2091483"/>
              </a:xfrm>
              <a:custGeom>
                <a:avLst/>
                <a:gdLst>
                  <a:gd name="csX0" fmla="*/ 21600 w 21600"/>
                  <a:gd name="csY0" fmla="*/ 0 h 24077"/>
                  <a:gd name="csX1" fmla="*/ 11178 w 21600"/>
                  <a:gd name="csY1" fmla="*/ 0 h 24077"/>
                  <a:gd name="csX2" fmla="*/ 3186 w 21600"/>
                  <a:gd name="csY2" fmla="*/ 24077 h 24077"/>
                  <a:gd name="csX3" fmla="*/ 0 w 21600"/>
                  <a:gd name="csY3" fmla="*/ 21600 h 24077"/>
                  <a:gd name="csX0" fmla="*/ 21239 w 21239"/>
                  <a:gd name="csY0" fmla="*/ 0 h 24077"/>
                  <a:gd name="csX1" fmla="*/ 10817 w 21239"/>
                  <a:gd name="csY1" fmla="*/ 0 h 24077"/>
                  <a:gd name="csX2" fmla="*/ 2825 w 21239"/>
                  <a:gd name="csY2" fmla="*/ 24077 h 24077"/>
                  <a:gd name="csX3" fmla="*/ 0 w 21239"/>
                  <a:gd name="csY3" fmla="*/ 24077 h 240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239" h="24077" extrusionOk="0">
                    <a:moveTo>
                      <a:pt x="21239" y="0"/>
                    </a:moveTo>
                    <a:lnTo>
                      <a:pt x="10817" y="0"/>
                    </a:lnTo>
                    <a:lnTo>
                      <a:pt x="2825" y="24077"/>
                    </a:lnTo>
                    <a:lnTo>
                      <a:pt x="0" y="24077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6" name="Freeform 21">
                <a:extLst>
                  <a:ext uri="{FF2B5EF4-FFF2-40B4-BE49-F238E27FC236}">
                    <a16:creationId xmlns:a16="http://schemas.microsoft.com/office/drawing/2014/main" id="{C84C6A3C-691E-A771-50E5-1ED95CE83586}"/>
                  </a:ext>
                </a:extLst>
              </p:cNvPr>
              <p:cNvSpPr/>
              <p:nvPr/>
            </p:nvSpPr>
            <p:spPr>
              <a:xfrm>
                <a:off x="615724" y="2641660"/>
                <a:ext cx="160151" cy="157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29" h="18125" extrusionOk="0">
                    <a:moveTo>
                      <a:pt x="11906" y="17702"/>
                    </a:moveTo>
                    <a:cubicBezTo>
                      <a:pt x="4706" y="19862"/>
                      <a:pt x="-1386" y="13382"/>
                      <a:pt x="276" y="6362"/>
                    </a:cubicBezTo>
                    <a:cubicBezTo>
                      <a:pt x="1383" y="3662"/>
                      <a:pt x="3599" y="962"/>
                      <a:pt x="6922" y="422"/>
                    </a:cubicBezTo>
                    <a:cubicBezTo>
                      <a:pt x="14122" y="-1738"/>
                      <a:pt x="20214" y="4742"/>
                      <a:pt x="18552" y="11762"/>
                    </a:cubicBezTo>
                    <a:cubicBezTo>
                      <a:pt x="17445" y="14462"/>
                      <a:pt x="15229" y="17162"/>
                      <a:pt x="11906" y="17702"/>
                    </a:cubicBezTo>
                    <a:close/>
                  </a:path>
                </a:pathLst>
              </a:custGeom>
              <a:solidFill>
                <a:srgbClr val="436C6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7" name="Freeform 22">
                <a:extLst>
                  <a:ext uri="{FF2B5EF4-FFF2-40B4-BE49-F238E27FC236}">
                    <a16:creationId xmlns:a16="http://schemas.microsoft.com/office/drawing/2014/main" id="{4F1D6706-7E95-1F42-93C3-12EA4FEF6341}"/>
                  </a:ext>
                </a:extLst>
              </p:cNvPr>
              <p:cNvSpPr/>
              <p:nvPr/>
            </p:nvSpPr>
            <p:spPr>
              <a:xfrm>
                <a:off x="8248474" y="754168"/>
                <a:ext cx="157444" cy="16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125" h="18511" extrusionOk="0">
                    <a:moveTo>
                      <a:pt x="11762" y="18242"/>
                    </a:moveTo>
                    <a:cubicBezTo>
                      <a:pt x="4742" y="19862"/>
                      <a:pt x="-1738" y="13922"/>
                      <a:pt x="422" y="6902"/>
                    </a:cubicBezTo>
                    <a:cubicBezTo>
                      <a:pt x="962" y="3662"/>
                      <a:pt x="3662" y="962"/>
                      <a:pt x="6362" y="422"/>
                    </a:cubicBezTo>
                    <a:cubicBezTo>
                      <a:pt x="13382" y="-1738"/>
                      <a:pt x="19862" y="4742"/>
                      <a:pt x="17702" y="11762"/>
                    </a:cubicBezTo>
                    <a:cubicBezTo>
                      <a:pt x="17162" y="15002"/>
                      <a:pt x="14462" y="17162"/>
                      <a:pt x="11762" y="18242"/>
                    </a:cubicBezTo>
                    <a:close/>
                  </a:path>
                </a:pathLst>
              </a:custGeom>
              <a:solidFill>
                <a:srgbClr val="C0C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988" name="1">
                <a:extLst>
                  <a:ext uri="{FF2B5EF4-FFF2-40B4-BE49-F238E27FC236}">
                    <a16:creationId xmlns:a16="http://schemas.microsoft.com/office/drawing/2014/main" id="{C97CD6F4-EB56-B4F2-304B-3A348A705759}"/>
                  </a:ext>
                </a:extLst>
              </p:cNvPr>
              <p:cNvSpPr txBox="1"/>
              <p:nvPr/>
            </p:nvSpPr>
            <p:spPr>
              <a:xfrm>
                <a:off x="8885989" y="307208"/>
                <a:ext cx="1667186" cy="12657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989" name="2">
                <a:extLst>
                  <a:ext uri="{FF2B5EF4-FFF2-40B4-BE49-F238E27FC236}">
                    <a16:creationId xmlns:a16="http://schemas.microsoft.com/office/drawing/2014/main" id="{BDB6A67D-79CD-3367-DA90-11802883E5B8}"/>
                  </a:ext>
                </a:extLst>
              </p:cNvPr>
              <p:cNvSpPr txBox="1"/>
              <p:nvPr/>
            </p:nvSpPr>
            <p:spPr>
              <a:xfrm>
                <a:off x="6741495" y="2038706"/>
                <a:ext cx="567761" cy="12967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990" name="3">
                <a:extLst>
                  <a:ext uri="{FF2B5EF4-FFF2-40B4-BE49-F238E27FC236}">
                    <a16:creationId xmlns:a16="http://schemas.microsoft.com/office/drawing/2014/main" id="{4304A0F6-E505-7D4A-51E9-A72A518724A1}"/>
                  </a:ext>
                </a:extLst>
              </p:cNvPr>
              <p:cNvSpPr txBox="1"/>
              <p:nvPr/>
            </p:nvSpPr>
            <p:spPr>
              <a:xfrm>
                <a:off x="4934286" y="3224012"/>
                <a:ext cx="567762" cy="12967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991" name="4">
                <a:extLst>
                  <a:ext uri="{FF2B5EF4-FFF2-40B4-BE49-F238E27FC236}">
                    <a16:creationId xmlns:a16="http://schemas.microsoft.com/office/drawing/2014/main" id="{02D1AFF5-85D0-02EB-5C85-48C025514183}"/>
                  </a:ext>
                </a:extLst>
              </p:cNvPr>
              <p:cNvSpPr txBox="1"/>
              <p:nvPr/>
            </p:nvSpPr>
            <p:spPr>
              <a:xfrm>
                <a:off x="7084768" y="4885443"/>
                <a:ext cx="567761" cy="13310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992" name="5">
                <a:extLst>
                  <a:ext uri="{FF2B5EF4-FFF2-40B4-BE49-F238E27FC236}">
                    <a16:creationId xmlns:a16="http://schemas.microsoft.com/office/drawing/2014/main" id="{FEC38AFE-E54A-57FB-A27A-9381D612E3CD}"/>
                  </a:ext>
                </a:extLst>
              </p:cNvPr>
              <p:cNvSpPr txBox="1"/>
              <p:nvPr/>
            </p:nvSpPr>
            <p:spPr>
              <a:xfrm>
                <a:off x="4839511" y="6195063"/>
                <a:ext cx="567761" cy="12967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5</a:t>
                </a:r>
              </a:p>
            </p:txBody>
          </p:sp>
          <p:sp>
            <p:nvSpPr>
              <p:cNvPr id="993" name="Oval 23">
                <a:extLst>
                  <a:ext uri="{FF2B5EF4-FFF2-40B4-BE49-F238E27FC236}">
                    <a16:creationId xmlns:a16="http://schemas.microsoft.com/office/drawing/2014/main" id="{81D180D1-F18B-0348-E3F3-062E8AB74A5B}"/>
                  </a:ext>
                </a:extLst>
              </p:cNvPr>
              <p:cNvSpPr/>
              <p:nvPr/>
            </p:nvSpPr>
            <p:spPr>
              <a:xfrm>
                <a:off x="4604549" y="779834"/>
                <a:ext cx="160270" cy="160269"/>
              </a:xfrm>
              <a:prstGeom prst="ellipse">
                <a:avLst/>
              </a:prstGeom>
              <a:solidFill>
                <a:srgbClr val="7893B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</p:grpSp>
        <p:grpSp>
          <p:nvGrpSpPr>
            <p:cNvPr id="1004" name="Group">
              <a:extLst>
                <a:ext uri="{FF2B5EF4-FFF2-40B4-BE49-F238E27FC236}">
                  <a16:creationId xmlns:a16="http://schemas.microsoft.com/office/drawing/2014/main" id="{62B9ED49-DBDE-2C33-95AF-3DBBC930ED81}"/>
                </a:ext>
              </a:extLst>
            </p:cNvPr>
            <p:cNvGrpSpPr/>
            <p:nvPr/>
          </p:nvGrpSpPr>
          <p:grpSpPr>
            <a:xfrm>
              <a:off x="0" y="2478492"/>
              <a:ext cx="4393054" cy="2587093"/>
              <a:chOff x="0" y="0"/>
              <a:chExt cx="4393053" cy="2587091"/>
            </a:xfrm>
          </p:grpSpPr>
          <p:sp>
            <p:nvSpPr>
              <p:cNvPr id="995" name="Freeform 395">
                <a:extLst>
                  <a:ext uri="{FF2B5EF4-FFF2-40B4-BE49-F238E27FC236}">
                    <a16:creationId xmlns:a16="http://schemas.microsoft.com/office/drawing/2014/main" id="{69F6D3B2-24F4-7F73-DB60-E502BE04B6CA}"/>
                  </a:ext>
                </a:extLst>
              </p:cNvPr>
              <p:cNvSpPr/>
              <p:nvPr/>
            </p:nvSpPr>
            <p:spPr>
              <a:xfrm>
                <a:off x="402774" y="0"/>
                <a:ext cx="3585943" cy="2510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4" y="21600"/>
                    </a:moveTo>
                    <a:cubicBezTo>
                      <a:pt x="316" y="21600"/>
                      <a:pt x="316" y="21600"/>
                      <a:pt x="316" y="21600"/>
                    </a:cubicBezTo>
                    <a:cubicBezTo>
                      <a:pt x="158" y="21600"/>
                      <a:pt x="0" y="21402"/>
                      <a:pt x="0" y="21137"/>
                    </a:cubicBezTo>
                    <a:cubicBezTo>
                      <a:pt x="0" y="1025"/>
                      <a:pt x="0" y="1025"/>
                      <a:pt x="0" y="1025"/>
                    </a:cubicBezTo>
                    <a:cubicBezTo>
                      <a:pt x="0" y="463"/>
                      <a:pt x="316" y="0"/>
                      <a:pt x="699" y="0"/>
                    </a:cubicBezTo>
                    <a:cubicBezTo>
                      <a:pt x="20901" y="0"/>
                      <a:pt x="20901" y="0"/>
                      <a:pt x="20901" y="0"/>
                    </a:cubicBezTo>
                    <a:cubicBezTo>
                      <a:pt x="21284" y="0"/>
                      <a:pt x="21600" y="463"/>
                      <a:pt x="21600" y="1025"/>
                    </a:cubicBezTo>
                    <a:cubicBezTo>
                      <a:pt x="21600" y="21137"/>
                      <a:pt x="21600" y="21137"/>
                      <a:pt x="21600" y="21137"/>
                    </a:cubicBezTo>
                    <a:cubicBezTo>
                      <a:pt x="21600" y="21402"/>
                      <a:pt x="21442" y="21600"/>
                      <a:pt x="21284" y="21600"/>
                    </a:cubicBezTo>
                    <a:close/>
                  </a:path>
                </a:pathLst>
              </a:custGeom>
              <a:solidFill>
                <a:srgbClr val="7893B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996" name="Freeform 396">
                <a:extLst>
                  <a:ext uri="{FF2B5EF4-FFF2-40B4-BE49-F238E27FC236}">
                    <a16:creationId xmlns:a16="http://schemas.microsoft.com/office/drawing/2014/main" id="{A0B19496-05D9-F42B-BC57-69E2F0BBDC83}"/>
                  </a:ext>
                </a:extLst>
              </p:cNvPr>
              <p:cNvSpPr/>
              <p:nvPr/>
            </p:nvSpPr>
            <p:spPr>
              <a:xfrm>
                <a:off x="402774" y="2402869"/>
                <a:ext cx="3585943" cy="107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10800"/>
                      <a:pt x="0" y="10800"/>
                      <a:pt x="0" y="10800"/>
                    </a:cubicBezTo>
                    <a:cubicBezTo>
                      <a:pt x="0" y="16971"/>
                      <a:pt x="158" y="21600"/>
                      <a:pt x="316" y="21600"/>
                    </a:cubicBezTo>
                    <a:cubicBezTo>
                      <a:pt x="21284" y="21600"/>
                      <a:pt x="21284" y="21600"/>
                      <a:pt x="21284" y="21600"/>
                    </a:cubicBezTo>
                    <a:cubicBezTo>
                      <a:pt x="21442" y="21600"/>
                      <a:pt x="21600" y="16971"/>
                      <a:pt x="21600" y="10800"/>
                    </a:cubicBezTo>
                    <a:cubicBezTo>
                      <a:pt x="21600" y="0"/>
                      <a:pt x="21600" y="0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87F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997" name="Rectangle 397">
                <a:extLst>
                  <a:ext uri="{FF2B5EF4-FFF2-40B4-BE49-F238E27FC236}">
                    <a16:creationId xmlns:a16="http://schemas.microsoft.com/office/drawing/2014/main" id="{E6A0F9C8-326C-77E1-7C48-27BF7C891E87}"/>
                  </a:ext>
                </a:extLst>
              </p:cNvPr>
              <p:cNvSpPr/>
              <p:nvPr/>
            </p:nvSpPr>
            <p:spPr>
              <a:xfrm>
                <a:off x="546399" y="177812"/>
                <a:ext cx="3300254" cy="212413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998" name="Freeform 398">
                <a:extLst>
                  <a:ext uri="{FF2B5EF4-FFF2-40B4-BE49-F238E27FC236}">
                    <a16:creationId xmlns:a16="http://schemas.microsoft.com/office/drawing/2014/main" id="{51A5BE36-4D9A-C669-6762-CD1A2CB287C3}"/>
                  </a:ext>
                </a:extLst>
              </p:cNvPr>
              <p:cNvSpPr/>
              <p:nvPr/>
            </p:nvSpPr>
            <p:spPr>
              <a:xfrm>
                <a:off x="0" y="2521411"/>
                <a:ext cx="4393053" cy="656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0"/>
                      <a:pt x="405" y="21600"/>
                      <a:pt x="2741" y="21600"/>
                    </a:cubicBezTo>
                    <a:cubicBezTo>
                      <a:pt x="5096" y="21600"/>
                      <a:pt x="16504" y="21600"/>
                      <a:pt x="18840" y="21600"/>
                    </a:cubicBezTo>
                    <a:cubicBezTo>
                      <a:pt x="21195" y="21600"/>
                      <a:pt x="21600" y="0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880A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999" name="Rectangle 399">
                <a:extLst>
                  <a:ext uri="{FF2B5EF4-FFF2-40B4-BE49-F238E27FC236}">
                    <a16:creationId xmlns:a16="http://schemas.microsoft.com/office/drawing/2014/main" id="{6E203762-EBCA-DF30-6ABD-B97553D373AD}"/>
                  </a:ext>
                </a:extLst>
              </p:cNvPr>
              <p:cNvSpPr/>
              <p:nvPr/>
            </p:nvSpPr>
            <p:spPr>
              <a:xfrm>
                <a:off x="0" y="2494178"/>
                <a:ext cx="4393053" cy="27234"/>
              </a:xfrm>
              <a:prstGeom prst="rect">
                <a:avLst/>
              </a:prstGeom>
              <a:solidFill>
                <a:srgbClr val="7893B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1000" name="Oval">
                <a:extLst>
                  <a:ext uri="{FF2B5EF4-FFF2-40B4-BE49-F238E27FC236}">
                    <a16:creationId xmlns:a16="http://schemas.microsoft.com/office/drawing/2014/main" id="{53F279E9-6E07-20EE-4725-521A82A3D4E0}"/>
                  </a:ext>
                </a:extLst>
              </p:cNvPr>
              <p:cNvSpPr/>
              <p:nvPr/>
            </p:nvSpPr>
            <p:spPr>
              <a:xfrm>
                <a:off x="1094086" y="812619"/>
                <a:ext cx="785398" cy="780611"/>
              </a:xfrm>
              <a:prstGeom prst="ellipse">
                <a:avLst/>
              </a:prstGeom>
              <a:solidFill>
                <a:srgbClr val="687F9F"/>
              </a:solidFill>
              <a:ln w="12700" cap="flat">
                <a:noFill/>
                <a:miter lim="400000"/>
              </a:ln>
              <a:effectLst>
                <a:outerShdw blurRad="101600" dist="76200" dir="5400000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001" name="Oval">
                <a:extLst>
                  <a:ext uri="{FF2B5EF4-FFF2-40B4-BE49-F238E27FC236}">
                    <a16:creationId xmlns:a16="http://schemas.microsoft.com/office/drawing/2014/main" id="{A98B2B21-84F2-F459-0D7B-B74B41556602}"/>
                  </a:ext>
                </a:extLst>
              </p:cNvPr>
              <p:cNvSpPr/>
              <p:nvPr/>
            </p:nvSpPr>
            <p:spPr>
              <a:xfrm>
                <a:off x="1238205" y="848178"/>
                <a:ext cx="497161" cy="292106"/>
              </a:xfrm>
              <a:prstGeom prst="ellipse">
                <a:avLst/>
              </a:prstGeom>
              <a:solidFill>
                <a:srgbClr val="FFFFFF">
                  <a:alpha val="26000"/>
                </a:srgbClr>
              </a:solidFill>
              <a:ln w="12700" cap="flat">
                <a:noFill/>
                <a:miter lim="400000"/>
              </a:ln>
              <a:effectLst>
                <a:reflection stA="50000" endPos="40000" dir="5400000" sy="-100000" algn="bl" rotWithShape="0"/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002" name="R">
                <a:extLst>
                  <a:ext uri="{FF2B5EF4-FFF2-40B4-BE49-F238E27FC236}">
                    <a16:creationId xmlns:a16="http://schemas.microsoft.com/office/drawing/2014/main" id="{56B4544E-35B7-91BF-E84E-C008D6B37814}"/>
                  </a:ext>
                </a:extLst>
              </p:cNvPr>
              <p:cNvSpPr txBox="1"/>
              <p:nvPr/>
            </p:nvSpPr>
            <p:spPr>
              <a:xfrm>
                <a:off x="1278745" y="798106"/>
                <a:ext cx="493840" cy="7464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4400">
                    <a:solidFill>
                      <a:srgbClr val="EBEBEB"/>
                    </a:solidFill>
                    <a:latin typeface="Source Sans Pro Regular"/>
                    <a:ea typeface="Source Sans Pro Regular"/>
                    <a:cs typeface="Source Sans Pro Regular"/>
                    <a:sym typeface="Source Sans Pro Regular"/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003" name="Studio">
                <a:extLst>
                  <a:ext uri="{FF2B5EF4-FFF2-40B4-BE49-F238E27FC236}">
                    <a16:creationId xmlns:a16="http://schemas.microsoft.com/office/drawing/2014/main" id="{F5D637E4-E034-F64D-2720-3A08D8E9259E}"/>
                  </a:ext>
                </a:extLst>
              </p:cNvPr>
              <p:cNvSpPr txBox="1"/>
              <p:nvPr/>
            </p:nvSpPr>
            <p:spPr>
              <a:xfrm>
                <a:off x="1898247" y="848178"/>
                <a:ext cx="1219284" cy="7319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3000">
                    <a:solidFill>
                      <a:srgbClr val="30525E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Studio</a:t>
                </a:r>
              </a:p>
            </p:txBody>
          </p:sp>
        </p:grpSp>
      </p:grpSp>
      <p:sp>
        <p:nvSpPr>
          <p:cNvPr id="1006" name="17">
            <a:extLst>
              <a:ext uri="{FF2B5EF4-FFF2-40B4-BE49-F238E27FC236}">
                <a16:creationId xmlns:a16="http://schemas.microsoft.com/office/drawing/2014/main" id="{FCFA306E-CCAD-0364-7A4D-ECFBEE8F2787}"/>
              </a:ext>
            </a:extLst>
          </p:cNvPr>
          <p:cNvSpPr txBox="1"/>
          <p:nvPr/>
        </p:nvSpPr>
        <p:spPr>
          <a:xfrm>
            <a:off x="374649" y="13090488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6</a:t>
            </a:r>
            <a:endParaRPr/>
          </a:p>
          <a:p>
            <a:pPr lvl="1"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C8E4A453-D4AF-5086-E5E4-463453F1C5D2}"/>
              </a:ext>
            </a:extLst>
          </p:cNvPr>
          <p:cNvSpPr/>
          <p:nvPr/>
        </p:nvSpPr>
        <p:spPr>
          <a:xfrm>
            <a:off x="7307120" y="2237011"/>
            <a:ext cx="1331013" cy="1331012"/>
          </a:xfrm>
          <a:prstGeom prst="ellipse">
            <a:avLst/>
          </a:prstGeom>
          <a:solidFill>
            <a:srgbClr val="C0C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4" name="Oval 12">
            <a:extLst>
              <a:ext uri="{FF2B5EF4-FFF2-40B4-BE49-F238E27FC236}">
                <a16:creationId xmlns:a16="http://schemas.microsoft.com/office/drawing/2014/main" id="{53ABE1C4-B23C-71F2-7759-F1372D2AE628}"/>
              </a:ext>
            </a:extLst>
          </p:cNvPr>
          <p:cNvSpPr/>
          <p:nvPr/>
        </p:nvSpPr>
        <p:spPr>
          <a:xfrm>
            <a:off x="7139031" y="2068923"/>
            <a:ext cx="1667187" cy="1669141"/>
          </a:xfrm>
          <a:prstGeom prst="ellipse">
            <a:avLst/>
          </a:pr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DB4BEA95-1C10-0602-7901-016063AB60ED}"/>
              </a:ext>
            </a:extLst>
          </p:cNvPr>
          <p:cNvSpPr txBox="1"/>
          <p:nvPr/>
        </p:nvSpPr>
        <p:spPr>
          <a:xfrm>
            <a:off x="7682422" y="2334537"/>
            <a:ext cx="1667187" cy="1265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0</a:t>
            </a:r>
            <a:endParaRPr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28D75F38-075A-9098-BF94-E8576525784A}"/>
              </a:ext>
            </a:extLst>
          </p:cNvPr>
          <p:cNvSpPr/>
          <p:nvPr/>
        </p:nvSpPr>
        <p:spPr>
          <a:xfrm>
            <a:off x="5179926" y="3403113"/>
            <a:ext cx="2138563" cy="2493034"/>
          </a:xfrm>
          <a:custGeom>
            <a:avLst/>
            <a:gdLst>
              <a:gd name="csX0" fmla="*/ 21600 w 21600"/>
              <a:gd name="csY0" fmla="*/ 0 h 21600"/>
              <a:gd name="csX1" fmla="*/ 10307 w 21600"/>
              <a:gd name="csY1" fmla="*/ 9701 h 21600"/>
              <a:gd name="csX2" fmla="*/ 2722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0307 w 21600"/>
              <a:gd name="csY1" fmla="*/ 9701 h 21600"/>
              <a:gd name="csX2" fmla="*/ 7514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7514 w 21600"/>
              <a:gd name="csY3" fmla="*/ 21600 h 21600"/>
              <a:gd name="csX4" fmla="*/ 0 w 21600"/>
              <a:gd name="csY4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4962 w 21600"/>
              <a:gd name="csY3" fmla="*/ 21600 h 21600"/>
              <a:gd name="csX4" fmla="*/ 0 w 21600"/>
              <a:gd name="csY4" fmla="*/ 21600 h 21600"/>
              <a:gd name="csX0" fmla="*/ 26339 w 26339"/>
              <a:gd name="csY0" fmla="*/ 0 h 22365"/>
              <a:gd name="csX1" fmla="*/ 15756 w 26339"/>
              <a:gd name="csY1" fmla="*/ 6103 h 22365"/>
              <a:gd name="csX2" fmla="*/ 10307 w 26339"/>
              <a:gd name="csY2" fmla="*/ 10466 h 22365"/>
              <a:gd name="csX3" fmla="*/ 4962 w 26339"/>
              <a:gd name="csY3" fmla="*/ 22365 h 22365"/>
              <a:gd name="csX4" fmla="*/ 0 w 26339"/>
              <a:gd name="csY4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5792 w 25792"/>
              <a:gd name="csY0" fmla="*/ 0 h 21982"/>
              <a:gd name="csX1" fmla="*/ 10307 w 25792"/>
              <a:gd name="csY1" fmla="*/ 10083 h 21982"/>
              <a:gd name="csX2" fmla="*/ 4962 w 25792"/>
              <a:gd name="csY2" fmla="*/ 21982 h 21982"/>
              <a:gd name="csX3" fmla="*/ 0 w 25792"/>
              <a:gd name="csY3" fmla="*/ 21982 h 21982"/>
              <a:gd name="csX0" fmla="*/ 24004 w 24004"/>
              <a:gd name="csY0" fmla="*/ 0 h 16063"/>
              <a:gd name="csX1" fmla="*/ 10307 w 24004"/>
              <a:gd name="csY1" fmla="*/ 4164 h 16063"/>
              <a:gd name="csX2" fmla="*/ 4962 w 24004"/>
              <a:gd name="csY2" fmla="*/ 16063 h 16063"/>
              <a:gd name="csX3" fmla="*/ 0 w 24004"/>
              <a:gd name="csY3" fmla="*/ 16063 h 16063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740" h="17730" extrusionOk="0">
                <a:moveTo>
                  <a:pt x="21740" y="0"/>
                </a:moveTo>
                <a:cubicBezTo>
                  <a:pt x="11452" y="5325"/>
                  <a:pt x="20684" y="495"/>
                  <a:pt x="10307" y="5831"/>
                </a:cubicBezTo>
                <a:lnTo>
                  <a:pt x="4962" y="17730"/>
                </a:lnTo>
                <a:lnTo>
                  <a:pt x="0" y="17730"/>
                </a:lnTo>
              </a:path>
            </a:pathLst>
          </a:cu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8" name="Oval 25">
            <a:extLst>
              <a:ext uri="{FF2B5EF4-FFF2-40B4-BE49-F238E27FC236}">
                <a16:creationId xmlns:a16="http://schemas.microsoft.com/office/drawing/2014/main" id="{C0C13FA2-D2DE-3F98-FF20-A7FD842B8696}"/>
              </a:ext>
            </a:extLst>
          </p:cNvPr>
          <p:cNvSpPr/>
          <p:nvPr/>
        </p:nvSpPr>
        <p:spPr>
          <a:xfrm>
            <a:off x="6121816" y="415765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9" name="Oval 25">
            <a:extLst>
              <a:ext uri="{FF2B5EF4-FFF2-40B4-BE49-F238E27FC236}">
                <a16:creationId xmlns:a16="http://schemas.microsoft.com/office/drawing/2014/main" id="{F30DFD19-6CD8-FA2A-A0D0-3380F6AA7DD9}"/>
              </a:ext>
            </a:extLst>
          </p:cNvPr>
          <p:cNvSpPr/>
          <p:nvPr/>
        </p:nvSpPr>
        <p:spPr>
          <a:xfrm>
            <a:off x="7223781" y="333704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60288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Скругленный прямоугольник 7"/>
          <p:cNvSpPr/>
          <p:nvPr/>
        </p:nvSpPr>
        <p:spPr>
          <a:xfrm>
            <a:off x="8538482" y="5311652"/>
            <a:ext cx="5924235" cy="2582977"/>
          </a:xfrm>
          <a:prstGeom prst="roundRect">
            <a:avLst>
              <a:gd name="adj" fmla="val 6645"/>
            </a:avLst>
          </a:prstGeom>
          <a:solidFill>
            <a:srgbClr val="557D9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9" name="Скругленный прямоугольник 7"/>
          <p:cNvSpPr/>
          <p:nvPr/>
        </p:nvSpPr>
        <p:spPr>
          <a:xfrm>
            <a:off x="8538482" y="2884693"/>
            <a:ext cx="5924235" cy="1600645"/>
          </a:xfrm>
          <a:prstGeom prst="roundRect">
            <a:avLst>
              <a:gd name="adj" fmla="val 10724"/>
            </a:avLst>
          </a:prstGeom>
          <a:solidFill>
            <a:srgbClr val="557D9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0" name="tidyverse is a collection of R packages for data science"/>
          <p:cNvSpPr txBox="1"/>
          <p:nvPr/>
        </p:nvSpPr>
        <p:spPr>
          <a:xfrm>
            <a:off x="9009026" y="3138403"/>
            <a:ext cx="5121376" cy="1938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tidyverse is a collection of R packages for data science </a:t>
            </a:r>
          </a:p>
          <a:p>
            <a: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11" name="Rectangle"/>
          <p:cNvSpPr/>
          <p:nvPr/>
        </p:nvSpPr>
        <p:spPr>
          <a:xfrm>
            <a:off x="-135859" y="-57430"/>
            <a:ext cx="7575492" cy="13830860"/>
          </a:xfrm>
          <a:prstGeom prst="rect">
            <a:avLst/>
          </a:prstGeom>
          <a:solidFill>
            <a:srgbClr val="557D9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015" name="Group"/>
          <p:cNvGrpSpPr/>
          <p:nvPr/>
        </p:nvGrpSpPr>
        <p:grpSpPr>
          <a:xfrm>
            <a:off x="919424" y="5912244"/>
            <a:ext cx="6766835" cy="1891512"/>
            <a:chOff x="0" y="0"/>
            <a:chExt cx="6766834" cy="1891510"/>
          </a:xfrm>
        </p:grpSpPr>
        <p:sp>
          <p:nvSpPr>
            <p:cNvPr id="1012" name="TIDYVERSE"/>
            <p:cNvSpPr txBox="1"/>
            <p:nvPr/>
          </p:nvSpPr>
          <p:spPr>
            <a:xfrm>
              <a:off x="0" y="392242"/>
              <a:ext cx="5162056" cy="1499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TIDYVERSE</a:t>
              </a:r>
            </a:p>
          </p:txBody>
        </p:sp>
        <p:sp>
          <p:nvSpPr>
            <p:cNvPr id="1013" name="https://www.tidyverse.org/"/>
            <p:cNvSpPr txBox="1"/>
            <p:nvPr/>
          </p:nvSpPr>
          <p:spPr>
            <a:xfrm>
              <a:off x="1157758" y="0"/>
              <a:ext cx="5609077" cy="437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https://www.tidyverse.org/</a:t>
              </a:r>
            </a:p>
          </p:txBody>
        </p:sp>
        <p:sp>
          <p:nvSpPr>
            <p:cNvPr id="1014" name="Line"/>
            <p:cNvSpPr/>
            <p:nvPr/>
          </p:nvSpPr>
          <p:spPr>
            <a:xfrm>
              <a:off x="60675" y="118774"/>
              <a:ext cx="92796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016" name="Скругленный прямоугольник 7"/>
          <p:cNvSpPr/>
          <p:nvPr/>
        </p:nvSpPr>
        <p:spPr>
          <a:xfrm>
            <a:off x="8538482" y="8813358"/>
            <a:ext cx="5924235" cy="2291273"/>
          </a:xfrm>
          <a:prstGeom prst="roundRect">
            <a:avLst>
              <a:gd name="adj" fmla="val 7491"/>
            </a:avLst>
          </a:prstGeom>
          <a:solidFill>
            <a:srgbClr val="557D9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7" name="“The packages share an underlying design philosophy, grammar, and data structures.” Wickham and Grolemund"/>
          <p:cNvSpPr txBox="1"/>
          <p:nvPr/>
        </p:nvSpPr>
        <p:spPr>
          <a:xfrm>
            <a:off x="8988686" y="5643020"/>
            <a:ext cx="5162057" cy="192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“The packages share an underlying design philosophy, grammar, and data structures.” </a:t>
            </a:r>
            <a:r>
              <a:rPr sz="2100" i="1"/>
              <a:t>Wickham and Grolemund</a:t>
            </a:r>
          </a:p>
        </p:txBody>
      </p:sp>
      <p:sp>
        <p:nvSpPr>
          <p:cNvPr id="1018" name="tidyverse is used to “tidy up” your datasets, so they are easy to work with"/>
          <p:cNvSpPr txBox="1"/>
          <p:nvPr/>
        </p:nvSpPr>
        <p:spPr>
          <a:xfrm>
            <a:off x="9014741" y="8783360"/>
            <a:ext cx="5121375" cy="1949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tidyverse is used to “tidy up” your datasets, so they are easy to work with</a:t>
            </a:r>
          </a:p>
        </p:txBody>
      </p:sp>
      <p:grpSp>
        <p:nvGrpSpPr>
          <p:cNvPr id="1047" name="Group"/>
          <p:cNvGrpSpPr/>
          <p:nvPr/>
        </p:nvGrpSpPr>
        <p:grpSpPr>
          <a:xfrm>
            <a:off x="15509580" y="978897"/>
            <a:ext cx="8062990" cy="11758207"/>
            <a:chOff x="-227349" y="0"/>
            <a:chExt cx="8062989" cy="11758205"/>
          </a:xfrm>
        </p:grpSpPr>
        <p:pic>
          <p:nvPicPr>
            <p:cNvPr id="1019" name="tidyverse_website.png" descr="tidyverse_website.png"/>
            <p:cNvPicPr>
              <a:picLocks noChangeAspect="1"/>
            </p:cNvPicPr>
            <p:nvPr/>
          </p:nvPicPr>
          <p:blipFill>
            <a:blip r:embed="rId2"/>
            <a:srcRect t="4125" r="83530" b="47718"/>
            <a:stretch>
              <a:fillRect/>
            </a:stretch>
          </p:blipFill>
          <p:spPr>
            <a:xfrm>
              <a:off x="4604871" y="5290859"/>
              <a:ext cx="1259468" cy="1495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20" name="Freeform 65"/>
            <p:cNvSpPr/>
            <p:nvPr/>
          </p:nvSpPr>
          <p:spPr>
            <a:xfrm>
              <a:off x="3588118" y="3187828"/>
              <a:ext cx="776813" cy="2133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14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21538"/>
                    <a:pt x="0" y="21538"/>
                    <a:pt x="0" y="21538"/>
                  </a:cubicBezTo>
                  <a:cubicBezTo>
                    <a:pt x="0" y="19415"/>
                    <a:pt x="4800" y="17729"/>
                    <a:pt x="10629" y="17729"/>
                  </a:cubicBezTo>
                  <a:cubicBezTo>
                    <a:pt x="10971" y="17729"/>
                    <a:pt x="10971" y="17729"/>
                    <a:pt x="10971" y="17729"/>
                  </a:cubicBezTo>
                  <a:cubicBezTo>
                    <a:pt x="15257" y="17729"/>
                    <a:pt x="18686" y="16418"/>
                    <a:pt x="18686" y="14858"/>
                  </a:cubicBezTo>
                  <a:cubicBezTo>
                    <a:pt x="18686" y="13360"/>
                    <a:pt x="15257" y="12049"/>
                    <a:pt x="10971" y="12049"/>
                  </a:cubicBezTo>
                  <a:cubicBezTo>
                    <a:pt x="10629" y="12049"/>
                    <a:pt x="10629" y="12049"/>
                    <a:pt x="10629" y="12049"/>
                  </a:cubicBezTo>
                  <a:cubicBezTo>
                    <a:pt x="4800" y="12049"/>
                    <a:pt x="0" y="10363"/>
                    <a:pt x="0" y="82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4" y="0"/>
                    <a:pt x="2914" y="0"/>
                    <a:pt x="2914" y="0"/>
                  </a:cubicBezTo>
                  <a:cubicBezTo>
                    <a:pt x="2914" y="8240"/>
                    <a:pt x="2914" y="8240"/>
                    <a:pt x="2914" y="8240"/>
                  </a:cubicBezTo>
                  <a:cubicBezTo>
                    <a:pt x="2914" y="9801"/>
                    <a:pt x="6343" y="11050"/>
                    <a:pt x="10629" y="11050"/>
                  </a:cubicBezTo>
                  <a:cubicBezTo>
                    <a:pt x="10971" y="11050"/>
                    <a:pt x="10971" y="11050"/>
                    <a:pt x="10971" y="11050"/>
                  </a:cubicBezTo>
                  <a:cubicBezTo>
                    <a:pt x="16800" y="11050"/>
                    <a:pt x="21600" y="12798"/>
                    <a:pt x="21600" y="14858"/>
                  </a:cubicBezTo>
                  <a:cubicBezTo>
                    <a:pt x="21600" y="16980"/>
                    <a:pt x="16800" y="18728"/>
                    <a:pt x="10971" y="18728"/>
                  </a:cubicBezTo>
                  <a:cubicBezTo>
                    <a:pt x="10629" y="18728"/>
                    <a:pt x="10629" y="18728"/>
                    <a:pt x="10629" y="18728"/>
                  </a:cubicBezTo>
                  <a:cubicBezTo>
                    <a:pt x="6343" y="18728"/>
                    <a:pt x="2914" y="19977"/>
                    <a:pt x="2914" y="21538"/>
                  </a:cubicBezTo>
                  <a:lnTo>
                    <a:pt x="2914" y="21600"/>
                  </a:ln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21" name="Freeform 65"/>
            <p:cNvSpPr/>
            <p:nvPr/>
          </p:nvSpPr>
          <p:spPr>
            <a:xfrm flipH="1">
              <a:off x="2917953" y="1054346"/>
              <a:ext cx="776813" cy="2133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14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21538"/>
                    <a:pt x="0" y="21538"/>
                    <a:pt x="0" y="21538"/>
                  </a:cubicBezTo>
                  <a:cubicBezTo>
                    <a:pt x="0" y="19415"/>
                    <a:pt x="4800" y="17729"/>
                    <a:pt x="10629" y="17729"/>
                  </a:cubicBezTo>
                  <a:cubicBezTo>
                    <a:pt x="10971" y="17729"/>
                    <a:pt x="10971" y="17729"/>
                    <a:pt x="10971" y="17729"/>
                  </a:cubicBezTo>
                  <a:cubicBezTo>
                    <a:pt x="15257" y="17729"/>
                    <a:pt x="18686" y="16418"/>
                    <a:pt x="18686" y="14858"/>
                  </a:cubicBezTo>
                  <a:cubicBezTo>
                    <a:pt x="18686" y="13360"/>
                    <a:pt x="15257" y="12049"/>
                    <a:pt x="10971" y="12049"/>
                  </a:cubicBezTo>
                  <a:cubicBezTo>
                    <a:pt x="10629" y="12049"/>
                    <a:pt x="10629" y="12049"/>
                    <a:pt x="10629" y="12049"/>
                  </a:cubicBezTo>
                  <a:cubicBezTo>
                    <a:pt x="4800" y="12049"/>
                    <a:pt x="0" y="10363"/>
                    <a:pt x="0" y="82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4" y="0"/>
                    <a:pt x="2914" y="0"/>
                    <a:pt x="2914" y="0"/>
                  </a:cubicBezTo>
                  <a:cubicBezTo>
                    <a:pt x="2914" y="8240"/>
                    <a:pt x="2914" y="8240"/>
                    <a:pt x="2914" y="8240"/>
                  </a:cubicBezTo>
                  <a:cubicBezTo>
                    <a:pt x="2914" y="9801"/>
                    <a:pt x="6343" y="11050"/>
                    <a:pt x="10629" y="11050"/>
                  </a:cubicBezTo>
                  <a:cubicBezTo>
                    <a:pt x="10971" y="11050"/>
                    <a:pt x="10971" y="11050"/>
                    <a:pt x="10971" y="11050"/>
                  </a:cubicBezTo>
                  <a:cubicBezTo>
                    <a:pt x="16800" y="11050"/>
                    <a:pt x="21600" y="12798"/>
                    <a:pt x="21600" y="14858"/>
                  </a:cubicBezTo>
                  <a:cubicBezTo>
                    <a:pt x="21600" y="16980"/>
                    <a:pt x="16800" y="18728"/>
                    <a:pt x="10971" y="18728"/>
                  </a:cubicBezTo>
                  <a:cubicBezTo>
                    <a:pt x="10629" y="18728"/>
                    <a:pt x="10629" y="18728"/>
                    <a:pt x="10629" y="18728"/>
                  </a:cubicBezTo>
                  <a:cubicBezTo>
                    <a:pt x="6343" y="18728"/>
                    <a:pt x="2914" y="19977"/>
                    <a:pt x="2914" y="21538"/>
                  </a:cubicBezTo>
                  <a:lnTo>
                    <a:pt x="2914" y="21600"/>
                  </a:ln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22" name="Freeform 65"/>
            <p:cNvSpPr/>
            <p:nvPr/>
          </p:nvSpPr>
          <p:spPr>
            <a:xfrm>
              <a:off x="3588118" y="7441240"/>
              <a:ext cx="776813" cy="2133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14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21538"/>
                    <a:pt x="0" y="21538"/>
                    <a:pt x="0" y="21538"/>
                  </a:cubicBezTo>
                  <a:cubicBezTo>
                    <a:pt x="0" y="19415"/>
                    <a:pt x="4800" y="17729"/>
                    <a:pt x="10629" y="17729"/>
                  </a:cubicBezTo>
                  <a:cubicBezTo>
                    <a:pt x="10971" y="17729"/>
                    <a:pt x="10971" y="17729"/>
                    <a:pt x="10971" y="17729"/>
                  </a:cubicBezTo>
                  <a:cubicBezTo>
                    <a:pt x="15257" y="17729"/>
                    <a:pt x="18686" y="16418"/>
                    <a:pt x="18686" y="14858"/>
                  </a:cubicBezTo>
                  <a:cubicBezTo>
                    <a:pt x="18686" y="13360"/>
                    <a:pt x="15257" y="12049"/>
                    <a:pt x="10971" y="12049"/>
                  </a:cubicBezTo>
                  <a:cubicBezTo>
                    <a:pt x="10629" y="12049"/>
                    <a:pt x="10629" y="12049"/>
                    <a:pt x="10629" y="12049"/>
                  </a:cubicBezTo>
                  <a:cubicBezTo>
                    <a:pt x="4800" y="12049"/>
                    <a:pt x="0" y="10363"/>
                    <a:pt x="0" y="82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4" y="0"/>
                    <a:pt x="2914" y="0"/>
                    <a:pt x="2914" y="0"/>
                  </a:cubicBezTo>
                  <a:cubicBezTo>
                    <a:pt x="2914" y="8240"/>
                    <a:pt x="2914" y="8240"/>
                    <a:pt x="2914" y="8240"/>
                  </a:cubicBezTo>
                  <a:cubicBezTo>
                    <a:pt x="2914" y="9801"/>
                    <a:pt x="6343" y="11050"/>
                    <a:pt x="10629" y="11050"/>
                  </a:cubicBezTo>
                  <a:cubicBezTo>
                    <a:pt x="10971" y="11050"/>
                    <a:pt x="10971" y="11050"/>
                    <a:pt x="10971" y="11050"/>
                  </a:cubicBezTo>
                  <a:cubicBezTo>
                    <a:pt x="16800" y="11050"/>
                    <a:pt x="21600" y="12798"/>
                    <a:pt x="21600" y="14858"/>
                  </a:cubicBezTo>
                  <a:cubicBezTo>
                    <a:pt x="21600" y="16980"/>
                    <a:pt x="16800" y="18728"/>
                    <a:pt x="10971" y="18728"/>
                  </a:cubicBezTo>
                  <a:cubicBezTo>
                    <a:pt x="10629" y="18728"/>
                    <a:pt x="10629" y="18728"/>
                    <a:pt x="10629" y="18728"/>
                  </a:cubicBezTo>
                  <a:cubicBezTo>
                    <a:pt x="6343" y="18728"/>
                    <a:pt x="2914" y="19977"/>
                    <a:pt x="2914" y="21538"/>
                  </a:cubicBezTo>
                  <a:lnTo>
                    <a:pt x="2914" y="21600"/>
                  </a:ln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23" name="Freeform 65"/>
            <p:cNvSpPr/>
            <p:nvPr/>
          </p:nvSpPr>
          <p:spPr>
            <a:xfrm flipH="1">
              <a:off x="2917953" y="5320905"/>
              <a:ext cx="776813" cy="213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14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21538"/>
                    <a:pt x="0" y="21538"/>
                    <a:pt x="0" y="21538"/>
                  </a:cubicBezTo>
                  <a:cubicBezTo>
                    <a:pt x="0" y="19415"/>
                    <a:pt x="4800" y="17729"/>
                    <a:pt x="10629" y="17729"/>
                  </a:cubicBezTo>
                  <a:cubicBezTo>
                    <a:pt x="10971" y="17729"/>
                    <a:pt x="10971" y="17729"/>
                    <a:pt x="10971" y="17729"/>
                  </a:cubicBezTo>
                  <a:cubicBezTo>
                    <a:pt x="15257" y="17729"/>
                    <a:pt x="18686" y="16418"/>
                    <a:pt x="18686" y="14858"/>
                  </a:cubicBezTo>
                  <a:cubicBezTo>
                    <a:pt x="18686" y="13360"/>
                    <a:pt x="15257" y="12049"/>
                    <a:pt x="10971" y="12049"/>
                  </a:cubicBezTo>
                  <a:cubicBezTo>
                    <a:pt x="10629" y="12049"/>
                    <a:pt x="10629" y="12049"/>
                    <a:pt x="10629" y="12049"/>
                  </a:cubicBezTo>
                  <a:cubicBezTo>
                    <a:pt x="4800" y="12049"/>
                    <a:pt x="0" y="10363"/>
                    <a:pt x="0" y="82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4" y="0"/>
                    <a:pt x="2914" y="0"/>
                    <a:pt x="2914" y="0"/>
                  </a:cubicBezTo>
                  <a:cubicBezTo>
                    <a:pt x="2914" y="8240"/>
                    <a:pt x="2914" y="8240"/>
                    <a:pt x="2914" y="8240"/>
                  </a:cubicBezTo>
                  <a:cubicBezTo>
                    <a:pt x="2914" y="9801"/>
                    <a:pt x="6343" y="11050"/>
                    <a:pt x="10629" y="11050"/>
                  </a:cubicBezTo>
                  <a:cubicBezTo>
                    <a:pt x="10971" y="11050"/>
                    <a:pt x="10971" y="11050"/>
                    <a:pt x="10971" y="11050"/>
                  </a:cubicBezTo>
                  <a:cubicBezTo>
                    <a:pt x="16800" y="11050"/>
                    <a:pt x="21600" y="12798"/>
                    <a:pt x="21600" y="14858"/>
                  </a:cubicBezTo>
                  <a:cubicBezTo>
                    <a:pt x="21600" y="16980"/>
                    <a:pt x="16800" y="18728"/>
                    <a:pt x="10971" y="18728"/>
                  </a:cubicBezTo>
                  <a:cubicBezTo>
                    <a:pt x="10629" y="18728"/>
                    <a:pt x="10629" y="18728"/>
                    <a:pt x="10629" y="18728"/>
                  </a:cubicBezTo>
                  <a:cubicBezTo>
                    <a:pt x="6343" y="18728"/>
                    <a:pt x="2914" y="19977"/>
                    <a:pt x="2914" y="21538"/>
                  </a:cubicBezTo>
                  <a:lnTo>
                    <a:pt x="2914" y="21600"/>
                  </a:ln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24" name="Прямая соединительная линия 84"/>
            <p:cNvSpPr/>
            <p:nvPr/>
          </p:nvSpPr>
          <p:spPr>
            <a:xfrm>
              <a:off x="3356264" y="2514888"/>
              <a:ext cx="1030173" cy="1"/>
            </a:xfrm>
            <a:prstGeom prst="line">
              <a:avLst/>
            </a:prstGeom>
            <a:noFill/>
            <a:ln w="25400" cap="flat">
              <a:solidFill>
                <a:srgbClr val="374556"/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pic>
          <p:nvPicPr>
            <p:cNvPr id="1025" name="tidyverse_website.png" descr="tidyverse_website.png"/>
            <p:cNvPicPr>
              <a:picLocks noChangeAspect="1"/>
            </p:cNvPicPr>
            <p:nvPr/>
          </p:nvPicPr>
          <p:blipFill>
            <a:blip r:embed="rId3"/>
            <a:srcRect t="52019" r="83414" b="342"/>
            <a:stretch>
              <a:fillRect/>
            </a:stretch>
          </p:blipFill>
          <p:spPr>
            <a:xfrm>
              <a:off x="1423648" y="8183669"/>
              <a:ext cx="1247928" cy="14556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6" name="tidyverse_website.png" descr="tidyverse_website.png"/>
            <p:cNvPicPr>
              <a:picLocks noChangeAspect="1"/>
            </p:cNvPicPr>
            <p:nvPr/>
          </p:nvPicPr>
          <p:blipFill>
            <a:blip r:embed="rId2"/>
            <a:srcRect l="16647" t="52361" r="66846"/>
            <a:stretch>
              <a:fillRect/>
            </a:stretch>
          </p:blipFill>
          <p:spPr>
            <a:xfrm>
              <a:off x="4600833" y="1771895"/>
              <a:ext cx="1267620" cy="14857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7" name="tidyverse_website.png" descr="tidyverse_website.png"/>
            <p:cNvPicPr>
              <a:picLocks noChangeAspect="1"/>
            </p:cNvPicPr>
            <p:nvPr/>
          </p:nvPicPr>
          <p:blipFill>
            <a:blip r:embed="rId4"/>
            <a:srcRect l="66663" t="52165" r="16729"/>
            <a:stretch>
              <a:fillRect/>
            </a:stretch>
          </p:blipFill>
          <p:spPr>
            <a:xfrm>
              <a:off x="117401" y="3904512"/>
              <a:ext cx="1270180" cy="14858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8" name="tidyverse_website.png" descr="tidyverse_website.png"/>
            <p:cNvPicPr>
              <a:picLocks noChangeAspect="1"/>
            </p:cNvPicPr>
            <p:nvPr/>
          </p:nvPicPr>
          <p:blipFill>
            <a:blip r:embed="rId2"/>
            <a:srcRect l="83396" t="52133" b="228"/>
            <a:stretch>
              <a:fillRect/>
            </a:stretch>
          </p:blipFill>
          <p:spPr>
            <a:xfrm>
              <a:off x="1405982" y="3899841"/>
              <a:ext cx="1283390" cy="14954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9" name="tidyverse_website.png" descr="tidyverse_website.png"/>
            <p:cNvPicPr>
              <a:picLocks noChangeAspect="1"/>
            </p:cNvPicPr>
            <p:nvPr/>
          </p:nvPicPr>
          <p:blipFill>
            <a:blip r:embed="rId3"/>
            <a:srcRect l="83396" t="4125" b="47718"/>
            <a:stretch>
              <a:fillRect/>
            </a:stretch>
          </p:blipFill>
          <p:spPr>
            <a:xfrm>
              <a:off x="138456" y="8170317"/>
              <a:ext cx="1258401" cy="14822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0" name="tidyverse_website.png" descr="tidyverse_website.png"/>
            <p:cNvPicPr>
              <a:picLocks noChangeAspect="1"/>
            </p:cNvPicPr>
            <p:nvPr/>
          </p:nvPicPr>
          <p:blipFill>
            <a:blip r:embed="rId3"/>
            <a:srcRect l="66613" t="4125" r="16715" b="47718"/>
            <a:stretch>
              <a:fillRect/>
            </a:stretch>
          </p:blipFill>
          <p:spPr>
            <a:xfrm>
              <a:off x="5900207" y="5290859"/>
              <a:ext cx="1274734" cy="14954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1" name="tidyverse_website.png" descr="tidyverse_website.png"/>
            <p:cNvPicPr>
              <a:picLocks noChangeAspect="1"/>
            </p:cNvPicPr>
            <p:nvPr/>
          </p:nvPicPr>
          <p:blipFill>
            <a:blip r:embed="rId5"/>
            <a:srcRect l="49949" t="4125" r="33476" b="47718"/>
            <a:stretch>
              <a:fillRect/>
            </a:stretch>
          </p:blipFill>
          <p:spPr>
            <a:xfrm>
              <a:off x="5907807" y="1745602"/>
              <a:ext cx="1259449" cy="14861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2" name="tidyverse_website.png" descr="tidyverse_website.png"/>
            <p:cNvPicPr>
              <a:picLocks noChangeAspect="1"/>
            </p:cNvPicPr>
            <p:nvPr/>
          </p:nvPicPr>
          <p:blipFill>
            <a:blip r:embed="rId3"/>
            <a:srcRect l="16505" t="3829" r="66826" b="47374"/>
            <a:stretch>
              <a:fillRect/>
            </a:stretch>
          </p:blipFill>
          <p:spPr>
            <a:xfrm>
              <a:off x="5234486" y="6419534"/>
              <a:ext cx="1283495" cy="1525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5399"/>
                  </a:lnTo>
                  <a:lnTo>
                    <a:pt x="0" y="16201"/>
                  </a:lnTo>
                  <a:lnTo>
                    <a:pt x="10800" y="21600"/>
                  </a:lnTo>
                  <a:lnTo>
                    <a:pt x="21600" y="16201"/>
                  </a:lnTo>
                  <a:lnTo>
                    <a:pt x="21600" y="5399"/>
                  </a:lnTo>
                  <a:lnTo>
                    <a:pt x="1080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1033" name="tidyverse_website.png" descr="tidyverse_website.png"/>
            <p:cNvPicPr>
              <a:picLocks noChangeAspect="1"/>
            </p:cNvPicPr>
            <p:nvPr/>
          </p:nvPicPr>
          <p:blipFill>
            <a:blip r:embed="rId6"/>
            <a:srcRect l="33335" t="4125" r="50087" b="47718"/>
            <a:stretch>
              <a:fillRect/>
            </a:stretch>
          </p:blipFill>
          <p:spPr>
            <a:xfrm>
              <a:off x="4617677" y="10302426"/>
              <a:ext cx="1233920" cy="14557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34" name="tidyverse-logo.png" descr="tidyverse-logo.png"/>
            <p:cNvPicPr>
              <a:picLocks noChangeAspect="1"/>
            </p:cNvPicPr>
            <p:nvPr/>
          </p:nvPicPr>
          <p:blipFill>
            <a:blip r:embed="rId7"/>
            <a:srcRect l="5743" t="5460" r="5762" b="5170"/>
            <a:stretch>
              <a:fillRect/>
            </a:stretch>
          </p:blipFill>
          <p:spPr>
            <a:xfrm>
              <a:off x="3029304" y="0"/>
              <a:ext cx="1207294" cy="14073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5397"/>
                  </a:lnTo>
                  <a:lnTo>
                    <a:pt x="0" y="16197"/>
                  </a:lnTo>
                  <a:lnTo>
                    <a:pt x="10800" y="21600"/>
                  </a:lnTo>
                  <a:lnTo>
                    <a:pt x="21600" y="16197"/>
                  </a:lnTo>
                  <a:lnTo>
                    <a:pt x="21600" y="5397"/>
                  </a:lnTo>
                  <a:lnTo>
                    <a:pt x="10800" y="0"/>
                  </a:lnTo>
                  <a:close/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pic>
        <p:sp>
          <p:nvSpPr>
            <p:cNvPr id="1035" name="Прямая соединительная линия 84"/>
            <p:cNvSpPr/>
            <p:nvPr/>
          </p:nvSpPr>
          <p:spPr>
            <a:xfrm>
              <a:off x="2909595" y="4651462"/>
              <a:ext cx="1030172" cy="1"/>
            </a:xfrm>
            <a:prstGeom prst="line">
              <a:avLst/>
            </a:prstGeom>
            <a:noFill/>
            <a:ln w="25400" cap="flat">
              <a:solidFill>
                <a:srgbClr val="374556"/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36" name="Freeform 65"/>
            <p:cNvSpPr/>
            <p:nvPr/>
          </p:nvSpPr>
          <p:spPr>
            <a:xfrm flipH="1">
              <a:off x="2917953" y="9561171"/>
              <a:ext cx="776813" cy="2133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14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21538"/>
                    <a:pt x="0" y="21538"/>
                    <a:pt x="0" y="21538"/>
                  </a:cubicBezTo>
                  <a:cubicBezTo>
                    <a:pt x="0" y="19415"/>
                    <a:pt x="4800" y="17729"/>
                    <a:pt x="10629" y="17729"/>
                  </a:cubicBezTo>
                  <a:cubicBezTo>
                    <a:pt x="10971" y="17729"/>
                    <a:pt x="10971" y="17729"/>
                    <a:pt x="10971" y="17729"/>
                  </a:cubicBezTo>
                  <a:cubicBezTo>
                    <a:pt x="15257" y="17729"/>
                    <a:pt x="18686" y="16418"/>
                    <a:pt x="18686" y="14858"/>
                  </a:cubicBezTo>
                  <a:cubicBezTo>
                    <a:pt x="18686" y="13360"/>
                    <a:pt x="15257" y="12049"/>
                    <a:pt x="10971" y="12049"/>
                  </a:cubicBezTo>
                  <a:cubicBezTo>
                    <a:pt x="10629" y="12049"/>
                    <a:pt x="10629" y="12049"/>
                    <a:pt x="10629" y="12049"/>
                  </a:cubicBezTo>
                  <a:cubicBezTo>
                    <a:pt x="4800" y="12049"/>
                    <a:pt x="0" y="10363"/>
                    <a:pt x="0" y="82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4" y="0"/>
                    <a:pt x="2914" y="0"/>
                    <a:pt x="2914" y="0"/>
                  </a:cubicBezTo>
                  <a:cubicBezTo>
                    <a:pt x="2914" y="8240"/>
                    <a:pt x="2914" y="8240"/>
                    <a:pt x="2914" y="8240"/>
                  </a:cubicBezTo>
                  <a:cubicBezTo>
                    <a:pt x="2914" y="9801"/>
                    <a:pt x="6343" y="11050"/>
                    <a:pt x="10629" y="11050"/>
                  </a:cubicBezTo>
                  <a:cubicBezTo>
                    <a:pt x="10971" y="11050"/>
                    <a:pt x="10971" y="11050"/>
                    <a:pt x="10971" y="11050"/>
                  </a:cubicBezTo>
                  <a:cubicBezTo>
                    <a:pt x="16800" y="11050"/>
                    <a:pt x="21600" y="12798"/>
                    <a:pt x="21600" y="14858"/>
                  </a:cubicBezTo>
                  <a:cubicBezTo>
                    <a:pt x="21600" y="16980"/>
                    <a:pt x="16800" y="18728"/>
                    <a:pt x="10971" y="18728"/>
                  </a:cubicBezTo>
                  <a:cubicBezTo>
                    <a:pt x="10629" y="18728"/>
                    <a:pt x="10629" y="18728"/>
                    <a:pt x="10629" y="18728"/>
                  </a:cubicBezTo>
                  <a:cubicBezTo>
                    <a:pt x="6343" y="18728"/>
                    <a:pt x="2914" y="19977"/>
                    <a:pt x="2914" y="21538"/>
                  </a:cubicBezTo>
                  <a:lnTo>
                    <a:pt x="2914" y="21600"/>
                  </a:ln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pic>
          <p:nvPicPr>
            <p:cNvPr id="1037" name="tidyverse_website.png" descr="tidyverse_website.png"/>
            <p:cNvPicPr>
              <a:picLocks noChangeAspect="1"/>
            </p:cNvPicPr>
            <p:nvPr/>
          </p:nvPicPr>
          <p:blipFill>
            <a:blip r:embed="rId8"/>
            <a:srcRect l="49957" t="51871" r="33395" b="3"/>
            <a:stretch>
              <a:fillRect/>
            </a:stretch>
          </p:blipFill>
          <p:spPr>
            <a:xfrm>
              <a:off x="6552145" y="6419534"/>
              <a:ext cx="1283495" cy="1506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5404"/>
                  </a:lnTo>
                  <a:lnTo>
                    <a:pt x="0" y="16213"/>
                  </a:lnTo>
                  <a:lnTo>
                    <a:pt x="10767" y="21600"/>
                  </a:lnTo>
                  <a:lnTo>
                    <a:pt x="10833" y="21600"/>
                  </a:lnTo>
                  <a:lnTo>
                    <a:pt x="21600" y="16213"/>
                  </a:lnTo>
                  <a:lnTo>
                    <a:pt x="21600" y="5404"/>
                  </a:lnTo>
                  <a:lnTo>
                    <a:pt x="1080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1038" name="Прямая соединительная линия 84"/>
            <p:cNvSpPr/>
            <p:nvPr/>
          </p:nvSpPr>
          <p:spPr>
            <a:xfrm>
              <a:off x="3356264" y="6774888"/>
              <a:ext cx="1030173" cy="1"/>
            </a:xfrm>
            <a:prstGeom prst="line">
              <a:avLst/>
            </a:prstGeom>
            <a:noFill/>
            <a:ln w="25400" cap="flat">
              <a:solidFill>
                <a:srgbClr val="374556"/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39" name="Прямая соединительная линия 84"/>
            <p:cNvSpPr/>
            <p:nvPr/>
          </p:nvSpPr>
          <p:spPr>
            <a:xfrm>
              <a:off x="2909595" y="8911463"/>
              <a:ext cx="1030172" cy="1"/>
            </a:xfrm>
            <a:prstGeom prst="line">
              <a:avLst/>
            </a:prstGeom>
            <a:noFill/>
            <a:ln w="25400" cap="flat">
              <a:solidFill>
                <a:srgbClr val="374556"/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40" name="Прямая соединительная линия 84"/>
            <p:cNvSpPr/>
            <p:nvPr/>
          </p:nvSpPr>
          <p:spPr>
            <a:xfrm>
              <a:off x="3356264" y="11021742"/>
              <a:ext cx="1030173" cy="1"/>
            </a:xfrm>
            <a:prstGeom prst="line">
              <a:avLst/>
            </a:prstGeom>
            <a:noFill/>
            <a:ln w="25400" cap="flat">
              <a:solidFill>
                <a:srgbClr val="374556"/>
              </a:solidFill>
              <a:prstDash val="sysDot"/>
              <a:miter lim="800000"/>
              <a:headEnd type="oval" w="med" len="med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041" name="PROGRAMMING"/>
            <p:cNvSpPr txBox="1"/>
            <p:nvPr/>
          </p:nvSpPr>
          <p:spPr>
            <a:xfrm>
              <a:off x="4567280" y="8673507"/>
              <a:ext cx="3045013" cy="47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PROGRAMMING</a:t>
              </a:r>
            </a:p>
          </p:txBody>
        </p:sp>
        <p:sp>
          <p:nvSpPr>
            <p:cNvPr id="1042" name="MANIPULATION"/>
            <p:cNvSpPr txBox="1"/>
            <p:nvPr/>
          </p:nvSpPr>
          <p:spPr>
            <a:xfrm>
              <a:off x="-76041" y="6551518"/>
              <a:ext cx="2917738" cy="47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MANIPULATION</a:t>
              </a:r>
            </a:p>
          </p:txBody>
        </p:sp>
        <p:sp>
          <p:nvSpPr>
            <p:cNvPr id="1043" name="VISUALIZATION"/>
            <p:cNvSpPr txBox="1"/>
            <p:nvPr/>
          </p:nvSpPr>
          <p:spPr>
            <a:xfrm>
              <a:off x="-227349" y="10795496"/>
              <a:ext cx="2954746" cy="47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8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VISUALIZATION</a:t>
              </a:r>
            </a:p>
          </p:txBody>
        </p:sp>
        <p:sp>
          <p:nvSpPr>
            <p:cNvPr id="1044" name="TIDYING"/>
            <p:cNvSpPr txBox="1"/>
            <p:nvPr/>
          </p:nvSpPr>
          <p:spPr>
            <a:xfrm>
              <a:off x="4564175" y="4409550"/>
              <a:ext cx="2446384" cy="47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TIDYING</a:t>
              </a:r>
            </a:p>
          </p:txBody>
        </p:sp>
        <p:sp>
          <p:nvSpPr>
            <p:cNvPr id="1045" name="READING DATA"/>
            <p:cNvSpPr txBox="1"/>
            <p:nvPr/>
          </p:nvSpPr>
          <p:spPr>
            <a:xfrm>
              <a:off x="-76835" y="2307540"/>
              <a:ext cx="2954746" cy="47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READING DATA</a:t>
              </a:r>
            </a:p>
          </p:txBody>
        </p:sp>
        <p:sp>
          <p:nvSpPr>
            <p:cNvPr id="1046" name="Polygon"/>
            <p:cNvSpPr/>
            <p:nvPr/>
          </p:nvSpPr>
          <p:spPr>
            <a:xfrm>
              <a:off x="102845" y="8135017"/>
              <a:ext cx="1329609" cy="155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76200" cap="flat">
              <a:solidFill>
                <a:srgbClr val="E58E2D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048" name="18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7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"/>
          <p:cNvSpPr/>
          <p:nvPr/>
        </p:nvSpPr>
        <p:spPr>
          <a:xfrm>
            <a:off x="-98444" y="-21988"/>
            <a:ext cx="24568188" cy="3736365"/>
          </a:xfrm>
          <a:prstGeom prst="rect">
            <a:avLst/>
          </a:prstGeom>
          <a:solidFill>
            <a:srgbClr val="557D9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054" name="Group"/>
          <p:cNvGrpSpPr/>
          <p:nvPr/>
        </p:nvGrpSpPr>
        <p:grpSpPr>
          <a:xfrm>
            <a:off x="8040568" y="1016314"/>
            <a:ext cx="8290163" cy="2299238"/>
            <a:chOff x="0" y="0"/>
            <a:chExt cx="8290162" cy="2299237"/>
          </a:xfrm>
        </p:grpSpPr>
        <p:sp>
          <p:nvSpPr>
            <p:cNvPr id="1051" name="CECI N'EST PAS UNE PIPE…"/>
            <p:cNvSpPr txBox="1"/>
            <p:nvPr/>
          </p:nvSpPr>
          <p:spPr>
            <a:xfrm>
              <a:off x="-1" y="629934"/>
              <a:ext cx="8290163" cy="16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CECI N'EST PAS UNE PIPE </a:t>
              </a:r>
            </a:p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%&gt;%</a:t>
              </a:r>
            </a:p>
          </p:txBody>
        </p:sp>
        <p:sp>
          <p:nvSpPr>
            <p:cNvPr id="1052" name="https://www.tidyverse.org/"/>
            <p:cNvSpPr txBox="1"/>
            <p:nvPr/>
          </p:nvSpPr>
          <p:spPr>
            <a:xfrm>
              <a:off x="1859337" y="0"/>
              <a:ext cx="6375877" cy="584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https://www.tidyverse.org/</a:t>
              </a:r>
            </a:p>
          </p:txBody>
        </p:sp>
        <p:sp>
          <p:nvSpPr>
            <p:cNvPr id="1053" name="Line"/>
            <p:cNvSpPr/>
            <p:nvPr/>
          </p:nvSpPr>
          <p:spPr>
            <a:xfrm>
              <a:off x="97444" y="190749"/>
              <a:ext cx="1490286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055" name="Shadow"/>
          <p:cNvSpPr/>
          <p:nvPr/>
        </p:nvSpPr>
        <p:spPr>
          <a:xfrm>
            <a:off x="9057809" y="6007940"/>
            <a:ext cx="4970726" cy="10091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36"/>
                </a:moveTo>
                <a:lnTo>
                  <a:pt x="10796" y="21600"/>
                </a:lnTo>
                <a:lnTo>
                  <a:pt x="0" y="10836"/>
                </a:lnTo>
                <a:lnTo>
                  <a:pt x="10796" y="0"/>
                </a:lnTo>
                <a:lnTo>
                  <a:pt x="21600" y="1083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254000" dist="63500" dir="5400000" rotWithShape="0">
              <a:srgbClr val="000000">
                <a:alpha val="46000"/>
              </a:srgbClr>
            </a:outerShdw>
          </a:effectLst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6" name="Freeform 60"/>
          <p:cNvSpPr/>
          <p:nvPr/>
        </p:nvSpPr>
        <p:spPr>
          <a:xfrm>
            <a:off x="9068427" y="5035995"/>
            <a:ext cx="4970726" cy="10091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36"/>
                </a:moveTo>
                <a:lnTo>
                  <a:pt x="10796" y="21600"/>
                </a:lnTo>
                <a:lnTo>
                  <a:pt x="0" y="10836"/>
                </a:lnTo>
                <a:lnTo>
                  <a:pt x="10796" y="0"/>
                </a:lnTo>
                <a:lnTo>
                  <a:pt x="21600" y="10836"/>
                </a:lnTo>
                <a:close/>
              </a:path>
            </a:pathLst>
          </a:custGeom>
          <a:solidFill>
            <a:srgbClr val="436C6E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7" name="Freeform 61"/>
          <p:cNvSpPr/>
          <p:nvPr/>
        </p:nvSpPr>
        <p:spPr>
          <a:xfrm>
            <a:off x="11551238" y="5541628"/>
            <a:ext cx="2486249" cy="149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7276"/>
                </a:moveTo>
                <a:lnTo>
                  <a:pt x="0" y="21600"/>
                </a:lnTo>
                <a:lnTo>
                  <a:pt x="21600" y="14291"/>
                </a:lnTo>
                <a:lnTo>
                  <a:pt x="21600" y="0"/>
                </a:lnTo>
                <a:lnTo>
                  <a:pt x="0" y="7276"/>
                </a:lnTo>
                <a:close/>
              </a:path>
            </a:pathLst>
          </a:custGeom>
          <a:solidFill>
            <a:srgbClr val="355557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8" name="Freeform 62"/>
          <p:cNvSpPr/>
          <p:nvPr/>
        </p:nvSpPr>
        <p:spPr>
          <a:xfrm>
            <a:off x="9068427" y="5541628"/>
            <a:ext cx="2484478" cy="149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76"/>
                </a:moveTo>
                <a:lnTo>
                  <a:pt x="21600" y="21600"/>
                </a:lnTo>
                <a:lnTo>
                  <a:pt x="0" y="14291"/>
                </a:lnTo>
                <a:lnTo>
                  <a:pt x="0" y="0"/>
                </a:lnTo>
                <a:lnTo>
                  <a:pt x="21600" y="7276"/>
                </a:lnTo>
                <a:close/>
              </a:path>
            </a:pathLst>
          </a:custGeom>
          <a:solidFill>
            <a:srgbClr val="436C6E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062" name="Group"/>
          <p:cNvGrpSpPr/>
          <p:nvPr/>
        </p:nvGrpSpPr>
        <p:grpSpPr>
          <a:xfrm>
            <a:off x="9713699" y="4445099"/>
            <a:ext cx="3724162" cy="1427370"/>
            <a:chOff x="0" y="0"/>
            <a:chExt cx="3724161" cy="1427369"/>
          </a:xfrm>
        </p:grpSpPr>
        <p:sp>
          <p:nvSpPr>
            <p:cNvPr id="1059" name="Freeform 63"/>
            <p:cNvSpPr/>
            <p:nvPr/>
          </p:nvSpPr>
          <p:spPr>
            <a:xfrm>
              <a:off x="0" y="0"/>
              <a:ext cx="3724162" cy="720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16"/>
                  </a:moveTo>
                  <a:lnTo>
                    <a:pt x="10795" y="21600"/>
                  </a:lnTo>
                  <a:lnTo>
                    <a:pt x="0" y="10816"/>
                  </a:lnTo>
                  <a:lnTo>
                    <a:pt x="10795" y="0"/>
                  </a:lnTo>
                  <a:lnTo>
                    <a:pt x="21600" y="10816"/>
                  </a:lnTo>
                  <a:close/>
                </a:path>
              </a:pathLst>
            </a:custGeom>
            <a:solidFill>
              <a:srgbClr val="89A8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060" name="Freeform 64"/>
            <p:cNvSpPr/>
            <p:nvPr/>
          </p:nvSpPr>
          <p:spPr>
            <a:xfrm>
              <a:off x="1861221" y="360014"/>
              <a:ext cx="1862939" cy="1067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277"/>
                  </a:moveTo>
                  <a:lnTo>
                    <a:pt x="0" y="21600"/>
                  </a:lnTo>
                  <a:lnTo>
                    <a:pt x="21600" y="14323"/>
                  </a:lnTo>
                  <a:lnTo>
                    <a:pt x="21600" y="0"/>
                  </a:lnTo>
                  <a:lnTo>
                    <a:pt x="0" y="7277"/>
                  </a:lnTo>
                  <a:close/>
                </a:path>
              </a:pathLst>
            </a:custGeom>
            <a:solidFill>
              <a:srgbClr val="718A8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061" name="Freeform 65"/>
            <p:cNvSpPr/>
            <p:nvPr/>
          </p:nvSpPr>
          <p:spPr>
            <a:xfrm>
              <a:off x="0" y="360014"/>
              <a:ext cx="1861224" cy="1067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77"/>
                  </a:moveTo>
                  <a:lnTo>
                    <a:pt x="21600" y="21600"/>
                  </a:lnTo>
                  <a:lnTo>
                    <a:pt x="0" y="14323"/>
                  </a:lnTo>
                  <a:lnTo>
                    <a:pt x="0" y="0"/>
                  </a:lnTo>
                  <a:lnTo>
                    <a:pt x="21600" y="7277"/>
                  </a:lnTo>
                  <a:close/>
                </a:path>
              </a:pathLst>
            </a:custGeom>
            <a:solidFill>
              <a:srgbClr val="89A8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063" name="You do NOT have to “chose” between…"/>
          <p:cNvSpPr txBox="1"/>
          <p:nvPr/>
        </p:nvSpPr>
        <p:spPr>
          <a:xfrm>
            <a:off x="1930400" y="5466251"/>
            <a:ext cx="6339877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You do NOT have to “chose” between</a:t>
            </a:r>
          </a:p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tidyverse and base R  </a:t>
            </a:r>
          </a:p>
        </p:txBody>
      </p:sp>
      <p:sp>
        <p:nvSpPr>
          <p:cNvPr id="1064" name="Line"/>
          <p:cNvSpPr/>
          <p:nvPr/>
        </p:nvSpPr>
        <p:spPr>
          <a:xfrm flipV="1">
            <a:off x="15154950" y="4692489"/>
            <a:ext cx="1" cy="7755111"/>
          </a:xfrm>
          <a:prstGeom prst="line">
            <a:avLst/>
          </a:prstGeom>
          <a:ln w="25400">
            <a:solidFill>
              <a:srgbClr val="2E5378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grpSp>
        <p:nvGrpSpPr>
          <p:cNvPr id="1069" name="Group"/>
          <p:cNvGrpSpPr/>
          <p:nvPr/>
        </p:nvGrpSpPr>
        <p:grpSpPr>
          <a:xfrm>
            <a:off x="16257213" y="5924907"/>
            <a:ext cx="6737083" cy="4976315"/>
            <a:chOff x="0" y="35680"/>
            <a:chExt cx="6737081" cy="4976313"/>
          </a:xfrm>
        </p:grpSpPr>
        <p:sp>
          <p:nvSpPr>
            <p:cNvPr id="1065" name="# no brain acrobatics…"/>
            <p:cNvSpPr txBox="1"/>
            <p:nvPr/>
          </p:nvSpPr>
          <p:spPr>
            <a:xfrm>
              <a:off x="0" y="3340185"/>
              <a:ext cx="6667980" cy="16718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defRPr sz="2200">
                  <a:solidFill>
                    <a:srgbClr val="99AF92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# no brain acrobatics</a:t>
              </a:r>
            </a:p>
            <a:p>
              <a:pPr defTabSz="457200">
                <a:defRPr sz="220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  <a:p>
              <a:pPr defTabSz="457200">
                <a:defRPr sz="220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x </a:t>
              </a:r>
              <a:r>
                <a:rPr sz="2900" b="1"/>
                <a:t>%&gt;%</a:t>
              </a:r>
              <a:r>
                <a:t> f(y) %&gt;% g(z)</a:t>
              </a:r>
            </a:p>
          </p:txBody>
        </p:sp>
        <p:sp>
          <p:nvSpPr>
            <p:cNvPr id="1066" name="# think from the inside out…"/>
            <p:cNvSpPr txBox="1"/>
            <p:nvPr/>
          </p:nvSpPr>
          <p:spPr>
            <a:xfrm>
              <a:off x="0" y="906928"/>
              <a:ext cx="6737082" cy="1170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457200">
                <a:defRPr sz="2200">
                  <a:solidFill>
                    <a:srgbClr val="99AF91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# think from the inside out</a:t>
              </a:r>
            </a:p>
            <a:p>
              <a:pPr defTabSz="457200">
                <a:defRPr sz="220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endParaRPr/>
            </a:p>
            <a:p>
              <a:pPr defTabSz="457200">
                <a:defRPr sz="220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g(f(x,y),z)</a:t>
              </a:r>
            </a:p>
          </p:txBody>
        </p:sp>
        <p:sp>
          <p:nvSpPr>
            <p:cNvPr id="1067" name="tidyverse"/>
            <p:cNvSpPr txBox="1"/>
            <p:nvPr/>
          </p:nvSpPr>
          <p:spPr>
            <a:xfrm>
              <a:off x="10359" y="2686118"/>
              <a:ext cx="1962037" cy="799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9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tidyverse</a:t>
              </a:r>
            </a:p>
          </p:txBody>
        </p:sp>
        <p:sp>
          <p:nvSpPr>
            <p:cNvPr id="1068" name="base R"/>
            <p:cNvSpPr txBox="1"/>
            <p:nvPr/>
          </p:nvSpPr>
          <p:spPr>
            <a:xfrm>
              <a:off x="36134" y="35680"/>
              <a:ext cx="1341583" cy="8267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9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base R</a:t>
              </a:r>
            </a:p>
          </p:txBody>
        </p:sp>
      </p:grpSp>
      <p:sp>
        <p:nvSpPr>
          <p:cNvPr id="1070" name="Circle"/>
          <p:cNvSpPr/>
          <p:nvPr/>
        </p:nvSpPr>
        <p:spPr>
          <a:xfrm>
            <a:off x="1425153" y="5780458"/>
            <a:ext cx="190501" cy="190501"/>
          </a:xfrm>
          <a:prstGeom prst="ellipse">
            <a:avLst/>
          </a:prstGeom>
          <a:solidFill>
            <a:srgbClr val="436C6E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081" name="Group"/>
          <p:cNvGrpSpPr/>
          <p:nvPr/>
        </p:nvGrpSpPr>
        <p:grpSpPr>
          <a:xfrm>
            <a:off x="8986140" y="7816026"/>
            <a:ext cx="5466461" cy="4248564"/>
            <a:chOff x="0" y="0"/>
            <a:chExt cx="5466460" cy="4248563"/>
          </a:xfrm>
        </p:grpSpPr>
        <p:sp>
          <p:nvSpPr>
            <p:cNvPr id="1071" name="Circle"/>
            <p:cNvSpPr/>
            <p:nvPr/>
          </p:nvSpPr>
          <p:spPr>
            <a:xfrm>
              <a:off x="99560" y="1483543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2" name="Circle"/>
            <p:cNvSpPr/>
            <p:nvPr/>
          </p:nvSpPr>
          <p:spPr>
            <a:xfrm>
              <a:off x="99560" y="2681211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3" name="Remember what tidyverse is made for!"/>
            <p:cNvSpPr txBox="1"/>
            <p:nvPr/>
          </p:nvSpPr>
          <p:spPr>
            <a:xfrm>
              <a:off x="615059" y="3699695"/>
              <a:ext cx="4851401" cy="5488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/>
                <a:t>Can be computationally slow</a:t>
              </a:r>
              <a:endParaRPr/>
            </a:p>
          </p:txBody>
        </p:sp>
        <p:sp>
          <p:nvSpPr>
            <p:cNvPr id="1074" name="Circle"/>
            <p:cNvSpPr/>
            <p:nvPr/>
          </p:nvSpPr>
          <p:spPr>
            <a:xfrm>
              <a:off x="99560" y="3878879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5" name="Can be less stable"/>
            <p:cNvSpPr txBox="1"/>
            <p:nvPr/>
          </p:nvSpPr>
          <p:spPr>
            <a:xfrm>
              <a:off x="615059" y="1305743"/>
              <a:ext cx="4851401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Can be less stable</a:t>
              </a:r>
            </a:p>
          </p:txBody>
        </p:sp>
        <p:sp>
          <p:nvSpPr>
            <p:cNvPr id="1076" name="Rounded Rectangle"/>
            <p:cNvSpPr/>
            <p:nvPr/>
          </p:nvSpPr>
          <p:spPr>
            <a:xfrm>
              <a:off x="0" y="0"/>
              <a:ext cx="4851400" cy="830522"/>
            </a:xfrm>
            <a:prstGeom prst="roundRect">
              <a:avLst>
                <a:gd name="adj" fmla="val 22937"/>
              </a:avLst>
            </a:prstGeom>
            <a:solidFill>
              <a:srgbClr val="93B08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77" name="Oval 115"/>
            <p:cNvSpPr/>
            <p:nvPr/>
          </p:nvSpPr>
          <p:spPr>
            <a:xfrm>
              <a:off x="123713" y="101175"/>
              <a:ext cx="635001" cy="63500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078" name="CONSIDERATIONSS"/>
            <p:cNvSpPr txBox="1"/>
            <p:nvPr/>
          </p:nvSpPr>
          <p:spPr>
            <a:xfrm>
              <a:off x="863300" y="135860"/>
              <a:ext cx="3897843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CONSIDERATIONS</a:t>
              </a:r>
            </a:p>
          </p:txBody>
        </p:sp>
        <p:sp>
          <p:nvSpPr>
            <p:cNvPr id="1079" name="?"/>
            <p:cNvSpPr txBox="1"/>
            <p:nvPr/>
          </p:nvSpPr>
          <p:spPr>
            <a:xfrm>
              <a:off x="278134" y="109370"/>
              <a:ext cx="349698" cy="611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 b="1">
                  <a:solidFill>
                    <a:srgbClr val="93B08E"/>
                  </a:solidFill>
                </a:defRPr>
              </a:lvl1pPr>
            </a:lstStyle>
            <a:p>
              <a:r>
                <a:t>?</a:t>
              </a:r>
            </a:p>
          </p:txBody>
        </p:sp>
        <p:sp>
          <p:nvSpPr>
            <p:cNvPr id="1080" name="“Different syntax”"/>
            <p:cNvSpPr txBox="1"/>
            <p:nvPr/>
          </p:nvSpPr>
          <p:spPr>
            <a:xfrm>
              <a:off x="615059" y="2490711"/>
              <a:ext cx="4851401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“Different syntax”</a:t>
              </a:r>
            </a:p>
          </p:txBody>
        </p:sp>
      </p:grpSp>
      <p:grpSp>
        <p:nvGrpSpPr>
          <p:cNvPr id="1094" name="Group"/>
          <p:cNvGrpSpPr/>
          <p:nvPr/>
        </p:nvGrpSpPr>
        <p:grpSpPr>
          <a:xfrm>
            <a:off x="1346670" y="7816026"/>
            <a:ext cx="6962882" cy="4247180"/>
            <a:chOff x="0" y="0"/>
            <a:chExt cx="6962880" cy="4247179"/>
          </a:xfrm>
        </p:grpSpPr>
        <p:sp>
          <p:nvSpPr>
            <p:cNvPr id="1082" name="Circle"/>
            <p:cNvSpPr/>
            <p:nvPr/>
          </p:nvSpPr>
          <p:spPr>
            <a:xfrm>
              <a:off x="78482" y="1483543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83" name="Circle"/>
            <p:cNvSpPr/>
            <p:nvPr/>
          </p:nvSpPr>
          <p:spPr>
            <a:xfrm>
              <a:off x="78482" y="3082002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84" name="Tidy datasets, easy to work with"/>
            <p:cNvSpPr txBox="1"/>
            <p:nvPr/>
          </p:nvSpPr>
          <p:spPr>
            <a:xfrm>
              <a:off x="583412" y="2102620"/>
              <a:ext cx="5477207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Tidy datasets, easy to work with</a:t>
              </a:r>
            </a:p>
          </p:txBody>
        </p:sp>
        <p:sp>
          <p:nvSpPr>
            <p:cNvPr id="1085" name="Short &amp; well-organised code"/>
            <p:cNvSpPr txBox="1"/>
            <p:nvPr/>
          </p:nvSpPr>
          <p:spPr>
            <a:xfrm>
              <a:off x="583728" y="1305743"/>
              <a:ext cx="4851401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Short &amp; well-organised code</a:t>
              </a:r>
            </a:p>
          </p:txBody>
        </p:sp>
        <p:sp>
          <p:nvSpPr>
            <p:cNvPr id="1086" name="Circle"/>
            <p:cNvSpPr/>
            <p:nvPr/>
          </p:nvSpPr>
          <p:spPr>
            <a:xfrm>
              <a:off x="78482" y="3878879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87" name="Functions with logical names &amp; inputs"/>
            <p:cNvSpPr txBox="1"/>
            <p:nvPr/>
          </p:nvSpPr>
          <p:spPr>
            <a:xfrm>
              <a:off x="581432" y="3701079"/>
              <a:ext cx="6381449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Functions with logical names &amp; inputs</a:t>
              </a:r>
            </a:p>
          </p:txBody>
        </p:sp>
        <p:sp>
          <p:nvSpPr>
            <p:cNvPr id="1088" name="Rounded Rectangle"/>
            <p:cNvSpPr/>
            <p:nvPr/>
          </p:nvSpPr>
          <p:spPr>
            <a:xfrm>
              <a:off x="0" y="0"/>
              <a:ext cx="2984454" cy="830522"/>
            </a:xfrm>
            <a:prstGeom prst="roundRect">
              <a:avLst>
                <a:gd name="adj" fmla="val 22937"/>
              </a:avLst>
            </a:prstGeom>
            <a:solidFill>
              <a:srgbClr val="93B08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089" name="Oval 115"/>
            <p:cNvSpPr/>
            <p:nvPr/>
          </p:nvSpPr>
          <p:spPr>
            <a:xfrm>
              <a:off x="116701" y="97761"/>
              <a:ext cx="635001" cy="63500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090" name="BENEFITS"/>
            <p:cNvSpPr txBox="1"/>
            <p:nvPr/>
          </p:nvSpPr>
          <p:spPr>
            <a:xfrm>
              <a:off x="818188" y="135860"/>
              <a:ext cx="1982772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3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BENEFITS</a:t>
              </a:r>
            </a:p>
          </p:txBody>
        </p:sp>
        <p:sp>
          <p:nvSpPr>
            <p:cNvPr id="1091" name="Shape"/>
            <p:cNvSpPr/>
            <p:nvPr/>
          </p:nvSpPr>
          <p:spPr>
            <a:xfrm>
              <a:off x="237952" y="206850"/>
              <a:ext cx="366719" cy="361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61" extrusionOk="0">
                  <a:moveTo>
                    <a:pt x="15674" y="7583"/>
                  </a:moveTo>
                  <a:cubicBezTo>
                    <a:pt x="15674" y="7162"/>
                    <a:pt x="20658" y="3422"/>
                    <a:pt x="17668" y="103"/>
                  </a:cubicBezTo>
                  <a:cubicBezTo>
                    <a:pt x="17169" y="-739"/>
                    <a:pt x="14732" y="3843"/>
                    <a:pt x="11298" y="5526"/>
                  </a:cubicBezTo>
                  <a:cubicBezTo>
                    <a:pt x="9360" y="6742"/>
                    <a:pt x="5428" y="8799"/>
                    <a:pt x="5428" y="10061"/>
                  </a:cubicBezTo>
                  <a:cubicBezTo>
                    <a:pt x="5428" y="17962"/>
                    <a:pt x="5428" y="17962"/>
                    <a:pt x="5428" y="17962"/>
                  </a:cubicBezTo>
                  <a:cubicBezTo>
                    <a:pt x="5428" y="19599"/>
                    <a:pt x="11797" y="20861"/>
                    <a:pt x="17169" y="20861"/>
                  </a:cubicBezTo>
                  <a:cubicBezTo>
                    <a:pt x="19108" y="20861"/>
                    <a:pt x="21600" y="10903"/>
                    <a:pt x="21600" y="9640"/>
                  </a:cubicBezTo>
                  <a:cubicBezTo>
                    <a:pt x="21600" y="8004"/>
                    <a:pt x="16172" y="8004"/>
                    <a:pt x="15674" y="7583"/>
                  </a:cubicBezTo>
                  <a:close/>
                  <a:moveTo>
                    <a:pt x="3932" y="7583"/>
                  </a:moveTo>
                  <a:cubicBezTo>
                    <a:pt x="2991" y="7583"/>
                    <a:pt x="0" y="8004"/>
                    <a:pt x="0" y="11277"/>
                  </a:cubicBezTo>
                  <a:cubicBezTo>
                    <a:pt x="0" y="16653"/>
                    <a:pt x="0" y="16653"/>
                    <a:pt x="0" y="16653"/>
                  </a:cubicBezTo>
                  <a:cubicBezTo>
                    <a:pt x="0" y="20019"/>
                    <a:pt x="2991" y="20440"/>
                    <a:pt x="3932" y="20440"/>
                  </a:cubicBezTo>
                  <a:cubicBezTo>
                    <a:pt x="4929" y="20440"/>
                    <a:pt x="2437" y="19599"/>
                    <a:pt x="2437" y="17962"/>
                  </a:cubicBezTo>
                  <a:cubicBezTo>
                    <a:pt x="2437" y="10482"/>
                    <a:pt x="2437" y="10482"/>
                    <a:pt x="2437" y="10482"/>
                  </a:cubicBezTo>
                  <a:cubicBezTo>
                    <a:pt x="2437" y="8425"/>
                    <a:pt x="4929" y="7583"/>
                    <a:pt x="3932" y="7583"/>
                  </a:cubicBezTo>
                  <a:close/>
                </a:path>
              </a:pathLst>
            </a:custGeom>
            <a:solidFill>
              <a:srgbClr val="93B08E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092" name="Circle"/>
            <p:cNvSpPr/>
            <p:nvPr/>
          </p:nvSpPr>
          <p:spPr>
            <a:xfrm>
              <a:off x="78482" y="2280420"/>
              <a:ext cx="190501" cy="190501"/>
            </a:xfrm>
            <a:prstGeom prst="ellipse">
              <a:avLst/>
            </a:pr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93" name="Great documentation"/>
            <p:cNvSpPr txBox="1"/>
            <p:nvPr/>
          </p:nvSpPr>
          <p:spPr>
            <a:xfrm>
              <a:off x="583412" y="2899497"/>
              <a:ext cx="5477207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Great documentation</a:t>
              </a:r>
            </a:p>
          </p:txBody>
        </p:sp>
      </p:grpSp>
      <p:sp>
        <p:nvSpPr>
          <p:cNvPr id="1095" name="pipe symbol"/>
          <p:cNvSpPr txBox="1"/>
          <p:nvPr/>
        </p:nvSpPr>
        <p:spPr>
          <a:xfrm>
            <a:off x="18908132" y="10910919"/>
            <a:ext cx="2076451" cy="50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2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pipe symbol</a:t>
            </a:r>
          </a:p>
        </p:txBody>
      </p:sp>
      <p:grpSp>
        <p:nvGrpSpPr>
          <p:cNvPr id="1098" name="Group"/>
          <p:cNvGrpSpPr/>
          <p:nvPr/>
        </p:nvGrpSpPr>
        <p:grpSpPr>
          <a:xfrm rot="10800000" flipH="1">
            <a:off x="16980676" y="10805014"/>
            <a:ext cx="1667833" cy="717807"/>
            <a:chOff x="0" y="0"/>
            <a:chExt cx="1667832" cy="717806"/>
          </a:xfrm>
        </p:grpSpPr>
        <p:sp>
          <p:nvSpPr>
            <p:cNvPr id="1102" name="Connection Line"/>
            <p:cNvSpPr/>
            <p:nvPr/>
          </p:nvSpPr>
          <p:spPr>
            <a:xfrm>
              <a:off x="36741" y="-1"/>
              <a:ext cx="1631092" cy="689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588" extrusionOk="0">
                  <a:moveTo>
                    <a:pt x="0" y="16588"/>
                  </a:moveTo>
                  <a:cubicBezTo>
                    <a:pt x="5369" y="-2145"/>
                    <a:pt x="12569" y="-5012"/>
                    <a:pt x="21600" y="7988"/>
                  </a:cubicBezTo>
                </a:path>
              </a:pathLst>
            </a:custGeom>
            <a:noFill/>
            <a:ln w="25400" cap="flat">
              <a:solidFill>
                <a:srgbClr val="2E5378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103" name="Connection Line"/>
            <p:cNvSpPr/>
            <p:nvPr/>
          </p:nvSpPr>
          <p:spPr>
            <a:xfrm>
              <a:off x="0" y="453610"/>
              <a:ext cx="224332" cy="264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93" h="16373" extrusionOk="0">
                  <a:moveTo>
                    <a:pt x="18193" y="6043"/>
                  </a:moveTo>
                  <a:cubicBezTo>
                    <a:pt x="1965" y="21600"/>
                    <a:pt x="-3407" y="19586"/>
                    <a:pt x="2078" y="0"/>
                  </a:cubicBezTo>
                </a:path>
              </a:pathLst>
            </a:custGeom>
            <a:noFill/>
            <a:ln w="25400" cap="flat">
              <a:solidFill>
                <a:srgbClr val="2E5378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</p:grpSp>
      <p:sp>
        <p:nvSpPr>
          <p:cNvPr id="1099" name="base R"/>
          <p:cNvSpPr txBox="1"/>
          <p:nvPr/>
        </p:nvSpPr>
        <p:spPr>
          <a:xfrm rot="660000">
            <a:off x="9603383" y="6011103"/>
            <a:ext cx="152671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b="1">
                <a:solidFill>
                  <a:srgbClr val="EBEBEB"/>
                </a:solidFill>
              </a:rPr>
              <a:t>base R</a:t>
            </a:r>
            <a:r>
              <a:rPr b="1">
                <a:solidFill>
                  <a:srgbClr val="D6D6D6"/>
                </a:solidFill>
              </a:rPr>
              <a:t> </a:t>
            </a:r>
            <a:r>
              <a:t> </a:t>
            </a:r>
          </a:p>
        </p:txBody>
      </p:sp>
      <p:sp>
        <p:nvSpPr>
          <p:cNvPr id="1100" name="tidyverse"/>
          <p:cNvSpPr txBox="1"/>
          <p:nvPr/>
        </p:nvSpPr>
        <p:spPr>
          <a:xfrm rot="660000">
            <a:off x="9736909" y="5131596"/>
            <a:ext cx="1936379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b="1">
                <a:solidFill>
                  <a:srgbClr val="EBEBEB"/>
                </a:solidFill>
              </a:rPr>
              <a:t>tidyverse</a:t>
            </a:r>
            <a:r>
              <a:rPr b="1">
                <a:solidFill>
                  <a:srgbClr val="D6D6D6"/>
                </a:solidFill>
              </a:rPr>
              <a:t> </a:t>
            </a:r>
            <a:r>
              <a:t> </a:t>
            </a:r>
          </a:p>
        </p:txBody>
      </p:sp>
      <p:sp>
        <p:nvSpPr>
          <p:cNvPr id="1101" name="19"/>
          <p:cNvSpPr txBox="1"/>
          <p:nvPr/>
        </p:nvSpPr>
        <p:spPr>
          <a:xfrm>
            <a:off x="374649" y="13090488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1</a:t>
            </a:r>
            <a:r>
              <a:rPr lang="da-DK"/>
              <a:t>8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942B-8408-B5DF-8F3B-A3B40337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">
            <a:extLst>
              <a:ext uri="{FF2B5EF4-FFF2-40B4-BE49-F238E27FC236}">
                <a16:creationId xmlns:a16="http://schemas.microsoft.com/office/drawing/2014/main" id="{BE529169-C837-3DB8-6474-3920AB06D16B}"/>
              </a:ext>
            </a:extLst>
          </p:cNvPr>
          <p:cNvSpPr/>
          <p:nvPr/>
        </p:nvSpPr>
        <p:spPr>
          <a:xfrm>
            <a:off x="-146892" y="-27802"/>
            <a:ext cx="24665084" cy="4522483"/>
          </a:xfrm>
          <a:prstGeom prst="rect">
            <a:avLst/>
          </a:prstGeom>
          <a:solidFill>
            <a:srgbClr val="557D9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93" name="Group">
            <a:extLst>
              <a:ext uri="{FF2B5EF4-FFF2-40B4-BE49-F238E27FC236}">
                <a16:creationId xmlns:a16="http://schemas.microsoft.com/office/drawing/2014/main" id="{218E8404-FDDF-12EF-929C-53739F28470E}"/>
              </a:ext>
            </a:extLst>
          </p:cNvPr>
          <p:cNvGrpSpPr/>
          <p:nvPr/>
        </p:nvGrpSpPr>
        <p:grpSpPr>
          <a:xfrm>
            <a:off x="5060496" y="1305047"/>
            <a:ext cx="15752538" cy="3781611"/>
            <a:chOff x="-1203197" y="171936"/>
            <a:chExt cx="15752537" cy="3781609"/>
          </a:xfrm>
        </p:grpSpPr>
        <p:sp>
          <p:nvSpPr>
            <p:cNvPr id="390" name="LET’S GET STARTED">
              <a:extLst>
                <a:ext uri="{FF2B5EF4-FFF2-40B4-BE49-F238E27FC236}">
                  <a16:creationId xmlns:a16="http://schemas.microsoft.com/office/drawing/2014/main" id="{AC958502-3A72-7590-A472-5A8AFF0001EA}"/>
                </a:ext>
              </a:extLst>
            </p:cNvPr>
            <p:cNvSpPr txBox="1"/>
            <p:nvPr/>
          </p:nvSpPr>
          <p:spPr>
            <a:xfrm>
              <a:off x="-1203197" y="894542"/>
              <a:ext cx="15752537" cy="305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8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>
                <a:defRPr sz="9000"/>
              </a:pPr>
              <a:r>
                <a:rPr lang="da-DK" sz="8000"/>
                <a:t>LIVE CODING 2 – TIDYVERSE</a:t>
              </a:r>
              <a:endParaRPr sz="8000"/>
            </a:p>
          </p:txBody>
        </p:sp>
        <p:sp>
          <p:nvSpPr>
            <p:cNvPr id="391" name="FROM EXCEL TO R">
              <a:extLst>
                <a:ext uri="{FF2B5EF4-FFF2-40B4-BE49-F238E27FC236}">
                  <a16:creationId xmlns:a16="http://schemas.microsoft.com/office/drawing/2014/main" id="{63BF1A95-24DE-9EE0-0547-61297BEEA9DE}"/>
                </a:ext>
              </a:extLst>
            </p:cNvPr>
            <p:cNvSpPr txBox="1"/>
            <p:nvPr/>
          </p:nvSpPr>
          <p:spPr>
            <a:xfrm>
              <a:off x="512702" y="171936"/>
              <a:ext cx="7185392" cy="675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392" name="Line">
              <a:extLst>
                <a:ext uri="{FF2B5EF4-FFF2-40B4-BE49-F238E27FC236}">
                  <a16:creationId xmlns:a16="http://schemas.microsoft.com/office/drawing/2014/main" id="{6AE10BF9-66AF-9EFD-D984-41C386606432}"/>
                </a:ext>
              </a:extLst>
            </p:cNvPr>
            <p:cNvSpPr/>
            <p:nvPr/>
          </p:nvSpPr>
          <p:spPr>
            <a:xfrm>
              <a:off x="-1203197" y="456064"/>
              <a:ext cx="1440000" cy="0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5" name="Grafik 4" descr="Programmør med massiv udfyldning">
            <a:extLst>
              <a:ext uri="{FF2B5EF4-FFF2-40B4-BE49-F238E27FC236}">
                <a16:creationId xmlns:a16="http://schemas.microsoft.com/office/drawing/2014/main" id="{825167BC-85C3-9F41-302F-DD900BD17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8159" y="4542095"/>
            <a:ext cx="8794981" cy="87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822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Rectangle"/>
          <p:cNvSpPr/>
          <p:nvPr/>
        </p:nvSpPr>
        <p:spPr>
          <a:xfrm>
            <a:off x="808676" y="10499744"/>
            <a:ext cx="13255192" cy="628875"/>
          </a:xfrm>
          <a:prstGeom prst="rect">
            <a:avLst/>
          </a:prstGeom>
          <a:solidFill>
            <a:srgbClr val="819E80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08" name="Rectangle"/>
          <p:cNvSpPr/>
          <p:nvPr/>
        </p:nvSpPr>
        <p:spPr>
          <a:xfrm>
            <a:off x="14495534" y="3861169"/>
            <a:ext cx="9583497" cy="628875"/>
          </a:xfrm>
          <a:prstGeom prst="rect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09" name="Rectangle"/>
          <p:cNvSpPr/>
          <p:nvPr/>
        </p:nvSpPr>
        <p:spPr>
          <a:xfrm>
            <a:off x="8172207" y="3848244"/>
            <a:ext cx="5891661" cy="628876"/>
          </a:xfrm>
          <a:prstGeom prst="rect">
            <a:avLst/>
          </a:prstGeom>
          <a:solidFill>
            <a:srgbClr val="880C0A">
              <a:alpha val="6583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10" name="Rectangle"/>
          <p:cNvSpPr/>
          <p:nvPr/>
        </p:nvSpPr>
        <p:spPr>
          <a:xfrm>
            <a:off x="823832" y="3848244"/>
            <a:ext cx="6916709" cy="628876"/>
          </a:xfrm>
          <a:prstGeom prst="rect">
            <a:avLst/>
          </a:prstGeom>
          <a:solidFill>
            <a:srgbClr val="F3C290">
              <a:alpha val="95258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11" name="Группа 36"/>
          <p:cNvSpPr/>
          <p:nvPr/>
        </p:nvSpPr>
        <p:spPr>
          <a:xfrm>
            <a:off x="14485057" y="4638163"/>
            <a:ext cx="9583497" cy="8742959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112" name="Группа 36"/>
          <p:cNvSpPr/>
          <p:nvPr/>
        </p:nvSpPr>
        <p:spPr>
          <a:xfrm>
            <a:off x="8179492" y="4638163"/>
            <a:ext cx="5884377" cy="5689956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113" name="Группа 36"/>
          <p:cNvSpPr/>
          <p:nvPr/>
        </p:nvSpPr>
        <p:spPr>
          <a:xfrm>
            <a:off x="808676" y="11287637"/>
            <a:ext cx="13255190" cy="2107546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114" name="Группа 36"/>
          <p:cNvSpPr/>
          <p:nvPr/>
        </p:nvSpPr>
        <p:spPr>
          <a:xfrm>
            <a:off x="841595" y="4631501"/>
            <a:ext cx="6916709" cy="5689955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b"/>
          <a:lstStyle/>
          <a:p>
            <a:pPr defTabSz="914400">
              <a:spcBef>
                <a:spcPts val="2400"/>
              </a:spcBef>
              <a:defRPr sz="1000">
                <a:solidFill>
                  <a:srgbClr val="242524">
                    <a:alpha val="70000"/>
                  </a:srgbClr>
                </a:solidFill>
              </a:defRPr>
            </a:pPr>
            <a:endParaRPr/>
          </a:p>
        </p:txBody>
      </p:sp>
      <p:sp>
        <p:nvSpPr>
          <p:cNvPr id="1115" name="Rectangle"/>
          <p:cNvSpPr/>
          <p:nvPr/>
        </p:nvSpPr>
        <p:spPr>
          <a:xfrm>
            <a:off x="-98444" y="-170460"/>
            <a:ext cx="24568188" cy="3565093"/>
          </a:xfrm>
          <a:prstGeom prst="rect">
            <a:avLst/>
          </a:prstGeom>
          <a:solidFill>
            <a:srgbClr val="E7B07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119" name="Group"/>
          <p:cNvGrpSpPr/>
          <p:nvPr/>
        </p:nvGrpSpPr>
        <p:grpSpPr>
          <a:xfrm>
            <a:off x="7422408" y="589429"/>
            <a:ext cx="9509496" cy="2991860"/>
            <a:chOff x="-618160" y="0"/>
            <a:chExt cx="9509495" cy="2991859"/>
          </a:xfrm>
        </p:grpSpPr>
        <p:sp>
          <p:nvSpPr>
            <p:cNvPr id="1116" name="TIDYVERSE CHEAT SHEET…"/>
            <p:cNvSpPr txBox="1"/>
            <p:nvPr/>
          </p:nvSpPr>
          <p:spPr>
            <a:xfrm>
              <a:off x="-618160" y="695635"/>
              <a:ext cx="9509495" cy="2296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TIDYVERSE CHEAT SHEET</a:t>
              </a:r>
            </a:p>
            <a:p>
              <a:pPr algn="ctr">
                <a:defRPr sz="2200">
                  <a:solidFill>
                    <a:srgbClr val="FFFFFF"/>
                  </a:solidFill>
                  <a:latin typeface="Roboto-Medium"/>
                  <a:ea typeface="Roboto-Medium"/>
                  <a:cs typeface="Roboto-Medium"/>
                  <a:sym typeface="Roboto-Medium"/>
                </a:defRPr>
              </a:pPr>
              <a:endParaRPr lang="da-DK"/>
            </a:p>
            <a:p>
              <a:pPr algn="ctr">
                <a:defRPr sz="2900" i="1">
                  <a:solidFill>
                    <a:srgbClr val="FFFFFF"/>
                  </a:solidFill>
                  <a:latin typeface="Roboto-Medium"/>
                  <a:ea typeface="Roboto-Medium"/>
                  <a:cs typeface="Roboto-Medium"/>
                  <a:sym typeface="Roboto-Medium"/>
                </a:defRPr>
              </a:pPr>
              <a:r>
                <a:t>readr, tidyr, dplyr, …</a:t>
              </a:r>
            </a:p>
          </p:txBody>
        </p:sp>
        <p:sp>
          <p:nvSpPr>
            <p:cNvPr id="1117" name="https://www.tidyverse.org/"/>
            <p:cNvSpPr txBox="1"/>
            <p:nvPr/>
          </p:nvSpPr>
          <p:spPr>
            <a:xfrm>
              <a:off x="1761366" y="0"/>
              <a:ext cx="6375877" cy="584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https://www.tidyverse.org/</a:t>
              </a:r>
            </a:p>
          </p:txBody>
        </p:sp>
        <p:sp>
          <p:nvSpPr>
            <p:cNvPr id="1118" name="Line"/>
            <p:cNvSpPr/>
            <p:nvPr/>
          </p:nvSpPr>
          <p:spPr>
            <a:xfrm>
              <a:off x="97444" y="190749"/>
              <a:ext cx="1440000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120" name="Read Data (readr)"/>
          <p:cNvSpPr txBox="1"/>
          <p:nvPr/>
        </p:nvSpPr>
        <p:spPr>
          <a:xfrm>
            <a:off x="909380" y="3892919"/>
            <a:ext cx="678114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Read Data (</a:t>
            </a:r>
            <a:r>
              <a:rPr i="1" err="1"/>
              <a:t>readr</a:t>
            </a:r>
            <a:r>
              <a:t>) </a:t>
            </a:r>
          </a:p>
        </p:txBody>
      </p:sp>
      <p:sp>
        <p:nvSpPr>
          <p:cNvPr id="1121" name="Data Tidying (tidyr)"/>
          <p:cNvSpPr txBox="1"/>
          <p:nvPr/>
        </p:nvSpPr>
        <p:spPr>
          <a:xfrm>
            <a:off x="8500422" y="3873869"/>
            <a:ext cx="4806759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Workflow</a:t>
            </a:r>
            <a:endParaRPr/>
          </a:p>
        </p:txBody>
      </p:sp>
      <p:sp>
        <p:nvSpPr>
          <p:cNvPr id="1122" name="Data Manipulation (dplyr)"/>
          <p:cNvSpPr txBox="1"/>
          <p:nvPr/>
        </p:nvSpPr>
        <p:spPr>
          <a:xfrm>
            <a:off x="14330216" y="3861169"/>
            <a:ext cx="941430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Data Manipulation (</a:t>
            </a:r>
            <a:r>
              <a:rPr i="1" err="1"/>
              <a:t>dplyr</a:t>
            </a:r>
            <a:r>
              <a:t>)</a:t>
            </a:r>
          </a:p>
        </p:txBody>
      </p:sp>
      <p:sp>
        <p:nvSpPr>
          <p:cNvPr id="1123" name="R Documentation (e.g. enter ?dplyr::filter and see examples)…"/>
          <p:cNvSpPr txBox="1"/>
          <p:nvPr/>
        </p:nvSpPr>
        <p:spPr>
          <a:xfrm>
            <a:off x="1039181" y="11567037"/>
            <a:ext cx="13297673" cy="1528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30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 Documentation (e.g. enter </a:t>
            </a:r>
            <a:r>
              <a:rPr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?</a:t>
            </a:r>
            <a:r>
              <a:rPr b="1" err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dplyr</a:t>
            </a:r>
            <a:r>
              <a:rPr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::filter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t>and see examples)</a:t>
            </a:r>
          </a:p>
          <a:p>
            <a:pPr>
              <a:defRPr sz="230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Much more info and detailed cheat sheets:</a:t>
            </a:r>
            <a:endParaRPr lang="da-DK"/>
          </a:p>
          <a:p>
            <a:pPr lvl="1">
              <a:defRPr sz="2300">
                <a:solidFill>
                  <a:srgbClr val="98AE9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 u="sng">
                <a:hlinkClick r:id="rId3"/>
              </a:rPr>
              <a:t>https://brianward1428.medium.com/introduction-to-tidyverse-7b3dbf2337d5</a:t>
            </a:r>
          </a:p>
          <a:p>
            <a:pPr>
              <a:defRPr sz="230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It also helps to google “</a:t>
            </a:r>
            <a:r>
              <a:rPr i="1" err="1"/>
              <a:t>tidyverse</a:t>
            </a:r>
            <a:r>
              <a:rPr i="1"/>
              <a:t> + </a:t>
            </a:r>
            <a:r>
              <a:rPr i="1" err="1"/>
              <a:t>whatever_you_want_to_do</a:t>
            </a:r>
            <a:r>
              <a:rPr i="1"/>
              <a:t>”</a:t>
            </a:r>
          </a:p>
        </p:txBody>
      </p:sp>
      <p:sp>
        <p:nvSpPr>
          <p:cNvPr id="1124" name="Reading tabular data…"/>
          <p:cNvSpPr txBox="1"/>
          <p:nvPr/>
        </p:nvSpPr>
        <p:spPr>
          <a:xfrm>
            <a:off x="1044964" y="4699638"/>
            <a:ext cx="6524307" cy="5689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/>
          <a:lstStyle/>
          <a:p>
            <a:pPr defTabSz="457200">
              <a:def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Reading tabular data</a:t>
            </a:r>
          </a:p>
          <a:p>
            <a:pPr defTabSz="457200">
              <a:defRPr sz="230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There are solutions for multiple data types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read_excel</a:t>
            </a:r>
            <a:r>
              <a:t>() </a:t>
            </a:r>
            <a:r>
              <a:rPr sz="2300">
                <a:solidFill>
                  <a:srgbClr val="99AF91"/>
                </a:solidFill>
                <a:latin typeface="Helvetica"/>
                <a:ea typeface="Helvetica"/>
                <a:cs typeface="Helvetica"/>
                <a:sym typeface="Helvetica"/>
              </a:rPr>
              <a:t># </a:t>
            </a:r>
            <a:r>
              <a:rPr sz="2300">
                <a:solidFill>
                  <a:srgbClr val="99AF91"/>
                </a:solidFill>
                <a:latin typeface="Roboto-Medium"/>
                <a:ea typeface="Roboto-Medium"/>
                <a:cs typeface="Roboto-Medium"/>
                <a:sym typeface="Roboto-Medium"/>
              </a:rPr>
              <a:t>using </a:t>
            </a:r>
            <a:r>
              <a:rPr sz="2300" i="1" err="1">
                <a:solidFill>
                  <a:srgbClr val="99AF91"/>
                </a:solidFill>
                <a:latin typeface="Roboto-Medium"/>
                <a:ea typeface="Roboto-Medium"/>
                <a:cs typeface="Roboto-Medium"/>
                <a:sym typeface="Roboto-Medium"/>
              </a:rPr>
              <a:t>readxl</a:t>
            </a:r>
            <a:r>
              <a:rPr sz="2300">
                <a:solidFill>
                  <a:srgbClr val="99AF91"/>
                </a:solidFill>
                <a:latin typeface="Roboto-Medium"/>
                <a:ea typeface="Roboto-Medium"/>
                <a:cs typeface="Roboto-Medium"/>
                <a:sym typeface="Roboto-Medium"/>
              </a:rPr>
              <a:t> package</a:t>
            </a:r>
            <a:endParaRPr sz="2300">
              <a:latin typeface="Roboto-Medium"/>
              <a:ea typeface="Roboto-Medium"/>
              <a:cs typeface="Roboto-Medium"/>
              <a:sym typeface="Roboto-Medium"/>
            </a:endParaRP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read_table</a:t>
            </a:r>
            <a:r>
              <a:t>()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read_csv</a:t>
            </a:r>
            <a:r>
              <a:t>()</a:t>
            </a:r>
          </a:p>
          <a:p>
            <a:pPr defTabSz="457200">
              <a:defRPr sz="2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Useful arguments</a:t>
            </a:r>
          </a:p>
          <a:p>
            <a:pPr defTabSz="457200">
              <a:defRPr sz="24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300" b="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rPr>
              <a:t>Skip lines:</a:t>
            </a:r>
            <a:r>
              <a:rPr sz="230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0" err="1"/>
              <a:t>read_csv</a:t>
            </a:r>
            <a:r>
              <a:rPr b="0"/>
              <a:t>(file, skip=1)</a:t>
            </a:r>
          </a:p>
          <a:p>
            <a:pPr defTabSz="457200">
              <a:defRPr sz="24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300" b="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rPr>
              <a:t>Read subset: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0" err="1"/>
              <a:t>read_csv</a:t>
            </a:r>
            <a:r>
              <a:rPr b="0"/>
              <a:t>(file, </a:t>
            </a:r>
            <a:r>
              <a:rPr b="0" err="1"/>
              <a:t>n_max</a:t>
            </a:r>
            <a:r>
              <a:rPr b="0"/>
              <a:t>=1)</a:t>
            </a:r>
          </a:p>
          <a:p>
            <a:pPr defTabSz="457200">
              <a:defRPr sz="2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b="0"/>
          </a:p>
          <a:p>
            <a:pPr defTabSz="457200">
              <a:def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Data types</a:t>
            </a:r>
          </a:p>
          <a:p>
            <a:pPr defTabSz="457200">
              <a:defRPr sz="230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err="1"/>
              <a:t>readr</a:t>
            </a:r>
            <a:r>
              <a:t> guesses the types of each column and tells you about it </a:t>
            </a:r>
            <a:endParaRPr>
              <a:latin typeface="Roboto-Medium"/>
              <a:ea typeface="Roboto-Medium"/>
              <a:cs typeface="Roboto-Medium"/>
              <a:sym typeface="Roboto-Medium"/>
            </a:endParaRP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797979"/>
                </a:solidFill>
              </a:rPr>
              <a:t>(“</a:t>
            </a:r>
            <a:r>
              <a:t>Parsed with column specifications: …</a:t>
            </a:r>
            <a:r>
              <a:rPr>
                <a:solidFill>
                  <a:srgbClr val="797979"/>
                </a:solidFill>
              </a:rPr>
              <a:t>”)</a:t>
            </a:r>
          </a:p>
        </p:txBody>
      </p:sp>
      <p:sp>
        <p:nvSpPr>
          <p:cNvPr id="1125" name="Handle missing values…"/>
          <p:cNvSpPr txBox="1"/>
          <p:nvPr/>
        </p:nvSpPr>
        <p:spPr>
          <a:xfrm>
            <a:off x="8368526" y="4686670"/>
            <a:ext cx="5968328" cy="5404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/>
          <a:lstStyle/>
          <a:p>
            <a:pPr defTabSz="457200">
              <a:def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Tidyverse workflow</a:t>
            </a:r>
            <a:endParaRPr/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df %&gt;%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	select(col1) 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da-DK"/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df %&gt;%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	filter(col1 &lt; x)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da-DK"/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df %&gt;%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	summarize(n_1 = n(),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					avg_1 = mean(co1),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					sd_1 = sd(col1))</a:t>
            </a:r>
            <a:endParaRPr/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defTabSz="457200">
              <a:def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Select column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df$col1</a:t>
            </a:r>
            <a:endParaRPr lang="da-DK" sz="2300">
              <a:solidFill>
                <a:srgbClr val="99AF91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126" name="Summary…"/>
          <p:cNvSpPr txBox="1"/>
          <p:nvPr/>
        </p:nvSpPr>
        <p:spPr>
          <a:xfrm>
            <a:off x="14674090" y="4737654"/>
            <a:ext cx="10565850" cy="8260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/>
          <a:lstStyle/>
          <a:p>
            <a:pPr defTabSz="457200">
              <a:def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/>
              <a:t>Summary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/>
              <a:t>summarize()</a:t>
            </a:r>
            <a:endParaRPr sz="2400">
              <a:latin typeface="Roboto-Medium"/>
              <a:ea typeface="Roboto-Medium"/>
              <a:cs typeface="Roboto-Medium"/>
              <a:sym typeface="Roboto-Medium"/>
            </a:endParaRP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/>
              <a:t>count()</a:t>
            </a:r>
          </a:p>
          <a:p>
            <a:pPr defTabSz="457200">
              <a:defRPr sz="24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/>
          </a:p>
          <a:p>
            <a:pPr defTabSz="457200">
              <a:defRPr sz="2400" b="1">
                <a:solidFill>
                  <a:srgbClr val="374556"/>
                </a:solidFill>
                <a:latin typeface="Roboto-Medium"/>
                <a:ea typeface="Roboto-Medium"/>
                <a:cs typeface="Roboto-Medium"/>
                <a:sym typeface="Roboto-Medium"/>
              </a:defRPr>
            </a:pPr>
            <a:r>
              <a:rPr sz="2400"/>
              <a:t>Group </a:t>
            </a:r>
          </a:p>
          <a:p>
            <a:pPr defTabSz="457200"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err="1"/>
              <a:t>group_by</a:t>
            </a:r>
            <a:r>
              <a:rPr sz="2400"/>
              <a:t>()</a:t>
            </a:r>
          </a:p>
          <a:p>
            <a:pPr defTabSz="457200">
              <a:defRPr sz="2300"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/>
              <a:t>Functions will manipulate each group separately and combine results.</a:t>
            </a:r>
          </a:p>
          <a:p>
            <a:pPr defTabSz="457200">
              <a:defRPr sz="24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2400"/>
          </a:p>
          <a:p>
            <a:pPr defTabSz="457200">
              <a:defRPr sz="2200">
                <a:solidFill>
                  <a:srgbClr val="000000"/>
                </a:solidFill>
                <a:latin typeface="Roboto-Medium"/>
                <a:ea typeface="Roboto-Medium"/>
                <a:cs typeface="Roboto-Medium"/>
                <a:sym typeface="Roboto-Medium"/>
              </a:defRPr>
            </a:pPr>
            <a:r>
              <a:rPr sz="2400" b="1">
                <a:solidFill>
                  <a:srgbClr val="374556"/>
                </a:solidFill>
              </a:rPr>
              <a:t>Extract and sort observations</a:t>
            </a:r>
            <a:r>
              <a:rPr lang="da-DK" sz="2400" b="1">
                <a:solidFill>
                  <a:srgbClr val="374556"/>
                </a:solidFill>
              </a:rPr>
              <a:t> (rows)</a:t>
            </a:r>
            <a:endParaRPr sz="2400">
              <a:solidFill>
                <a:srgbClr val="98AE91"/>
              </a:solidFill>
            </a:endParaRPr>
          </a:p>
          <a:p>
            <a:pPr defTabSz="457200">
              <a:defRPr sz="2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>
                <a:latin typeface="Courier"/>
                <a:ea typeface="Courier"/>
                <a:cs typeface="Courier"/>
                <a:sym typeface="Courier"/>
              </a:rPr>
              <a:t>filter() </a:t>
            </a:r>
            <a:r>
              <a:rPr sz="2300">
                <a:solidFill>
                  <a:srgbClr val="99AF91"/>
                </a:solidFill>
              </a:rPr>
              <a:t># subset</a:t>
            </a:r>
            <a:r>
              <a:rPr lang="da-DK" sz="2300">
                <a:solidFill>
                  <a:srgbClr val="99AF91"/>
                </a:solidFill>
              </a:rPr>
              <a:t> rows</a:t>
            </a:r>
            <a:r>
              <a:rPr sz="2300">
                <a:solidFill>
                  <a:srgbClr val="99AF91"/>
                </a:solidFill>
              </a:rPr>
              <a:t> by condition</a:t>
            </a:r>
          </a:p>
          <a:p>
            <a:pPr defTabSz="457200">
              <a:defRPr sz="2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>
                <a:latin typeface="Courier"/>
                <a:ea typeface="Courier"/>
                <a:cs typeface="Courier"/>
                <a:sym typeface="Courier"/>
              </a:rPr>
              <a:t>distinct()</a:t>
            </a:r>
            <a:r>
              <a:rPr sz="2400"/>
              <a:t> </a:t>
            </a:r>
            <a:r>
              <a:rPr sz="2300">
                <a:solidFill>
                  <a:srgbClr val="99AF92"/>
                </a:solidFill>
              </a:rPr>
              <a:t># subset to unique values</a:t>
            </a:r>
          </a:p>
          <a:p>
            <a:pPr defTabSz="457200">
              <a:defRPr sz="2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err="1">
                <a:latin typeface="Courier"/>
                <a:ea typeface="Courier"/>
                <a:cs typeface="Courier"/>
                <a:sym typeface="Courier"/>
              </a:rPr>
              <a:t>top_n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() </a:t>
            </a:r>
            <a:r>
              <a:rPr sz="2300">
                <a:solidFill>
                  <a:srgbClr val="98AE91"/>
                </a:solidFill>
              </a:rPr>
              <a:t># subset by position</a:t>
            </a:r>
          </a:p>
          <a:p>
            <a:pPr defTabSz="457200">
              <a:defRPr sz="2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>
                <a:latin typeface="Courier"/>
                <a:ea typeface="Courier"/>
                <a:cs typeface="Courier"/>
                <a:sym typeface="Courier"/>
              </a:rPr>
              <a:t>arrange()</a:t>
            </a:r>
            <a:r>
              <a:rPr sz="2400"/>
              <a:t> </a:t>
            </a:r>
            <a:r>
              <a:rPr sz="2300">
                <a:solidFill>
                  <a:srgbClr val="98AE91"/>
                </a:solidFill>
              </a:rPr>
              <a:t># sort low-&gt;high, other way with desc()</a:t>
            </a:r>
          </a:p>
          <a:p>
            <a:pPr defTabSz="457200">
              <a:defRPr sz="2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>
              <a:latin typeface="Roboto-Medium"/>
              <a:ea typeface="Roboto-Medium"/>
              <a:cs typeface="Roboto-Medium"/>
              <a:sym typeface="Roboto-Medium"/>
            </a:endParaRPr>
          </a:p>
          <a:p>
            <a:pPr defTabSz="457200">
              <a:defRPr sz="2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rPr>
              <a:t>Manipulate variables</a:t>
            </a:r>
            <a:r>
              <a:rPr lang="da-DK" sz="24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rPr>
              <a:t> (columns)</a:t>
            </a:r>
            <a:endParaRPr sz="2400">
              <a:latin typeface="Roboto-Medium"/>
              <a:ea typeface="Roboto-Medium"/>
              <a:cs typeface="Roboto-Medium"/>
              <a:sym typeface="Roboto-Medium"/>
            </a:endParaRPr>
          </a:p>
          <a:p>
            <a:pPr defTabSz="457200">
              <a:defRPr sz="23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 sz="2400">
                <a:latin typeface="Courier"/>
                <a:ea typeface="Courier"/>
                <a:cs typeface="Courier"/>
                <a:sym typeface="Courier"/>
              </a:rPr>
              <a:t>select() </a:t>
            </a:r>
            <a:r>
              <a:rPr lang="da-DK" sz="2300">
                <a:solidFill>
                  <a:srgbClr val="99AF91"/>
                </a:solidFill>
              </a:rPr>
              <a:t># subset rows by condition</a:t>
            </a:r>
          </a:p>
          <a:p>
            <a:pPr defTabSz="457200">
              <a:defRPr sz="2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b="0"/>
              <a:t>mutate(</a:t>
            </a:r>
            <a:r>
              <a:rPr sz="2400" b="0" err="1"/>
              <a:t>new_name</a:t>
            </a:r>
            <a:r>
              <a:rPr sz="2400" b="0"/>
              <a:t> = f(column))</a:t>
            </a:r>
          </a:p>
          <a:p>
            <a:pPr defTabSz="457200">
              <a:defRPr sz="2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 sz="2400" b="0"/>
              <a:t>mutate(new_name = ifelse(col1 &lt; x, ”Yes”, ”No”))</a:t>
            </a:r>
          </a:p>
          <a:p>
            <a:pPr defTabSz="457200">
              <a:defRPr sz="2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 sz="2400" b="0"/>
              <a:t>mutate(new_name = col1 + col2)</a:t>
            </a:r>
          </a:p>
        </p:txBody>
      </p:sp>
      <p:sp>
        <p:nvSpPr>
          <p:cNvPr id="1127" name="HELP"/>
          <p:cNvSpPr txBox="1"/>
          <p:nvPr/>
        </p:nvSpPr>
        <p:spPr>
          <a:xfrm>
            <a:off x="5989106" y="10541131"/>
            <a:ext cx="243213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29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HELP</a:t>
            </a:r>
          </a:p>
        </p:txBody>
      </p:sp>
      <p:sp>
        <p:nvSpPr>
          <p:cNvPr id="1128" name="20"/>
          <p:cNvSpPr txBox="1"/>
          <p:nvPr/>
        </p:nvSpPr>
        <p:spPr>
          <a:xfrm>
            <a:off x="244021" y="12900478"/>
            <a:ext cx="665164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20</a:t>
            </a:r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6">
            <a:extLst>
              <a:ext uri="{FF2B5EF4-FFF2-40B4-BE49-F238E27FC236}">
                <a16:creationId xmlns:a16="http://schemas.microsoft.com/office/drawing/2014/main" id="{74B08E92-E4B1-9D7B-3BA4-FFAA1319E571}"/>
              </a:ext>
            </a:extLst>
          </p:cNvPr>
          <p:cNvSpPr/>
          <p:nvPr/>
        </p:nvSpPr>
        <p:spPr>
          <a:xfrm>
            <a:off x="5179926" y="3403113"/>
            <a:ext cx="2138563" cy="2493034"/>
          </a:xfrm>
          <a:custGeom>
            <a:avLst/>
            <a:gdLst>
              <a:gd name="csX0" fmla="*/ 21600 w 21600"/>
              <a:gd name="csY0" fmla="*/ 0 h 21600"/>
              <a:gd name="csX1" fmla="*/ 10307 w 21600"/>
              <a:gd name="csY1" fmla="*/ 9701 h 21600"/>
              <a:gd name="csX2" fmla="*/ 2722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0307 w 21600"/>
              <a:gd name="csY1" fmla="*/ 9701 h 21600"/>
              <a:gd name="csX2" fmla="*/ 7514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7514 w 21600"/>
              <a:gd name="csY3" fmla="*/ 21600 h 21600"/>
              <a:gd name="csX4" fmla="*/ 0 w 21600"/>
              <a:gd name="csY4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4962 w 21600"/>
              <a:gd name="csY3" fmla="*/ 21600 h 21600"/>
              <a:gd name="csX4" fmla="*/ 0 w 21600"/>
              <a:gd name="csY4" fmla="*/ 21600 h 21600"/>
              <a:gd name="csX0" fmla="*/ 26339 w 26339"/>
              <a:gd name="csY0" fmla="*/ 0 h 22365"/>
              <a:gd name="csX1" fmla="*/ 15756 w 26339"/>
              <a:gd name="csY1" fmla="*/ 6103 h 22365"/>
              <a:gd name="csX2" fmla="*/ 10307 w 26339"/>
              <a:gd name="csY2" fmla="*/ 10466 h 22365"/>
              <a:gd name="csX3" fmla="*/ 4962 w 26339"/>
              <a:gd name="csY3" fmla="*/ 22365 h 22365"/>
              <a:gd name="csX4" fmla="*/ 0 w 26339"/>
              <a:gd name="csY4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5792 w 25792"/>
              <a:gd name="csY0" fmla="*/ 0 h 21982"/>
              <a:gd name="csX1" fmla="*/ 10307 w 25792"/>
              <a:gd name="csY1" fmla="*/ 10083 h 21982"/>
              <a:gd name="csX2" fmla="*/ 4962 w 25792"/>
              <a:gd name="csY2" fmla="*/ 21982 h 21982"/>
              <a:gd name="csX3" fmla="*/ 0 w 25792"/>
              <a:gd name="csY3" fmla="*/ 21982 h 21982"/>
              <a:gd name="csX0" fmla="*/ 24004 w 24004"/>
              <a:gd name="csY0" fmla="*/ 0 h 16063"/>
              <a:gd name="csX1" fmla="*/ 10307 w 24004"/>
              <a:gd name="csY1" fmla="*/ 4164 h 16063"/>
              <a:gd name="csX2" fmla="*/ 4962 w 24004"/>
              <a:gd name="csY2" fmla="*/ 16063 h 16063"/>
              <a:gd name="csX3" fmla="*/ 0 w 24004"/>
              <a:gd name="csY3" fmla="*/ 16063 h 16063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740" h="17730" extrusionOk="0">
                <a:moveTo>
                  <a:pt x="21740" y="0"/>
                </a:moveTo>
                <a:cubicBezTo>
                  <a:pt x="11452" y="5325"/>
                  <a:pt x="20684" y="495"/>
                  <a:pt x="10307" y="5831"/>
                </a:cubicBezTo>
                <a:lnTo>
                  <a:pt x="4962" y="17730"/>
                </a:lnTo>
                <a:lnTo>
                  <a:pt x="0" y="17730"/>
                </a:lnTo>
              </a:path>
            </a:pathLst>
          </a:cu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130" name="Rectangle"/>
          <p:cNvSpPr/>
          <p:nvPr/>
        </p:nvSpPr>
        <p:spPr>
          <a:xfrm>
            <a:off x="17503754" y="-34288"/>
            <a:ext cx="6940820" cy="13830860"/>
          </a:xfrm>
          <a:prstGeom prst="rect">
            <a:avLst/>
          </a:prstGeom>
          <a:solidFill>
            <a:srgbClr val="557D9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134" name="Group"/>
          <p:cNvGrpSpPr/>
          <p:nvPr/>
        </p:nvGrpSpPr>
        <p:grpSpPr>
          <a:xfrm>
            <a:off x="18325766" y="6146204"/>
            <a:ext cx="5330386" cy="2042092"/>
            <a:chOff x="0" y="0"/>
            <a:chExt cx="5330385" cy="2042090"/>
          </a:xfrm>
        </p:grpSpPr>
        <p:sp>
          <p:nvSpPr>
            <p:cNvPr id="1131" name="EXERCISE 2"/>
            <p:cNvSpPr txBox="1"/>
            <p:nvPr/>
          </p:nvSpPr>
          <p:spPr>
            <a:xfrm>
              <a:off x="0" y="493933"/>
              <a:ext cx="5330386" cy="1548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EXERCISE </a:t>
              </a:r>
              <a:r>
                <a:rPr b="1"/>
                <a:t>2</a:t>
              </a:r>
            </a:p>
          </p:txBody>
        </p:sp>
        <p:sp>
          <p:nvSpPr>
            <p:cNvPr id="1132" name="TIDYVERSE"/>
            <p:cNvSpPr txBox="1"/>
            <p:nvPr/>
          </p:nvSpPr>
          <p:spPr>
            <a:xfrm>
              <a:off x="1271711" y="0"/>
              <a:ext cx="3636519" cy="3757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TIDYVERSE</a:t>
              </a:r>
            </a:p>
          </p:txBody>
        </p:sp>
        <p:sp>
          <p:nvSpPr>
            <p:cNvPr id="1133" name="Line"/>
            <p:cNvSpPr/>
            <p:nvPr/>
          </p:nvSpPr>
          <p:spPr>
            <a:xfrm>
              <a:off x="809193" y="175104"/>
              <a:ext cx="95822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189" name="Group"/>
          <p:cNvGrpSpPr/>
          <p:nvPr/>
        </p:nvGrpSpPr>
        <p:grpSpPr>
          <a:xfrm>
            <a:off x="1346026" y="3357111"/>
            <a:ext cx="13194022" cy="7531380"/>
            <a:chOff x="0" y="12699"/>
            <a:chExt cx="13194020" cy="7531378"/>
          </a:xfrm>
        </p:grpSpPr>
        <p:grpSp>
          <p:nvGrpSpPr>
            <p:cNvPr id="1142" name="Group"/>
            <p:cNvGrpSpPr/>
            <p:nvPr/>
          </p:nvGrpSpPr>
          <p:grpSpPr>
            <a:xfrm>
              <a:off x="11308544" y="3536729"/>
              <a:ext cx="1582137" cy="2504376"/>
              <a:chOff x="0" y="149924"/>
              <a:chExt cx="1582135" cy="2504375"/>
            </a:xfrm>
          </p:grpSpPr>
          <p:sp>
            <p:nvSpPr>
              <p:cNvPr id="1135" name="Tidyverse:…"/>
              <p:cNvSpPr/>
              <p:nvPr/>
            </p:nvSpPr>
            <p:spPr>
              <a:xfrm>
                <a:off x="312135" y="138430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9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err="1"/>
                  <a:t>Tidyverse</a:t>
                </a:r>
                <a:r>
                  <a:t>: </a:t>
                </a:r>
              </a:p>
              <a:p>
                <a:pPr lvl="1">
                  <a:defRPr sz="29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t>Filtering</a:t>
                </a:r>
              </a:p>
              <a:p>
                <a:pPr lvl="1">
                  <a:defRPr sz="29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t>Selecting</a:t>
                </a:r>
              </a:p>
              <a:p>
                <a:pPr lvl="1">
                  <a:defRPr sz="29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t>Mutating</a:t>
                </a:r>
              </a:p>
              <a:p>
                <a:pPr lvl="1">
                  <a:defRPr sz="29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t>Arranging </a:t>
                </a:r>
              </a:p>
              <a:p>
                <a:pPr lvl="1">
                  <a:defRPr sz="29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t>Summarizing</a:t>
                </a:r>
              </a:p>
            </p:txBody>
          </p:sp>
          <p:sp>
            <p:nvSpPr>
              <p:cNvPr id="1136" name="Oval 23"/>
              <p:cNvSpPr/>
              <p:nvPr/>
            </p:nvSpPr>
            <p:spPr>
              <a:xfrm>
                <a:off x="0" y="149924"/>
                <a:ext cx="155496" cy="155494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37" name="Oval 23"/>
              <p:cNvSpPr/>
              <p:nvPr/>
            </p:nvSpPr>
            <p:spPr>
              <a:xfrm>
                <a:off x="944748" y="678721"/>
                <a:ext cx="155497" cy="155494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38" name="Oval 23"/>
              <p:cNvSpPr/>
              <p:nvPr/>
            </p:nvSpPr>
            <p:spPr>
              <a:xfrm>
                <a:off x="944748" y="1103435"/>
                <a:ext cx="155497" cy="155494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39" name="Oval 23"/>
              <p:cNvSpPr/>
              <p:nvPr/>
            </p:nvSpPr>
            <p:spPr>
              <a:xfrm>
                <a:off x="944748" y="1528150"/>
                <a:ext cx="155497" cy="155494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0" name="Oval 23"/>
              <p:cNvSpPr/>
              <p:nvPr/>
            </p:nvSpPr>
            <p:spPr>
              <a:xfrm>
                <a:off x="944748" y="1952864"/>
                <a:ext cx="155497" cy="155494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1" name="Oval 23"/>
              <p:cNvSpPr/>
              <p:nvPr/>
            </p:nvSpPr>
            <p:spPr>
              <a:xfrm>
                <a:off x="944748" y="2377579"/>
                <a:ext cx="155497" cy="155494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</p:grpSp>
        <p:grpSp>
          <p:nvGrpSpPr>
            <p:cNvPr id="1178" name="Group"/>
            <p:cNvGrpSpPr/>
            <p:nvPr/>
          </p:nvGrpSpPr>
          <p:grpSpPr>
            <a:xfrm>
              <a:off x="2700815" y="12699"/>
              <a:ext cx="10493205" cy="7531378"/>
              <a:chOff x="0" y="12699"/>
              <a:chExt cx="10493204" cy="7531377"/>
            </a:xfrm>
          </p:grpSpPr>
          <p:sp>
            <p:nvSpPr>
              <p:cNvPr id="1143" name="Line 18"/>
              <p:cNvSpPr/>
              <p:nvPr/>
            </p:nvSpPr>
            <p:spPr>
              <a:xfrm>
                <a:off x="576575" y="3773856"/>
                <a:ext cx="3743717" cy="1"/>
              </a:xfrm>
              <a:prstGeom prst="lin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4" name="Oval 9"/>
              <p:cNvSpPr/>
              <p:nvPr/>
            </p:nvSpPr>
            <p:spPr>
              <a:xfrm>
                <a:off x="4552661" y="3109328"/>
                <a:ext cx="1331012" cy="1331012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5" name="Oval 14"/>
              <p:cNvSpPr/>
              <p:nvPr/>
            </p:nvSpPr>
            <p:spPr>
              <a:xfrm>
                <a:off x="4384575" y="2939286"/>
                <a:ext cx="1667186" cy="1669141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6" name="Oval 27"/>
              <p:cNvSpPr/>
              <p:nvPr/>
            </p:nvSpPr>
            <p:spPr>
              <a:xfrm>
                <a:off x="408488" y="3695676"/>
                <a:ext cx="158316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7" name="Oval 28"/>
              <p:cNvSpPr/>
              <p:nvPr/>
            </p:nvSpPr>
            <p:spPr>
              <a:xfrm>
                <a:off x="1862970" y="3701289"/>
                <a:ext cx="160270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8" name="Oval 29"/>
              <p:cNvSpPr/>
              <p:nvPr/>
            </p:nvSpPr>
            <p:spPr>
              <a:xfrm>
                <a:off x="4304440" y="3695676"/>
                <a:ext cx="158316" cy="158316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49" name="Oval 10"/>
              <p:cNvSpPr/>
              <p:nvPr/>
            </p:nvSpPr>
            <p:spPr>
              <a:xfrm>
                <a:off x="4432794" y="6039115"/>
                <a:ext cx="1331012" cy="1336875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0" name="Oval 15"/>
              <p:cNvSpPr/>
              <p:nvPr/>
            </p:nvSpPr>
            <p:spPr>
              <a:xfrm>
                <a:off x="4264707" y="5871028"/>
                <a:ext cx="1667185" cy="1673048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1" name="Freeform 20"/>
              <p:cNvSpPr/>
              <p:nvPr/>
            </p:nvSpPr>
            <p:spPr>
              <a:xfrm>
                <a:off x="914703" y="4829283"/>
                <a:ext cx="3350005" cy="1876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6944" y="0"/>
                    </a:lnTo>
                    <a:lnTo>
                      <a:pt x="18752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2" name="Oval 33"/>
              <p:cNvSpPr/>
              <p:nvPr/>
            </p:nvSpPr>
            <p:spPr>
              <a:xfrm>
                <a:off x="744661" y="4749148"/>
                <a:ext cx="160271" cy="160271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3" name="Oval 34"/>
              <p:cNvSpPr/>
              <p:nvPr/>
            </p:nvSpPr>
            <p:spPr>
              <a:xfrm>
                <a:off x="3031420" y="5898391"/>
                <a:ext cx="160271" cy="160271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4" name="Oval 35"/>
              <p:cNvSpPr/>
              <p:nvPr/>
            </p:nvSpPr>
            <p:spPr>
              <a:xfrm>
                <a:off x="4184571" y="6625463"/>
                <a:ext cx="158316" cy="164178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5" name="Oval 8"/>
              <p:cNvSpPr/>
              <p:nvPr/>
            </p:nvSpPr>
            <p:spPr>
              <a:xfrm>
                <a:off x="6686325" y="4735468"/>
                <a:ext cx="1331013" cy="1332968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6" name="Oval 13"/>
              <p:cNvSpPr/>
              <p:nvPr/>
            </p:nvSpPr>
            <p:spPr>
              <a:xfrm>
                <a:off x="6518240" y="4567381"/>
                <a:ext cx="1667185" cy="1669141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7" name="Freeform 19"/>
              <p:cNvSpPr/>
              <p:nvPr/>
            </p:nvSpPr>
            <p:spPr>
              <a:xfrm>
                <a:off x="238448" y="4305479"/>
                <a:ext cx="6279794" cy="10964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1173" y="0"/>
                    </a:lnTo>
                    <a:lnTo>
                      <a:pt x="1565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8" name="Oval 30"/>
              <p:cNvSpPr/>
              <p:nvPr/>
            </p:nvSpPr>
            <p:spPr>
              <a:xfrm>
                <a:off x="70361" y="4219481"/>
                <a:ext cx="160271" cy="164179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59" name="Oval 31"/>
              <p:cNvSpPr/>
              <p:nvPr/>
            </p:nvSpPr>
            <p:spPr>
              <a:xfrm>
                <a:off x="3410275" y="4225345"/>
                <a:ext cx="160270" cy="164178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0" name="Oval 32"/>
              <p:cNvSpPr/>
              <p:nvPr/>
            </p:nvSpPr>
            <p:spPr>
              <a:xfrm>
                <a:off x="6432242" y="5321816"/>
                <a:ext cx="164178" cy="160271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1" name="Freeform 17"/>
              <p:cNvSpPr/>
              <p:nvPr/>
            </p:nvSpPr>
            <p:spPr>
              <a:xfrm>
                <a:off x="168086" y="2398083"/>
                <a:ext cx="8608192" cy="851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9453" y="0"/>
                    </a:lnTo>
                    <a:lnTo>
                      <a:pt x="7234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2" name="Oval 7"/>
              <p:cNvSpPr/>
              <p:nvPr/>
            </p:nvSpPr>
            <p:spPr>
              <a:xfrm>
                <a:off x="8994105" y="1723474"/>
                <a:ext cx="1331012" cy="1331012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3" name="Oval 12"/>
              <p:cNvSpPr/>
              <p:nvPr/>
            </p:nvSpPr>
            <p:spPr>
              <a:xfrm>
                <a:off x="8826018" y="1554409"/>
                <a:ext cx="1667186" cy="1669141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4" name="Oval 24"/>
              <p:cNvSpPr/>
              <p:nvPr/>
            </p:nvSpPr>
            <p:spPr>
              <a:xfrm>
                <a:off x="0" y="3166007"/>
                <a:ext cx="160270" cy="164179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5" name="Oval 25"/>
              <p:cNvSpPr/>
              <p:nvPr/>
            </p:nvSpPr>
            <p:spPr>
              <a:xfrm>
                <a:off x="2995853" y="3153281"/>
                <a:ext cx="160271" cy="158316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6" name="Oval 26"/>
              <p:cNvSpPr/>
              <p:nvPr/>
            </p:nvSpPr>
            <p:spPr>
              <a:xfrm>
                <a:off x="8742674" y="2309822"/>
                <a:ext cx="164179" cy="158316"/>
              </a:xfrm>
              <a:prstGeom prst="ellipse">
                <a:avLst/>
              </a:prstGeom>
              <a:solidFill>
                <a:srgbClr val="557D9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7" name="Oval 6"/>
              <p:cNvSpPr/>
              <p:nvPr/>
            </p:nvSpPr>
            <p:spPr>
              <a:xfrm>
                <a:off x="7150492" y="180786"/>
                <a:ext cx="1331013" cy="1332965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8" name="Oval 11"/>
              <p:cNvSpPr/>
              <p:nvPr/>
            </p:nvSpPr>
            <p:spPr>
              <a:xfrm>
                <a:off x="6982407" y="12699"/>
                <a:ext cx="1667185" cy="1669139"/>
              </a:xfrm>
              <a:prstGeom prst="ellipse">
                <a:avLst/>
              </a:pr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69" name="Freeform 16"/>
              <p:cNvSpPr/>
              <p:nvPr/>
            </p:nvSpPr>
            <p:spPr>
              <a:xfrm>
                <a:off x="787660" y="844067"/>
                <a:ext cx="6169222" cy="1876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178" y="0"/>
                    </a:lnTo>
                    <a:lnTo>
                      <a:pt x="2722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4288" cap="rnd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70" name="Freeform 21"/>
              <p:cNvSpPr/>
              <p:nvPr/>
            </p:nvSpPr>
            <p:spPr>
              <a:xfrm>
                <a:off x="615724" y="2641660"/>
                <a:ext cx="160151" cy="157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29" h="18125" extrusionOk="0">
                    <a:moveTo>
                      <a:pt x="11906" y="17702"/>
                    </a:moveTo>
                    <a:cubicBezTo>
                      <a:pt x="4706" y="19862"/>
                      <a:pt x="-1386" y="13382"/>
                      <a:pt x="276" y="6362"/>
                    </a:cubicBezTo>
                    <a:cubicBezTo>
                      <a:pt x="1383" y="3662"/>
                      <a:pt x="3599" y="962"/>
                      <a:pt x="6922" y="422"/>
                    </a:cubicBezTo>
                    <a:cubicBezTo>
                      <a:pt x="14122" y="-1738"/>
                      <a:pt x="20214" y="4742"/>
                      <a:pt x="18552" y="11762"/>
                    </a:cubicBezTo>
                    <a:cubicBezTo>
                      <a:pt x="17445" y="14462"/>
                      <a:pt x="15229" y="17162"/>
                      <a:pt x="11906" y="17702"/>
                    </a:cubicBezTo>
                    <a:close/>
                  </a:path>
                </a:pathLst>
              </a:custGeom>
              <a:solidFill>
                <a:srgbClr val="436C6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71" name="Freeform 22"/>
              <p:cNvSpPr/>
              <p:nvPr/>
            </p:nvSpPr>
            <p:spPr>
              <a:xfrm>
                <a:off x="6899062" y="766867"/>
                <a:ext cx="157445" cy="1608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125" h="18511" extrusionOk="0">
                    <a:moveTo>
                      <a:pt x="11762" y="18242"/>
                    </a:moveTo>
                    <a:cubicBezTo>
                      <a:pt x="4742" y="19862"/>
                      <a:pt x="-1738" y="13922"/>
                      <a:pt x="422" y="6902"/>
                    </a:cubicBezTo>
                    <a:cubicBezTo>
                      <a:pt x="962" y="3662"/>
                      <a:pt x="3662" y="962"/>
                      <a:pt x="6362" y="422"/>
                    </a:cubicBezTo>
                    <a:cubicBezTo>
                      <a:pt x="13382" y="-1738"/>
                      <a:pt x="19862" y="4742"/>
                      <a:pt x="17702" y="11762"/>
                    </a:cubicBezTo>
                    <a:cubicBezTo>
                      <a:pt x="17162" y="15002"/>
                      <a:pt x="14462" y="17162"/>
                      <a:pt x="11762" y="18242"/>
                    </a:cubicBezTo>
                    <a:close/>
                  </a:path>
                </a:pathLst>
              </a:cu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  <p:sp>
            <p:nvSpPr>
              <p:cNvPr id="1172" name="1"/>
              <p:cNvSpPr txBox="1"/>
              <p:nvPr/>
            </p:nvSpPr>
            <p:spPr>
              <a:xfrm>
                <a:off x="7532118" y="237551"/>
                <a:ext cx="567761" cy="12657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1173" name="2"/>
              <p:cNvSpPr txBox="1"/>
              <p:nvPr/>
            </p:nvSpPr>
            <p:spPr>
              <a:xfrm>
                <a:off x="9388430" y="1783912"/>
                <a:ext cx="567762" cy="12967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1174" name="3"/>
              <p:cNvSpPr txBox="1"/>
              <p:nvPr/>
            </p:nvSpPr>
            <p:spPr>
              <a:xfrm>
                <a:off x="4934286" y="3217347"/>
                <a:ext cx="567762" cy="12967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1175" name="4"/>
              <p:cNvSpPr txBox="1"/>
              <p:nvPr/>
            </p:nvSpPr>
            <p:spPr>
              <a:xfrm>
                <a:off x="7048192" y="4829502"/>
                <a:ext cx="567761" cy="13310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1176" name="5"/>
              <p:cNvSpPr txBox="1"/>
              <p:nvPr/>
            </p:nvSpPr>
            <p:spPr>
              <a:xfrm>
                <a:off x="4802935" y="6157051"/>
                <a:ext cx="567761" cy="12967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7000" b="1">
                    <a:solidFill>
                      <a:srgbClr val="EBEBEB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5</a:t>
                </a:r>
              </a:p>
            </p:txBody>
          </p:sp>
          <p:sp>
            <p:nvSpPr>
              <p:cNvPr id="1177" name="Oval 23"/>
              <p:cNvSpPr/>
              <p:nvPr/>
            </p:nvSpPr>
            <p:spPr>
              <a:xfrm>
                <a:off x="5286115" y="767134"/>
                <a:ext cx="160271" cy="160269"/>
              </a:xfrm>
              <a:prstGeom prst="ellipse">
                <a:avLst/>
              </a:prstGeom>
              <a:solidFill>
                <a:srgbClr val="AFAFAF">
                  <a:alpha val="79983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</a:defRPr>
                </a:pPr>
                <a:endParaRPr/>
              </a:p>
            </p:txBody>
          </p:sp>
        </p:grpSp>
        <p:grpSp>
          <p:nvGrpSpPr>
            <p:cNvPr id="1188" name="Group"/>
            <p:cNvGrpSpPr/>
            <p:nvPr/>
          </p:nvGrpSpPr>
          <p:grpSpPr>
            <a:xfrm>
              <a:off x="0" y="2478492"/>
              <a:ext cx="4393053" cy="2587092"/>
              <a:chOff x="0" y="0"/>
              <a:chExt cx="4393052" cy="2587090"/>
            </a:xfrm>
          </p:grpSpPr>
          <p:sp>
            <p:nvSpPr>
              <p:cNvPr id="1179" name="Freeform 395"/>
              <p:cNvSpPr/>
              <p:nvPr/>
            </p:nvSpPr>
            <p:spPr>
              <a:xfrm>
                <a:off x="402774" y="0"/>
                <a:ext cx="3585943" cy="2510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4" y="21600"/>
                    </a:moveTo>
                    <a:cubicBezTo>
                      <a:pt x="316" y="21600"/>
                      <a:pt x="316" y="21600"/>
                      <a:pt x="316" y="21600"/>
                    </a:cubicBezTo>
                    <a:cubicBezTo>
                      <a:pt x="158" y="21600"/>
                      <a:pt x="0" y="21402"/>
                      <a:pt x="0" y="21137"/>
                    </a:cubicBezTo>
                    <a:cubicBezTo>
                      <a:pt x="0" y="1025"/>
                      <a:pt x="0" y="1025"/>
                      <a:pt x="0" y="1025"/>
                    </a:cubicBezTo>
                    <a:cubicBezTo>
                      <a:pt x="0" y="463"/>
                      <a:pt x="316" y="0"/>
                      <a:pt x="699" y="0"/>
                    </a:cubicBezTo>
                    <a:cubicBezTo>
                      <a:pt x="20901" y="0"/>
                      <a:pt x="20901" y="0"/>
                      <a:pt x="20901" y="0"/>
                    </a:cubicBezTo>
                    <a:cubicBezTo>
                      <a:pt x="21284" y="0"/>
                      <a:pt x="21600" y="463"/>
                      <a:pt x="21600" y="1025"/>
                    </a:cubicBezTo>
                    <a:cubicBezTo>
                      <a:pt x="21600" y="21137"/>
                      <a:pt x="21600" y="21137"/>
                      <a:pt x="21600" y="21137"/>
                    </a:cubicBezTo>
                    <a:cubicBezTo>
                      <a:pt x="21600" y="21402"/>
                      <a:pt x="21442" y="21600"/>
                      <a:pt x="21284" y="21600"/>
                    </a:cubicBezTo>
                    <a:close/>
                  </a:path>
                </a:pathLst>
              </a:cu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1180" name="Freeform 396"/>
              <p:cNvSpPr/>
              <p:nvPr/>
            </p:nvSpPr>
            <p:spPr>
              <a:xfrm>
                <a:off x="402774" y="2402869"/>
                <a:ext cx="3585943" cy="107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10800"/>
                      <a:pt x="0" y="10800"/>
                      <a:pt x="0" y="10800"/>
                    </a:cubicBezTo>
                    <a:cubicBezTo>
                      <a:pt x="0" y="16971"/>
                      <a:pt x="158" y="21600"/>
                      <a:pt x="316" y="21600"/>
                    </a:cubicBezTo>
                    <a:cubicBezTo>
                      <a:pt x="21284" y="21600"/>
                      <a:pt x="21284" y="21600"/>
                      <a:pt x="21284" y="21600"/>
                    </a:cubicBezTo>
                    <a:cubicBezTo>
                      <a:pt x="21442" y="21600"/>
                      <a:pt x="21600" y="16971"/>
                      <a:pt x="21600" y="10800"/>
                    </a:cubicBezTo>
                    <a:cubicBezTo>
                      <a:pt x="21600" y="0"/>
                      <a:pt x="21600" y="0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536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1181" name="Rectangle 397"/>
              <p:cNvSpPr/>
              <p:nvPr/>
            </p:nvSpPr>
            <p:spPr>
              <a:xfrm>
                <a:off x="546399" y="177812"/>
                <a:ext cx="3300254" cy="212413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1182" name="Freeform 398"/>
              <p:cNvSpPr/>
              <p:nvPr/>
            </p:nvSpPr>
            <p:spPr>
              <a:xfrm>
                <a:off x="0" y="2521411"/>
                <a:ext cx="4393053" cy="656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0"/>
                      <a:pt x="405" y="21600"/>
                      <a:pt x="2741" y="21600"/>
                    </a:cubicBezTo>
                    <a:cubicBezTo>
                      <a:pt x="5096" y="21600"/>
                      <a:pt x="16504" y="21600"/>
                      <a:pt x="18840" y="21600"/>
                    </a:cubicBezTo>
                    <a:cubicBezTo>
                      <a:pt x="21195" y="21600"/>
                      <a:pt x="21600" y="0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1183" name="Rectangle 399"/>
              <p:cNvSpPr/>
              <p:nvPr/>
            </p:nvSpPr>
            <p:spPr>
              <a:xfrm>
                <a:off x="0" y="2494178"/>
                <a:ext cx="4393053" cy="27234"/>
              </a:xfrm>
              <a:prstGeom prst="rect">
                <a:avLst/>
              </a:prstGeom>
              <a:solidFill>
                <a:srgbClr val="576D8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1184" name="Oval"/>
              <p:cNvSpPr/>
              <p:nvPr/>
            </p:nvSpPr>
            <p:spPr>
              <a:xfrm>
                <a:off x="1094086" y="812619"/>
                <a:ext cx="785398" cy="780611"/>
              </a:xfrm>
              <a:prstGeom prst="ellipse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>
                <a:outerShdw blurRad="101600" dist="76200" dir="5400000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185" name="Oval"/>
              <p:cNvSpPr/>
              <p:nvPr/>
            </p:nvSpPr>
            <p:spPr>
              <a:xfrm>
                <a:off x="1238205" y="848178"/>
                <a:ext cx="497161" cy="292106"/>
              </a:xfrm>
              <a:prstGeom prst="ellipse">
                <a:avLst/>
              </a:prstGeom>
              <a:solidFill>
                <a:srgbClr val="FFFFFF">
                  <a:alpha val="26000"/>
                </a:srgbClr>
              </a:solidFill>
              <a:ln w="12700" cap="flat">
                <a:noFill/>
                <a:miter lim="400000"/>
              </a:ln>
              <a:effectLst>
                <a:reflection stA="50000" endPos="40000" dir="5400000" sy="-100000" algn="bl" rotWithShape="0"/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186" name="R"/>
              <p:cNvSpPr txBox="1"/>
              <p:nvPr/>
            </p:nvSpPr>
            <p:spPr>
              <a:xfrm>
                <a:off x="1266045" y="777324"/>
                <a:ext cx="493840" cy="7464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4400">
                    <a:solidFill>
                      <a:srgbClr val="EBEBEB"/>
                    </a:solidFill>
                    <a:latin typeface="Source Sans Pro Regular"/>
                    <a:ea typeface="Source Sans Pro Regular"/>
                    <a:cs typeface="Source Sans Pro Regular"/>
                    <a:sym typeface="Source Sans Pro Regular"/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187" name="Studio"/>
              <p:cNvSpPr txBox="1"/>
              <p:nvPr/>
            </p:nvSpPr>
            <p:spPr>
              <a:xfrm>
                <a:off x="1898247" y="848178"/>
                <a:ext cx="1219284" cy="7319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3000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Studio</a:t>
                </a:r>
              </a:p>
            </p:txBody>
          </p:sp>
        </p:grpSp>
      </p:grpSp>
      <p:sp>
        <p:nvSpPr>
          <p:cNvPr id="1190" name="21"/>
          <p:cNvSpPr txBox="1"/>
          <p:nvPr/>
        </p:nvSpPr>
        <p:spPr>
          <a:xfrm>
            <a:off x="309335" y="12867821"/>
            <a:ext cx="665164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21</a:t>
            </a:r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55881D0D-70C3-4FB1-6B68-1A253DFDBE15}"/>
              </a:ext>
            </a:extLst>
          </p:cNvPr>
          <p:cNvSpPr/>
          <p:nvPr/>
        </p:nvSpPr>
        <p:spPr>
          <a:xfrm>
            <a:off x="7307120" y="2237011"/>
            <a:ext cx="1331013" cy="1331012"/>
          </a:xfrm>
          <a:prstGeom prst="ellipse">
            <a:avLst/>
          </a:prstGeom>
          <a:solidFill>
            <a:srgbClr val="C0C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311815A4-B110-4EE9-8968-7F3DB00F6E10}"/>
              </a:ext>
            </a:extLst>
          </p:cNvPr>
          <p:cNvSpPr/>
          <p:nvPr/>
        </p:nvSpPr>
        <p:spPr>
          <a:xfrm>
            <a:off x="7139031" y="2068923"/>
            <a:ext cx="1667187" cy="1669141"/>
          </a:xfrm>
          <a:prstGeom prst="ellipse">
            <a:avLst/>
          </a:pr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6CC0A959-1D57-3425-EAEA-F8CDBE925748}"/>
              </a:ext>
            </a:extLst>
          </p:cNvPr>
          <p:cNvSpPr txBox="1"/>
          <p:nvPr/>
        </p:nvSpPr>
        <p:spPr>
          <a:xfrm>
            <a:off x="7682422" y="2334537"/>
            <a:ext cx="674777" cy="1265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0</a:t>
            </a:r>
            <a:endParaRPr/>
          </a:p>
        </p:txBody>
      </p:sp>
      <p:sp>
        <p:nvSpPr>
          <p:cNvPr id="10" name="Oval 25">
            <a:extLst>
              <a:ext uri="{FF2B5EF4-FFF2-40B4-BE49-F238E27FC236}">
                <a16:creationId xmlns:a16="http://schemas.microsoft.com/office/drawing/2014/main" id="{E1CE6115-848F-AF1F-3303-53338D2AD917}"/>
              </a:ext>
            </a:extLst>
          </p:cNvPr>
          <p:cNvSpPr/>
          <p:nvPr/>
        </p:nvSpPr>
        <p:spPr>
          <a:xfrm>
            <a:off x="6121816" y="415765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1" name="Oval 25">
            <a:extLst>
              <a:ext uri="{FF2B5EF4-FFF2-40B4-BE49-F238E27FC236}">
                <a16:creationId xmlns:a16="http://schemas.microsoft.com/office/drawing/2014/main" id="{EE5D63AE-F011-E195-33A6-5F7C6A37E530}"/>
              </a:ext>
            </a:extLst>
          </p:cNvPr>
          <p:cNvSpPr/>
          <p:nvPr/>
        </p:nvSpPr>
        <p:spPr>
          <a:xfrm>
            <a:off x="7223781" y="333704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Rectangle"/>
          <p:cNvSpPr/>
          <p:nvPr/>
        </p:nvSpPr>
        <p:spPr>
          <a:xfrm>
            <a:off x="11702686" y="-1"/>
            <a:ext cx="11120924" cy="13716001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413" name="Group"/>
          <p:cNvGrpSpPr/>
          <p:nvPr/>
        </p:nvGrpSpPr>
        <p:grpSpPr>
          <a:xfrm>
            <a:off x="1394494" y="1524000"/>
            <a:ext cx="9486170" cy="3475977"/>
            <a:chOff x="0" y="0"/>
            <a:chExt cx="9486169" cy="3475976"/>
          </a:xfrm>
        </p:grpSpPr>
        <p:sp>
          <p:nvSpPr>
            <p:cNvPr id="1410" name="GGPLOT2 - EASY GRAPHICS"/>
            <p:cNvSpPr txBox="1"/>
            <p:nvPr/>
          </p:nvSpPr>
          <p:spPr>
            <a:xfrm>
              <a:off x="0" y="720813"/>
              <a:ext cx="9486170" cy="27551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GGPLOT2 - EASY GRAPHICS</a:t>
              </a:r>
            </a:p>
          </p:txBody>
        </p:sp>
        <p:sp>
          <p:nvSpPr>
            <p:cNvPr id="1411" name="https://www.r-graph-gallery.com/"/>
            <p:cNvSpPr txBox="1"/>
            <p:nvPr/>
          </p:nvSpPr>
          <p:spPr>
            <a:xfrm>
              <a:off x="2127580" y="0"/>
              <a:ext cx="6471696" cy="4369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https://www.r-graph-gallery.com/</a:t>
              </a:r>
            </a:p>
          </p:txBody>
        </p:sp>
        <p:sp>
          <p:nvSpPr>
            <p:cNvPr id="1412" name="Line"/>
            <p:cNvSpPr/>
            <p:nvPr/>
          </p:nvSpPr>
          <p:spPr>
            <a:xfrm>
              <a:off x="111502" y="218268"/>
              <a:ext cx="1705287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414" name="Rectangle"/>
          <p:cNvSpPr/>
          <p:nvPr/>
        </p:nvSpPr>
        <p:spPr>
          <a:xfrm>
            <a:off x="609293" y="4219468"/>
            <a:ext cx="23152714" cy="8896519"/>
          </a:xfrm>
          <a:prstGeom prst="rect">
            <a:avLst/>
          </a:prstGeom>
          <a:solidFill>
            <a:srgbClr val="FFFFFF"/>
          </a:solidFill>
          <a:ln w="12700">
            <a:solidFill>
              <a:srgbClr val="293441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433" name="Group"/>
          <p:cNvGrpSpPr/>
          <p:nvPr/>
        </p:nvGrpSpPr>
        <p:grpSpPr>
          <a:xfrm>
            <a:off x="1229485" y="6035692"/>
            <a:ext cx="9407430" cy="5264073"/>
            <a:chOff x="-1" y="0"/>
            <a:chExt cx="9407428" cy="5264072"/>
          </a:xfrm>
        </p:grpSpPr>
        <p:sp>
          <p:nvSpPr>
            <p:cNvPr id="1415" name="Aesthetically pleasing graphics."/>
            <p:cNvSpPr txBox="1"/>
            <p:nvPr/>
          </p:nvSpPr>
          <p:spPr>
            <a:xfrm>
              <a:off x="2287016" y="80529"/>
              <a:ext cx="7120411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ts val="4800"/>
                </a:lnSpc>
                <a:defRPr sz="29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Aesthetically pleasing graphics</a:t>
              </a:r>
            </a:p>
          </p:txBody>
        </p:sp>
        <p:sp>
          <p:nvSpPr>
            <p:cNvPr id="1416" name="Well-defined “additive” (+) structure."/>
            <p:cNvSpPr txBox="1"/>
            <p:nvPr/>
          </p:nvSpPr>
          <p:spPr>
            <a:xfrm>
              <a:off x="3025541" y="1521555"/>
              <a:ext cx="6105192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ts val="4800"/>
                </a:lnSpc>
                <a:defRPr sz="29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Well-defined “additive” (+) structure</a:t>
              </a:r>
            </a:p>
          </p:txBody>
        </p:sp>
        <p:sp>
          <p:nvSpPr>
            <p:cNvPr id="1417" name="Integrates perfectly with tidy data."/>
            <p:cNvSpPr txBox="1"/>
            <p:nvPr/>
          </p:nvSpPr>
          <p:spPr>
            <a:xfrm>
              <a:off x="3029189" y="3019124"/>
              <a:ext cx="5636065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ts val="4800"/>
                </a:lnSpc>
                <a:defRPr sz="29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Integrates perfectly with tidy data</a:t>
              </a:r>
            </a:p>
          </p:txBody>
        </p:sp>
        <p:sp>
          <p:nvSpPr>
            <p:cNvPr id="1418" name="Freeform 12"/>
            <p:cNvSpPr/>
            <p:nvPr/>
          </p:nvSpPr>
          <p:spPr>
            <a:xfrm>
              <a:off x="0" y="0"/>
              <a:ext cx="2127513" cy="2512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76" y="0"/>
                  </a:moveTo>
                  <a:lnTo>
                    <a:pt x="0" y="11880"/>
                  </a:lnTo>
                  <a:lnTo>
                    <a:pt x="0" y="21600"/>
                  </a:lnTo>
                  <a:lnTo>
                    <a:pt x="21600" y="9720"/>
                  </a:lnTo>
                  <a:lnTo>
                    <a:pt x="13976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19" name="Freeform 13"/>
            <p:cNvSpPr/>
            <p:nvPr/>
          </p:nvSpPr>
          <p:spPr>
            <a:xfrm>
              <a:off x="0" y="1381676"/>
              <a:ext cx="3045264" cy="2500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74" y="0"/>
                  </a:moveTo>
                  <a:lnTo>
                    <a:pt x="0" y="11934"/>
                  </a:lnTo>
                  <a:lnTo>
                    <a:pt x="0" y="21600"/>
                  </a:lnTo>
                  <a:lnTo>
                    <a:pt x="21600" y="9764"/>
                  </a:lnTo>
                  <a:lnTo>
                    <a:pt x="16274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20" name="Freeform 14"/>
            <p:cNvSpPr/>
            <p:nvPr/>
          </p:nvSpPr>
          <p:spPr>
            <a:xfrm>
              <a:off x="0" y="2763353"/>
              <a:ext cx="3045264" cy="2500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1934"/>
                  </a:lnTo>
                  <a:lnTo>
                    <a:pt x="0" y="21600"/>
                  </a:lnTo>
                  <a:lnTo>
                    <a:pt x="16274" y="9666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21" name="Freeform 51"/>
            <p:cNvSpPr/>
            <p:nvPr/>
          </p:nvSpPr>
          <p:spPr>
            <a:xfrm>
              <a:off x="0" y="4145022"/>
              <a:ext cx="2127513" cy="1119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3976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93B7"/>
            </a:solidFill>
            <a:ln w="12700" cap="flat">
              <a:noFill/>
              <a:miter lim="400000"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22" name="Freeform 52"/>
            <p:cNvSpPr/>
            <p:nvPr/>
          </p:nvSpPr>
          <p:spPr>
            <a:xfrm>
              <a:off x="0" y="2763353"/>
              <a:ext cx="3045264" cy="1119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6274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23" name="Freeform 53"/>
            <p:cNvSpPr/>
            <p:nvPr/>
          </p:nvSpPr>
          <p:spPr>
            <a:xfrm>
              <a:off x="-1" y="1381676"/>
              <a:ext cx="3045265" cy="1130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6274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E5378"/>
            </a:solidFill>
            <a:ln w="12700" cap="flat">
              <a:noFill/>
              <a:miter lim="400000"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24" name="Freeform 54"/>
            <p:cNvSpPr/>
            <p:nvPr/>
          </p:nvSpPr>
          <p:spPr>
            <a:xfrm>
              <a:off x="0" y="0"/>
              <a:ext cx="2127513" cy="1130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3976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203A54"/>
            </a:solidFill>
            <a:ln w="12700" cap="flat">
              <a:noFill/>
              <a:miter lim="400000"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425" name="Great documentation &amp; community"/>
            <p:cNvSpPr txBox="1"/>
            <p:nvPr/>
          </p:nvSpPr>
          <p:spPr>
            <a:xfrm>
              <a:off x="2287016" y="4577068"/>
              <a:ext cx="7120411" cy="546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defTabSz="457200">
                <a:lnSpc>
                  <a:spcPts val="4800"/>
                </a:lnSpc>
                <a:defRPr sz="29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Great documentation &amp; community</a:t>
              </a:r>
            </a:p>
          </p:txBody>
        </p:sp>
        <p:sp>
          <p:nvSpPr>
            <p:cNvPr id="1426" name="Shape"/>
            <p:cNvSpPr/>
            <p:nvPr/>
          </p:nvSpPr>
          <p:spPr>
            <a:xfrm>
              <a:off x="410929" y="4340508"/>
              <a:ext cx="790311" cy="717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45" y="15309"/>
                  </a:moveTo>
                  <a:cubicBezTo>
                    <a:pt x="7455" y="15309"/>
                    <a:pt x="7455" y="15309"/>
                    <a:pt x="7455" y="15309"/>
                  </a:cubicBezTo>
                  <a:cubicBezTo>
                    <a:pt x="6308" y="15309"/>
                    <a:pt x="5352" y="16567"/>
                    <a:pt x="5352" y="17825"/>
                  </a:cubicBezTo>
                  <a:cubicBezTo>
                    <a:pt x="5352" y="21600"/>
                    <a:pt x="5352" y="21600"/>
                    <a:pt x="5352" y="21600"/>
                  </a:cubicBezTo>
                  <a:cubicBezTo>
                    <a:pt x="16248" y="21600"/>
                    <a:pt x="16248" y="21600"/>
                    <a:pt x="16248" y="21600"/>
                  </a:cubicBezTo>
                  <a:cubicBezTo>
                    <a:pt x="16248" y="17825"/>
                    <a:pt x="16248" y="17825"/>
                    <a:pt x="16248" y="17825"/>
                  </a:cubicBezTo>
                  <a:cubicBezTo>
                    <a:pt x="16248" y="16567"/>
                    <a:pt x="15292" y="15309"/>
                    <a:pt x="14145" y="15309"/>
                  </a:cubicBezTo>
                  <a:close/>
                  <a:moveTo>
                    <a:pt x="10896" y="7130"/>
                  </a:moveTo>
                  <a:cubicBezTo>
                    <a:pt x="8984" y="7130"/>
                    <a:pt x="7646" y="8598"/>
                    <a:pt x="7646" y="10485"/>
                  </a:cubicBezTo>
                  <a:cubicBezTo>
                    <a:pt x="7646" y="12373"/>
                    <a:pt x="8984" y="14050"/>
                    <a:pt x="10896" y="14050"/>
                  </a:cubicBezTo>
                  <a:cubicBezTo>
                    <a:pt x="12616" y="14050"/>
                    <a:pt x="13954" y="12373"/>
                    <a:pt x="13954" y="10485"/>
                  </a:cubicBezTo>
                  <a:cubicBezTo>
                    <a:pt x="13954" y="8598"/>
                    <a:pt x="12616" y="7130"/>
                    <a:pt x="10896" y="7130"/>
                  </a:cubicBezTo>
                  <a:close/>
                  <a:moveTo>
                    <a:pt x="5926" y="5872"/>
                  </a:moveTo>
                  <a:cubicBezTo>
                    <a:pt x="5926" y="5243"/>
                    <a:pt x="5543" y="4614"/>
                    <a:pt x="4779" y="4614"/>
                  </a:cubicBezTo>
                  <a:cubicBezTo>
                    <a:pt x="1147" y="4614"/>
                    <a:pt x="1147" y="4614"/>
                    <a:pt x="1147" y="4614"/>
                  </a:cubicBezTo>
                  <a:cubicBezTo>
                    <a:pt x="382" y="4614"/>
                    <a:pt x="0" y="5243"/>
                    <a:pt x="0" y="5872"/>
                  </a:cubicBezTo>
                  <a:cubicBezTo>
                    <a:pt x="0" y="7969"/>
                    <a:pt x="0" y="7969"/>
                    <a:pt x="0" y="7969"/>
                  </a:cubicBezTo>
                  <a:cubicBezTo>
                    <a:pt x="5926" y="7969"/>
                    <a:pt x="5926" y="7969"/>
                    <a:pt x="5926" y="7969"/>
                  </a:cubicBezTo>
                  <a:lnTo>
                    <a:pt x="5926" y="5872"/>
                  </a:lnTo>
                  <a:close/>
                  <a:moveTo>
                    <a:pt x="3058" y="3775"/>
                  </a:moveTo>
                  <a:cubicBezTo>
                    <a:pt x="4014" y="3775"/>
                    <a:pt x="4779" y="2936"/>
                    <a:pt x="4779" y="1887"/>
                  </a:cubicBezTo>
                  <a:cubicBezTo>
                    <a:pt x="4779" y="839"/>
                    <a:pt x="4014" y="0"/>
                    <a:pt x="3058" y="0"/>
                  </a:cubicBezTo>
                  <a:cubicBezTo>
                    <a:pt x="1912" y="0"/>
                    <a:pt x="1147" y="839"/>
                    <a:pt x="1147" y="1887"/>
                  </a:cubicBezTo>
                  <a:cubicBezTo>
                    <a:pt x="1147" y="2936"/>
                    <a:pt x="1912" y="3775"/>
                    <a:pt x="3058" y="3775"/>
                  </a:cubicBezTo>
                  <a:close/>
                  <a:moveTo>
                    <a:pt x="20262" y="4614"/>
                  </a:moveTo>
                  <a:cubicBezTo>
                    <a:pt x="16630" y="4614"/>
                    <a:pt x="16630" y="4614"/>
                    <a:pt x="16630" y="4614"/>
                  </a:cubicBezTo>
                  <a:cubicBezTo>
                    <a:pt x="16057" y="4614"/>
                    <a:pt x="15483" y="5243"/>
                    <a:pt x="15483" y="5872"/>
                  </a:cubicBezTo>
                  <a:cubicBezTo>
                    <a:pt x="15483" y="7969"/>
                    <a:pt x="15483" y="7969"/>
                    <a:pt x="15483" y="7969"/>
                  </a:cubicBezTo>
                  <a:cubicBezTo>
                    <a:pt x="21600" y="7969"/>
                    <a:pt x="21600" y="7969"/>
                    <a:pt x="21600" y="7969"/>
                  </a:cubicBezTo>
                  <a:cubicBezTo>
                    <a:pt x="21600" y="5872"/>
                    <a:pt x="21600" y="5872"/>
                    <a:pt x="21600" y="5872"/>
                  </a:cubicBezTo>
                  <a:cubicBezTo>
                    <a:pt x="21600" y="5243"/>
                    <a:pt x="21027" y="4614"/>
                    <a:pt x="20262" y="4614"/>
                  </a:cubicBezTo>
                  <a:close/>
                  <a:moveTo>
                    <a:pt x="18542" y="3775"/>
                  </a:moveTo>
                  <a:cubicBezTo>
                    <a:pt x="19497" y="3775"/>
                    <a:pt x="20262" y="2936"/>
                    <a:pt x="20262" y="1887"/>
                  </a:cubicBezTo>
                  <a:cubicBezTo>
                    <a:pt x="20262" y="839"/>
                    <a:pt x="19497" y="0"/>
                    <a:pt x="18542" y="0"/>
                  </a:cubicBezTo>
                  <a:cubicBezTo>
                    <a:pt x="17586" y="0"/>
                    <a:pt x="16821" y="839"/>
                    <a:pt x="16821" y="1887"/>
                  </a:cubicBezTo>
                  <a:cubicBezTo>
                    <a:pt x="16821" y="2936"/>
                    <a:pt x="17586" y="3775"/>
                    <a:pt x="18542" y="3775"/>
                  </a:cubicBezTo>
                  <a:close/>
                  <a:moveTo>
                    <a:pt x="8219" y="4823"/>
                  </a:moveTo>
                  <a:cubicBezTo>
                    <a:pt x="13763" y="4823"/>
                    <a:pt x="13763" y="4823"/>
                    <a:pt x="13763" y="4823"/>
                  </a:cubicBezTo>
                  <a:cubicBezTo>
                    <a:pt x="14145" y="4823"/>
                    <a:pt x="14336" y="4404"/>
                    <a:pt x="14336" y="3984"/>
                  </a:cubicBezTo>
                  <a:cubicBezTo>
                    <a:pt x="14336" y="3565"/>
                    <a:pt x="14145" y="3355"/>
                    <a:pt x="13763" y="3355"/>
                  </a:cubicBezTo>
                  <a:cubicBezTo>
                    <a:pt x="8219" y="3355"/>
                    <a:pt x="8219" y="3355"/>
                    <a:pt x="8219" y="3355"/>
                  </a:cubicBezTo>
                  <a:cubicBezTo>
                    <a:pt x="7646" y="3355"/>
                    <a:pt x="7455" y="3565"/>
                    <a:pt x="7455" y="3984"/>
                  </a:cubicBezTo>
                  <a:cubicBezTo>
                    <a:pt x="7455" y="4404"/>
                    <a:pt x="7646" y="4823"/>
                    <a:pt x="8219" y="4823"/>
                  </a:cubicBezTo>
                  <a:close/>
                  <a:moveTo>
                    <a:pt x="5926" y="14470"/>
                  </a:moveTo>
                  <a:cubicBezTo>
                    <a:pt x="6117" y="14470"/>
                    <a:pt x="6117" y="14470"/>
                    <a:pt x="6308" y="14470"/>
                  </a:cubicBezTo>
                  <a:cubicBezTo>
                    <a:pt x="6690" y="14050"/>
                    <a:pt x="6690" y="13631"/>
                    <a:pt x="6499" y="13212"/>
                  </a:cubicBezTo>
                  <a:cubicBezTo>
                    <a:pt x="3823" y="9437"/>
                    <a:pt x="3823" y="9437"/>
                    <a:pt x="3823" y="9437"/>
                  </a:cubicBezTo>
                  <a:cubicBezTo>
                    <a:pt x="3632" y="9017"/>
                    <a:pt x="3250" y="9017"/>
                    <a:pt x="2867" y="9227"/>
                  </a:cubicBezTo>
                  <a:cubicBezTo>
                    <a:pt x="2676" y="9437"/>
                    <a:pt x="2485" y="10066"/>
                    <a:pt x="2867" y="10276"/>
                  </a:cubicBezTo>
                  <a:cubicBezTo>
                    <a:pt x="5352" y="14260"/>
                    <a:pt x="5352" y="14260"/>
                    <a:pt x="5352" y="14260"/>
                  </a:cubicBezTo>
                  <a:cubicBezTo>
                    <a:pt x="5543" y="14470"/>
                    <a:pt x="5735" y="14470"/>
                    <a:pt x="5926" y="14470"/>
                  </a:cubicBezTo>
                  <a:close/>
                  <a:moveTo>
                    <a:pt x="18159" y="9437"/>
                  </a:moveTo>
                  <a:cubicBezTo>
                    <a:pt x="17777" y="9017"/>
                    <a:pt x="17395" y="9227"/>
                    <a:pt x="17204" y="9647"/>
                  </a:cubicBezTo>
                  <a:cubicBezTo>
                    <a:pt x="14910" y="13421"/>
                    <a:pt x="14910" y="13421"/>
                    <a:pt x="14910" y="13421"/>
                  </a:cubicBezTo>
                  <a:cubicBezTo>
                    <a:pt x="14719" y="13631"/>
                    <a:pt x="14910" y="14260"/>
                    <a:pt x="15101" y="14470"/>
                  </a:cubicBezTo>
                  <a:cubicBezTo>
                    <a:pt x="15292" y="14470"/>
                    <a:pt x="15483" y="14470"/>
                    <a:pt x="15483" y="14470"/>
                  </a:cubicBezTo>
                  <a:cubicBezTo>
                    <a:pt x="15865" y="14470"/>
                    <a:pt x="16057" y="14470"/>
                    <a:pt x="16248" y="14260"/>
                  </a:cubicBezTo>
                  <a:cubicBezTo>
                    <a:pt x="18350" y="10485"/>
                    <a:pt x="18350" y="10485"/>
                    <a:pt x="18350" y="10485"/>
                  </a:cubicBezTo>
                  <a:cubicBezTo>
                    <a:pt x="18542" y="10066"/>
                    <a:pt x="18542" y="9647"/>
                    <a:pt x="18159" y="943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1429" name="Group"/>
            <p:cNvGrpSpPr/>
            <p:nvPr/>
          </p:nvGrpSpPr>
          <p:grpSpPr>
            <a:xfrm>
              <a:off x="390555" y="277952"/>
              <a:ext cx="932659" cy="536362"/>
              <a:chOff x="0" y="0"/>
              <a:chExt cx="932657" cy="536360"/>
            </a:xfrm>
          </p:grpSpPr>
          <p:sp>
            <p:nvSpPr>
              <p:cNvPr id="1427" name="Shape"/>
              <p:cNvSpPr/>
              <p:nvPr/>
            </p:nvSpPr>
            <p:spPr>
              <a:xfrm>
                <a:off x="0" y="0"/>
                <a:ext cx="932658" cy="5363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5716" extrusionOk="0">
                    <a:moveTo>
                      <a:pt x="185" y="6393"/>
                    </a:moveTo>
                    <a:cubicBezTo>
                      <a:pt x="0" y="7283"/>
                      <a:pt x="0" y="7283"/>
                      <a:pt x="0" y="7283"/>
                    </a:cubicBezTo>
                    <a:cubicBezTo>
                      <a:pt x="4246" y="17527"/>
                      <a:pt x="16062" y="18640"/>
                      <a:pt x="21600" y="9510"/>
                    </a:cubicBezTo>
                    <a:cubicBezTo>
                      <a:pt x="21600" y="8397"/>
                      <a:pt x="21600" y="8397"/>
                      <a:pt x="21600" y="8397"/>
                    </a:cubicBezTo>
                    <a:cubicBezTo>
                      <a:pt x="17354" y="-1847"/>
                      <a:pt x="5723" y="-2960"/>
                      <a:pt x="185" y="6393"/>
                    </a:cubicBezTo>
                    <a:close/>
                    <a:moveTo>
                      <a:pt x="10708" y="13741"/>
                    </a:moveTo>
                    <a:cubicBezTo>
                      <a:pt x="7938" y="13518"/>
                      <a:pt x="5908" y="10624"/>
                      <a:pt x="6092" y="7506"/>
                    </a:cubicBezTo>
                    <a:cubicBezTo>
                      <a:pt x="6462" y="4166"/>
                      <a:pt x="8677" y="1716"/>
                      <a:pt x="11446" y="2162"/>
                    </a:cubicBezTo>
                    <a:cubicBezTo>
                      <a:pt x="14031" y="2384"/>
                      <a:pt x="16062" y="5056"/>
                      <a:pt x="15877" y="8397"/>
                    </a:cubicBezTo>
                    <a:cubicBezTo>
                      <a:pt x="15692" y="11737"/>
                      <a:pt x="13292" y="13964"/>
                      <a:pt x="10708" y="137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2438400">
                  <a:defRPr sz="480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28" name="Circle"/>
              <p:cNvSpPr/>
              <p:nvPr/>
            </p:nvSpPr>
            <p:spPr>
              <a:xfrm>
                <a:off x="375036" y="171320"/>
                <a:ext cx="207261" cy="197212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defTabSz="2438400">
                  <a:defRPr sz="480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1430" name="Freeform 8"/>
            <p:cNvSpPr/>
            <p:nvPr/>
          </p:nvSpPr>
          <p:spPr>
            <a:xfrm>
              <a:off x="1160699" y="2923369"/>
              <a:ext cx="613292" cy="799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0" h="21600" extrusionOk="0">
                  <a:moveTo>
                    <a:pt x="21527" y="17292"/>
                  </a:moveTo>
                  <a:cubicBezTo>
                    <a:pt x="21450" y="16230"/>
                    <a:pt x="21182" y="13898"/>
                    <a:pt x="20991" y="12866"/>
                  </a:cubicBezTo>
                  <a:cubicBezTo>
                    <a:pt x="20952" y="12689"/>
                    <a:pt x="20684" y="12630"/>
                    <a:pt x="20531" y="12777"/>
                  </a:cubicBezTo>
                  <a:cubicBezTo>
                    <a:pt x="20454" y="12836"/>
                    <a:pt x="20378" y="12895"/>
                    <a:pt x="20301" y="12984"/>
                  </a:cubicBezTo>
                  <a:cubicBezTo>
                    <a:pt x="19918" y="13426"/>
                    <a:pt x="19420" y="13692"/>
                    <a:pt x="18846" y="13692"/>
                  </a:cubicBezTo>
                  <a:cubicBezTo>
                    <a:pt x="17697" y="13692"/>
                    <a:pt x="16778" y="12570"/>
                    <a:pt x="16778" y="11125"/>
                  </a:cubicBezTo>
                  <a:cubicBezTo>
                    <a:pt x="16778" y="9679"/>
                    <a:pt x="17697" y="8557"/>
                    <a:pt x="18846" y="8557"/>
                  </a:cubicBezTo>
                  <a:cubicBezTo>
                    <a:pt x="19229" y="8557"/>
                    <a:pt x="19574" y="8675"/>
                    <a:pt x="19880" y="8882"/>
                  </a:cubicBezTo>
                  <a:cubicBezTo>
                    <a:pt x="20033" y="8970"/>
                    <a:pt x="20263" y="8911"/>
                    <a:pt x="20263" y="8734"/>
                  </a:cubicBezTo>
                  <a:cubicBezTo>
                    <a:pt x="20186" y="7849"/>
                    <a:pt x="20033" y="4220"/>
                    <a:pt x="19995" y="2892"/>
                  </a:cubicBezTo>
                  <a:cubicBezTo>
                    <a:pt x="19995" y="2597"/>
                    <a:pt x="19688" y="2390"/>
                    <a:pt x="19305" y="2390"/>
                  </a:cubicBezTo>
                  <a:cubicBezTo>
                    <a:pt x="17774" y="2479"/>
                    <a:pt x="13982" y="2685"/>
                    <a:pt x="12412" y="2862"/>
                  </a:cubicBezTo>
                  <a:cubicBezTo>
                    <a:pt x="12105" y="2892"/>
                    <a:pt x="11876" y="2626"/>
                    <a:pt x="12029" y="2420"/>
                  </a:cubicBezTo>
                  <a:cubicBezTo>
                    <a:pt x="12182" y="2243"/>
                    <a:pt x="12450" y="2036"/>
                    <a:pt x="12833" y="1800"/>
                  </a:cubicBezTo>
                  <a:cubicBezTo>
                    <a:pt x="13216" y="1623"/>
                    <a:pt x="13446" y="1357"/>
                    <a:pt x="13446" y="1092"/>
                  </a:cubicBezTo>
                  <a:cubicBezTo>
                    <a:pt x="13446" y="502"/>
                    <a:pt x="12259" y="0"/>
                    <a:pt x="10765" y="0"/>
                  </a:cubicBezTo>
                  <a:cubicBezTo>
                    <a:pt x="9310" y="0"/>
                    <a:pt x="8084" y="502"/>
                    <a:pt x="8084" y="1092"/>
                  </a:cubicBezTo>
                  <a:cubicBezTo>
                    <a:pt x="8084" y="1357"/>
                    <a:pt x="8314" y="1623"/>
                    <a:pt x="8735" y="1800"/>
                  </a:cubicBezTo>
                  <a:cubicBezTo>
                    <a:pt x="9425" y="2213"/>
                    <a:pt x="9731" y="2508"/>
                    <a:pt x="9654" y="2803"/>
                  </a:cubicBezTo>
                  <a:cubicBezTo>
                    <a:pt x="9578" y="3039"/>
                    <a:pt x="9348" y="3187"/>
                    <a:pt x="9042" y="3216"/>
                  </a:cubicBezTo>
                  <a:cubicBezTo>
                    <a:pt x="7510" y="3364"/>
                    <a:pt x="3680" y="3541"/>
                    <a:pt x="2225" y="3600"/>
                  </a:cubicBezTo>
                  <a:cubicBezTo>
                    <a:pt x="1880" y="3630"/>
                    <a:pt x="1612" y="3836"/>
                    <a:pt x="1612" y="4072"/>
                  </a:cubicBezTo>
                  <a:cubicBezTo>
                    <a:pt x="1574" y="5105"/>
                    <a:pt x="1459" y="7554"/>
                    <a:pt x="1305" y="8557"/>
                  </a:cubicBezTo>
                  <a:cubicBezTo>
                    <a:pt x="1305" y="8734"/>
                    <a:pt x="1535" y="8823"/>
                    <a:pt x="1727" y="8734"/>
                  </a:cubicBezTo>
                  <a:cubicBezTo>
                    <a:pt x="1956" y="8616"/>
                    <a:pt x="2225" y="8557"/>
                    <a:pt x="2493" y="8557"/>
                  </a:cubicBezTo>
                  <a:cubicBezTo>
                    <a:pt x="3680" y="8557"/>
                    <a:pt x="4561" y="9679"/>
                    <a:pt x="4561" y="11125"/>
                  </a:cubicBezTo>
                  <a:cubicBezTo>
                    <a:pt x="4561" y="12570"/>
                    <a:pt x="3680" y="13692"/>
                    <a:pt x="2493" y="13692"/>
                  </a:cubicBezTo>
                  <a:cubicBezTo>
                    <a:pt x="1956" y="13692"/>
                    <a:pt x="1459" y="13426"/>
                    <a:pt x="1076" y="12984"/>
                  </a:cubicBezTo>
                  <a:cubicBezTo>
                    <a:pt x="1037" y="12954"/>
                    <a:pt x="999" y="12925"/>
                    <a:pt x="961" y="12895"/>
                  </a:cubicBezTo>
                  <a:cubicBezTo>
                    <a:pt x="846" y="12777"/>
                    <a:pt x="616" y="12836"/>
                    <a:pt x="578" y="12984"/>
                  </a:cubicBezTo>
                  <a:cubicBezTo>
                    <a:pt x="386" y="14223"/>
                    <a:pt x="118" y="17292"/>
                    <a:pt x="3" y="18531"/>
                  </a:cubicBezTo>
                  <a:cubicBezTo>
                    <a:pt x="-35" y="18826"/>
                    <a:pt x="310" y="19092"/>
                    <a:pt x="654" y="19062"/>
                  </a:cubicBezTo>
                  <a:cubicBezTo>
                    <a:pt x="2493" y="19003"/>
                    <a:pt x="7356" y="18826"/>
                    <a:pt x="9195" y="18649"/>
                  </a:cubicBezTo>
                  <a:cubicBezTo>
                    <a:pt x="9501" y="18620"/>
                    <a:pt x="9731" y="18826"/>
                    <a:pt x="9616" y="19062"/>
                  </a:cubicBezTo>
                  <a:cubicBezTo>
                    <a:pt x="9501" y="19269"/>
                    <a:pt x="9233" y="19505"/>
                    <a:pt x="8735" y="19800"/>
                  </a:cubicBezTo>
                  <a:cubicBezTo>
                    <a:pt x="8314" y="19977"/>
                    <a:pt x="8084" y="20243"/>
                    <a:pt x="8084" y="20508"/>
                  </a:cubicBezTo>
                  <a:cubicBezTo>
                    <a:pt x="8084" y="21098"/>
                    <a:pt x="9310" y="21600"/>
                    <a:pt x="10765" y="21600"/>
                  </a:cubicBezTo>
                  <a:cubicBezTo>
                    <a:pt x="12259" y="21600"/>
                    <a:pt x="13446" y="21098"/>
                    <a:pt x="13446" y="20508"/>
                  </a:cubicBezTo>
                  <a:cubicBezTo>
                    <a:pt x="13446" y="20243"/>
                    <a:pt x="13216" y="19977"/>
                    <a:pt x="12833" y="19800"/>
                  </a:cubicBezTo>
                  <a:cubicBezTo>
                    <a:pt x="12029" y="19328"/>
                    <a:pt x="11761" y="19003"/>
                    <a:pt x="11991" y="18649"/>
                  </a:cubicBezTo>
                  <a:cubicBezTo>
                    <a:pt x="12105" y="18443"/>
                    <a:pt x="12374" y="18295"/>
                    <a:pt x="12680" y="18266"/>
                  </a:cubicBezTo>
                  <a:cubicBezTo>
                    <a:pt x="14480" y="18089"/>
                    <a:pt x="19191" y="17882"/>
                    <a:pt x="20952" y="17823"/>
                  </a:cubicBezTo>
                  <a:cubicBezTo>
                    <a:pt x="21297" y="17793"/>
                    <a:pt x="21565" y="17557"/>
                    <a:pt x="21527" y="1729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31" name="Freeform 9"/>
            <p:cNvSpPr/>
            <p:nvPr/>
          </p:nvSpPr>
          <p:spPr>
            <a:xfrm>
              <a:off x="525760" y="3017139"/>
              <a:ext cx="747167" cy="612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5" extrusionOk="0">
                  <a:moveTo>
                    <a:pt x="20402" y="8497"/>
                  </a:moveTo>
                  <a:cubicBezTo>
                    <a:pt x="20118" y="8497"/>
                    <a:pt x="19866" y="8728"/>
                    <a:pt x="19676" y="9112"/>
                  </a:cubicBezTo>
                  <a:cubicBezTo>
                    <a:pt x="19424" y="9535"/>
                    <a:pt x="19204" y="9804"/>
                    <a:pt x="19014" y="9958"/>
                  </a:cubicBezTo>
                  <a:cubicBezTo>
                    <a:pt x="18794" y="10112"/>
                    <a:pt x="18541" y="9881"/>
                    <a:pt x="18573" y="9612"/>
                  </a:cubicBezTo>
                  <a:cubicBezTo>
                    <a:pt x="18731" y="7998"/>
                    <a:pt x="18888" y="3770"/>
                    <a:pt x="18951" y="2117"/>
                  </a:cubicBezTo>
                  <a:cubicBezTo>
                    <a:pt x="18983" y="1733"/>
                    <a:pt x="18731" y="1464"/>
                    <a:pt x="18447" y="1464"/>
                  </a:cubicBezTo>
                  <a:cubicBezTo>
                    <a:pt x="18163" y="1464"/>
                    <a:pt x="17848" y="1464"/>
                    <a:pt x="17627" y="1464"/>
                  </a:cubicBezTo>
                  <a:cubicBezTo>
                    <a:pt x="15766" y="1464"/>
                    <a:pt x="14221" y="1387"/>
                    <a:pt x="12928" y="1272"/>
                  </a:cubicBezTo>
                  <a:cubicBezTo>
                    <a:pt x="12708" y="1272"/>
                    <a:pt x="12487" y="1387"/>
                    <a:pt x="12392" y="1618"/>
                  </a:cubicBezTo>
                  <a:cubicBezTo>
                    <a:pt x="12077" y="2156"/>
                    <a:pt x="12298" y="2579"/>
                    <a:pt x="13023" y="3232"/>
                  </a:cubicBezTo>
                  <a:cubicBezTo>
                    <a:pt x="13338" y="3501"/>
                    <a:pt x="13528" y="3808"/>
                    <a:pt x="13528" y="4154"/>
                  </a:cubicBezTo>
                  <a:cubicBezTo>
                    <a:pt x="13528" y="4961"/>
                    <a:pt x="12550" y="5576"/>
                    <a:pt x="11320" y="5576"/>
                  </a:cubicBezTo>
                  <a:cubicBezTo>
                    <a:pt x="10122" y="5576"/>
                    <a:pt x="9113" y="4961"/>
                    <a:pt x="9113" y="4154"/>
                  </a:cubicBezTo>
                  <a:cubicBezTo>
                    <a:pt x="9113" y="3808"/>
                    <a:pt x="9302" y="3501"/>
                    <a:pt x="9649" y="3232"/>
                  </a:cubicBezTo>
                  <a:cubicBezTo>
                    <a:pt x="10595" y="2348"/>
                    <a:pt x="10658" y="1887"/>
                    <a:pt x="9807" y="1041"/>
                  </a:cubicBezTo>
                  <a:cubicBezTo>
                    <a:pt x="9744" y="964"/>
                    <a:pt x="9649" y="926"/>
                    <a:pt x="9554" y="887"/>
                  </a:cubicBezTo>
                  <a:cubicBezTo>
                    <a:pt x="8924" y="811"/>
                    <a:pt x="8293" y="695"/>
                    <a:pt x="7694" y="580"/>
                  </a:cubicBezTo>
                  <a:cubicBezTo>
                    <a:pt x="6685" y="426"/>
                    <a:pt x="4572" y="157"/>
                    <a:pt x="3532" y="3"/>
                  </a:cubicBezTo>
                  <a:cubicBezTo>
                    <a:pt x="3216" y="-35"/>
                    <a:pt x="2933" y="272"/>
                    <a:pt x="2964" y="657"/>
                  </a:cubicBezTo>
                  <a:cubicBezTo>
                    <a:pt x="2996" y="2540"/>
                    <a:pt x="3153" y="7498"/>
                    <a:pt x="3311" y="9343"/>
                  </a:cubicBezTo>
                  <a:cubicBezTo>
                    <a:pt x="3374" y="9843"/>
                    <a:pt x="2901" y="10188"/>
                    <a:pt x="2554" y="9919"/>
                  </a:cubicBezTo>
                  <a:cubicBezTo>
                    <a:pt x="2365" y="9766"/>
                    <a:pt x="2144" y="9497"/>
                    <a:pt x="1924" y="9112"/>
                  </a:cubicBezTo>
                  <a:cubicBezTo>
                    <a:pt x="1703" y="8728"/>
                    <a:pt x="1451" y="8497"/>
                    <a:pt x="1167" y="8497"/>
                  </a:cubicBezTo>
                  <a:cubicBezTo>
                    <a:pt x="505" y="8497"/>
                    <a:pt x="0" y="9689"/>
                    <a:pt x="0" y="11188"/>
                  </a:cubicBezTo>
                  <a:cubicBezTo>
                    <a:pt x="0" y="12687"/>
                    <a:pt x="505" y="13878"/>
                    <a:pt x="1167" y="13878"/>
                  </a:cubicBezTo>
                  <a:cubicBezTo>
                    <a:pt x="1451" y="13878"/>
                    <a:pt x="1703" y="13648"/>
                    <a:pt x="1924" y="13263"/>
                  </a:cubicBezTo>
                  <a:cubicBezTo>
                    <a:pt x="2523" y="12264"/>
                    <a:pt x="2933" y="12033"/>
                    <a:pt x="3437" y="12648"/>
                  </a:cubicBezTo>
                  <a:cubicBezTo>
                    <a:pt x="3626" y="12879"/>
                    <a:pt x="3752" y="13148"/>
                    <a:pt x="3784" y="13455"/>
                  </a:cubicBezTo>
                  <a:cubicBezTo>
                    <a:pt x="3942" y="14916"/>
                    <a:pt x="4162" y="18337"/>
                    <a:pt x="4257" y="19643"/>
                  </a:cubicBezTo>
                  <a:cubicBezTo>
                    <a:pt x="4257" y="19951"/>
                    <a:pt x="4446" y="20220"/>
                    <a:pt x="4698" y="20258"/>
                  </a:cubicBezTo>
                  <a:cubicBezTo>
                    <a:pt x="5455" y="20335"/>
                    <a:pt x="7032" y="20566"/>
                    <a:pt x="7789" y="20719"/>
                  </a:cubicBezTo>
                  <a:cubicBezTo>
                    <a:pt x="8104" y="20758"/>
                    <a:pt x="8419" y="20835"/>
                    <a:pt x="8735" y="20873"/>
                  </a:cubicBezTo>
                  <a:cubicBezTo>
                    <a:pt x="8955" y="20912"/>
                    <a:pt x="9176" y="20796"/>
                    <a:pt x="9334" y="20566"/>
                  </a:cubicBezTo>
                  <a:cubicBezTo>
                    <a:pt x="9649" y="20028"/>
                    <a:pt x="9428" y="19566"/>
                    <a:pt x="8703" y="18913"/>
                  </a:cubicBezTo>
                  <a:cubicBezTo>
                    <a:pt x="8388" y="18644"/>
                    <a:pt x="8199" y="18337"/>
                    <a:pt x="8199" y="17991"/>
                  </a:cubicBezTo>
                  <a:cubicBezTo>
                    <a:pt x="8199" y="17184"/>
                    <a:pt x="9176" y="16569"/>
                    <a:pt x="10406" y="16569"/>
                  </a:cubicBezTo>
                  <a:cubicBezTo>
                    <a:pt x="11604" y="16569"/>
                    <a:pt x="12613" y="17184"/>
                    <a:pt x="12613" y="17991"/>
                  </a:cubicBezTo>
                  <a:cubicBezTo>
                    <a:pt x="12613" y="18337"/>
                    <a:pt x="12392" y="18644"/>
                    <a:pt x="12077" y="18913"/>
                  </a:cubicBezTo>
                  <a:cubicBezTo>
                    <a:pt x="11163" y="19759"/>
                    <a:pt x="11068" y="20220"/>
                    <a:pt x="11825" y="21027"/>
                  </a:cubicBezTo>
                  <a:cubicBezTo>
                    <a:pt x="12014" y="21219"/>
                    <a:pt x="12266" y="21334"/>
                    <a:pt x="12519" y="21373"/>
                  </a:cubicBezTo>
                  <a:cubicBezTo>
                    <a:pt x="13559" y="21450"/>
                    <a:pt x="16050" y="21527"/>
                    <a:pt x="17091" y="21565"/>
                  </a:cubicBezTo>
                  <a:cubicBezTo>
                    <a:pt x="17375" y="21565"/>
                    <a:pt x="17627" y="21296"/>
                    <a:pt x="17658" y="20950"/>
                  </a:cubicBezTo>
                  <a:cubicBezTo>
                    <a:pt x="17721" y="19297"/>
                    <a:pt x="18005" y="14724"/>
                    <a:pt x="18194" y="12917"/>
                  </a:cubicBezTo>
                  <a:cubicBezTo>
                    <a:pt x="18258" y="12456"/>
                    <a:pt x="18731" y="12187"/>
                    <a:pt x="19046" y="12456"/>
                  </a:cubicBezTo>
                  <a:cubicBezTo>
                    <a:pt x="19235" y="12610"/>
                    <a:pt x="19424" y="12879"/>
                    <a:pt x="19676" y="13263"/>
                  </a:cubicBezTo>
                  <a:cubicBezTo>
                    <a:pt x="19866" y="13648"/>
                    <a:pt x="20118" y="13878"/>
                    <a:pt x="20402" y="13878"/>
                  </a:cubicBezTo>
                  <a:cubicBezTo>
                    <a:pt x="21064" y="13878"/>
                    <a:pt x="21600" y="12687"/>
                    <a:pt x="21600" y="11188"/>
                  </a:cubicBezTo>
                  <a:cubicBezTo>
                    <a:pt x="21600" y="9689"/>
                    <a:pt x="21064" y="8497"/>
                    <a:pt x="20402" y="84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32" name="Shape"/>
            <p:cNvSpPr/>
            <p:nvPr/>
          </p:nvSpPr>
          <p:spPr>
            <a:xfrm rot="20460000">
              <a:off x="830711" y="1518907"/>
              <a:ext cx="893805" cy="861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55" y="18813"/>
                  </a:moveTo>
                  <a:cubicBezTo>
                    <a:pt x="18465" y="20555"/>
                    <a:pt x="18465" y="20555"/>
                    <a:pt x="18465" y="20555"/>
                  </a:cubicBezTo>
                  <a:cubicBezTo>
                    <a:pt x="17768" y="21252"/>
                    <a:pt x="16723" y="21600"/>
                    <a:pt x="15677" y="21600"/>
                  </a:cubicBezTo>
                  <a:cubicBezTo>
                    <a:pt x="14981" y="21600"/>
                    <a:pt x="13935" y="21252"/>
                    <a:pt x="13239" y="20555"/>
                  </a:cubicBezTo>
                  <a:cubicBezTo>
                    <a:pt x="10452" y="17768"/>
                    <a:pt x="10452" y="17768"/>
                    <a:pt x="10452" y="17768"/>
                  </a:cubicBezTo>
                  <a:cubicBezTo>
                    <a:pt x="9755" y="17071"/>
                    <a:pt x="9406" y="16026"/>
                    <a:pt x="9406" y="14981"/>
                  </a:cubicBezTo>
                  <a:cubicBezTo>
                    <a:pt x="9406" y="13935"/>
                    <a:pt x="9755" y="13239"/>
                    <a:pt x="10452" y="12542"/>
                  </a:cubicBezTo>
                  <a:cubicBezTo>
                    <a:pt x="9406" y="11148"/>
                    <a:pt x="9406" y="11148"/>
                    <a:pt x="9406" y="11148"/>
                  </a:cubicBezTo>
                  <a:cubicBezTo>
                    <a:pt x="8710" y="11845"/>
                    <a:pt x="7665" y="12542"/>
                    <a:pt x="6619" y="12542"/>
                  </a:cubicBezTo>
                  <a:cubicBezTo>
                    <a:pt x="5574" y="12542"/>
                    <a:pt x="4529" y="11845"/>
                    <a:pt x="3832" y="11148"/>
                  </a:cubicBezTo>
                  <a:cubicBezTo>
                    <a:pt x="1045" y="8361"/>
                    <a:pt x="1045" y="8361"/>
                    <a:pt x="1045" y="8361"/>
                  </a:cubicBezTo>
                  <a:cubicBezTo>
                    <a:pt x="348" y="7665"/>
                    <a:pt x="0" y="6968"/>
                    <a:pt x="0" y="5923"/>
                  </a:cubicBezTo>
                  <a:cubicBezTo>
                    <a:pt x="0" y="4877"/>
                    <a:pt x="348" y="3832"/>
                    <a:pt x="1045" y="3135"/>
                  </a:cubicBezTo>
                  <a:cubicBezTo>
                    <a:pt x="3135" y="1045"/>
                    <a:pt x="3135" y="1045"/>
                    <a:pt x="3135" y="1045"/>
                  </a:cubicBezTo>
                  <a:cubicBezTo>
                    <a:pt x="3832" y="348"/>
                    <a:pt x="4877" y="0"/>
                    <a:pt x="5923" y="0"/>
                  </a:cubicBezTo>
                  <a:cubicBezTo>
                    <a:pt x="6619" y="0"/>
                    <a:pt x="7665" y="348"/>
                    <a:pt x="8361" y="1394"/>
                  </a:cubicBezTo>
                  <a:cubicBezTo>
                    <a:pt x="11148" y="3832"/>
                    <a:pt x="11148" y="3832"/>
                    <a:pt x="11148" y="3832"/>
                  </a:cubicBezTo>
                  <a:cubicBezTo>
                    <a:pt x="11845" y="4529"/>
                    <a:pt x="12194" y="5574"/>
                    <a:pt x="12194" y="6619"/>
                  </a:cubicBezTo>
                  <a:cubicBezTo>
                    <a:pt x="12194" y="7665"/>
                    <a:pt x="11845" y="8710"/>
                    <a:pt x="11148" y="9406"/>
                  </a:cubicBezTo>
                  <a:cubicBezTo>
                    <a:pt x="12194" y="10452"/>
                    <a:pt x="12194" y="10452"/>
                    <a:pt x="12194" y="10452"/>
                  </a:cubicBezTo>
                  <a:cubicBezTo>
                    <a:pt x="12890" y="9755"/>
                    <a:pt x="13935" y="9406"/>
                    <a:pt x="14981" y="9406"/>
                  </a:cubicBezTo>
                  <a:cubicBezTo>
                    <a:pt x="16026" y="9406"/>
                    <a:pt x="17071" y="9755"/>
                    <a:pt x="17768" y="10452"/>
                  </a:cubicBezTo>
                  <a:cubicBezTo>
                    <a:pt x="20555" y="13239"/>
                    <a:pt x="20555" y="13239"/>
                    <a:pt x="20555" y="13239"/>
                  </a:cubicBezTo>
                  <a:cubicBezTo>
                    <a:pt x="21252" y="13935"/>
                    <a:pt x="21600" y="14981"/>
                    <a:pt x="21600" y="16026"/>
                  </a:cubicBezTo>
                  <a:cubicBezTo>
                    <a:pt x="21600" y="17071"/>
                    <a:pt x="21252" y="18116"/>
                    <a:pt x="20555" y="18813"/>
                  </a:cubicBezTo>
                  <a:close/>
                  <a:moveTo>
                    <a:pt x="9406" y="5923"/>
                  </a:moveTo>
                  <a:cubicBezTo>
                    <a:pt x="6619" y="3135"/>
                    <a:pt x="6619" y="3135"/>
                    <a:pt x="6619" y="3135"/>
                  </a:cubicBezTo>
                  <a:cubicBezTo>
                    <a:pt x="6271" y="2787"/>
                    <a:pt x="6271" y="2787"/>
                    <a:pt x="5923" y="2787"/>
                  </a:cubicBezTo>
                  <a:cubicBezTo>
                    <a:pt x="5574" y="2787"/>
                    <a:pt x="5226" y="2787"/>
                    <a:pt x="4877" y="3135"/>
                  </a:cubicBezTo>
                  <a:cubicBezTo>
                    <a:pt x="2787" y="4877"/>
                    <a:pt x="2787" y="4877"/>
                    <a:pt x="2787" y="4877"/>
                  </a:cubicBezTo>
                  <a:cubicBezTo>
                    <a:pt x="2787" y="5226"/>
                    <a:pt x="2439" y="5574"/>
                    <a:pt x="2439" y="5923"/>
                  </a:cubicBezTo>
                  <a:cubicBezTo>
                    <a:pt x="2439" y="6271"/>
                    <a:pt x="2787" y="6619"/>
                    <a:pt x="2787" y="6619"/>
                  </a:cubicBezTo>
                  <a:cubicBezTo>
                    <a:pt x="5574" y="9406"/>
                    <a:pt x="5574" y="9406"/>
                    <a:pt x="5574" y="9406"/>
                  </a:cubicBezTo>
                  <a:cubicBezTo>
                    <a:pt x="5923" y="9755"/>
                    <a:pt x="6271" y="9755"/>
                    <a:pt x="6619" y="9755"/>
                  </a:cubicBezTo>
                  <a:cubicBezTo>
                    <a:pt x="6968" y="9755"/>
                    <a:pt x="7316" y="9755"/>
                    <a:pt x="7665" y="9406"/>
                  </a:cubicBezTo>
                  <a:cubicBezTo>
                    <a:pt x="6968" y="9058"/>
                    <a:pt x="6619" y="8710"/>
                    <a:pt x="6619" y="8013"/>
                  </a:cubicBezTo>
                  <a:cubicBezTo>
                    <a:pt x="6619" y="7316"/>
                    <a:pt x="7316" y="6619"/>
                    <a:pt x="8013" y="6619"/>
                  </a:cubicBezTo>
                  <a:cubicBezTo>
                    <a:pt x="8361" y="6619"/>
                    <a:pt x="9058" y="7316"/>
                    <a:pt x="9406" y="7665"/>
                  </a:cubicBezTo>
                  <a:cubicBezTo>
                    <a:pt x="9755" y="7316"/>
                    <a:pt x="9755" y="6968"/>
                    <a:pt x="9755" y="6619"/>
                  </a:cubicBezTo>
                  <a:cubicBezTo>
                    <a:pt x="9755" y="6271"/>
                    <a:pt x="9755" y="5923"/>
                    <a:pt x="9406" y="5923"/>
                  </a:cubicBezTo>
                  <a:close/>
                  <a:moveTo>
                    <a:pt x="18813" y="14981"/>
                  </a:moveTo>
                  <a:cubicBezTo>
                    <a:pt x="16026" y="12194"/>
                    <a:pt x="16026" y="12194"/>
                    <a:pt x="16026" y="12194"/>
                  </a:cubicBezTo>
                  <a:cubicBezTo>
                    <a:pt x="15677" y="12194"/>
                    <a:pt x="15329" y="11845"/>
                    <a:pt x="14981" y="11845"/>
                  </a:cubicBezTo>
                  <a:cubicBezTo>
                    <a:pt x="14632" y="11845"/>
                    <a:pt x="14284" y="12194"/>
                    <a:pt x="13935" y="12542"/>
                  </a:cubicBezTo>
                  <a:cubicBezTo>
                    <a:pt x="14632" y="12890"/>
                    <a:pt x="14981" y="13239"/>
                    <a:pt x="14981" y="13935"/>
                  </a:cubicBezTo>
                  <a:cubicBezTo>
                    <a:pt x="14981" y="14632"/>
                    <a:pt x="14632" y="14981"/>
                    <a:pt x="13935" y="14981"/>
                  </a:cubicBezTo>
                  <a:cubicBezTo>
                    <a:pt x="13239" y="14981"/>
                    <a:pt x="12890" y="14632"/>
                    <a:pt x="12194" y="14284"/>
                  </a:cubicBezTo>
                  <a:cubicBezTo>
                    <a:pt x="11845" y="14284"/>
                    <a:pt x="11845" y="14632"/>
                    <a:pt x="11845" y="14981"/>
                  </a:cubicBezTo>
                  <a:cubicBezTo>
                    <a:pt x="11845" y="15329"/>
                    <a:pt x="11845" y="15677"/>
                    <a:pt x="12194" y="16026"/>
                  </a:cubicBezTo>
                  <a:cubicBezTo>
                    <a:pt x="14981" y="18813"/>
                    <a:pt x="14981" y="18813"/>
                    <a:pt x="14981" y="18813"/>
                  </a:cubicBezTo>
                  <a:cubicBezTo>
                    <a:pt x="15329" y="19161"/>
                    <a:pt x="15677" y="19161"/>
                    <a:pt x="15677" y="19161"/>
                  </a:cubicBezTo>
                  <a:cubicBezTo>
                    <a:pt x="16026" y="19161"/>
                    <a:pt x="16374" y="19161"/>
                    <a:pt x="16723" y="18813"/>
                  </a:cubicBezTo>
                  <a:cubicBezTo>
                    <a:pt x="18813" y="16723"/>
                    <a:pt x="18813" y="16723"/>
                    <a:pt x="18813" y="16723"/>
                  </a:cubicBezTo>
                  <a:cubicBezTo>
                    <a:pt x="18813" y="16723"/>
                    <a:pt x="19161" y="16374"/>
                    <a:pt x="19161" y="16026"/>
                  </a:cubicBezTo>
                  <a:cubicBezTo>
                    <a:pt x="19161" y="15677"/>
                    <a:pt x="18813" y="15329"/>
                    <a:pt x="18813" y="1498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1442" name="Group"/>
          <p:cNvGrpSpPr/>
          <p:nvPr/>
        </p:nvGrpSpPr>
        <p:grpSpPr>
          <a:xfrm>
            <a:off x="11581636" y="4742977"/>
            <a:ext cx="11363025" cy="7718957"/>
            <a:chOff x="0" y="0"/>
            <a:chExt cx="11363024" cy="7718956"/>
          </a:xfrm>
        </p:grpSpPr>
        <p:pic>
          <p:nvPicPr>
            <p:cNvPr id="1434" name="Fig2.png" descr="Fig2.png"/>
            <p:cNvPicPr>
              <a:picLocks noChangeAspect="1"/>
            </p:cNvPicPr>
            <p:nvPr/>
          </p:nvPicPr>
          <p:blipFill>
            <a:blip r:embed="rId3"/>
            <a:srcRect l="68851" t="3220" r="1179" b="54246"/>
            <a:stretch>
              <a:fillRect/>
            </a:stretch>
          </p:blipFill>
          <p:spPr>
            <a:xfrm>
              <a:off x="4038592" y="0"/>
              <a:ext cx="4071416" cy="38642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5" name="Fig2.png" descr="Fig2.png"/>
            <p:cNvPicPr>
              <a:picLocks/>
            </p:cNvPicPr>
            <p:nvPr/>
          </p:nvPicPr>
          <p:blipFill>
            <a:blip r:embed="rId4"/>
            <a:srcRect l="38665" t="60699" r="35532" b="11255"/>
            <a:stretch>
              <a:fillRect/>
            </a:stretch>
          </p:blipFill>
          <p:spPr>
            <a:xfrm>
              <a:off x="8240479" y="4800763"/>
              <a:ext cx="3068265" cy="2667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6" name="Fig1.png" descr="Fig1.png"/>
            <p:cNvPicPr>
              <a:picLocks noChangeAspect="1"/>
            </p:cNvPicPr>
            <p:nvPr/>
          </p:nvPicPr>
          <p:blipFill>
            <a:blip r:embed="rId5"/>
            <a:srcRect l="73010" t="55670" r="5008" b="9468"/>
            <a:stretch>
              <a:fillRect/>
            </a:stretch>
          </p:blipFill>
          <p:spPr>
            <a:xfrm>
              <a:off x="4448527" y="4339578"/>
              <a:ext cx="3112755" cy="32565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37" name="Rectangle"/>
            <p:cNvSpPr/>
            <p:nvPr/>
          </p:nvSpPr>
          <p:spPr>
            <a:xfrm>
              <a:off x="0" y="377505"/>
              <a:ext cx="1531616" cy="3028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438" name="Fig1.png" descr="Fig1.png"/>
            <p:cNvPicPr>
              <a:picLocks noChangeAspect="1"/>
            </p:cNvPicPr>
            <p:nvPr/>
          </p:nvPicPr>
          <p:blipFill>
            <a:blip r:embed="rId5"/>
            <a:srcRect l="4176" t="54379" r="72632" b="10793"/>
            <a:stretch>
              <a:fillRect/>
            </a:stretch>
          </p:blipFill>
          <p:spPr>
            <a:xfrm>
              <a:off x="427518" y="4284792"/>
              <a:ext cx="3397702" cy="33658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39" name="Rectangle"/>
            <p:cNvSpPr/>
            <p:nvPr/>
          </p:nvSpPr>
          <p:spPr>
            <a:xfrm>
              <a:off x="8234406" y="7416090"/>
              <a:ext cx="3128619" cy="30286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440" name="Fig1.png" descr="Fig1.png"/>
            <p:cNvPicPr>
              <a:picLocks noChangeAspect="1"/>
            </p:cNvPicPr>
            <p:nvPr/>
          </p:nvPicPr>
          <p:blipFill>
            <a:blip r:embed="rId6"/>
            <a:srcRect l="5030" t="6213" r="69561" b="59240"/>
            <a:stretch>
              <a:fillRect/>
            </a:stretch>
          </p:blipFill>
          <p:spPr>
            <a:xfrm>
              <a:off x="11052" y="333486"/>
              <a:ext cx="3564963" cy="31972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41" name="Fig2.png" descr="Fig2.png"/>
            <p:cNvPicPr>
              <a:picLocks noChangeAspect="1"/>
            </p:cNvPicPr>
            <p:nvPr/>
          </p:nvPicPr>
          <p:blipFill>
            <a:blip r:embed="rId7"/>
            <a:srcRect l="37956" t="2656" r="35532" b="55939"/>
            <a:stretch>
              <a:fillRect/>
            </a:stretch>
          </p:blipFill>
          <p:spPr>
            <a:xfrm>
              <a:off x="8312007" y="288300"/>
              <a:ext cx="3042065" cy="31771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43" name="27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</a:t>
            </a:r>
            <a:r>
              <a:rPr lang="da-DK"/>
              <a:t>2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C905-498B-8C04-6C22-2731B8FE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E342C7E-2F95-0979-1EBF-9D468E39DCA8}"/>
              </a:ext>
            </a:extLst>
          </p:cNvPr>
          <p:cNvGrpSpPr/>
          <p:nvPr/>
        </p:nvGrpSpPr>
        <p:grpSpPr>
          <a:xfrm>
            <a:off x="4793920" y="5058998"/>
            <a:ext cx="4812697" cy="6762656"/>
            <a:chOff x="4165424" y="4858269"/>
            <a:chExt cx="4812697" cy="6762656"/>
          </a:xfrm>
        </p:grpSpPr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7C138699-0E1D-E60E-3B34-C19B5ACB2B08}"/>
                </a:ext>
              </a:extLst>
            </p:cNvPr>
            <p:cNvSpPr/>
            <p:nvPr/>
          </p:nvSpPr>
          <p:spPr>
            <a:xfrm>
              <a:off x="4165424" y="10358023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87286A9-8CFE-AE02-162F-1C6A35D8730F}"/>
                </a:ext>
              </a:extLst>
            </p:cNvPr>
            <p:cNvSpPr/>
            <p:nvPr/>
          </p:nvSpPr>
          <p:spPr>
            <a:xfrm>
              <a:off x="4192555" y="9391228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74719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3B75DEC-8184-F146-5774-C02126CE84E2}"/>
                </a:ext>
              </a:extLst>
            </p:cNvPr>
            <p:cNvSpPr/>
            <p:nvPr/>
          </p:nvSpPr>
          <p:spPr>
            <a:xfrm>
              <a:off x="4192555" y="8485567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364556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1EA055AE-DBBF-574E-EFEF-90FA13F1AFD6}"/>
                </a:ext>
              </a:extLst>
            </p:cNvPr>
            <p:cNvSpPr/>
            <p:nvPr/>
          </p:nvSpPr>
          <p:spPr>
            <a:xfrm>
              <a:off x="4211837" y="7557495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81A48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E5135BA-8CDD-2AA3-C83D-23F5A5887C1B}"/>
                </a:ext>
              </a:extLst>
            </p:cNvPr>
            <p:cNvSpPr/>
            <p:nvPr/>
          </p:nvSpPr>
          <p:spPr>
            <a:xfrm>
              <a:off x="4200655" y="6627059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7893B7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AA1AE28C-D247-8B34-720B-2C6C8D906BCE}"/>
                </a:ext>
              </a:extLst>
            </p:cNvPr>
            <p:cNvSpPr/>
            <p:nvPr/>
          </p:nvSpPr>
          <p:spPr>
            <a:xfrm>
              <a:off x="4194193" y="5731247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E7B171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0AC19CF0-8842-8E79-4766-46B04EB9A4B2}"/>
                </a:ext>
              </a:extLst>
            </p:cNvPr>
            <p:cNvSpPr/>
            <p:nvPr/>
          </p:nvSpPr>
          <p:spPr>
            <a:xfrm>
              <a:off x="4192937" y="4858269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AF676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201AB6-6BBF-D13F-3512-9B6DABAAD704}"/>
              </a:ext>
            </a:extLst>
          </p:cNvPr>
          <p:cNvSpPr txBox="1"/>
          <p:nvPr/>
        </p:nvSpPr>
        <p:spPr>
          <a:xfrm>
            <a:off x="2157008" y="5319026"/>
            <a:ext cx="212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79F63-C99C-AABC-843B-25711A8B1515}"/>
              </a:ext>
            </a:extLst>
          </p:cNvPr>
          <p:cNvSpPr txBox="1"/>
          <p:nvPr/>
        </p:nvSpPr>
        <p:spPr>
          <a:xfrm>
            <a:off x="1675164" y="6233645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AESTHETICS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2DDC6-C45B-DE40-FC14-EA414E780F9D}"/>
              </a:ext>
            </a:extLst>
          </p:cNvPr>
          <p:cNvSpPr txBox="1"/>
          <p:nvPr/>
        </p:nvSpPr>
        <p:spPr>
          <a:xfrm>
            <a:off x="2293292" y="8079613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F11B6-9DC6-D1AE-7CB5-25F7D78E0EF4}"/>
              </a:ext>
            </a:extLst>
          </p:cNvPr>
          <p:cNvSpPr txBox="1"/>
          <p:nvPr/>
        </p:nvSpPr>
        <p:spPr>
          <a:xfrm>
            <a:off x="1633264" y="7133031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GEOMETRIES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14B38E-E64D-9299-0B4B-BA0C3D00CD6D}"/>
              </a:ext>
            </a:extLst>
          </p:cNvPr>
          <p:cNvSpPr txBox="1"/>
          <p:nvPr/>
        </p:nvSpPr>
        <p:spPr>
          <a:xfrm>
            <a:off x="2280291" y="8954440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553816-C6D7-E654-62E2-73DFCAB76A48}"/>
              </a:ext>
            </a:extLst>
          </p:cNvPr>
          <p:cNvSpPr txBox="1"/>
          <p:nvPr/>
        </p:nvSpPr>
        <p:spPr>
          <a:xfrm>
            <a:off x="1921654" y="9890785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STATISTICS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F2143241-C42A-8562-EA00-81D4728A1D70}"/>
              </a:ext>
            </a:extLst>
          </p:cNvPr>
          <p:cNvSpPr/>
          <p:nvPr/>
        </p:nvSpPr>
        <p:spPr>
          <a:xfrm>
            <a:off x="-23025" y="-49712"/>
            <a:ext cx="24394326" cy="3923919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696" rIns="45696" anchor="ctr"/>
          <a:lstStyle/>
          <a:p>
            <a:endParaRPr sz="1799"/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id="{7571F77C-0810-5E8F-26E7-89E1100670E3}"/>
              </a:ext>
            </a:extLst>
          </p:cNvPr>
          <p:cNvGrpSpPr/>
          <p:nvPr/>
        </p:nvGrpSpPr>
        <p:grpSpPr>
          <a:xfrm>
            <a:off x="614413" y="750413"/>
            <a:ext cx="13025466" cy="2845825"/>
            <a:chOff x="0" y="-641239"/>
            <a:chExt cx="8182882" cy="3393032"/>
          </a:xfrm>
        </p:grpSpPr>
        <p:sp>
          <p:nvSpPr>
            <p:cNvPr id="4" name="GGPLOT2…">
              <a:extLst>
                <a:ext uri="{FF2B5EF4-FFF2-40B4-BE49-F238E27FC236}">
                  <a16:creationId xmlns:a16="http://schemas.microsoft.com/office/drawing/2014/main" id="{E692D783-C5E9-E25C-139F-7DD75BFA70D2}"/>
                </a:ext>
              </a:extLst>
            </p:cNvPr>
            <p:cNvSpPr txBox="1"/>
            <p:nvPr/>
          </p:nvSpPr>
          <p:spPr>
            <a:xfrm>
              <a:off x="0" y="570639"/>
              <a:ext cx="7509824" cy="21811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6" tIns="45696" rIns="45696" bIns="45696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4998"/>
                <a:t>GGPLOT2</a:t>
              </a:r>
            </a:p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4998"/>
                <a:t>ADDITIVE STRUCTURE</a:t>
              </a:r>
            </a:p>
          </p:txBody>
        </p:sp>
        <p:sp>
          <p:nvSpPr>
            <p:cNvPr id="27" name="Line">
              <a:extLst>
                <a:ext uri="{FF2B5EF4-FFF2-40B4-BE49-F238E27FC236}">
                  <a16:creationId xmlns:a16="http://schemas.microsoft.com/office/drawing/2014/main" id="{927DA901-72D1-16D6-D516-EFFC66E8DE6F}"/>
                </a:ext>
              </a:extLst>
            </p:cNvPr>
            <p:cNvSpPr/>
            <p:nvPr/>
          </p:nvSpPr>
          <p:spPr>
            <a:xfrm>
              <a:off x="88271" y="-411406"/>
              <a:ext cx="1350009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6971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199"/>
            </a:p>
          </p:txBody>
        </p:sp>
        <p:sp>
          <p:nvSpPr>
            <p:cNvPr id="29" name="http://tutorials.iq.harvard.edu/R/Rgraphics/Rgraphics.html">
              <a:extLst>
                <a:ext uri="{FF2B5EF4-FFF2-40B4-BE49-F238E27FC236}">
                  <a16:creationId xmlns:a16="http://schemas.microsoft.com/office/drawing/2014/main" id="{AEB39AAF-25A7-743C-3F6A-8B793C4CAE41}"/>
                </a:ext>
              </a:extLst>
            </p:cNvPr>
            <p:cNvSpPr txBox="1"/>
            <p:nvPr/>
          </p:nvSpPr>
          <p:spPr>
            <a:xfrm>
              <a:off x="1631404" y="-641240"/>
              <a:ext cx="6551479" cy="783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6" tIns="45696" rIns="45696" bIns="45696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199"/>
                <a:t>http://tutorials.iq.harvard.edu/R/Rgraphics/Rgraphics.html</a:t>
              </a:r>
            </a:p>
          </p:txBody>
        </p:sp>
      </p:grpSp>
      <p:grpSp>
        <p:nvGrpSpPr>
          <p:cNvPr id="91" name="Group">
            <a:extLst>
              <a:ext uri="{FF2B5EF4-FFF2-40B4-BE49-F238E27FC236}">
                <a16:creationId xmlns:a16="http://schemas.microsoft.com/office/drawing/2014/main" id="{DE54571A-2A40-DE4F-B620-4FFEF9FB7726}"/>
              </a:ext>
            </a:extLst>
          </p:cNvPr>
          <p:cNvGrpSpPr/>
          <p:nvPr/>
        </p:nvGrpSpPr>
        <p:grpSpPr>
          <a:xfrm>
            <a:off x="17212232" y="7986490"/>
            <a:ext cx="6738894" cy="4225842"/>
            <a:chOff x="210157" y="75512"/>
            <a:chExt cx="4668163" cy="2577733"/>
          </a:xfrm>
        </p:grpSpPr>
        <p:sp>
          <p:nvSpPr>
            <p:cNvPr id="93" name="APPLY TO MODEL">
              <a:extLst>
                <a:ext uri="{FF2B5EF4-FFF2-40B4-BE49-F238E27FC236}">
                  <a16:creationId xmlns:a16="http://schemas.microsoft.com/office/drawing/2014/main" id="{2FF15B1D-BF04-D904-F187-D80FDCB9FF28}"/>
                </a:ext>
              </a:extLst>
            </p:cNvPr>
            <p:cNvSpPr txBox="1"/>
            <p:nvPr/>
          </p:nvSpPr>
          <p:spPr>
            <a:xfrm>
              <a:off x="779550" y="75512"/>
              <a:ext cx="3352218" cy="716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91390" tIns="91390" rIns="91390" bIns="91390" numCol="1" anchor="t">
              <a:noAutofit/>
            </a:bodyPr>
            <a:lstStyle>
              <a:lvl1pPr>
                <a:defRPr sz="29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lang="en-US" sz="3600"/>
                <a:t>Aesthetics</a:t>
              </a:r>
              <a:endParaRPr sz="3600"/>
            </a:p>
          </p:txBody>
        </p:sp>
        <p:sp>
          <p:nvSpPr>
            <p:cNvPr id="94" name="summary(), anova(), confint(), predict(), drop1(), update(), step(), …">
              <a:extLst>
                <a:ext uri="{FF2B5EF4-FFF2-40B4-BE49-F238E27FC236}">
                  <a16:creationId xmlns:a16="http://schemas.microsoft.com/office/drawing/2014/main" id="{17F12F9E-CA0C-D378-AFA4-49AA1A5E7296}"/>
                </a:ext>
              </a:extLst>
            </p:cNvPr>
            <p:cNvSpPr txBox="1"/>
            <p:nvPr/>
          </p:nvSpPr>
          <p:spPr>
            <a:xfrm>
              <a:off x="210157" y="555355"/>
              <a:ext cx="4668163" cy="20978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91390" tIns="91390" rIns="91390" bIns="91390" numCol="1" anchor="t">
              <a:noAutofit/>
            </a:bodyPr>
            <a:lstStyle>
              <a:lvl1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rPr lang="en-US" sz="3600"/>
                <a:t>Mapping variables to groups or magnitudes - color, fill, group (all grouping variable), size, shape, etc. 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AE3F7636-347E-1599-7CB5-2AAF67A7EBFF}"/>
              </a:ext>
            </a:extLst>
          </p:cNvPr>
          <p:cNvSpPr txBox="1"/>
          <p:nvPr/>
        </p:nvSpPr>
        <p:spPr>
          <a:xfrm>
            <a:off x="1618610" y="10815946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THEME+LABS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C83A45-925B-C8F7-C60D-43E9D7C8642F}"/>
              </a:ext>
            </a:extLst>
          </p:cNvPr>
          <p:cNvGrpSpPr/>
          <p:nvPr/>
        </p:nvGrpSpPr>
        <p:grpSpPr>
          <a:xfrm>
            <a:off x="12812841" y="8430211"/>
            <a:ext cx="10178819" cy="4013609"/>
            <a:chOff x="12812841" y="9161730"/>
            <a:chExt cx="10178819" cy="3021602"/>
          </a:xfrm>
        </p:grpSpPr>
        <p:grpSp>
          <p:nvGrpSpPr>
            <p:cNvPr id="14" name="Group">
              <a:extLst>
                <a:ext uri="{FF2B5EF4-FFF2-40B4-BE49-F238E27FC236}">
                  <a16:creationId xmlns:a16="http://schemas.microsoft.com/office/drawing/2014/main" id="{5C35E843-293B-E448-58B8-A26CECEA47CD}"/>
                </a:ext>
              </a:extLst>
            </p:cNvPr>
            <p:cNvGrpSpPr/>
            <p:nvPr/>
          </p:nvGrpSpPr>
          <p:grpSpPr>
            <a:xfrm>
              <a:off x="18034200" y="9161730"/>
              <a:ext cx="4957460" cy="3011298"/>
              <a:chOff x="0" y="0"/>
              <a:chExt cx="4957458" cy="3011297"/>
            </a:xfrm>
          </p:grpSpPr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86ADB342-FF6D-945C-7357-3A577784187E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4957458" cy="3011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05" y="21600"/>
                    </a:moveTo>
                    <a:cubicBezTo>
                      <a:pt x="1239" y="21600"/>
                      <a:pt x="1239" y="21600"/>
                      <a:pt x="1239" y="21600"/>
                    </a:cubicBezTo>
                    <a:cubicBezTo>
                      <a:pt x="531" y="21600"/>
                      <a:pt x="0" y="21069"/>
                      <a:pt x="0" y="20361"/>
                    </a:cubicBezTo>
                    <a:cubicBezTo>
                      <a:pt x="0" y="1195"/>
                      <a:pt x="0" y="1195"/>
                      <a:pt x="0" y="1195"/>
                    </a:cubicBezTo>
                    <a:cubicBezTo>
                      <a:pt x="0" y="531"/>
                      <a:pt x="531" y="0"/>
                      <a:pt x="1239" y="0"/>
                    </a:cubicBezTo>
                    <a:cubicBezTo>
                      <a:pt x="20405" y="0"/>
                      <a:pt x="20405" y="0"/>
                      <a:pt x="20405" y="0"/>
                    </a:cubicBezTo>
                    <a:cubicBezTo>
                      <a:pt x="21069" y="0"/>
                      <a:pt x="21600" y="531"/>
                      <a:pt x="21600" y="1195"/>
                    </a:cubicBezTo>
                    <a:cubicBezTo>
                      <a:pt x="21600" y="20361"/>
                      <a:pt x="21600" y="20361"/>
                      <a:pt x="21600" y="20361"/>
                    </a:cubicBezTo>
                    <a:cubicBezTo>
                      <a:pt x="21600" y="21069"/>
                      <a:pt x="21069" y="21600"/>
                      <a:pt x="20405" y="21600"/>
                    </a:cubicBezTo>
                    <a:close/>
                  </a:path>
                </a:pathLst>
              </a:cu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21" name="APPLY TO MODEL">
                <a:extLst>
                  <a:ext uri="{FF2B5EF4-FFF2-40B4-BE49-F238E27FC236}">
                    <a16:creationId xmlns:a16="http://schemas.microsoft.com/office/drawing/2014/main" id="{9C7A466A-F1D8-9FD1-83EB-95D2A8954259}"/>
                  </a:ext>
                </a:extLst>
              </p:cNvPr>
              <p:cNvSpPr txBox="1"/>
              <p:nvPr/>
            </p:nvSpPr>
            <p:spPr>
              <a:xfrm>
                <a:off x="832308" y="284569"/>
                <a:ext cx="3352218" cy="7168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2900" b="1">
                    <a:solidFill>
                      <a:srgbClr val="FFFFFF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lang="da-DK" err="1"/>
                  <a:t>Geoms</a:t>
                </a:r>
                <a:endParaRPr/>
              </a:p>
            </p:txBody>
          </p:sp>
          <p:sp>
            <p:nvSpPr>
              <p:cNvPr id="22" name="summary(), anova(), confint(), predict(), drop1(), update(), step(), …">
                <a:extLst>
                  <a:ext uri="{FF2B5EF4-FFF2-40B4-BE49-F238E27FC236}">
                    <a16:creationId xmlns:a16="http://schemas.microsoft.com/office/drawing/2014/main" id="{00D7971E-1CED-3D52-B073-CE171D6D9D1A}"/>
                  </a:ext>
                </a:extLst>
              </p:cNvPr>
              <p:cNvSpPr txBox="1"/>
              <p:nvPr/>
            </p:nvSpPr>
            <p:spPr>
              <a:xfrm>
                <a:off x="527799" y="861512"/>
                <a:ext cx="4144289" cy="20978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2500">
                    <a:solidFill>
                      <a:srgbClr val="FFFFFF"/>
                    </a:solidFill>
                    <a:latin typeface="Courier"/>
                    <a:ea typeface="Courier"/>
                    <a:cs typeface="Courier"/>
                    <a:sym typeface="Courier"/>
                  </a:defRPr>
                </a:lvl1pPr>
              </a:lstStyle>
              <a:p>
                <a:r>
                  <a:rPr lang="en-US" sz="2800" err="1"/>
                  <a:t>geom_point</a:t>
                </a:r>
                <a:r>
                  <a:rPr lang="en-US" sz="2800"/>
                  <a:t>() </a:t>
                </a:r>
              </a:p>
              <a:p>
                <a:r>
                  <a:rPr lang="en-US" sz="2800" err="1"/>
                  <a:t>geom_boxplot</a:t>
                </a:r>
                <a:r>
                  <a:rPr lang="en-US" sz="2800"/>
                  <a:t>()</a:t>
                </a:r>
              </a:p>
              <a:p>
                <a:r>
                  <a:rPr lang="en-US" sz="2800" err="1"/>
                  <a:t>geom_histogram</a:t>
                </a:r>
                <a:r>
                  <a:rPr lang="en-US" sz="2800"/>
                  <a:t>()</a:t>
                </a:r>
              </a:p>
              <a:p>
                <a:r>
                  <a:rPr lang="en-US" sz="2800"/>
                  <a:t>Inherit global aesthetics, Overlay</a:t>
                </a:r>
              </a:p>
            </p:txBody>
          </p:sp>
        </p:grpSp>
        <p:grpSp>
          <p:nvGrpSpPr>
            <p:cNvPr id="24" name="Group">
              <a:extLst>
                <a:ext uri="{FF2B5EF4-FFF2-40B4-BE49-F238E27FC236}">
                  <a16:creationId xmlns:a16="http://schemas.microsoft.com/office/drawing/2014/main" id="{0A70E1F1-496D-9156-240E-9BEF5695FD49}"/>
                </a:ext>
              </a:extLst>
            </p:cNvPr>
            <p:cNvGrpSpPr/>
            <p:nvPr/>
          </p:nvGrpSpPr>
          <p:grpSpPr>
            <a:xfrm>
              <a:off x="12812841" y="9172034"/>
              <a:ext cx="4957460" cy="3011298"/>
              <a:chOff x="0" y="0"/>
              <a:chExt cx="4957458" cy="3011297"/>
            </a:xfrm>
          </p:grpSpPr>
          <p:sp>
            <p:nvSpPr>
              <p:cNvPr id="25" name="Freeform 8">
                <a:extLst>
                  <a:ext uri="{FF2B5EF4-FFF2-40B4-BE49-F238E27FC236}">
                    <a16:creationId xmlns:a16="http://schemas.microsoft.com/office/drawing/2014/main" id="{21A2910C-3874-7BB9-042E-F3ED4CFBBDC6}"/>
                  </a:ext>
                </a:extLst>
              </p:cNvPr>
              <p:cNvSpPr/>
              <p:nvPr/>
            </p:nvSpPr>
            <p:spPr>
              <a:xfrm rot="10800000" flipH="1">
                <a:off x="0" y="0"/>
                <a:ext cx="4957458" cy="3011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05" y="21600"/>
                    </a:moveTo>
                    <a:cubicBezTo>
                      <a:pt x="1239" y="21600"/>
                      <a:pt x="1239" y="21600"/>
                      <a:pt x="1239" y="21600"/>
                    </a:cubicBezTo>
                    <a:cubicBezTo>
                      <a:pt x="531" y="21600"/>
                      <a:pt x="0" y="21069"/>
                      <a:pt x="0" y="20361"/>
                    </a:cubicBezTo>
                    <a:cubicBezTo>
                      <a:pt x="0" y="1195"/>
                      <a:pt x="0" y="1195"/>
                      <a:pt x="0" y="1195"/>
                    </a:cubicBezTo>
                    <a:cubicBezTo>
                      <a:pt x="0" y="531"/>
                      <a:pt x="531" y="0"/>
                      <a:pt x="1239" y="0"/>
                    </a:cubicBezTo>
                    <a:cubicBezTo>
                      <a:pt x="20405" y="0"/>
                      <a:pt x="20405" y="0"/>
                      <a:pt x="20405" y="0"/>
                    </a:cubicBezTo>
                    <a:cubicBezTo>
                      <a:pt x="21069" y="0"/>
                      <a:pt x="21600" y="531"/>
                      <a:pt x="21600" y="1195"/>
                    </a:cubicBezTo>
                    <a:cubicBezTo>
                      <a:pt x="21600" y="20361"/>
                      <a:pt x="21600" y="20361"/>
                      <a:pt x="21600" y="20361"/>
                    </a:cubicBezTo>
                    <a:cubicBezTo>
                      <a:pt x="21600" y="21069"/>
                      <a:pt x="21069" y="21600"/>
                      <a:pt x="20405" y="21600"/>
                    </a:cubicBezTo>
                    <a:close/>
                  </a:path>
                </a:pathLst>
              </a:cu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414042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26" name="APPLY TO MODEL">
                <a:extLst>
                  <a:ext uri="{FF2B5EF4-FFF2-40B4-BE49-F238E27FC236}">
                    <a16:creationId xmlns:a16="http://schemas.microsoft.com/office/drawing/2014/main" id="{EF0AE870-64D2-C386-8792-D95F5DC32E75}"/>
                  </a:ext>
                </a:extLst>
              </p:cNvPr>
              <p:cNvSpPr txBox="1"/>
              <p:nvPr/>
            </p:nvSpPr>
            <p:spPr>
              <a:xfrm>
                <a:off x="832308" y="284569"/>
                <a:ext cx="3352218" cy="7168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2900" b="1">
                    <a:solidFill>
                      <a:srgbClr val="FFFFFF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rPr lang="da-DK" err="1"/>
                  <a:t>Aesthetics</a:t>
                </a:r>
                <a:endParaRPr/>
              </a:p>
            </p:txBody>
          </p:sp>
          <p:sp>
            <p:nvSpPr>
              <p:cNvPr id="30" name="summary(), anova(), confint(), predict(), drop1(), update(), step(), …">
                <a:extLst>
                  <a:ext uri="{FF2B5EF4-FFF2-40B4-BE49-F238E27FC236}">
                    <a16:creationId xmlns:a16="http://schemas.microsoft.com/office/drawing/2014/main" id="{B73ECFB1-B04D-C4BB-C512-AF5A36A9376A}"/>
                  </a:ext>
                </a:extLst>
              </p:cNvPr>
              <p:cNvSpPr txBox="1"/>
              <p:nvPr/>
            </p:nvSpPr>
            <p:spPr>
              <a:xfrm>
                <a:off x="527799" y="861512"/>
                <a:ext cx="4144289" cy="20978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2500">
                    <a:solidFill>
                      <a:srgbClr val="FFFFFF"/>
                    </a:solidFill>
                    <a:latin typeface="Courier"/>
                    <a:ea typeface="Courier"/>
                    <a:cs typeface="Courier"/>
                    <a:sym typeface="Courier"/>
                  </a:defRPr>
                </a:lvl1pPr>
              </a:lstStyle>
              <a:p>
                <a:r>
                  <a:rPr lang="en-US" sz="2800"/>
                  <a:t>Mapping variables to groups or magnitudes - color, fill, group (all grouping variable), size, shape, etc. 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A8D22B-8BE5-0D3A-2AE7-10C6D7A6804B}"/>
              </a:ext>
            </a:extLst>
          </p:cNvPr>
          <p:cNvGrpSpPr/>
          <p:nvPr/>
        </p:nvGrpSpPr>
        <p:grpSpPr>
          <a:xfrm>
            <a:off x="10269668" y="5311041"/>
            <a:ext cx="12639808" cy="2420368"/>
            <a:chOff x="9379332" y="4974159"/>
            <a:chExt cx="12639808" cy="242036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6FED3DE-8B68-375B-B2F2-B49A9191EF8D}"/>
                </a:ext>
              </a:extLst>
            </p:cNvPr>
            <p:cNvSpPr txBox="1"/>
            <p:nvPr/>
          </p:nvSpPr>
          <p:spPr>
            <a:xfrm>
              <a:off x="9379332" y="4974159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ggplot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(data,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FEDD78-3797-070F-4CA0-F7728DD9952B}"/>
                </a:ext>
              </a:extLst>
            </p:cNvPr>
            <p:cNvSpPr txBox="1"/>
            <p:nvPr/>
          </p:nvSpPr>
          <p:spPr>
            <a:xfrm>
              <a:off x="11296333" y="5542809"/>
              <a:ext cx="1072280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aes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(X, Y, </a:t>
              </a:r>
            </a:p>
            <a:p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color, fill, size, group, alpha..)) </a:t>
              </a:r>
              <a:r>
                <a:rPr lang="en-US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E51ECA9-2669-8E19-3F9D-78568AEC0DF1}"/>
                </a:ext>
              </a:extLst>
            </p:cNvPr>
            <p:cNvSpPr txBox="1"/>
            <p:nvPr/>
          </p:nvSpPr>
          <p:spPr>
            <a:xfrm>
              <a:off x="9892016" y="6748196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geom_line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 </a:t>
              </a:r>
              <a:endParaRPr lang="en-US" b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9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6DB7-0786-DE6E-112D-D76EA14E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3901CEDE-1F9F-056A-C15E-629236CE85AC}"/>
              </a:ext>
            </a:extLst>
          </p:cNvPr>
          <p:cNvSpPr/>
          <p:nvPr/>
        </p:nvSpPr>
        <p:spPr>
          <a:xfrm>
            <a:off x="-23025" y="-49712"/>
            <a:ext cx="24394326" cy="3923919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696" rIns="45696" anchor="ctr"/>
          <a:lstStyle/>
          <a:p>
            <a:endParaRPr sz="1799"/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id="{A545C661-1207-3E2A-FE7B-CF0FE3E79229}"/>
              </a:ext>
            </a:extLst>
          </p:cNvPr>
          <p:cNvGrpSpPr/>
          <p:nvPr/>
        </p:nvGrpSpPr>
        <p:grpSpPr>
          <a:xfrm>
            <a:off x="614413" y="750413"/>
            <a:ext cx="13025466" cy="2845825"/>
            <a:chOff x="0" y="-641239"/>
            <a:chExt cx="8182882" cy="3393032"/>
          </a:xfrm>
        </p:grpSpPr>
        <p:sp>
          <p:nvSpPr>
            <p:cNvPr id="4" name="GGPLOT2…">
              <a:extLst>
                <a:ext uri="{FF2B5EF4-FFF2-40B4-BE49-F238E27FC236}">
                  <a16:creationId xmlns:a16="http://schemas.microsoft.com/office/drawing/2014/main" id="{FC87DE22-296C-388C-4D29-7F0D0FC70A0C}"/>
                </a:ext>
              </a:extLst>
            </p:cNvPr>
            <p:cNvSpPr txBox="1"/>
            <p:nvPr/>
          </p:nvSpPr>
          <p:spPr>
            <a:xfrm>
              <a:off x="0" y="570639"/>
              <a:ext cx="7509824" cy="21811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6" tIns="45696" rIns="45696" bIns="45696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4998"/>
                <a:t>GGPLOT2</a:t>
              </a:r>
            </a:p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4998"/>
                <a:t>ADDITIVE STRUCTURE</a:t>
              </a:r>
            </a:p>
          </p:txBody>
        </p:sp>
        <p:sp>
          <p:nvSpPr>
            <p:cNvPr id="27" name="Line">
              <a:extLst>
                <a:ext uri="{FF2B5EF4-FFF2-40B4-BE49-F238E27FC236}">
                  <a16:creationId xmlns:a16="http://schemas.microsoft.com/office/drawing/2014/main" id="{A87BD1E4-AEB7-52AB-E8D8-5F27C8303630}"/>
                </a:ext>
              </a:extLst>
            </p:cNvPr>
            <p:cNvSpPr/>
            <p:nvPr/>
          </p:nvSpPr>
          <p:spPr>
            <a:xfrm>
              <a:off x="88271" y="-411406"/>
              <a:ext cx="1350009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6971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199"/>
            </a:p>
          </p:txBody>
        </p:sp>
        <p:sp>
          <p:nvSpPr>
            <p:cNvPr id="29" name="http://tutorials.iq.harvard.edu/R/Rgraphics/Rgraphics.html">
              <a:extLst>
                <a:ext uri="{FF2B5EF4-FFF2-40B4-BE49-F238E27FC236}">
                  <a16:creationId xmlns:a16="http://schemas.microsoft.com/office/drawing/2014/main" id="{B37C55E1-46DF-4FD0-24B7-DBD05BF4CE27}"/>
                </a:ext>
              </a:extLst>
            </p:cNvPr>
            <p:cNvSpPr txBox="1"/>
            <p:nvPr/>
          </p:nvSpPr>
          <p:spPr>
            <a:xfrm>
              <a:off x="1631404" y="-641240"/>
              <a:ext cx="6551479" cy="783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6" tIns="45696" rIns="45696" bIns="45696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199"/>
                <a:t>http://tutorials.iq.harvard.edu/R/Rgraphics/Rgraphics.html</a:t>
              </a:r>
            </a:p>
          </p:txBody>
        </p:sp>
      </p:grpSp>
      <p:sp>
        <p:nvSpPr>
          <p:cNvPr id="40" name="Rounded Rectangle">
            <a:extLst>
              <a:ext uri="{FF2B5EF4-FFF2-40B4-BE49-F238E27FC236}">
                <a16:creationId xmlns:a16="http://schemas.microsoft.com/office/drawing/2014/main" id="{C383ABF5-844E-15A6-577E-FB8A3A780409}"/>
              </a:ext>
            </a:extLst>
          </p:cNvPr>
          <p:cNvSpPr/>
          <p:nvPr/>
        </p:nvSpPr>
        <p:spPr>
          <a:xfrm>
            <a:off x="9892016" y="7701179"/>
            <a:ext cx="5601675" cy="5173544"/>
          </a:xfrm>
          <a:prstGeom prst="rect">
            <a:avLst/>
          </a:prstGeom>
          <a:solidFill>
            <a:srgbClr val="FFFFFF"/>
          </a:solidFill>
          <a:ln w="76200">
            <a:solidFill>
              <a:schemeClr val="bg1"/>
            </a:solidFill>
            <a:miter lim="400000"/>
          </a:ln>
        </p:spPr>
        <p:txBody>
          <a:bodyPr lIns="91390" rIns="91390" anchor="ctr"/>
          <a:lstStyle/>
          <a:p>
            <a:endParaRPr/>
          </a:p>
        </p:txBody>
      </p:sp>
      <p:sp>
        <p:nvSpPr>
          <p:cNvPr id="41" name="Rounded Rectangle">
            <a:extLst>
              <a:ext uri="{FF2B5EF4-FFF2-40B4-BE49-F238E27FC236}">
                <a16:creationId xmlns:a16="http://schemas.microsoft.com/office/drawing/2014/main" id="{54B618E6-6C55-E70A-929E-F31AE12443E8}"/>
              </a:ext>
            </a:extLst>
          </p:cNvPr>
          <p:cNvSpPr/>
          <p:nvPr/>
        </p:nvSpPr>
        <p:spPr>
          <a:xfrm>
            <a:off x="17051645" y="7701180"/>
            <a:ext cx="5601675" cy="5190453"/>
          </a:xfrm>
          <a:prstGeom prst="rect">
            <a:avLst/>
          </a:prstGeom>
          <a:solidFill>
            <a:srgbClr val="FFFFFF"/>
          </a:solidFill>
          <a:ln w="76200">
            <a:solidFill>
              <a:schemeClr val="bg1"/>
            </a:solidFill>
            <a:miter lim="400000"/>
          </a:ln>
        </p:spPr>
        <p:txBody>
          <a:bodyPr lIns="91390" rIns="91390" anchor="ctr"/>
          <a:lstStyle/>
          <a:p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4442999-2E1C-5D4C-20E2-E8384CE2B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35"/>
          <a:stretch>
            <a:fillRect/>
          </a:stretch>
        </p:blipFill>
        <p:spPr>
          <a:xfrm>
            <a:off x="17169700" y="7789396"/>
            <a:ext cx="5385164" cy="4939468"/>
          </a:xfrm>
          <a:prstGeom prst="roundRect">
            <a:avLst/>
          </a:prstGeom>
        </p:spPr>
      </p:pic>
      <p:pic>
        <p:nvPicPr>
          <p:cNvPr id="43" name="Picture 2" descr="散点图和拟合线条-杭州善思耳医学科技有限公司">
            <a:extLst>
              <a:ext uri="{FF2B5EF4-FFF2-40B4-BE49-F238E27FC236}">
                <a16:creationId xmlns:a16="http://schemas.microsoft.com/office/drawing/2014/main" id="{79D050A2-D5AB-E165-BE51-3137A28AF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913" y="8421567"/>
            <a:ext cx="4501106" cy="392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ight Arrow 43">
            <a:extLst>
              <a:ext uri="{FF2B5EF4-FFF2-40B4-BE49-F238E27FC236}">
                <a16:creationId xmlns:a16="http://schemas.microsoft.com/office/drawing/2014/main" id="{C74E38E2-3865-2488-723F-18FCF5822685}"/>
              </a:ext>
            </a:extLst>
          </p:cNvPr>
          <p:cNvSpPr/>
          <p:nvPr/>
        </p:nvSpPr>
        <p:spPr>
          <a:xfrm>
            <a:off x="15784120" y="9866721"/>
            <a:ext cx="1161785" cy="530653"/>
          </a:xfrm>
          <a:prstGeom prst="rightArrow">
            <a:avLst/>
          </a:prstGeom>
          <a:solidFill>
            <a:srgbClr val="3645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075BF1-44DD-8D2C-9434-BFC81A111B86}"/>
              </a:ext>
            </a:extLst>
          </p:cNvPr>
          <p:cNvGrpSpPr/>
          <p:nvPr/>
        </p:nvGrpSpPr>
        <p:grpSpPr>
          <a:xfrm>
            <a:off x="4793920" y="5058998"/>
            <a:ext cx="4812697" cy="6762656"/>
            <a:chOff x="4165424" y="4858269"/>
            <a:chExt cx="4812697" cy="6762656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F7256FA0-0867-EE0F-D452-2B21275582F1}"/>
                </a:ext>
              </a:extLst>
            </p:cNvPr>
            <p:cNvSpPr/>
            <p:nvPr/>
          </p:nvSpPr>
          <p:spPr>
            <a:xfrm>
              <a:off x="4165424" y="10358023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1B35CFC-2445-CD8B-8AE4-2A12CD19985E}"/>
                </a:ext>
              </a:extLst>
            </p:cNvPr>
            <p:cNvSpPr/>
            <p:nvPr/>
          </p:nvSpPr>
          <p:spPr>
            <a:xfrm>
              <a:off x="4192555" y="9391228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747193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9E5EEB17-8EEE-B47E-3E11-7165A4DF02BA}"/>
                </a:ext>
              </a:extLst>
            </p:cNvPr>
            <p:cNvSpPr/>
            <p:nvPr/>
          </p:nvSpPr>
          <p:spPr>
            <a:xfrm>
              <a:off x="4192555" y="8485567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364556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E2343AFF-1874-3F29-EF8C-36464181310E}"/>
                </a:ext>
              </a:extLst>
            </p:cNvPr>
            <p:cNvSpPr/>
            <p:nvPr/>
          </p:nvSpPr>
          <p:spPr>
            <a:xfrm>
              <a:off x="4211837" y="7557495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81A48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E7DF40C3-F5A0-A267-85CD-7CDBB17ADF30}"/>
                </a:ext>
              </a:extLst>
            </p:cNvPr>
            <p:cNvSpPr/>
            <p:nvPr/>
          </p:nvSpPr>
          <p:spPr>
            <a:xfrm>
              <a:off x="4200655" y="6627059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7893B7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0CBF836D-B2CE-70A2-DEE7-884E88B5FA68}"/>
                </a:ext>
              </a:extLst>
            </p:cNvPr>
            <p:cNvSpPr/>
            <p:nvPr/>
          </p:nvSpPr>
          <p:spPr>
            <a:xfrm>
              <a:off x="4194193" y="5731247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E7B171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31953957-5D00-3F3B-2538-9BF0D2607DC7}"/>
                </a:ext>
              </a:extLst>
            </p:cNvPr>
            <p:cNvSpPr/>
            <p:nvPr/>
          </p:nvSpPr>
          <p:spPr>
            <a:xfrm>
              <a:off x="4192937" y="4858269"/>
              <a:ext cx="4766284" cy="1262902"/>
            </a:xfrm>
            <a:prstGeom prst="parallelogram">
              <a:avLst>
                <a:gd name="adj" fmla="val 54851"/>
              </a:avLst>
            </a:prstGeom>
            <a:solidFill>
              <a:srgbClr val="AF676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BA72567-FB0E-396E-7A67-32EEF45CE7DF}"/>
              </a:ext>
            </a:extLst>
          </p:cNvPr>
          <p:cNvSpPr txBox="1"/>
          <p:nvPr/>
        </p:nvSpPr>
        <p:spPr>
          <a:xfrm>
            <a:off x="2157008" y="5319026"/>
            <a:ext cx="212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4B585D-21EF-EA20-7D3C-B83A867947BB}"/>
              </a:ext>
            </a:extLst>
          </p:cNvPr>
          <p:cNvSpPr txBox="1"/>
          <p:nvPr/>
        </p:nvSpPr>
        <p:spPr>
          <a:xfrm>
            <a:off x="1675164" y="6233645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AESTHETICS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5BB332-F9C8-C1E8-F04C-04CFA1ECA3C1}"/>
              </a:ext>
            </a:extLst>
          </p:cNvPr>
          <p:cNvSpPr txBox="1"/>
          <p:nvPr/>
        </p:nvSpPr>
        <p:spPr>
          <a:xfrm>
            <a:off x="2293292" y="8079613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FACETS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FC26B6-2BBD-7E66-4B5C-7015EDD3B558}"/>
              </a:ext>
            </a:extLst>
          </p:cNvPr>
          <p:cNvSpPr txBox="1"/>
          <p:nvPr/>
        </p:nvSpPr>
        <p:spPr>
          <a:xfrm>
            <a:off x="1633264" y="7133031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GEOMETRIES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52640E-A9BF-1781-0940-BD962C1251F9}"/>
              </a:ext>
            </a:extLst>
          </p:cNvPr>
          <p:cNvSpPr txBox="1"/>
          <p:nvPr/>
        </p:nvSpPr>
        <p:spPr>
          <a:xfrm>
            <a:off x="2280291" y="8954440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10BBDF-DDC1-D62D-2E70-49393E810C7F}"/>
              </a:ext>
            </a:extLst>
          </p:cNvPr>
          <p:cNvSpPr txBox="1"/>
          <p:nvPr/>
        </p:nvSpPr>
        <p:spPr>
          <a:xfrm>
            <a:off x="1921654" y="9890785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STATISTICS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58EB51-457F-F34F-1118-3D70B8AB9DBB}"/>
              </a:ext>
            </a:extLst>
          </p:cNvPr>
          <p:cNvSpPr txBox="1"/>
          <p:nvPr/>
        </p:nvSpPr>
        <p:spPr>
          <a:xfrm>
            <a:off x="1618610" y="10815946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THEME+LABS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503CA68-1C4A-EF7A-E9F7-AF04DD262DA7}"/>
              </a:ext>
            </a:extLst>
          </p:cNvPr>
          <p:cNvGrpSpPr/>
          <p:nvPr/>
        </p:nvGrpSpPr>
        <p:grpSpPr>
          <a:xfrm>
            <a:off x="10269668" y="5311041"/>
            <a:ext cx="12639808" cy="2420368"/>
            <a:chOff x="9379332" y="4974159"/>
            <a:chExt cx="12639808" cy="242036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0EBEE7-DDE3-8FA8-B42E-69A9CADCD5E0}"/>
                </a:ext>
              </a:extLst>
            </p:cNvPr>
            <p:cNvSpPr txBox="1"/>
            <p:nvPr/>
          </p:nvSpPr>
          <p:spPr>
            <a:xfrm>
              <a:off x="9379332" y="4974159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ggplot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(data,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2AB2DB9-CA0B-CB52-F701-B8F2EC8A1B79}"/>
                </a:ext>
              </a:extLst>
            </p:cNvPr>
            <p:cNvSpPr txBox="1"/>
            <p:nvPr/>
          </p:nvSpPr>
          <p:spPr>
            <a:xfrm>
              <a:off x="11296333" y="5542809"/>
              <a:ext cx="1072280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aes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(X, Y, </a:t>
              </a:r>
            </a:p>
            <a:p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color, fill, size, group, alpha..)) </a:t>
              </a:r>
              <a:r>
                <a:rPr lang="en-US" b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C850B2-643F-2DCC-9B54-D1F68A4B385D}"/>
                </a:ext>
              </a:extLst>
            </p:cNvPr>
            <p:cNvSpPr txBox="1"/>
            <p:nvPr/>
          </p:nvSpPr>
          <p:spPr>
            <a:xfrm>
              <a:off x="9892016" y="6748196"/>
              <a:ext cx="32351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geom_line</a:t>
              </a:r>
              <a:r>
                <a:rPr lang="en-US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lang="en-US" b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965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19C6-1562-A861-6840-73AAEC9C5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">
            <a:extLst>
              <a:ext uri="{FF2B5EF4-FFF2-40B4-BE49-F238E27FC236}">
                <a16:creationId xmlns:a16="http://schemas.microsoft.com/office/drawing/2014/main" id="{8DC4794F-A165-AF76-0CE1-747792C26E43}"/>
              </a:ext>
            </a:extLst>
          </p:cNvPr>
          <p:cNvSpPr/>
          <p:nvPr/>
        </p:nvSpPr>
        <p:spPr>
          <a:xfrm>
            <a:off x="-146892" y="-27802"/>
            <a:ext cx="24665084" cy="452248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93" name="Group">
            <a:extLst>
              <a:ext uri="{FF2B5EF4-FFF2-40B4-BE49-F238E27FC236}">
                <a16:creationId xmlns:a16="http://schemas.microsoft.com/office/drawing/2014/main" id="{53F3C10A-148D-F9C2-0799-B250DC40D753}"/>
              </a:ext>
            </a:extLst>
          </p:cNvPr>
          <p:cNvGrpSpPr/>
          <p:nvPr/>
        </p:nvGrpSpPr>
        <p:grpSpPr>
          <a:xfrm>
            <a:off x="5517695" y="1337704"/>
            <a:ext cx="15752538" cy="3716297"/>
            <a:chOff x="-1203197" y="237250"/>
            <a:chExt cx="15752537" cy="3716295"/>
          </a:xfrm>
        </p:grpSpPr>
        <p:sp>
          <p:nvSpPr>
            <p:cNvPr id="390" name="LET’S GET STARTED">
              <a:extLst>
                <a:ext uri="{FF2B5EF4-FFF2-40B4-BE49-F238E27FC236}">
                  <a16:creationId xmlns:a16="http://schemas.microsoft.com/office/drawing/2014/main" id="{3AE37F62-9F6A-E4B1-A2B5-46E1D0EA1FD0}"/>
                </a:ext>
              </a:extLst>
            </p:cNvPr>
            <p:cNvSpPr txBox="1"/>
            <p:nvPr/>
          </p:nvSpPr>
          <p:spPr>
            <a:xfrm>
              <a:off x="-1203197" y="894542"/>
              <a:ext cx="15752537" cy="305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8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>
                <a:defRPr sz="9000"/>
              </a:pPr>
              <a:r>
                <a:rPr lang="da-DK" sz="8000"/>
                <a:t>LIVE CODING 3 – GGPLOT 2</a:t>
              </a:r>
              <a:endParaRPr sz="8000"/>
            </a:p>
          </p:txBody>
        </p:sp>
        <p:sp>
          <p:nvSpPr>
            <p:cNvPr id="391" name="FROM EXCEL TO R">
              <a:extLst>
                <a:ext uri="{FF2B5EF4-FFF2-40B4-BE49-F238E27FC236}">
                  <a16:creationId xmlns:a16="http://schemas.microsoft.com/office/drawing/2014/main" id="{65C32466-C0B1-AB48-A611-73CADDD87472}"/>
                </a:ext>
              </a:extLst>
            </p:cNvPr>
            <p:cNvSpPr txBox="1"/>
            <p:nvPr/>
          </p:nvSpPr>
          <p:spPr>
            <a:xfrm>
              <a:off x="1035214" y="237250"/>
              <a:ext cx="7185392" cy="675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392" name="Line">
              <a:extLst>
                <a:ext uri="{FF2B5EF4-FFF2-40B4-BE49-F238E27FC236}">
                  <a16:creationId xmlns:a16="http://schemas.microsoft.com/office/drawing/2014/main" id="{7B838786-390C-E494-C753-F776D8CCC2A3}"/>
                </a:ext>
              </a:extLst>
            </p:cNvPr>
            <p:cNvSpPr/>
            <p:nvPr/>
          </p:nvSpPr>
          <p:spPr>
            <a:xfrm>
              <a:off x="-1203197" y="456064"/>
              <a:ext cx="1893346" cy="1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5" name="Grafik 4" descr="Programmør med massiv udfyldning">
            <a:extLst>
              <a:ext uri="{FF2B5EF4-FFF2-40B4-BE49-F238E27FC236}">
                <a16:creationId xmlns:a16="http://schemas.microsoft.com/office/drawing/2014/main" id="{1E437897-9DEF-52C2-8769-1F0E2F93DB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8159" y="4542095"/>
            <a:ext cx="8794981" cy="87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4727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Rectangle"/>
          <p:cNvSpPr/>
          <p:nvPr/>
        </p:nvSpPr>
        <p:spPr>
          <a:xfrm>
            <a:off x="-29388" y="-53314"/>
            <a:ext cx="24430076" cy="4005392"/>
          </a:xfrm>
          <a:prstGeom prst="rect">
            <a:avLst/>
          </a:prstGeom>
          <a:solidFill>
            <a:srgbClr val="E7B07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40" name="Oval 16"/>
          <p:cNvSpPr/>
          <p:nvPr/>
        </p:nvSpPr>
        <p:spPr>
          <a:xfrm rot="5400000" flipH="1">
            <a:off x="14997186" y="14325748"/>
            <a:ext cx="182788" cy="177330"/>
          </a:xfrm>
          <a:prstGeom prst="ellipse">
            <a:avLst/>
          </a:prstGeom>
          <a:solidFill>
            <a:srgbClr val="00ADB5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41" name="29"/>
          <p:cNvSpPr txBox="1"/>
          <p:nvPr/>
        </p:nvSpPr>
        <p:spPr>
          <a:xfrm>
            <a:off x="374649" y="13090488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</a:t>
            </a:r>
            <a:r>
              <a:rPr lang="da-DK"/>
              <a:t>5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645" name="Group"/>
          <p:cNvGrpSpPr/>
          <p:nvPr/>
        </p:nvGrpSpPr>
        <p:grpSpPr>
          <a:xfrm>
            <a:off x="7574776" y="1016314"/>
            <a:ext cx="11269509" cy="2407792"/>
            <a:chOff x="97444" y="0"/>
            <a:chExt cx="11269508" cy="2407790"/>
          </a:xfrm>
        </p:grpSpPr>
        <p:sp>
          <p:nvSpPr>
            <p:cNvPr id="1642" name="GGPLOT CHEAT SHEET"/>
            <p:cNvSpPr txBox="1"/>
            <p:nvPr/>
          </p:nvSpPr>
          <p:spPr>
            <a:xfrm>
              <a:off x="406399" y="1176034"/>
              <a:ext cx="8290163" cy="1231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5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GGPLOT CHEAT SHEET </a:t>
              </a:r>
            </a:p>
          </p:txBody>
        </p:sp>
        <p:sp>
          <p:nvSpPr>
            <p:cNvPr id="1643" name="https://rstudio.com/wp-content/uploads/2016/11/ggplot2-cheatsheet-2.1.pdf"/>
            <p:cNvSpPr txBox="1"/>
            <p:nvPr/>
          </p:nvSpPr>
          <p:spPr>
            <a:xfrm>
              <a:off x="1859336" y="0"/>
              <a:ext cx="9507616" cy="11107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</a:t>
              </a:r>
              <a:r>
                <a:rPr err="1"/>
                <a:t>rstudio.com</a:t>
              </a:r>
              <a:r>
                <a:t>/wp-content/uploads/2016/11/ggplot2-cheatsheet-2.1.pdf</a:t>
              </a:r>
            </a:p>
          </p:txBody>
        </p:sp>
        <p:sp>
          <p:nvSpPr>
            <p:cNvPr id="1644" name="Line"/>
            <p:cNvSpPr/>
            <p:nvPr/>
          </p:nvSpPr>
          <p:spPr>
            <a:xfrm>
              <a:off x="97444" y="190749"/>
              <a:ext cx="1490286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650" name="Group"/>
          <p:cNvGrpSpPr/>
          <p:nvPr/>
        </p:nvGrpSpPr>
        <p:grpSpPr>
          <a:xfrm>
            <a:off x="18905029" y="4605484"/>
            <a:ext cx="5219309" cy="8202499"/>
            <a:chOff x="0" y="0"/>
            <a:chExt cx="5219308" cy="8202497"/>
          </a:xfrm>
        </p:grpSpPr>
        <p:sp>
          <p:nvSpPr>
            <p:cNvPr id="1646" name="Freeform 51"/>
            <p:cNvSpPr/>
            <p:nvPr/>
          </p:nvSpPr>
          <p:spPr>
            <a:xfrm>
              <a:off x="0" y="6458800"/>
              <a:ext cx="3646366" cy="1743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3976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647" name="Freeform 52"/>
            <p:cNvSpPr/>
            <p:nvPr/>
          </p:nvSpPr>
          <p:spPr>
            <a:xfrm>
              <a:off x="0" y="4305874"/>
              <a:ext cx="5219309" cy="1743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6274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39C8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648" name="Freeform 53"/>
            <p:cNvSpPr/>
            <p:nvPr/>
          </p:nvSpPr>
          <p:spPr>
            <a:xfrm>
              <a:off x="0" y="2152937"/>
              <a:ext cx="5219309" cy="1761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6274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3C290">
                <a:alpha val="9525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649" name="Freeform 54"/>
            <p:cNvSpPr/>
            <p:nvPr/>
          </p:nvSpPr>
          <p:spPr>
            <a:xfrm>
              <a:off x="0" y="0"/>
              <a:ext cx="3646366" cy="1761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3976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880C0A">
                <a:alpha val="67831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</p:grpSp>
      <p:grpSp>
        <p:nvGrpSpPr>
          <p:cNvPr id="1660" name="Group"/>
          <p:cNvGrpSpPr/>
          <p:nvPr/>
        </p:nvGrpSpPr>
        <p:grpSpPr>
          <a:xfrm>
            <a:off x="1748861" y="4596970"/>
            <a:ext cx="16875041" cy="8271297"/>
            <a:chOff x="0" y="0"/>
            <a:chExt cx="16875039" cy="8271296"/>
          </a:xfrm>
        </p:grpSpPr>
        <p:sp>
          <p:nvSpPr>
            <p:cNvPr id="1651" name="Группа 36"/>
            <p:cNvSpPr/>
            <p:nvPr/>
          </p:nvSpPr>
          <p:spPr>
            <a:xfrm>
              <a:off x="0" y="0"/>
              <a:ext cx="16875039" cy="1788800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652" name="Группа 54"/>
            <p:cNvSpPr/>
            <p:nvPr/>
          </p:nvSpPr>
          <p:spPr>
            <a:xfrm>
              <a:off x="0" y="2160832"/>
              <a:ext cx="16875039" cy="178880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653" name="Группа 63"/>
            <p:cNvSpPr/>
            <p:nvPr/>
          </p:nvSpPr>
          <p:spPr>
            <a:xfrm>
              <a:off x="0" y="4321664"/>
              <a:ext cx="16875039" cy="178880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654" name="Группа 69"/>
            <p:cNvSpPr/>
            <p:nvPr/>
          </p:nvSpPr>
          <p:spPr>
            <a:xfrm>
              <a:off x="0" y="6482495"/>
              <a:ext cx="16875039" cy="178880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655" name="Line"/>
            <p:cNvSpPr/>
            <p:nvPr/>
          </p:nvSpPr>
          <p:spPr>
            <a:xfrm flipV="1">
              <a:off x="5709033" y="119943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880C0A">
                  <a:alpha val="67831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56" name="Line"/>
            <p:cNvSpPr/>
            <p:nvPr/>
          </p:nvSpPr>
          <p:spPr>
            <a:xfrm flipV="1">
              <a:off x="3460894" y="2300532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F3C29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57" name="Line"/>
            <p:cNvSpPr/>
            <p:nvPr/>
          </p:nvSpPr>
          <p:spPr>
            <a:xfrm flipV="1">
              <a:off x="7909727" y="2300532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F3C29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58" name="Line"/>
            <p:cNvSpPr/>
            <p:nvPr/>
          </p:nvSpPr>
          <p:spPr>
            <a:xfrm flipV="1">
              <a:off x="9221901" y="4441608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B39C8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59" name="Line"/>
            <p:cNvSpPr/>
            <p:nvPr/>
          </p:nvSpPr>
          <p:spPr>
            <a:xfrm flipV="1">
              <a:off x="5365263" y="6580054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7893B7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661" name="GET STARTED"/>
          <p:cNvSpPr txBox="1"/>
          <p:nvPr/>
        </p:nvSpPr>
        <p:spPr>
          <a:xfrm>
            <a:off x="19569093" y="4957490"/>
            <a:ext cx="200519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GET STARTED</a:t>
            </a:r>
          </a:p>
        </p:txBody>
      </p:sp>
      <p:sp>
        <p:nvSpPr>
          <p:cNvPr id="1662" name="COLORS"/>
          <p:cNvSpPr txBox="1"/>
          <p:nvPr/>
        </p:nvSpPr>
        <p:spPr>
          <a:xfrm>
            <a:off x="20014469" y="7353131"/>
            <a:ext cx="1872963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COLORS</a:t>
            </a:r>
          </a:p>
        </p:txBody>
      </p:sp>
      <p:sp>
        <p:nvSpPr>
          <p:cNvPr id="1663" name="TEXT"/>
          <p:cNvSpPr txBox="1"/>
          <p:nvPr/>
        </p:nvSpPr>
        <p:spPr>
          <a:xfrm>
            <a:off x="19948903" y="11668586"/>
            <a:ext cx="1245569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</a:t>
            </a:r>
          </a:p>
        </p:txBody>
      </p:sp>
      <p:sp>
        <p:nvSpPr>
          <p:cNvPr id="1664" name="Define Plot:"/>
          <p:cNvSpPr txBox="1"/>
          <p:nvPr/>
        </p:nvSpPr>
        <p:spPr>
          <a:xfrm>
            <a:off x="1965864" y="4718849"/>
            <a:ext cx="2278134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Define Plot:</a:t>
            </a:r>
          </a:p>
        </p:txBody>
      </p:sp>
      <p:sp>
        <p:nvSpPr>
          <p:cNvPr id="1665" name="+ geom_point()…"/>
          <p:cNvSpPr txBox="1"/>
          <p:nvPr/>
        </p:nvSpPr>
        <p:spPr>
          <a:xfrm>
            <a:off x="7671365" y="5174964"/>
            <a:ext cx="5768330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</a:t>
            </a:r>
            <a:r>
              <a:t>+ </a:t>
            </a:r>
            <a:r>
              <a:rPr err="1"/>
              <a:t>geom_point</a:t>
            </a:r>
            <a:r>
              <a:t>()</a:t>
            </a:r>
            <a:r>
              <a:rPr lang="da-DK"/>
              <a:t> 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# </a:t>
            </a:r>
            <a:r>
              <a:rPr lang="da-DK" err="1">
                <a:solidFill>
                  <a:srgbClr val="DA8522">
                    <a:alpha val="76291"/>
                  </a:srgbClr>
                </a:solidFill>
              </a:rPr>
              <a:t>scatter</a:t>
            </a:r>
            <a:r>
              <a:rPr lang="da-DK">
                <a:solidFill>
                  <a:srgbClr val="DA8522">
                    <a:alpha val="76291"/>
                  </a:srgbClr>
                </a:solidFill>
              </a:rPr>
              <a:t> plot</a:t>
            </a:r>
            <a:r>
              <a:rPr lang="da-DK"/>
              <a:t> </a:t>
            </a:r>
            <a:endParaRPr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</a:t>
            </a:r>
            <a:r>
              <a:t>+ </a:t>
            </a:r>
            <a:r>
              <a:rPr err="1"/>
              <a:t>geom_line</a:t>
            </a:r>
            <a:r>
              <a:t>()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</a:t>
            </a:r>
            <a:r>
              <a:t>+ </a:t>
            </a:r>
            <a:r>
              <a:rPr err="1"/>
              <a:t>geom_boxplot</a:t>
            </a:r>
            <a:r>
              <a:t>()</a:t>
            </a:r>
          </a:p>
        </p:txBody>
      </p:sp>
      <p:sp>
        <p:nvSpPr>
          <p:cNvPr id="1666" name="+ geom_col()…"/>
          <p:cNvSpPr txBox="1"/>
          <p:nvPr/>
        </p:nvSpPr>
        <p:spPr>
          <a:xfrm>
            <a:off x="13236162" y="5132863"/>
            <a:ext cx="3975418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</a:t>
            </a:r>
            <a:r>
              <a:t>+ </a:t>
            </a:r>
            <a:r>
              <a:rPr err="1"/>
              <a:t>geom_col</a:t>
            </a:r>
            <a:r>
              <a:t>()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</a:t>
            </a:r>
            <a:r>
              <a:t>+ </a:t>
            </a:r>
            <a:r>
              <a:rPr err="1"/>
              <a:t>geom_density</a:t>
            </a:r>
            <a:r>
              <a:t>()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</a:t>
            </a:r>
            <a:r>
              <a:t>+ </a:t>
            </a:r>
            <a:r>
              <a:rPr err="1"/>
              <a:t>geom_histogram</a:t>
            </a:r>
            <a:r>
              <a:t>()</a:t>
            </a:r>
          </a:p>
        </p:txBody>
      </p:sp>
      <p:sp>
        <p:nvSpPr>
          <p:cNvPr id="1667" name="Add Plot Type:"/>
          <p:cNvSpPr txBox="1"/>
          <p:nvPr/>
        </p:nvSpPr>
        <p:spPr>
          <a:xfrm>
            <a:off x="7671365" y="4718849"/>
            <a:ext cx="300042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Add Plot Type:</a:t>
            </a:r>
          </a:p>
        </p:txBody>
      </p:sp>
      <p:sp>
        <p:nvSpPr>
          <p:cNvPr id="1668" name="ggplot(data = my.data, aes(x = x.var, y = y.var))"/>
          <p:cNvSpPr txBox="1"/>
          <p:nvPr/>
        </p:nvSpPr>
        <p:spPr>
          <a:xfrm>
            <a:off x="1940995" y="5152567"/>
            <a:ext cx="4553789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rPr err="1"/>
              <a:t>ggplot</a:t>
            </a:r>
            <a:r>
              <a:t>(data = </a:t>
            </a:r>
            <a:r>
              <a:rPr err="1"/>
              <a:t>my.data</a:t>
            </a:r>
            <a:r>
              <a:t>, </a:t>
            </a:r>
            <a:endParaRPr lang="da-DK"/>
          </a:p>
          <a:p>
            <a:r>
              <a:rPr lang="da-DK"/>
              <a:t>       </a:t>
            </a:r>
            <a:r>
              <a:rPr err="1"/>
              <a:t>aes</a:t>
            </a:r>
            <a:r>
              <a:t>(x = </a:t>
            </a:r>
            <a:r>
              <a:rPr err="1"/>
              <a:t>x.var</a:t>
            </a:r>
            <a:r>
              <a:t>, </a:t>
            </a:r>
            <a:endParaRPr lang="da-DK"/>
          </a:p>
          <a:p>
            <a:r>
              <a:rPr lang="da-DK"/>
              <a:t>           </a:t>
            </a:r>
            <a:r>
              <a:t>y = </a:t>
            </a:r>
            <a:r>
              <a:rPr err="1"/>
              <a:t>y.var</a:t>
            </a:r>
            <a:r>
              <a:t>))</a:t>
            </a:r>
          </a:p>
        </p:txBody>
      </p:sp>
      <p:sp>
        <p:nvSpPr>
          <p:cNvPr id="1669" name="One Color:"/>
          <p:cNvSpPr txBox="1"/>
          <p:nvPr/>
        </p:nvSpPr>
        <p:spPr>
          <a:xfrm>
            <a:off x="1966822" y="6837791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One Color:</a:t>
            </a:r>
          </a:p>
        </p:txBody>
      </p:sp>
      <p:sp>
        <p:nvSpPr>
          <p:cNvPr id="1670" name="Color Fill by Group:"/>
          <p:cNvSpPr txBox="1"/>
          <p:nvPr/>
        </p:nvSpPr>
        <p:spPr>
          <a:xfrm>
            <a:off x="5414720" y="6837790"/>
            <a:ext cx="356824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Color Fill by Group:</a:t>
            </a:r>
          </a:p>
        </p:txBody>
      </p:sp>
      <p:sp>
        <p:nvSpPr>
          <p:cNvPr id="1671" name="ggplot(…, aes(…, color = “green”))"/>
          <p:cNvSpPr txBox="1"/>
          <p:nvPr/>
        </p:nvSpPr>
        <p:spPr>
          <a:xfrm>
            <a:off x="1988522" y="7383892"/>
            <a:ext cx="3000429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ggplot</a:t>
            </a:r>
            <a:r>
              <a:t>(…, </a:t>
            </a:r>
            <a:r>
              <a:rPr err="1"/>
              <a:t>aes</a:t>
            </a:r>
            <a:r>
              <a:t>(…</a:t>
            </a:r>
            <a:r>
              <a:rPr lang="da-DK"/>
              <a:t>)</a:t>
            </a:r>
            <a:r>
              <a:t>, </a:t>
            </a:r>
            <a:r>
              <a:rPr b="1"/>
              <a:t>color = </a:t>
            </a:r>
            <a:r>
              <a:rPr lang="da-DK" b="1"/>
              <a:t>"</a:t>
            </a:r>
            <a:r>
              <a:rPr b="1"/>
              <a:t>green</a:t>
            </a:r>
            <a:r>
              <a:rPr lang="da-DK" b="1"/>
              <a:t>"</a:t>
            </a:r>
            <a:r>
              <a:t>)</a:t>
            </a:r>
          </a:p>
        </p:txBody>
      </p:sp>
      <p:sp>
        <p:nvSpPr>
          <p:cNvPr id="1672" name="ggplot(…, aes(…, fill = group.var))"/>
          <p:cNvSpPr txBox="1"/>
          <p:nvPr/>
        </p:nvSpPr>
        <p:spPr>
          <a:xfrm>
            <a:off x="5430560" y="7369942"/>
            <a:ext cx="3206855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ggplot</a:t>
            </a:r>
            <a:r>
              <a:t>(…, </a:t>
            </a:r>
            <a:r>
              <a:rPr err="1"/>
              <a:t>aes</a:t>
            </a:r>
            <a:r>
              <a:t>(…, </a:t>
            </a:r>
            <a:r>
              <a:rPr b="1"/>
              <a:t>fill = </a:t>
            </a:r>
            <a:r>
              <a:rPr lang="da-DK" b="1" err="1"/>
              <a:t>z.var</a:t>
            </a:r>
            <a:r>
              <a:t>))</a:t>
            </a:r>
          </a:p>
        </p:txBody>
      </p:sp>
      <p:sp>
        <p:nvSpPr>
          <p:cNvPr id="1673" name="Custom Colors:"/>
          <p:cNvSpPr txBox="1"/>
          <p:nvPr/>
        </p:nvSpPr>
        <p:spPr>
          <a:xfrm>
            <a:off x="10114930" y="6837791"/>
            <a:ext cx="312123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Custom Colors:</a:t>
            </a:r>
          </a:p>
        </p:txBody>
      </p:sp>
      <p:sp>
        <p:nvSpPr>
          <p:cNvPr id="1674" name="scale_*_manual(values = c())…"/>
          <p:cNvSpPr txBox="1"/>
          <p:nvPr/>
        </p:nvSpPr>
        <p:spPr>
          <a:xfrm>
            <a:off x="10145903" y="7524062"/>
            <a:ext cx="845396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 </a:t>
            </a:r>
            <a:r>
              <a:t>scale_</a:t>
            </a:r>
            <a:r>
              <a:rPr lang="da-DK"/>
              <a:t>*</a:t>
            </a:r>
            <a:r>
              <a:t>_manual(values = c())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 i="1"/>
              <a:t>ex:</a:t>
            </a:r>
            <a:r>
              <a:t> </a:t>
            </a:r>
            <a:r>
              <a:rPr err="1"/>
              <a:t>scale_color_manual</a:t>
            </a:r>
            <a:r>
              <a:t>(values = c(</a:t>
            </a:r>
            <a:r>
              <a:rPr lang="da-DK"/>
              <a:t>"</a:t>
            </a:r>
            <a:r>
              <a:t>blue</a:t>
            </a:r>
            <a:r>
              <a:rPr lang="da-DK"/>
              <a:t>"</a:t>
            </a:r>
            <a:r>
              <a:t>, </a:t>
            </a:r>
            <a:r>
              <a:rPr lang="da-DK"/>
              <a:t>"</a:t>
            </a:r>
            <a:r>
              <a:t>pink</a:t>
            </a:r>
            <a:r>
              <a:rPr lang="da-DK"/>
              <a:t>"</a:t>
            </a:r>
            <a:r>
              <a:t>))</a:t>
            </a:r>
          </a:p>
        </p:txBody>
      </p:sp>
      <p:sp>
        <p:nvSpPr>
          <p:cNvPr id="1675" name="Grid Theme:"/>
          <p:cNvSpPr txBox="1"/>
          <p:nvPr/>
        </p:nvSpPr>
        <p:spPr>
          <a:xfrm>
            <a:off x="11245872" y="9021533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Labels</a:t>
            </a:r>
            <a:r>
              <a:t>:</a:t>
            </a:r>
          </a:p>
        </p:txBody>
      </p:sp>
      <p:sp>
        <p:nvSpPr>
          <p:cNvPr id="1676" name="theme_bw()…"/>
          <p:cNvSpPr txBox="1"/>
          <p:nvPr/>
        </p:nvSpPr>
        <p:spPr>
          <a:xfrm>
            <a:off x="3446778" y="11226792"/>
            <a:ext cx="401111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</a:t>
            </a:r>
            <a:r>
              <a:t> </a:t>
            </a:r>
            <a:r>
              <a:rPr err="1"/>
              <a:t>theme_bw</a:t>
            </a:r>
            <a:r>
              <a:t>()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 </a:t>
            </a:r>
            <a:r>
              <a:rPr err="1"/>
              <a:t>theme_minimal</a:t>
            </a:r>
            <a:r>
              <a:t>()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</a:t>
            </a:r>
            <a:r>
              <a:t> </a:t>
            </a:r>
            <a:r>
              <a:rPr err="1"/>
              <a:t>theme_dark</a:t>
            </a:r>
            <a:r>
              <a:t>()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</a:t>
            </a:r>
            <a:r>
              <a:t> theme_</a:t>
            </a:r>
            <a:r>
              <a:rPr lang="da-DK" err="1"/>
              <a:t>classic</a:t>
            </a:r>
            <a:r>
              <a:t>()</a:t>
            </a:r>
          </a:p>
        </p:txBody>
      </p:sp>
      <p:sp>
        <p:nvSpPr>
          <p:cNvPr id="1677" name="ggtitle(“…”)…"/>
          <p:cNvSpPr txBox="1"/>
          <p:nvPr/>
        </p:nvSpPr>
        <p:spPr>
          <a:xfrm>
            <a:off x="11245872" y="9392206"/>
            <a:ext cx="5172462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 labs(</a:t>
            </a:r>
            <a:r>
              <a:rPr lang="da-DK" err="1"/>
              <a:t>title</a:t>
            </a:r>
            <a:r>
              <a:rPr lang="da-DK"/>
              <a:t> = ”Title”,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         x = ”X label”,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         y = ”Y label”)</a:t>
            </a:r>
            <a:endParaRPr/>
          </a:p>
        </p:txBody>
      </p:sp>
      <p:sp>
        <p:nvSpPr>
          <p:cNvPr id="1678" name="theme(* = element_text())…"/>
          <p:cNvSpPr txBox="1"/>
          <p:nvPr/>
        </p:nvSpPr>
        <p:spPr>
          <a:xfrm>
            <a:off x="7457895" y="11791370"/>
            <a:ext cx="10517593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 </a:t>
            </a:r>
            <a:r>
              <a:rPr lang="da-DK" err="1"/>
              <a:t>theme</a:t>
            </a:r>
            <a:r>
              <a:rPr lang="da-DK"/>
              <a:t>(</a:t>
            </a:r>
            <a:r>
              <a:rPr lang="da-DK" err="1"/>
              <a:t>legend.position</a:t>
            </a:r>
            <a:r>
              <a:rPr lang="da-DK"/>
              <a:t> = *)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* = ”none”, ”top”, ”</a:t>
            </a:r>
            <a:r>
              <a:rPr lang="da-DK" err="1"/>
              <a:t>bottom</a:t>
            </a:r>
            <a:r>
              <a:rPr lang="da-DK"/>
              <a:t>”, ”</a:t>
            </a:r>
            <a:r>
              <a:rPr lang="da-DK" err="1"/>
              <a:t>left</a:t>
            </a:r>
            <a:r>
              <a:rPr lang="da-DK"/>
              <a:t>”, ”</a:t>
            </a:r>
            <a:r>
              <a:rPr lang="da-DK" err="1"/>
              <a:t>rigth</a:t>
            </a:r>
            <a:r>
              <a:rPr lang="da-DK"/>
              <a:t>”</a:t>
            </a:r>
            <a:endParaRPr/>
          </a:p>
        </p:txBody>
      </p:sp>
      <p:sp>
        <p:nvSpPr>
          <p:cNvPr id="1679" name="scale_fill_grey(start = 0.2, end = 0.8)…"/>
          <p:cNvSpPr txBox="1"/>
          <p:nvPr/>
        </p:nvSpPr>
        <p:spPr>
          <a:xfrm>
            <a:off x="1996630" y="9654383"/>
            <a:ext cx="8465181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</a:t>
            </a:r>
            <a:r>
              <a:t> </a:t>
            </a:r>
            <a:r>
              <a:rPr err="1"/>
              <a:t>scale_fill_grey</a:t>
            </a:r>
            <a:r>
              <a:t>(start = 0.2, end = 0.8) </a:t>
            </a:r>
          </a:p>
          <a:p>
            <a:pPr>
              <a:buSzPct val="100000"/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da-DK"/>
              <a:t>… +</a:t>
            </a:r>
            <a:r>
              <a:t> </a:t>
            </a:r>
            <a:r>
              <a:rPr err="1"/>
              <a:t>scale_fill_gradient</a:t>
            </a:r>
            <a:r>
              <a:t>(low="white", high=</a:t>
            </a:r>
            <a:r>
              <a:rPr lang="da-DK"/>
              <a:t>"</a:t>
            </a:r>
            <a:r>
              <a:t>red</a:t>
            </a:r>
            <a:r>
              <a:rPr lang="da-DK"/>
              <a:t>"</a:t>
            </a:r>
            <a:r>
              <a:t>)</a:t>
            </a:r>
          </a:p>
        </p:txBody>
      </p:sp>
      <p:sp>
        <p:nvSpPr>
          <p:cNvPr id="1680" name="More Colors:"/>
          <p:cNvSpPr txBox="1"/>
          <p:nvPr/>
        </p:nvSpPr>
        <p:spPr>
          <a:xfrm>
            <a:off x="1966822" y="9021533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More Colors:</a:t>
            </a:r>
          </a:p>
        </p:txBody>
      </p:sp>
      <p:sp>
        <p:nvSpPr>
          <p:cNvPr id="1681" name="Labels:"/>
          <p:cNvSpPr txBox="1"/>
          <p:nvPr/>
        </p:nvSpPr>
        <p:spPr>
          <a:xfrm>
            <a:off x="1965864" y="11231945"/>
            <a:ext cx="157232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 err="1"/>
              <a:t>Theme</a:t>
            </a:r>
            <a:r>
              <a:t>:</a:t>
            </a:r>
          </a:p>
        </p:txBody>
      </p:sp>
      <p:sp>
        <p:nvSpPr>
          <p:cNvPr id="1682" name="COLOR SCALES &amp; THEMES"/>
          <p:cNvSpPr txBox="1"/>
          <p:nvPr/>
        </p:nvSpPr>
        <p:spPr>
          <a:xfrm>
            <a:off x="19608069" y="9344534"/>
            <a:ext cx="3377958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COLOR SCALES &amp; THEMES</a:t>
            </a:r>
          </a:p>
        </p:txBody>
      </p:sp>
      <p:sp>
        <p:nvSpPr>
          <p:cNvPr id="1683" name="Text:"/>
          <p:cNvSpPr txBox="1"/>
          <p:nvPr/>
        </p:nvSpPr>
        <p:spPr>
          <a:xfrm>
            <a:off x="7457895" y="11231243"/>
            <a:ext cx="356824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Text: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4E02-EF64-9BF4-0F5E-C1D85BA2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Rectangle">
            <a:extLst>
              <a:ext uri="{FF2B5EF4-FFF2-40B4-BE49-F238E27FC236}">
                <a16:creationId xmlns:a16="http://schemas.microsoft.com/office/drawing/2014/main" id="{36CC0E0E-1FC7-7667-65CC-2AEE142AA20A}"/>
              </a:ext>
            </a:extLst>
          </p:cNvPr>
          <p:cNvSpPr/>
          <p:nvPr/>
        </p:nvSpPr>
        <p:spPr>
          <a:xfrm>
            <a:off x="17520549" y="-57430"/>
            <a:ext cx="6940820" cy="13830860"/>
          </a:xfrm>
          <a:prstGeom prst="rect">
            <a:avLst/>
          </a:prstGeom>
          <a:solidFill>
            <a:srgbClr val="364556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solidFill>
                <a:srgbClr val="364556"/>
              </a:solidFill>
            </a:endParaRPr>
          </a:p>
        </p:txBody>
      </p:sp>
      <p:grpSp>
        <p:nvGrpSpPr>
          <p:cNvPr id="1353" name="Group">
            <a:extLst>
              <a:ext uri="{FF2B5EF4-FFF2-40B4-BE49-F238E27FC236}">
                <a16:creationId xmlns:a16="http://schemas.microsoft.com/office/drawing/2014/main" id="{3EACF996-D102-34D1-4505-E90E523D9026}"/>
              </a:ext>
            </a:extLst>
          </p:cNvPr>
          <p:cNvGrpSpPr/>
          <p:nvPr/>
        </p:nvGrpSpPr>
        <p:grpSpPr>
          <a:xfrm>
            <a:off x="18325766" y="6146204"/>
            <a:ext cx="5330386" cy="1953192"/>
            <a:chOff x="0" y="0"/>
            <a:chExt cx="5330385" cy="1953190"/>
          </a:xfrm>
        </p:grpSpPr>
        <p:sp>
          <p:nvSpPr>
            <p:cNvPr id="1350" name="EXERCISE 3">
              <a:extLst>
                <a:ext uri="{FF2B5EF4-FFF2-40B4-BE49-F238E27FC236}">
                  <a16:creationId xmlns:a16="http://schemas.microsoft.com/office/drawing/2014/main" id="{65391AF6-DE65-5D32-6820-3BDFD5FA934A}"/>
                </a:ext>
              </a:extLst>
            </p:cNvPr>
            <p:cNvSpPr txBox="1"/>
            <p:nvPr/>
          </p:nvSpPr>
          <p:spPr>
            <a:xfrm>
              <a:off x="0" y="405033"/>
              <a:ext cx="5330386" cy="1548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EXERCISE 3</a:t>
              </a:r>
            </a:p>
          </p:txBody>
        </p:sp>
        <p:sp>
          <p:nvSpPr>
            <p:cNvPr id="1351" name="R MARKDOWN">
              <a:extLst>
                <a:ext uri="{FF2B5EF4-FFF2-40B4-BE49-F238E27FC236}">
                  <a16:creationId xmlns:a16="http://schemas.microsoft.com/office/drawing/2014/main" id="{07D59595-68EE-2C1F-844D-F010D30DDA39}"/>
                </a:ext>
              </a:extLst>
            </p:cNvPr>
            <p:cNvSpPr txBox="1"/>
            <p:nvPr/>
          </p:nvSpPr>
          <p:spPr>
            <a:xfrm>
              <a:off x="1195511" y="0"/>
              <a:ext cx="3636519" cy="4136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da-DK"/>
                <a:t>GGPLOT2</a:t>
              </a:r>
              <a:endParaRPr/>
            </a:p>
          </p:txBody>
        </p:sp>
        <p:sp>
          <p:nvSpPr>
            <p:cNvPr id="1352" name="Line">
              <a:extLst>
                <a:ext uri="{FF2B5EF4-FFF2-40B4-BE49-F238E27FC236}">
                  <a16:creationId xmlns:a16="http://schemas.microsoft.com/office/drawing/2014/main" id="{2E9D1BD3-1900-7C34-5772-DF810C4C79DD}"/>
                </a:ext>
              </a:extLst>
            </p:cNvPr>
            <p:cNvSpPr/>
            <p:nvPr/>
          </p:nvSpPr>
          <p:spPr>
            <a:xfrm>
              <a:off x="758393" y="175104"/>
              <a:ext cx="95822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399" name="Group">
            <a:extLst>
              <a:ext uri="{FF2B5EF4-FFF2-40B4-BE49-F238E27FC236}">
                <a16:creationId xmlns:a16="http://schemas.microsoft.com/office/drawing/2014/main" id="{3BA8BF84-E1BD-D926-F36C-413D2DB87E27}"/>
              </a:ext>
            </a:extLst>
          </p:cNvPr>
          <p:cNvGrpSpPr/>
          <p:nvPr/>
        </p:nvGrpSpPr>
        <p:grpSpPr>
          <a:xfrm>
            <a:off x="1193626" y="3811921"/>
            <a:ext cx="12985616" cy="7059154"/>
            <a:chOff x="0" y="255180"/>
            <a:chExt cx="12985614" cy="7059153"/>
          </a:xfrm>
        </p:grpSpPr>
        <p:sp>
          <p:nvSpPr>
            <p:cNvPr id="1354" name="Line 18">
              <a:extLst>
                <a:ext uri="{FF2B5EF4-FFF2-40B4-BE49-F238E27FC236}">
                  <a16:creationId xmlns:a16="http://schemas.microsoft.com/office/drawing/2014/main" id="{92C85477-1082-FCA0-FF87-59A3BA154BAE}"/>
                </a:ext>
              </a:extLst>
            </p:cNvPr>
            <p:cNvSpPr/>
            <p:nvPr/>
          </p:nvSpPr>
          <p:spPr>
            <a:xfrm>
              <a:off x="3540584" y="3526304"/>
              <a:ext cx="7794786" cy="1"/>
            </a:xfrm>
            <a:prstGeom prst="lin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55" name="Oval 9">
              <a:extLst>
                <a:ext uri="{FF2B5EF4-FFF2-40B4-BE49-F238E27FC236}">
                  <a16:creationId xmlns:a16="http://schemas.microsoft.com/office/drawing/2014/main" id="{4376F2FF-91C1-5CC5-D749-E8EF4DFF3DFE}"/>
                </a:ext>
              </a:extLst>
            </p:cNvPr>
            <p:cNvSpPr/>
            <p:nvPr/>
          </p:nvSpPr>
          <p:spPr>
            <a:xfrm>
              <a:off x="11486514" y="2839320"/>
              <a:ext cx="1331012" cy="1331013"/>
            </a:xfrm>
            <a:prstGeom prst="ellipse">
              <a:avLst/>
            </a:prstGeom>
            <a:solidFill>
              <a:srgbClr val="36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>
                <a:solidFill>
                  <a:srgbClr val="364556"/>
                </a:solidFill>
              </a:endParaRPr>
            </a:p>
          </p:txBody>
        </p:sp>
        <p:sp>
          <p:nvSpPr>
            <p:cNvPr id="1356" name="Oval 14">
              <a:extLst>
                <a:ext uri="{FF2B5EF4-FFF2-40B4-BE49-F238E27FC236}">
                  <a16:creationId xmlns:a16="http://schemas.microsoft.com/office/drawing/2014/main" id="{71A63F1B-34E6-5149-E5CA-F5D766F742FC}"/>
                </a:ext>
              </a:extLst>
            </p:cNvPr>
            <p:cNvSpPr/>
            <p:nvPr/>
          </p:nvSpPr>
          <p:spPr>
            <a:xfrm>
              <a:off x="11318428" y="2669278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57" name="Oval 27">
              <a:extLst>
                <a:ext uri="{FF2B5EF4-FFF2-40B4-BE49-F238E27FC236}">
                  <a16:creationId xmlns:a16="http://schemas.microsoft.com/office/drawing/2014/main" id="{018F4848-1D2C-B395-E394-0C2467F7EA4A}"/>
                </a:ext>
              </a:extLst>
            </p:cNvPr>
            <p:cNvSpPr/>
            <p:nvPr/>
          </p:nvSpPr>
          <p:spPr>
            <a:xfrm>
              <a:off x="3109304" y="3465933"/>
              <a:ext cx="158316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58" name="Oval 28">
              <a:extLst>
                <a:ext uri="{FF2B5EF4-FFF2-40B4-BE49-F238E27FC236}">
                  <a16:creationId xmlns:a16="http://schemas.microsoft.com/office/drawing/2014/main" id="{85435CBA-4CFB-1C6F-69F7-C4A2CCFE2868}"/>
                </a:ext>
              </a:extLst>
            </p:cNvPr>
            <p:cNvSpPr/>
            <p:nvPr/>
          </p:nvSpPr>
          <p:spPr>
            <a:xfrm>
              <a:off x="4563786" y="3458847"/>
              <a:ext cx="160270" cy="158315"/>
            </a:xfrm>
            <a:prstGeom prst="ellipse">
              <a:avLst/>
            </a:prstGeom>
            <a:solidFill>
              <a:srgbClr val="36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59" name="Oval 29">
              <a:extLst>
                <a:ext uri="{FF2B5EF4-FFF2-40B4-BE49-F238E27FC236}">
                  <a16:creationId xmlns:a16="http://schemas.microsoft.com/office/drawing/2014/main" id="{ADDCE339-B6E2-DBB0-5499-FC1674F3EA38}"/>
                </a:ext>
              </a:extLst>
            </p:cNvPr>
            <p:cNvSpPr/>
            <p:nvPr/>
          </p:nvSpPr>
          <p:spPr>
            <a:xfrm>
              <a:off x="7005256" y="3465933"/>
              <a:ext cx="158315" cy="158316"/>
            </a:xfrm>
            <a:prstGeom prst="ellipse">
              <a:avLst/>
            </a:prstGeom>
            <a:solidFill>
              <a:srgbClr val="36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0" name="Oval 10">
              <a:extLst>
                <a:ext uri="{FF2B5EF4-FFF2-40B4-BE49-F238E27FC236}">
                  <a16:creationId xmlns:a16="http://schemas.microsoft.com/office/drawing/2014/main" id="{9CF785C0-16D1-7DF0-4E70-EEB6C19C830C}"/>
                </a:ext>
              </a:extLst>
            </p:cNvPr>
            <p:cNvSpPr/>
            <p:nvPr/>
          </p:nvSpPr>
          <p:spPr>
            <a:xfrm>
              <a:off x="7133609" y="5809371"/>
              <a:ext cx="1331012" cy="133687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1" name="Oval 15">
              <a:extLst>
                <a:ext uri="{FF2B5EF4-FFF2-40B4-BE49-F238E27FC236}">
                  <a16:creationId xmlns:a16="http://schemas.microsoft.com/office/drawing/2014/main" id="{9A0C10CF-93AA-8CD0-7356-4520706FC100}"/>
                </a:ext>
              </a:extLst>
            </p:cNvPr>
            <p:cNvSpPr/>
            <p:nvPr/>
          </p:nvSpPr>
          <p:spPr>
            <a:xfrm>
              <a:off x="6965523" y="5641285"/>
              <a:ext cx="1667186" cy="1673048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2" name="Freeform 20">
              <a:extLst>
                <a:ext uri="{FF2B5EF4-FFF2-40B4-BE49-F238E27FC236}">
                  <a16:creationId xmlns:a16="http://schemas.microsoft.com/office/drawing/2014/main" id="{E3BCD4AD-4E0C-C6C5-E54B-0726C9BA2549}"/>
                </a:ext>
              </a:extLst>
            </p:cNvPr>
            <p:cNvSpPr/>
            <p:nvPr/>
          </p:nvSpPr>
          <p:spPr>
            <a:xfrm>
              <a:off x="3615519" y="4599540"/>
              <a:ext cx="3350005" cy="1876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944" y="0"/>
                  </a:lnTo>
                  <a:lnTo>
                    <a:pt x="18752" y="21600"/>
                  </a:lnTo>
                  <a:lnTo>
                    <a:pt x="2160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3" name="Oval 33">
              <a:extLst>
                <a:ext uri="{FF2B5EF4-FFF2-40B4-BE49-F238E27FC236}">
                  <a16:creationId xmlns:a16="http://schemas.microsoft.com/office/drawing/2014/main" id="{0283CD66-3722-D101-C9A7-2CFCD89101B2}"/>
                </a:ext>
              </a:extLst>
            </p:cNvPr>
            <p:cNvSpPr/>
            <p:nvPr/>
          </p:nvSpPr>
          <p:spPr>
            <a:xfrm>
              <a:off x="3445477" y="4519405"/>
              <a:ext cx="160271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4" name="Oval 34">
              <a:extLst>
                <a:ext uri="{FF2B5EF4-FFF2-40B4-BE49-F238E27FC236}">
                  <a16:creationId xmlns:a16="http://schemas.microsoft.com/office/drawing/2014/main" id="{B148098E-03BF-D67B-C7DE-F94C073997DD}"/>
                </a:ext>
              </a:extLst>
            </p:cNvPr>
            <p:cNvSpPr/>
            <p:nvPr/>
          </p:nvSpPr>
          <p:spPr>
            <a:xfrm>
              <a:off x="5732235" y="5668648"/>
              <a:ext cx="160271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5" name="Oval 35">
              <a:extLst>
                <a:ext uri="{FF2B5EF4-FFF2-40B4-BE49-F238E27FC236}">
                  <a16:creationId xmlns:a16="http://schemas.microsoft.com/office/drawing/2014/main" id="{9D710BFA-80CC-51BE-0F46-BF811FE43592}"/>
                </a:ext>
              </a:extLst>
            </p:cNvPr>
            <p:cNvSpPr/>
            <p:nvPr/>
          </p:nvSpPr>
          <p:spPr>
            <a:xfrm>
              <a:off x="6885387" y="6395719"/>
              <a:ext cx="158316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6" name="Oval 8">
              <a:extLst>
                <a:ext uri="{FF2B5EF4-FFF2-40B4-BE49-F238E27FC236}">
                  <a16:creationId xmlns:a16="http://schemas.microsoft.com/office/drawing/2014/main" id="{87B49127-878C-7773-027B-71BAA05C7F3E}"/>
                </a:ext>
              </a:extLst>
            </p:cNvPr>
            <p:cNvSpPr/>
            <p:nvPr/>
          </p:nvSpPr>
          <p:spPr>
            <a:xfrm>
              <a:off x="9387141" y="4505725"/>
              <a:ext cx="1331013" cy="1332968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7" name="Oval 13">
              <a:extLst>
                <a:ext uri="{FF2B5EF4-FFF2-40B4-BE49-F238E27FC236}">
                  <a16:creationId xmlns:a16="http://schemas.microsoft.com/office/drawing/2014/main" id="{AADA5226-F8D4-AAAB-2F1F-8A1CD37A488B}"/>
                </a:ext>
              </a:extLst>
            </p:cNvPr>
            <p:cNvSpPr/>
            <p:nvPr/>
          </p:nvSpPr>
          <p:spPr>
            <a:xfrm>
              <a:off x="9219055" y="4337638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8" name="Freeform 19">
              <a:extLst>
                <a:ext uri="{FF2B5EF4-FFF2-40B4-BE49-F238E27FC236}">
                  <a16:creationId xmlns:a16="http://schemas.microsoft.com/office/drawing/2014/main" id="{238D453A-0823-CBD1-13D4-9F70B1DBEF1B}"/>
                </a:ext>
              </a:extLst>
            </p:cNvPr>
            <p:cNvSpPr/>
            <p:nvPr/>
          </p:nvSpPr>
          <p:spPr>
            <a:xfrm>
              <a:off x="2939264" y="4075735"/>
              <a:ext cx="6279794" cy="1096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1173" y="0"/>
                  </a:lnTo>
                  <a:lnTo>
                    <a:pt x="15650" y="21600"/>
                  </a:lnTo>
                  <a:lnTo>
                    <a:pt x="2160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69" name="Oval 30">
              <a:extLst>
                <a:ext uri="{FF2B5EF4-FFF2-40B4-BE49-F238E27FC236}">
                  <a16:creationId xmlns:a16="http://schemas.microsoft.com/office/drawing/2014/main" id="{F8A5BDF8-7930-1F53-99AB-64E366CEE18D}"/>
                </a:ext>
              </a:extLst>
            </p:cNvPr>
            <p:cNvSpPr/>
            <p:nvPr/>
          </p:nvSpPr>
          <p:spPr>
            <a:xfrm>
              <a:off x="2771177" y="3989738"/>
              <a:ext cx="160271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0" name="Oval 31">
              <a:extLst>
                <a:ext uri="{FF2B5EF4-FFF2-40B4-BE49-F238E27FC236}">
                  <a16:creationId xmlns:a16="http://schemas.microsoft.com/office/drawing/2014/main" id="{B2AB96DF-B90B-4452-D1C1-DE98C1BA9024}"/>
                </a:ext>
              </a:extLst>
            </p:cNvPr>
            <p:cNvSpPr/>
            <p:nvPr/>
          </p:nvSpPr>
          <p:spPr>
            <a:xfrm>
              <a:off x="6111090" y="3995601"/>
              <a:ext cx="160271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1" name="Oval 32">
              <a:extLst>
                <a:ext uri="{FF2B5EF4-FFF2-40B4-BE49-F238E27FC236}">
                  <a16:creationId xmlns:a16="http://schemas.microsoft.com/office/drawing/2014/main" id="{A527847C-24AB-6F4B-E9C0-7860B797C34F}"/>
                </a:ext>
              </a:extLst>
            </p:cNvPr>
            <p:cNvSpPr/>
            <p:nvPr/>
          </p:nvSpPr>
          <p:spPr>
            <a:xfrm>
              <a:off x="9133058" y="5092072"/>
              <a:ext cx="164178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2" name="Freeform 17">
              <a:extLst>
                <a:ext uri="{FF2B5EF4-FFF2-40B4-BE49-F238E27FC236}">
                  <a16:creationId xmlns:a16="http://schemas.microsoft.com/office/drawing/2014/main" id="{6FD31D08-E522-32BE-BA68-A9210434AB51}"/>
                </a:ext>
              </a:extLst>
            </p:cNvPr>
            <p:cNvSpPr/>
            <p:nvPr/>
          </p:nvSpPr>
          <p:spPr>
            <a:xfrm>
              <a:off x="2868902" y="2121906"/>
              <a:ext cx="5886938" cy="898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9453" y="0"/>
                  </a:lnTo>
                  <a:lnTo>
                    <a:pt x="7234" y="21600"/>
                  </a:lnTo>
                  <a:lnTo>
                    <a:pt x="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3" name="Oval 7">
              <a:extLst>
                <a:ext uri="{FF2B5EF4-FFF2-40B4-BE49-F238E27FC236}">
                  <a16:creationId xmlns:a16="http://schemas.microsoft.com/office/drawing/2014/main" id="{82ED7AA7-E5F0-4CA6-91E4-9A7E685CF583}"/>
                </a:ext>
              </a:extLst>
            </p:cNvPr>
            <p:cNvSpPr/>
            <p:nvPr/>
          </p:nvSpPr>
          <p:spPr>
            <a:xfrm>
              <a:off x="8952419" y="1476797"/>
              <a:ext cx="1331012" cy="1331012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4" name="Oval 12">
              <a:extLst>
                <a:ext uri="{FF2B5EF4-FFF2-40B4-BE49-F238E27FC236}">
                  <a16:creationId xmlns:a16="http://schemas.microsoft.com/office/drawing/2014/main" id="{2FAFE972-6FFC-2D60-5301-CF5F9C0A63B0}"/>
                </a:ext>
              </a:extLst>
            </p:cNvPr>
            <p:cNvSpPr/>
            <p:nvPr/>
          </p:nvSpPr>
          <p:spPr>
            <a:xfrm>
              <a:off x="8784333" y="1307733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5" name="Oval 24">
              <a:extLst>
                <a:ext uri="{FF2B5EF4-FFF2-40B4-BE49-F238E27FC236}">
                  <a16:creationId xmlns:a16="http://schemas.microsoft.com/office/drawing/2014/main" id="{D0305773-C292-8AF9-B00C-1ACAC3D0DA48}"/>
                </a:ext>
              </a:extLst>
            </p:cNvPr>
            <p:cNvSpPr/>
            <p:nvPr/>
          </p:nvSpPr>
          <p:spPr>
            <a:xfrm>
              <a:off x="2700815" y="2936264"/>
              <a:ext cx="160271" cy="164178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6" name="Oval 25">
              <a:extLst>
                <a:ext uri="{FF2B5EF4-FFF2-40B4-BE49-F238E27FC236}">
                  <a16:creationId xmlns:a16="http://schemas.microsoft.com/office/drawing/2014/main" id="{B1C1ECEB-F0E2-BBA1-7D08-2E5BCA0737B0}"/>
                </a:ext>
              </a:extLst>
            </p:cNvPr>
            <p:cNvSpPr/>
            <p:nvPr/>
          </p:nvSpPr>
          <p:spPr>
            <a:xfrm>
              <a:off x="6358840" y="2050446"/>
              <a:ext cx="160271" cy="158315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7" name="Oval 26">
              <a:extLst>
                <a:ext uri="{FF2B5EF4-FFF2-40B4-BE49-F238E27FC236}">
                  <a16:creationId xmlns:a16="http://schemas.microsoft.com/office/drawing/2014/main" id="{F48386FA-1854-695F-A523-9D5F0DF3BD3D}"/>
                </a:ext>
              </a:extLst>
            </p:cNvPr>
            <p:cNvSpPr/>
            <p:nvPr/>
          </p:nvSpPr>
          <p:spPr>
            <a:xfrm>
              <a:off x="8692416" y="2050446"/>
              <a:ext cx="164179" cy="158315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8" name="Oval 6">
              <a:extLst>
                <a:ext uri="{FF2B5EF4-FFF2-40B4-BE49-F238E27FC236}">
                  <a16:creationId xmlns:a16="http://schemas.microsoft.com/office/drawing/2014/main" id="{4B8C5A6B-100E-BDB4-6DFD-D6C2F9B78480}"/>
                </a:ext>
              </a:extLst>
            </p:cNvPr>
            <p:cNvSpPr/>
            <p:nvPr/>
          </p:nvSpPr>
          <p:spPr>
            <a:xfrm>
              <a:off x="6866801" y="423266"/>
              <a:ext cx="1331012" cy="1332965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79" name="Oval 11">
              <a:extLst>
                <a:ext uri="{FF2B5EF4-FFF2-40B4-BE49-F238E27FC236}">
                  <a16:creationId xmlns:a16="http://schemas.microsoft.com/office/drawing/2014/main" id="{CE586B93-4858-E6F9-5667-9E0F4D28F845}"/>
                </a:ext>
              </a:extLst>
            </p:cNvPr>
            <p:cNvSpPr/>
            <p:nvPr/>
          </p:nvSpPr>
          <p:spPr>
            <a:xfrm>
              <a:off x="6698715" y="255180"/>
              <a:ext cx="1667185" cy="1669138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80" name="Freeform 16">
              <a:extLst>
                <a:ext uri="{FF2B5EF4-FFF2-40B4-BE49-F238E27FC236}">
                  <a16:creationId xmlns:a16="http://schemas.microsoft.com/office/drawing/2014/main" id="{ECF98BE8-243B-5B65-5EC2-7B9C1AE69855}"/>
                </a:ext>
              </a:extLst>
            </p:cNvPr>
            <p:cNvSpPr/>
            <p:nvPr/>
          </p:nvSpPr>
          <p:spPr>
            <a:xfrm>
              <a:off x="3785814" y="1125780"/>
              <a:ext cx="2927218" cy="1690392"/>
            </a:xfrm>
            <a:custGeom>
              <a:avLst/>
              <a:gdLst>
                <a:gd name="csX0" fmla="*/ 21600 w 21600"/>
                <a:gd name="csY0" fmla="*/ 0 h 21600"/>
                <a:gd name="csX1" fmla="*/ 14630 w 21600"/>
                <a:gd name="csY1" fmla="*/ 275 h 21600"/>
                <a:gd name="csX2" fmla="*/ 2722 w 21600"/>
                <a:gd name="csY2" fmla="*/ 21600 h 21600"/>
                <a:gd name="csX3" fmla="*/ 0 w 21600"/>
                <a:gd name="csY3" fmla="*/ 21600 h 21600"/>
                <a:gd name="csX0" fmla="*/ 21600 w 21600"/>
                <a:gd name="csY0" fmla="*/ 0 h 21875"/>
                <a:gd name="csX1" fmla="*/ 14630 w 21600"/>
                <a:gd name="csY1" fmla="*/ 275 h 21875"/>
                <a:gd name="csX2" fmla="*/ 4605 w 21600"/>
                <a:gd name="csY2" fmla="*/ 21875 h 21875"/>
                <a:gd name="csX3" fmla="*/ 0 w 21600"/>
                <a:gd name="csY3" fmla="*/ 21600 h 21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00" h="21875" extrusionOk="0">
                  <a:moveTo>
                    <a:pt x="21600" y="0"/>
                  </a:moveTo>
                  <a:lnTo>
                    <a:pt x="14630" y="275"/>
                  </a:lnTo>
                  <a:lnTo>
                    <a:pt x="4605" y="21875"/>
                  </a:lnTo>
                  <a:lnTo>
                    <a:pt x="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81" name="Freeform 21">
              <a:extLst>
                <a:ext uri="{FF2B5EF4-FFF2-40B4-BE49-F238E27FC236}">
                  <a16:creationId xmlns:a16="http://schemas.microsoft.com/office/drawing/2014/main" id="{D8FB7221-F20E-F43F-FB8F-4A4392A35CDE}"/>
                </a:ext>
              </a:extLst>
            </p:cNvPr>
            <p:cNvSpPr/>
            <p:nvPr/>
          </p:nvSpPr>
          <p:spPr>
            <a:xfrm>
              <a:off x="3316540" y="2411917"/>
              <a:ext cx="160150" cy="157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29" h="18125" extrusionOk="0">
                  <a:moveTo>
                    <a:pt x="11906" y="17702"/>
                  </a:moveTo>
                  <a:cubicBezTo>
                    <a:pt x="4706" y="19862"/>
                    <a:pt x="-1386" y="13382"/>
                    <a:pt x="276" y="6362"/>
                  </a:cubicBezTo>
                  <a:cubicBezTo>
                    <a:pt x="1383" y="3662"/>
                    <a:pt x="3599" y="962"/>
                    <a:pt x="6922" y="422"/>
                  </a:cubicBezTo>
                  <a:cubicBezTo>
                    <a:pt x="14122" y="-1738"/>
                    <a:pt x="20214" y="4742"/>
                    <a:pt x="18552" y="11762"/>
                  </a:cubicBezTo>
                  <a:cubicBezTo>
                    <a:pt x="17445" y="14462"/>
                    <a:pt x="15229" y="17162"/>
                    <a:pt x="11906" y="17702"/>
                  </a:cubicBezTo>
                  <a:close/>
                </a:path>
              </a:pathLst>
            </a:cu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82" name="1">
              <a:extLst>
                <a:ext uri="{FF2B5EF4-FFF2-40B4-BE49-F238E27FC236}">
                  <a16:creationId xmlns:a16="http://schemas.microsoft.com/office/drawing/2014/main" id="{988E4B6C-746C-B3AA-EA94-024C0ADCB1A7}"/>
                </a:ext>
              </a:extLst>
            </p:cNvPr>
            <p:cNvSpPr txBox="1"/>
            <p:nvPr/>
          </p:nvSpPr>
          <p:spPr>
            <a:xfrm>
              <a:off x="7248427" y="512156"/>
              <a:ext cx="567761" cy="1265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383" name="2">
              <a:extLst>
                <a:ext uri="{FF2B5EF4-FFF2-40B4-BE49-F238E27FC236}">
                  <a16:creationId xmlns:a16="http://schemas.microsoft.com/office/drawing/2014/main" id="{7B38FFF5-63D4-D66B-045D-951064D9186A}"/>
                </a:ext>
              </a:extLst>
            </p:cNvPr>
            <p:cNvSpPr txBox="1"/>
            <p:nvPr/>
          </p:nvSpPr>
          <p:spPr>
            <a:xfrm>
              <a:off x="9325305" y="1564802"/>
              <a:ext cx="567761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384" name="3">
              <a:extLst>
                <a:ext uri="{FF2B5EF4-FFF2-40B4-BE49-F238E27FC236}">
                  <a16:creationId xmlns:a16="http://schemas.microsoft.com/office/drawing/2014/main" id="{BED4B603-9971-BBFE-E2C4-64159862118A}"/>
                </a:ext>
              </a:extLst>
            </p:cNvPr>
            <p:cNvSpPr txBox="1"/>
            <p:nvPr/>
          </p:nvSpPr>
          <p:spPr>
            <a:xfrm>
              <a:off x="11868140" y="2934639"/>
              <a:ext cx="567762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385" name="4">
              <a:extLst>
                <a:ext uri="{FF2B5EF4-FFF2-40B4-BE49-F238E27FC236}">
                  <a16:creationId xmlns:a16="http://schemas.microsoft.com/office/drawing/2014/main" id="{07F7990D-A931-5EAA-435C-71D16A3F8EB6}"/>
                </a:ext>
              </a:extLst>
            </p:cNvPr>
            <p:cNvSpPr txBox="1"/>
            <p:nvPr/>
          </p:nvSpPr>
          <p:spPr>
            <a:xfrm>
              <a:off x="9766937" y="4617688"/>
              <a:ext cx="567761" cy="13310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386" name="5">
              <a:extLst>
                <a:ext uri="{FF2B5EF4-FFF2-40B4-BE49-F238E27FC236}">
                  <a16:creationId xmlns:a16="http://schemas.microsoft.com/office/drawing/2014/main" id="{6077D56E-6505-13BF-C636-A6D20B352878}"/>
                </a:ext>
              </a:extLst>
            </p:cNvPr>
            <p:cNvSpPr txBox="1"/>
            <p:nvPr/>
          </p:nvSpPr>
          <p:spPr>
            <a:xfrm>
              <a:off x="7503751" y="5909379"/>
              <a:ext cx="567761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387" name="Oval 23">
              <a:extLst>
                <a:ext uri="{FF2B5EF4-FFF2-40B4-BE49-F238E27FC236}">
                  <a16:creationId xmlns:a16="http://schemas.microsoft.com/office/drawing/2014/main" id="{4597E0E7-CAC5-2256-7EEA-76C1426B1BE4}"/>
                </a:ext>
              </a:extLst>
            </p:cNvPr>
            <p:cNvSpPr/>
            <p:nvPr/>
          </p:nvSpPr>
          <p:spPr>
            <a:xfrm>
              <a:off x="6604510" y="1047715"/>
              <a:ext cx="160270" cy="16026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88" name="Freeform 395">
              <a:extLst>
                <a:ext uri="{FF2B5EF4-FFF2-40B4-BE49-F238E27FC236}">
                  <a16:creationId xmlns:a16="http://schemas.microsoft.com/office/drawing/2014/main" id="{0C1A152F-F816-3853-81AC-6A43D35063A7}"/>
                </a:ext>
              </a:extLst>
            </p:cNvPr>
            <p:cNvSpPr/>
            <p:nvPr/>
          </p:nvSpPr>
          <p:spPr>
            <a:xfrm>
              <a:off x="402774" y="2248749"/>
              <a:ext cx="3585943" cy="2510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84" y="21600"/>
                  </a:moveTo>
                  <a:cubicBezTo>
                    <a:pt x="316" y="21600"/>
                    <a:pt x="316" y="21600"/>
                    <a:pt x="316" y="21600"/>
                  </a:cubicBezTo>
                  <a:cubicBezTo>
                    <a:pt x="158" y="21600"/>
                    <a:pt x="0" y="21402"/>
                    <a:pt x="0" y="21137"/>
                  </a:cubicBezTo>
                  <a:cubicBezTo>
                    <a:pt x="0" y="1025"/>
                    <a:pt x="0" y="1025"/>
                    <a:pt x="0" y="1025"/>
                  </a:cubicBezTo>
                  <a:cubicBezTo>
                    <a:pt x="0" y="463"/>
                    <a:pt x="316" y="0"/>
                    <a:pt x="699" y="0"/>
                  </a:cubicBezTo>
                  <a:cubicBezTo>
                    <a:pt x="20901" y="0"/>
                    <a:pt x="20901" y="0"/>
                    <a:pt x="20901" y="0"/>
                  </a:cubicBezTo>
                  <a:cubicBezTo>
                    <a:pt x="21284" y="0"/>
                    <a:pt x="21600" y="463"/>
                    <a:pt x="21600" y="1025"/>
                  </a:cubicBezTo>
                  <a:cubicBezTo>
                    <a:pt x="21600" y="21137"/>
                    <a:pt x="21600" y="21137"/>
                    <a:pt x="21600" y="21137"/>
                  </a:cubicBezTo>
                  <a:cubicBezTo>
                    <a:pt x="21600" y="21402"/>
                    <a:pt x="21442" y="21600"/>
                    <a:pt x="21284" y="21600"/>
                  </a:cubicBezTo>
                  <a:close/>
                </a:path>
              </a:pathLst>
            </a:custGeom>
            <a:solidFill>
              <a:srgbClr val="355B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89" name="Freeform 396">
              <a:extLst>
                <a:ext uri="{FF2B5EF4-FFF2-40B4-BE49-F238E27FC236}">
                  <a16:creationId xmlns:a16="http://schemas.microsoft.com/office/drawing/2014/main" id="{B9517B3F-FC6A-DF7D-E981-78DA5056AE39}"/>
                </a:ext>
              </a:extLst>
            </p:cNvPr>
            <p:cNvSpPr/>
            <p:nvPr/>
          </p:nvSpPr>
          <p:spPr>
            <a:xfrm>
              <a:off x="402774" y="4651618"/>
              <a:ext cx="3585943" cy="107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10800"/>
                    <a:pt x="0" y="10800"/>
                    <a:pt x="0" y="10800"/>
                  </a:cubicBezTo>
                  <a:cubicBezTo>
                    <a:pt x="0" y="16971"/>
                    <a:pt x="158" y="21600"/>
                    <a:pt x="316" y="21600"/>
                  </a:cubicBezTo>
                  <a:cubicBezTo>
                    <a:pt x="21284" y="21600"/>
                    <a:pt x="21284" y="21600"/>
                    <a:pt x="21284" y="21600"/>
                  </a:cubicBezTo>
                  <a:cubicBezTo>
                    <a:pt x="21442" y="21600"/>
                    <a:pt x="21600" y="16971"/>
                    <a:pt x="21600" y="10800"/>
                  </a:cubicBezTo>
                  <a:cubicBezTo>
                    <a:pt x="21600" y="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C697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0" name="Rectangle 397">
              <a:extLst>
                <a:ext uri="{FF2B5EF4-FFF2-40B4-BE49-F238E27FC236}">
                  <a16:creationId xmlns:a16="http://schemas.microsoft.com/office/drawing/2014/main" id="{2B2C08BC-098E-48F9-F449-738BF47E0241}"/>
                </a:ext>
              </a:extLst>
            </p:cNvPr>
            <p:cNvSpPr/>
            <p:nvPr/>
          </p:nvSpPr>
          <p:spPr>
            <a:xfrm>
              <a:off x="546399" y="2426561"/>
              <a:ext cx="3300254" cy="212413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1" name="Freeform 398">
              <a:extLst>
                <a:ext uri="{FF2B5EF4-FFF2-40B4-BE49-F238E27FC236}">
                  <a16:creationId xmlns:a16="http://schemas.microsoft.com/office/drawing/2014/main" id="{55B92E18-C6F4-FD0D-BA07-4A0E92DFF4DE}"/>
                </a:ext>
              </a:extLst>
            </p:cNvPr>
            <p:cNvSpPr/>
            <p:nvPr/>
          </p:nvSpPr>
          <p:spPr>
            <a:xfrm>
              <a:off x="0" y="4770160"/>
              <a:ext cx="4393053" cy="6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0"/>
                    <a:pt x="405" y="21600"/>
                    <a:pt x="2741" y="21600"/>
                  </a:cubicBezTo>
                  <a:cubicBezTo>
                    <a:pt x="5096" y="21600"/>
                    <a:pt x="16504" y="21600"/>
                    <a:pt x="18840" y="21600"/>
                  </a:cubicBezTo>
                  <a:cubicBezTo>
                    <a:pt x="21195" y="2160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55B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2" name="Rectangle 399">
              <a:extLst>
                <a:ext uri="{FF2B5EF4-FFF2-40B4-BE49-F238E27FC236}">
                  <a16:creationId xmlns:a16="http://schemas.microsoft.com/office/drawing/2014/main" id="{0C2D9098-DB97-B7DE-1A2E-FBCC115DD912}"/>
                </a:ext>
              </a:extLst>
            </p:cNvPr>
            <p:cNvSpPr/>
            <p:nvPr/>
          </p:nvSpPr>
          <p:spPr>
            <a:xfrm>
              <a:off x="0" y="4742928"/>
              <a:ext cx="4393053" cy="27234"/>
            </a:xfrm>
            <a:prstGeom prst="rect">
              <a:avLst/>
            </a:prstGeom>
            <a:solidFill>
              <a:srgbClr val="2D4F5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3" name="Oval">
              <a:extLst>
                <a:ext uri="{FF2B5EF4-FFF2-40B4-BE49-F238E27FC236}">
                  <a16:creationId xmlns:a16="http://schemas.microsoft.com/office/drawing/2014/main" id="{480B5F82-DC8A-A9BD-D94B-645A4491175F}"/>
                </a:ext>
              </a:extLst>
            </p:cNvPr>
            <p:cNvSpPr/>
            <p:nvPr/>
          </p:nvSpPr>
          <p:spPr>
            <a:xfrm>
              <a:off x="1094086" y="3061368"/>
              <a:ext cx="785398" cy="780612"/>
            </a:xfrm>
            <a:prstGeom prst="ellipse">
              <a:avLst/>
            </a:prstGeom>
            <a:solidFill>
              <a:srgbClr val="355B6E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394" name="Oval">
              <a:extLst>
                <a:ext uri="{FF2B5EF4-FFF2-40B4-BE49-F238E27FC236}">
                  <a16:creationId xmlns:a16="http://schemas.microsoft.com/office/drawing/2014/main" id="{83A2808C-D635-9D64-497D-C1CC0A3F5ED8}"/>
                </a:ext>
              </a:extLst>
            </p:cNvPr>
            <p:cNvSpPr/>
            <p:nvPr/>
          </p:nvSpPr>
          <p:spPr>
            <a:xfrm>
              <a:off x="1238205" y="3096928"/>
              <a:ext cx="497161" cy="292106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395" name="R">
              <a:extLst>
                <a:ext uri="{FF2B5EF4-FFF2-40B4-BE49-F238E27FC236}">
                  <a16:creationId xmlns:a16="http://schemas.microsoft.com/office/drawing/2014/main" id="{E325A0CB-1BE3-3CC9-FADE-70E00378BD2A}"/>
                </a:ext>
              </a:extLst>
            </p:cNvPr>
            <p:cNvSpPr txBox="1"/>
            <p:nvPr/>
          </p:nvSpPr>
          <p:spPr>
            <a:xfrm>
              <a:off x="1278745" y="3026073"/>
              <a:ext cx="493840" cy="7464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400">
                  <a:solidFill>
                    <a:srgbClr val="EBEBEB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396" name="Studio">
              <a:extLst>
                <a:ext uri="{FF2B5EF4-FFF2-40B4-BE49-F238E27FC236}">
                  <a16:creationId xmlns:a16="http://schemas.microsoft.com/office/drawing/2014/main" id="{98A2A8B9-C44D-0E42-A275-E369A2E561C6}"/>
                </a:ext>
              </a:extLst>
            </p:cNvPr>
            <p:cNvSpPr txBox="1"/>
            <p:nvPr/>
          </p:nvSpPr>
          <p:spPr>
            <a:xfrm>
              <a:off x="1898247" y="3096928"/>
              <a:ext cx="1219284" cy="7319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000">
                  <a:solidFill>
                    <a:srgbClr val="576B8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Studio</a:t>
              </a:r>
            </a:p>
          </p:txBody>
        </p:sp>
        <p:sp>
          <p:nvSpPr>
            <p:cNvPr id="1397" name="Oval 25">
              <a:extLst>
                <a:ext uri="{FF2B5EF4-FFF2-40B4-BE49-F238E27FC236}">
                  <a16:creationId xmlns:a16="http://schemas.microsoft.com/office/drawing/2014/main" id="{DD430DD0-6776-7CD8-C1CC-674C2F0E395E}"/>
                </a:ext>
              </a:extLst>
            </p:cNvPr>
            <p:cNvSpPr/>
            <p:nvPr/>
          </p:nvSpPr>
          <p:spPr>
            <a:xfrm>
              <a:off x="5712181" y="1070933"/>
              <a:ext cx="160271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98" name="Oval 29">
              <a:extLst>
                <a:ext uri="{FF2B5EF4-FFF2-40B4-BE49-F238E27FC236}">
                  <a16:creationId xmlns:a16="http://schemas.microsoft.com/office/drawing/2014/main" id="{88F256A3-8ABF-E0D8-6A3E-9F9674E32929}"/>
                </a:ext>
              </a:extLst>
            </p:cNvPr>
            <p:cNvSpPr/>
            <p:nvPr/>
          </p:nvSpPr>
          <p:spPr>
            <a:xfrm>
              <a:off x="11234998" y="3453233"/>
              <a:ext cx="158316" cy="158316"/>
            </a:xfrm>
            <a:prstGeom prst="ellipse">
              <a:avLst/>
            </a:prstGeom>
            <a:solidFill>
              <a:srgbClr val="355B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  <p:sp>
        <p:nvSpPr>
          <p:cNvPr id="1407" name="26">
            <a:extLst>
              <a:ext uri="{FF2B5EF4-FFF2-40B4-BE49-F238E27FC236}">
                <a16:creationId xmlns:a16="http://schemas.microsoft.com/office/drawing/2014/main" id="{466BA77E-ADBE-BEFC-8A2D-0510449339C7}"/>
              </a:ext>
            </a:extLst>
          </p:cNvPr>
          <p:cNvSpPr txBox="1"/>
          <p:nvPr/>
        </p:nvSpPr>
        <p:spPr>
          <a:xfrm>
            <a:off x="374649" y="13057831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</a:t>
            </a:r>
            <a:r>
              <a:rPr lang="da-DK"/>
              <a:t>7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Oval 23">
            <a:extLst>
              <a:ext uri="{FF2B5EF4-FFF2-40B4-BE49-F238E27FC236}">
                <a16:creationId xmlns:a16="http://schemas.microsoft.com/office/drawing/2014/main" id="{1C0B4E25-A11B-5AA0-0093-38C408B3B34B}"/>
              </a:ext>
            </a:extLst>
          </p:cNvPr>
          <p:cNvSpPr/>
          <p:nvPr/>
        </p:nvSpPr>
        <p:spPr>
          <a:xfrm>
            <a:off x="13780517" y="8855842"/>
            <a:ext cx="155497" cy="155494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5" name="Oval 23">
            <a:extLst>
              <a:ext uri="{FF2B5EF4-FFF2-40B4-BE49-F238E27FC236}">
                <a16:creationId xmlns:a16="http://schemas.microsoft.com/office/drawing/2014/main" id="{5CB26660-732B-51C7-D3B6-2392174A85F0}"/>
              </a:ext>
            </a:extLst>
          </p:cNvPr>
          <p:cNvSpPr/>
          <p:nvPr/>
        </p:nvSpPr>
        <p:spPr>
          <a:xfrm>
            <a:off x="13780517" y="9295616"/>
            <a:ext cx="155497" cy="155494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6" name="Oval 23">
            <a:extLst>
              <a:ext uri="{FF2B5EF4-FFF2-40B4-BE49-F238E27FC236}">
                <a16:creationId xmlns:a16="http://schemas.microsoft.com/office/drawing/2014/main" id="{188D0B86-7660-D054-1EF8-33483C727800}"/>
              </a:ext>
            </a:extLst>
          </p:cNvPr>
          <p:cNvSpPr/>
          <p:nvPr/>
        </p:nvSpPr>
        <p:spPr>
          <a:xfrm>
            <a:off x="13780517" y="9756843"/>
            <a:ext cx="155497" cy="155494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7" name="Oval 23">
            <a:extLst>
              <a:ext uri="{FF2B5EF4-FFF2-40B4-BE49-F238E27FC236}">
                <a16:creationId xmlns:a16="http://schemas.microsoft.com/office/drawing/2014/main" id="{38AFE8B3-6DB3-3089-D0A1-9010C02C4B31}"/>
              </a:ext>
            </a:extLst>
          </p:cNvPr>
          <p:cNvSpPr/>
          <p:nvPr/>
        </p:nvSpPr>
        <p:spPr>
          <a:xfrm>
            <a:off x="13780517" y="10216056"/>
            <a:ext cx="155497" cy="155494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8" name="ggplot2…">
            <a:extLst>
              <a:ext uri="{FF2B5EF4-FFF2-40B4-BE49-F238E27FC236}">
                <a16:creationId xmlns:a16="http://schemas.microsoft.com/office/drawing/2014/main" id="{D0090189-02B9-98A3-A1E5-6322B5FD5025}"/>
              </a:ext>
            </a:extLst>
          </p:cNvPr>
          <p:cNvSpPr txBox="1"/>
          <p:nvPr/>
        </p:nvSpPr>
        <p:spPr>
          <a:xfrm>
            <a:off x="13099257" y="8220077"/>
            <a:ext cx="2891418" cy="32131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ggplot2</a:t>
            </a:r>
          </a:p>
          <a:p>
            <a:pPr lvl="1"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Bar plot</a:t>
            </a:r>
          </a:p>
          <a:p>
            <a:pPr lvl="1"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Scatter plot</a:t>
            </a:r>
          </a:p>
          <a:p>
            <a:pPr lvl="1"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 err="1"/>
              <a:t>Boxplot</a:t>
            </a:r>
            <a:endParaRPr lang="da-DK"/>
          </a:p>
          <a:p>
            <a:pPr lvl="1"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…</a:t>
            </a:r>
          </a:p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Syntax</a:t>
            </a:r>
          </a:p>
          <a:p>
            <a:pPr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Aesthetics</a:t>
            </a:r>
          </a:p>
        </p:txBody>
      </p:sp>
      <p:sp>
        <p:nvSpPr>
          <p:cNvPr id="9" name="Oval 23">
            <a:extLst>
              <a:ext uri="{FF2B5EF4-FFF2-40B4-BE49-F238E27FC236}">
                <a16:creationId xmlns:a16="http://schemas.microsoft.com/office/drawing/2014/main" id="{58FD7225-6F26-8B5C-C61F-4D54D0D5031A}"/>
              </a:ext>
            </a:extLst>
          </p:cNvPr>
          <p:cNvSpPr/>
          <p:nvPr/>
        </p:nvSpPr>
        <p:spPr>
          <a:xfrm>
            <a:off x="12809113" y="8534722"/>
            <a:ext cx="155496" cy="155494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0" name="Oval 23">
            <a:extLst>
              <a:ext uri="{FF2B5EF4-FFF2-40B4-BE49-F238E27FC236}">
                <a16:creationId xmlns:a16="http://schemas.microsoft.com/office/drawing/2014/main" id="{3ACB2E77-D7E7-A8D6-BB17-05C4F5CFB884}"/>
              </a:ext>
            </a:extLst>
          </p:cNvPr>
          <p:cNvSpPr/>
          <p:nvPr/>
        </p:nvSpPr>
        <p:spPr>
          <a:xfrm>
            <a:off x="12809113" y="10656268"/>
            <a:ext cx="155496" cy="155493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1" name="Oval 23">
            <a:extLst>
              <a:ext uri="{FF2B5EF4-FFF2-40B4-BE49-F238E27FC236}">
                <a16:creationId xmlns:a16="http://schemas.microsoft.com/office/drawing/2014/main" id="{808FC1AA-500F-18AC-ECE0-92FF53D6BC3B}"/>
              </a:ext>
            </a:extLst>
          </p:cNvPr>
          <p:cNvSpPr/>
          <p:nvPr/>
        </p:nvSpPr>
        <p:spPr>
          <a:xfrm>
            <a:off x="12809113" y="11123797"/>
            <a:ext cx="155496" cy="155494"/>
          </a:xfrm>
          <a:prstGeom prst="ellipse">
            <a:avLst/>
          </a:prstGeom>
          <a:solidFill>
            <a:srgbClr val="364556"/>
          </a:solidFill>
          <a:ln w="12700">
            <a:noFill/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2" name="Oval 7">
            <a:extLst>
              <a:ext uri="{FF2B5EF4-FFF2-40B4-BE49-F238E27FC236}">
                <a16:creationId xmlns:a16="http://schemas.microsoft.com/office/drawing/2014/main" id="{C05B13F6-08DB-93D2-8F15-64F8A43F6BFA}"/>
              </a:ext>
            </a:extLst>
          </p:cNvPr>
          <p:cNvSpPr/>
          <p:nvPr/>
        </p:nvSpPr>
        <p:spPr>
          <a:xfrm>
            <a:off x="7307120" y="2237011"/>
            <a:ext cx="1331013" cy="1331012"/>
          </a:xfrm>
          <a:prstGeom prst="ellipse">
            <a:avLst/>
          </a:prstGeom>
          <a:solidFill>
            <a:srgbClr val="C0C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3" name="Oval 12">
            <a:extLst>
              <a:ext uri="{FF2B5EF4-FFF2-40B4-BE49-F238E27FC236}">
                <a16:creationId xmlns:a16="http://schemas.microsoft.com/office/drawing/2014/main" id="{18085817-BE5A-7E0F-D7DA-2036DD1D2568}"/>
              </a:ext>
            </a:extLst>
          </p:cNvPr>
          <p:cNvSpPr/>
          <p:nvPr/>
        </p:nvSpPr>
        <p:spPr>
          <a:xfrm>
            <a:off x="7139031" y="2068923"/>
            <a:ext cx="1667187" cy="1669141"/>
          </a:xfrm>
          <a:prstGeom prst="ellipse">
            <a:avLst/>
          </a:pr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AF187A4A-9AFE-7B3B-89D2-61B61B308E5C}"/>
              </a:ext>
            </a:extLst>
          </p:cNvPr>
          <p:cNvSpPr txBox="1"/>
          <p:nvPr/>
        </p:nvSpPr>
        <p:spPr>
          <a:xfrm>
            <a:off x="7682422" y="2334537"/>
            <a:ext cx="674777" cy="1265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0</a:t>
            </a:r>
            <a:endParaRPr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D83B3429-D51A-1DCE-4402-59A0F85B44C4}"/>
              </a:ext>
            </a:extLst>
          </p:cNvPr>
          <p:cNvSpPr/>
          <p:nvPr/>
        </p:nvSpPr>
        <p:spPr>
          <a:xfrm>
            <a:off x="5179926" y="3403113"/>
            <a:ext cx="2138563" cy="2493034"/>
          </a:xfrm>
          <a:custGeom>
            <a:avLst/>
            <a:gdLst>
              <a:gd name="csX0" fmla="*/ 21600 w 21600"/>
              <a:gd name="csY0" fmla="*/ 0 h 21600"/>
              <a:gd name="csX1" fmla="*/ 10307 w 21600"/>
              <a:gd name="csY1" fmla="*/ 9701 h 21600"/>
              <a:gd name="csX2" fmla="*/ 2722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0307 w 21600"/>
              <a:gd name="csY1" fmla="*/ 9701 h 21600"/>
              <a:gd name="csX2" fmla="*/ 7514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7514 w 21600"/>
              <a:gd name="csY3" fmla="*/ 21600 h 21600"/>
              <a:gd name="csX4" fmla="*/ 0 w 21600"/>
              <a:gd name="csY4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4962 w 21600"/>
              <a:gd name="csY3" fmla="*/ 21600 h 21600"/>
              <a:gd name="csX4" fmla="*/ 0 w 21600"/>
              <a:gd name="csY4" fmla="*/ 21600 h 21600"/>
              <a:gd name="csX0" fmla="*/ 26339 w 26339"/>
              <a:gd name="csY0" fmla="*/ 0 h 22365"/>
              <a:gd name="csX1" fmla="*/ 15756 w 26339"/>
              <a:gd name="csY1" fmla="*/ 6103 h 22365"/>
              <a:gd name="csX2" fmla="*/ 10307 w 26339"/>
              <a:gd name="csY2" fmla="*/ 10466 h 22365"/>
              <a:gd name="csX3" fmla="*/ 4962 w 26339"/>
              <a:gd name="csY3" fmla="*/ 22365 h 22365"/>
              <a:gd name="csX4" fmla="*/ 0 w 26339"/>
              <a:gd name="csY4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5792 w 25792"/>
              <a:gd name="csY0" fmla="*/ 0 h 21982"/>
              <a:gd name="csX1" fmla="*/ 10307 w 25792"/>
              <a:gd name="csY1" fmla="*/ 10083 h 21982"/>
              <a:gd name="csX2" fmla="*/ 4962 w 25792"/>
              <a:gd name="csY2" fmla="*/ 21982 h 21982"/>
              <a:gd name="csX3" fmla="*/ 0 w 25792"/>
              <a:gd name="csY3" fmla="*/ 21982 h 21982"/>
              <a:gd name="csX0" fmla="*/ 24004 w 24004"/>
              <a:gd name="csY0" fmla="*/ 0 h 16063"/>
              <a:gd name="csX1" fmla="*/ 10307 w 24004"/>
              <a:gd name="csY1" fmla="*/ 4164 h 16063"/>
              <a:gd name="csX2" fmla="*/ 4962 w 24004"/>
              <a:gd name="csY2" fmla="*/ 16063 h 16063"/>
              <a:gd name="csX3" fmla="*/ 0 w 24004"/>
              <a:gd name="csY3" fmla="*/ 16063 h 16063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740" h="17730" extrusionOk="0">
                <a:moveTo>
                  <a:pt x="21740" y="0"/>
                </a:moveTo>
                <a:cubicBezTo>
                  <a:pt x="11452" y="5325"/>
                  <a:pt x="20684" y="495"/>
                  <a:pt x="10307" y="5831"/>
                </a:cubicBezTo>
                <a:lnTo>
                  <a:pt x="4962" y="17730"/>
                </a:lnTo>
                <a:lnTo>
                  <a:pt x="0" y="17730"/>
                </a:lnTo>
              </a:path>
            </a:pathLst>
          </a:cu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4" name="Oval 25">
            <a:extLst>
              <a:ext uri="{FF2B5EF4-FFF2-40B4-BE49-F238E27FC236}">
                <a16:creationId xmlns:a16="http://schemas.microsoft.com/office/drawing/2014/main" id="{78950D9E-ABE5-B075-0E4E-3C5E722CA0AA}"/>
              </a:ext>
            </a:extLst>
          </p:cNvPr>
          <p:cNvSpPr/>
          <p:nvPr/>
        </p:nvSpPr>
        <p:spPr>
          <a:xfrm>
            <a:off x="6121816" y="415765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" name="Oval 25">
            <a:extLst>
              <a:ext uri="{FF2B5EF4-FFF2-40B4-BE49-F238E27FC236}">
                <a16:creationId xmlns:a16="http://schemas.microsoft.com/office/drawing/2014/main" id="{334A6DD1-B397-FF8C-A024-39B3EBE66C98}"/>
              </a:ext>
            </a:extLst>
          </p:cNvPr>
          <p:cNvSpPr/>
          <p:nvPr/>
        </p:nvSpPr>
        <p:spPr>
          <a:xfrm>
            <a:off x="7223781" y="333704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48656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Rectangle"/>
          <p:cNvSpPr/>
          <p:nvPr/>
        </p:nvSpPr>
        <p:spPr>
          <a:xfrm>
            <a:off x="1268874" y="-1"/>
            <a:ext cx="10631807" cy="13843001"/>
          </a:xfrm>
          <a:prstGeom prst="rect">
            <a:avLst/>
          </a:prstGeom>
          <a:solidFill>
            <a:srgbClr val="81A489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744" name="Group"/>
          <p:cNvGrpSpPr/>
          <p:nvPr/>
        </p:nvGrpSpPr>
        <p:grpSpPr>
          <a:xfrm>
            <a:off x="13391762" y="1489524"/>
            <a:ext cx="9486170" cy="3475978"/>
            <a:chOff x="0" y="0"/>
            <a:chExt cx="9486169" cy="3475976"/>
          </a:xfrm>
        </p:grpSpPr>
        <p:sp>
          <p:nvSpPr>
            <p:cNvPr id="1741" name="R - A STATISTICAL…"/>
            <p:cNvSpPr txBox="1"/>
            <p:nvPr/>
          </p:nvSpPr>
          <p:spPr>
            <a:xfrm>
              <a:off x="0" y="720813"/>
              <a:ext cx="9486170" cy="27551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b="1"/>
                <a:t>R</a:t>
              </a:r>
              <a:r>
                <a:t> - A STATISTICAL </a:t>
              </a:r>
            </a:p>
            <a:p>
              <a:pPr algn="ctr"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SCRIPTING LANGUAGE</a:t>
              </a:r>
            </a:p>
          </p:txBody>
        </p:sp>
        <p:sp>
          <p:nvSpPr>
            <p:cNvPr id="1742" name="http://www.sthda.com/english/"/>
            <p:cNvSpPr txBox="1"/>
            <p:nvPr/>
          </p:nvSpPr>
          <p:spPr>
            <a:xfrm>
              <a:off x="2559380" y="0"/>
              <a:ext cx="5723756" cy="5190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u="sng">
                  <a:hlinkClick r:id="rId2"/>
                </a:rPr>
                <a:t>http://www.sthda.com/english/</a:t>
              </a:r>
              <a:r>
                <a:t> </a:t>
              </a:r>
            </a:p>
          </p:txBody>
        </p:sp>
        <p:sp>
          <p:nvSpPr>
            <p:cNvPr id="1743" name="Line"/>
            <p:cNvSpPr/>
            <p:nvPr/>
          </p:nvSpPr>
          <p:spPr>
            <a:xfrm>
              <a:off x="1156530" y="218268"/>
              <a:ext cx="1053959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745" name="Rectangle"/>
          <p:cNvSpPr/>
          <p:nvPr/>
        </p:nvSpPr>
        <p:spPr>
          <a:xfrm>
            <a:off x="1275089" y="3905238"/>
            <a:ext cx="10619376" cy="8665711"/>
          </a:xfrm>
          <a:prstGeom prst="rect">
            <a:avLst/>
          </a:prstGeom>
          <a:solidFill>
            <a:srgbClr val="FFFFFF"/>
          </a:solidFill>
          <a:ln w="12700">
            <a:solidFill>
              <a:srgbClr val="293441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755" name="Group"/>
          <p:cNvGrpSpPr/>
          <p:nvPr/>
        </p:nvGrpSpPr>
        <p:grpSpPr>
          <a:xfrm>
            <a:off x="1751677" y="8572883"/>
            <a:ext cx="4923645" cy="3640384"/>
            <a:chOff x="0" y="0"/>
            <a:chExt cx="4923643" cy="3640382"/>
          </a:xfrm>
        </p:grpSpPr>
        <p:sp>
          <p:nvSpPr>
            <p:cNvPr id="1746" name="Rectangle"/>
            <p:cNvSpPr/>
            <p:nvPr/>
          </p:nvSpPr>
          <p:spPr>
            <a:xfrm>
              <a:off x="702062" y="134374"/>
              <a:ext cx="1927923" cy="25231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47" name="Rectangle"/>
            <p:cNvSpPr/>
            <p:nvPr/>
          </p:nvSpPr>
          <p:spPr>
            <a:xfrm>
              <a:off x="2995721" y="134374"/>
              <a:ext cx="1927923" cy="25231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748" name="LogisticRegressionPlot.pdf" descr="LogisticRegressionPlot.pdf"/>
            <p:cNvPicPr>
              <a:picLocks noChangeAspect="1"/>
            </p:cNvPicPr>
            <p:nvPr/>
          </p:nvPicPr>
          <p:blipFill>
            <a:blip r:embed="rId3"/>
            <a:srcRect l="73556" t="120" r="7857" b="52086"/>
            <a:stretch>
              <a:fillRect/>
            </a:stretch>
          </p:blipFill>
          <p:spPr>
            <a:xfrm>
              <a:off x="51721" y="0"/>
              <a:ext cx="2529491" cy="3547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49" name="LogisticRegressionPlot.pdf" descr="LogisticRegressionPlot.pdf"/>
            <p:cNvPicPr>
              <a:picLocks noChangeAspect="1"/>
            </p:cNvPicPr>
            <p:nvPr/>
          </p:nvPicPr>
          <p:blipFill>
            <a:blip r:embed="rId3"/>
            <a:srcRect l="40627" t="48281" r="43937" b="3925"/>
            <a:stretch>
              <a:fillRect/>
            </a:stretch>
          </p:blipFill>
          <p:spPr>
            <a:xfrm>
              <a:off x="2531423" y="11622"/>
              <a:ext cx="2100687" cy="3547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50" name="Rectangle"/>
            <p:cNvSpPr/>
            <p:nvPr/>
          </p:nvSpPr>
          <p:spPr>
            <a:xfrm>
              <a:off x="3000693" y="122810"/>
              <a:ext cx="1162279" cy="2309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51" name="Variable 2"/>
            <p:cNvSpPr txBox="1"/>
            <p:nvPr/>
          </p:nvSpPr>
          <p:spPr>
            <a:xfrm>
              <a:off x="2140135" y="40679"/>
              <a:ext cx="2342051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6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Variable 2</a:t>
              </a:r>
            </a:p>
          </p:txBody>
        </p:sp>
        <p:sp>
          <p:nvSpPr>
            <p:cNvPr id="1752" name="Rectangle"/>
            <p:cNvSpPr/>
            <p:nvPr/>
          </p:nvSpPr>
          <p:spPr>
            <a:xfrm>
              <a:off x="993826" y="122810"/>
              <a:ext cx="1162279" cy="2309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53" name="Variable 1"/>
            <p:cNvSpPr txBox="1"/>
            <p:nvPr/>
          </p:nvSpPr>
          <p:spPr>
            <a:xfrm>
              <a:off x="0" y="40679"/>
              <a:ext cx="2342050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6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Variable 1</a:t>
              </a:r>
            </a:p>
          </p:txBody>
        </p:sp>
        <p:sp>
          <p:nvSpPr>
            <p:cNvPr id="1754" name="Rectangle"/>
            <p:cNvSpPr/>
            <p:nvPr/>
          </p:nvSpPr>
          <p:spPr>
            <a:xfrm>
              <a:off x="568498" y="3270329"/>
              <a:ext cx="4082654" cy="37005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756" name="Rectangle"/>
          <p:cNvSpPr/>
          <p:nvPr/>
        </p:nvSpPr>
        <p:spPr>
          <a:xfrm>
            <a:off x="8629650" y="4555066"/>
            <a:ext cx="505619" cy="2396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57" name="Rectangle"/>
          <p:cNvSpPr/>
          <p:nvPr/>
        </p:nvSpPr>
        <p:spPr>
          <a:xfrm>
            <a:off x="9569450" y="4548716"/>
            <a:ext cx="225029" cy="2523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58" name="Rectangle"/>
          <p:cNvSpPr/>
          <p:nvPr/>
        </p:nvSpPr>
        <p:spPr>
          <a:xfrm>
            <a:off x="10228659" y="4548716"/>
            <a:ext cx="225029" cy="2523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59" name="Rectangle"/>
          <p:cNvSpPr/>
          <p:nvPr/>
        </p:nvSpPr>
        <p:spPr>
          <a:xfrm>
            <a:off x="10887868" y="4548716"/>
            <a:ext cx="225029" cy="2523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1760" name="unnamed.png" descr="unnamed.png"/>
          <p:cNvPicPr>
            <a:picLocks noChangeAspect="1"/>
          </p:cNvPicPr>
          <p:nvPr/>
        </p:nvPicPr>
        <p:blipFill>
          <a:blip r:embed="rId4"/>
          <a:srcRect l="11902" b="15530"/>
          <a:stretch>
            <a:fillRect/>
          </a:stretch>
        </p:blipFill>
        <p:spPr>
          <a:xfrm>
            <a:off x="7311424" y="4622602"/>
            <a:ext cx="3706931" cy="266567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70" name="Group"/>
          <p:cNvGrpSpPr/>
          <p:nvPr/>
        </p:nvGrpSpPr>
        <p:grpSpPr>
          <a:xfrm>
            <a:off x="7336506" y="8501184"/>
            <a:ext cx="3767704" cy="3412090"/>
            <a:chOff x="0" y="0"/>
            <a:chExt cx="3767702" cy="3412089"/>
          </a:xfrm>
        </p:grpSpPr>
        <p:pic>
          <p:nvPicPr>
            <p:cNvPr id="1761" name="BatchCorrectionBoxplot.pdf" descr="BatchCorrectionBoxplot.pdf"/>
            <p:cNvPicPr>
              <a:picLocks/>
            </p:cNvPicPr>
            <p:nvPr/>
          </p:nvPicPr>
          <p:blipFill>
            <a:blip r:embed="rId5"/>
            <a:srcRect l="42366" t="31517" r="18796" b="7333"/>
            <a:stretch>
              <a:fillRect/>
            </a:stretch>
          </p:blipFill>
          <p:spPr>
            <a:xfrm>
              <a:off x="0" y="75699"/>
              <a:ext cx="3767703" cy="33363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62" name="Rectangle"/>
            <p:cNvSpPr/>
            <p:nvPr/>
          </p:nvSpPr>
          <p:spPr>
            <a:xfrm>
              <a:off x="615134" y="166806"/>
              <a:ext cx="614429" cy="12676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63" name="Rectangle"/>
            <p:cNvSpPr/>
            <p:nvPr/>
          </p:nvSpPr>
          <p:spPr>
            <a:xfrm>
              <a:off x="2421906" y="166806"/>
              <a:ext cx="614430" cy="12676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64" name="Rectangle"/>
            <p:cNvSpPr/>
            <p:nvPr/>
          </p:nvSpPr>
          <p:spPr>
            <a:xfrm>
              <a:off x="503247" y="1819070"/>
              <a:ext cx="838201" cy="12677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65" name="Rectangle"/>
            <p:cNvSpPr/>
            <p:nvPr/>
          </p:nvSpPr>
          <p:spPr>
            <a:xfrm>
              <a:off x="2310021" y="1819070"/>
              <a:ext cx="838201" cy="12677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766" name="A"/>
            <p:cNvSpPr txBox="1"/>
            <p:nvPr/>
          </p:nvSpPr>
          <p:spPr>
            <a:xfrm>
              <a:off x="718011" y="0"/>
              <a:ext cx="408674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A</a:t>
              </a:r>
            </a:p>
          </p:txBody>
        </p:sp>
        <p:sp>
          <p:nvSpPr>
            <p:cNvPr id="1767" name="B"/>
            <p:cNvSpPr txBox="1"/>
            <p:nvPr/>
          </p:nvSpPr>
          <p:spPr>
            <a:xfrm>
              <a:off x="2524785" y="12700"/>
              <a:ext cx="408673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B</a:t>
              </a:r>
            </a:p>
          </p:txBody>
        </p:sp>
        <p:sp>
          <p:nvSpPr>
            <p:cNvPr id="1768" name="C"/>
            <p:cNvSpPr txBox="1"/>
            <p:nvPr/>
          </p:nvSpPr>
          <p:spPr>
            <a:xfrm>
              <a:off x="718011" y="1697566"/>
              <a:ext cx="408674" cy="395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</a:t>
              </a:r>
            </a:p>
          </p:txBody>
        </p:sp>
        <p:sp>
          <p:nvSpPr>
            <p:cNvPr id="1769" name="D"/>
            <p:cNvSpPr txBox="1"/>
            <p:nvPr/>
          </p:nvSpPr>
          <p:spPr>
            <a:xfrm>
              <a:off x="2524785" y="1710266"/>
              <a:ext cx="408673" cy="395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D</a:t>
              </a:r>
            </a:p>
          </p:txBody>
        </p:sp>
      </p:grpSp>
      <p:grpSp>
        <p:nvGrpSpPr>
          <p:cNvPr id="1774" name="Group"/>
          <p:cNvGrpSpPr/>
          <p:nvPr/>
        </p:nvGrpSpPr>
        <p:grpSpPr>
          <a:xfrm>
            <a:off x="13895505" y="5184291"/>
            <a:ext cx="4282837" cy="2863852"/>
            <a:chOff x="0" y="0"/>
            <a:chExt cx="4282836" cy="2863850"/>
          </a:xfrm>
        </p:grpSpPr>
        <p:sp>
          <p:nvSpPr>
            <p:cNvPr id="1771" name="Freeform 6"/>
            <p:cNvSpPr/>
            <p:nvPr/>
          </p:nvSpPr>
          <p:spPr>
            <a:xfrm rot="10800000" flipH="1">
              <a:off x="0" y="0"/>
              <a:ext cx="4282836" cy="2863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84" y="21600"/>
                  </a:moveTo>
                  <a:cubicBezTo>
                    <a:pt x="1016" y="21600"/>
                    <a:pt x="1016" y="21600"/>
                    <a:pt x="1016" y="21600"/>
                  </a:cubicBezTo>
                  <a:cubicBezTo>
                    <a:pt x="452" y="21600"/>
                    <a:pt x="0" y="21148"/>
                    <a:pt x="0" y="20584"/>
                  </a:cubicBezTo>
                  <a:cubicBezTo>
                    <a:pt x="0" y="1016"/>
                    <a:pt x="0" y="1016"/>
                    <a:pt x="0" y="1016"/>
                  </a:cubicBezTo>
                  <a:cubicBezTo>
                    <a:pt x="0" y="452"/>
                    <a:pt x="452" y="0"/>
                    <a:pt x="1016" y="0"/>
                  </a:cubicBezTo>
                  <a:cubicBezTo>
                    <a:pt x="20584" y="0"/>
                    <a:pt x="20584" y="0"/>
                    <a:pt x="20584" y="0"/>
                  </a:cubicBezTo>
                  <a:cubicBezTo>
                    <a:pt x="21148" y="0"/>
                    <a:pt x="21600" y="452"/>
                    <a:pt x="21600" y="1016"/>
                  </a:cubicBezTo>
                  <a:cubicBezTo>
                    <a:pt x="21600" y="20584"/>
                    <a:pt x="21600" y="20584"/>
                    <a:pt x="21600" y="20584"/>
                  </a:cubicBezTo>
                  <a:cubicBezTo>
                    <a:pt x="21600" y="21148"/>
                    <a:pt x="21148" y="21600"/>
                    <a:pt x="20584" y="21600"/>
                  </a:cubicBezTo>
                  <a:close/>
                </a:path>
              </a:pathLst>
            </a:custGeom>
            <a:solidFill>
              <a:srgbClr val="2747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72" name="MODEL FUNCTIONS"/>
            <p:cNvSpPr txBox="1"/>
            <p:nvPr/>
          </p:nvSpPr>
          <p:spPr>
            <a:xfrm>
              <a:off x="307074" y="372091"/>
              <a:ext cx="3668688" cy="7168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MODEL FUNCTIONS</a:t>
              </a:r>
            </a:p>
          </p:txBody>
        </p:sp>
        <p:sp>
          <p:nvSpPr>
            <p:cNvPr id="1773" name="lm(), glm()…"/>
            <p:cNvSpPr txBox="1"/>
            <p:nvPr/>
          </p:nvSpPr>
          <p:spPr>
            <a:xfrm>
              <a:off x="573340" y="1275744"/>
              <a:ext cx="3187594" cy="15304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 err="1"/>
                <a:t>lm</a:t>
              </a:r>
              <a:r>
                <a:t>(), </a:t>
              </a:r>
              <a:r>
                <a:rPr err="1"/>
                <a:t>glm</a:t>
              </a:r>
              <a:r>
                <a:t>()</a:t>
              </a:r>
            </a:p>
            <a:p>
              <a: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 err="1"/>
                <a:t>lmer</a:t>
              </a:r>
              <a:r>
                <a:t>(), </a:t>
              </a:r>
              <a:r>
                <a:rPr err="1"/>
                <a:t>glmer</a:t>
              </a:r>
              <a:r>
                <a:t>(),</a:t>
              </a:r>
            </a:p>
            <a:p>
              <a: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 err="1"/>
                <a:t>nls</a:t>
              </a:r>
              <a:r>
                <a:t>(), …</a:t>
              </a:r>
            </a:p>
          </p:txBody>
        </p:sp>
      </p:grpSp>
      <p:grpSp>
        <p:nvGrpSpPr>
          <p:cNvPr id="1778" name="Group"/>
          <p:cNvGrpSpPr/>
          <p:nvPr/>
        </p:nvGrpSpPr>
        <p:grpSpPr>
          <a:xfrm>
            <a:off x="13199178" y="8180881"/>
            <a:ext cx="4957460" cy="3280419"/>
            <a:chOff x="0" y="0"/>
            <a:chExt cx="4957458" cy="3280418"/>
          </a:xfrm>
        </p:grpSpPr>
        <p:sp>
          <p:nvSpPr>
            <p:cNvPr id="1775" name="Freeform 8"/>
            <p:cNvSpPr/>
            <p:nvPr/>
          </p:nvSpPr>
          <p:spPr>
            <a:xfrm rot="10800000" flipH="1">
              <a:off x="0" y="0"/>
              <a:ext cx="4957458" cy="3011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5" y="21600"/>
                  </a:moveTo>
                  <a:cubicBezTo>
                    <a:pt x="1239" y="21600"/>
                    <a:pt x="1239" y="21600"/>
                    <a:pt x="1239" y="21600"/>
                  </a:cubicBezTo>
                  <a:cubicBezTo>
                    <a:pt x="531" y="21600"/>
                    <a:pt x="0" y="21069"/>
                    <a:pt x="0" y="20361"/>
                  </a:cubicBezTo>
                  <a:cubicBezTo>
                    <a:pt x="0" y="1195"/>
                    <a:pt x="0" y="1195"/>
                    <a:pt x="0" y="1195"/>
                  </a:cubicBezTo>
                  <a:cubicBezTo>
                    <a:pt x="0" y="531"/>
                    <a:pt x="531" y="0"/>
                    <a:pt x="1239" y="0"/>
                  </a:cubicBezTo>
                  <a:cubicBezTo>
                    <a:pt x="20405" y="0"/>
                    <a:pt x="20405" y="0"/>
                    <a:pt x="20405" y="0"/>
                  </a:cubicBezTo>
                  <a:cubicBezTo>
                    <a:pt x="21069" y="0"/>
                    <a:pt x="21600" y="531"/>
                    <a:pt x="21600" y="1195"/>
                  </a:cubicBezTo>
                  <a:cubicBezTo>
                    <a:pt x="21600" y="20361"/>
                    <a:pt x="21600" y="20361"/>
                    <a:pt x="21600" y="20361"/>
                  </a:cubicBezTo>
                  <a:cubicBezTo>
                    <a:pt x="21600" y="21069"/>
                    <a:pt x="21069" y="21600"/>
                    <a:pt x="20405" y="21600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76" name="APPLY TO MODEL"/>
            <p:cNvSpPr txBox="1"/>
            <p:nvPr/>
          </p:nvSpPr>
          <p:spPr>
            <a:xfrm>
              <a:off x="832308" y="284569"/>
              <a:ext cx="3352218" cy="7168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APPLY TO MODEL</a:t>
              </a:r>
            </a:p>
          </p:txBody>
        </p:sp>
        <p:sp>
          <p:nvSpPr>
            <p:cNvPr id="1777" name="summary(), anova(), confint(), predict(), drop1(), update(), step(), …"/>
            <p:cNvSpPr txBox="1"/>
            <p:nvPr/>
          </p:nvSpPr>
          <p:spPr>
            <a:xfrm>
              <a:off x="527799" y="1182528"/>
              <a:ext cx="4144289" cy="20978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summary(), </a:t>
              </a:r>
              <a:r>
                <a:rPr err="1"/>
                <a:t>anova</a:t>
              </a:r>
              <a:r>
                <a:t>(), </a:t>
              </a:r>
              <a:r>
                <a:rPr err="1"/>
                <a:t>confint</a:t>
              </a:r>
              <a:r>
                <a:t>(), predict(), drop1(), update(), step(), …</a:t>
              </a:r>
            </a:p>
          </p:txBody>
        </p:sp>
      </p:grpSp>
      <p:grpSp>
        <p:nvGrpSpPr>
          <p:cNvPr id="1782" name="Group"/>
          <p:cNvGrpSpPr/>
          <p:nvPr/>
        </p:nvGrpSpPr>
        <p:grpSpPr>
          <a:xfrm>
            <a:off x="18304952" y="5751620"/>
            <a:ext cx="4567687" cy="2299979"/>
            <a:chOff x="-38100" y="0"/>
            <a:chExt cx="4567686" cy="2299978"/>
          </a:xfrm>
        </p:grpSpPr>
        <p:sp>
          <p:nvSpPr>
            <p:cNvPr id="1779" name="Freeform 9"/>
            <p:cNvSpPr/>
            <p:nvPr/>
          </p:nvSpPr>
          <p:spPr>
            <a:xfrm rot="10800000" flipH="1">
              <a:off x="-38100" y="0"/>
              <a:ext cx="4567686" cy="2299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11" y="21600"/>
                  </a:moveTo>
                  <a:cubicBezTo>
                    <a:pt x="1440" y="21600"/>
                    <a:pt x="1440" y="21600"/>
                    <a:pt x="1440" y="21600"/>
                  </a:cubicBezTo>
                  <a:cubicBezTo>
                    <a:pt x="617" y="21600"/>
                    <a:pt x="0" y="20983"/>
                    <a:pt x="0" y="20160"/>
                  </a:cubicBezTo>
                  <a:cubicBezTo>
                    <a:pt x="0" y="1389"/>
                    <a:pt x="0" y="1389"/>
                    <a:pt x="0" y="1389"/>
                  </a:cubicBezTo>
                  <a:cubicBezTo>
                    <a:pt x="0" y="617"/>
                    <a:pt x="617" y="0"/>
                    <a:pt x="1440" y="0"/>
                  </a:cubicBezTo>
                  <a:cubicBezTo>
                    <a:pt x="20211" y="0"/>
                    <a:pt x="20211" y="0"/>
                    <a:pt x="20211" y="0"/>
                  </a:cubicBezTo>
                  <a:cubicBezTo>
                    <a:pt x="20983" y="0"/>
                    <a:pt x="21600" y="617"/>
                    <a:pt x="21600" y="1389"/>
                  </a:cubicBezTo>
                  <a:cubicBezTo>
                    <a:pt x="21600" y="20160"/>
                    <a:pt x="21600" y="20160"/>
                    <a:pt x="21600" y="20160"/>
                  </a:cubicBezTo>
                  <a:cubicBezTo>
                    <a:pt x="21600" y="20983"/>
                    <a:pt x="20983" y="21600"/>
                    <a:pt x="20211" y="21600"/>
                  </a:cubicBezTo>
                  <a:close/>
                </a:path>
              </a:pathLst>
            </a:custGeom>
            <a:solidFill>
              <a:srgbClr val="557D9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80" name="EMMEANS PACKAGE"/>
            <p:cNvSpPr txBox="1"/>
            <p:nvPr/>
          </p:nvSpPr>
          <p:spPr>
            <a:xfrm>
              <a:off x="319113" y="316135"/>
              <a:ext cx="3929461" cy="7168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EMMEANS PACKAGE</a:t>
              </a:r>
            </a:p>
          </p:txBody>
        </p:sp>
        <p:sp>
          <p:nvSpPr>
            <p:cNvPr id="1781" name="emmeans(), pairs(), cld()"/>
            <p:cNvSpPr txBox="1"/>
            <p:nvPr/>
          </p:nvSpPr>
          <p:spPr>
            <a:xfrm>
              <a:off x="768139" y="977028"/>
              <a:ext cx="2895988" cy="12148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r>
                <a:t>emmeans(), pairs(), cld()</a:t>
              </a:r>
            </a:p>
          </p:txBody>
        </p:sp>
      </p:grpSp>
      <p:grpSp>
        <p:nvGrpSpPr>
          <p:cNvPr id="1786" name="Group"/>
          <p:cNvGrpSpPr/>
          <p:nvPr/>
        </p:nvGrpSpPr>
        <p:grpSpPr>
          <a:xfrm>
            <a:off x="18297642" y="8181488"/>
            <a:ext cx="4019676" cy="3559574"/>
            <a:chOff x="-12700" y="-50800"/>
            <a:chExt cx="4019674" cy="3559572"/>
          </a:xfrm>
        </p:grpSpPr>
        <p:sp>
          <p:nvSpPr>
            <p:cNvPr id="1783" name="Freeform 7"/>
            <p:cNvSpPr/>
            <p:nvPr/>
          </p:nvSpPr>
          <p:spPr>
            <a:xfrm rot="10800000" flipH="1">
              <a:off x="-12700" y="-50800"/>
              <a:ext cx="4019675" cy="3559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17" y="21600"/>
                  </a:moveTo>
                  <a:cubicBezTo>
                    <a:pt x="1850" y="21600"/>
                    <a:pt x="1850" y="21600"/>
                    <a:pt x="1850" y="21600"/>
                  </a:cubicBezTo>
                  <a:cubicBezTo>
                    <a:pt x="859" y="21600"/>
                    <a:pt x="0" y="20807"/>
                    <a:pt x="0" y="19750"/>
                  </a:cubicBezTo>
                  <a:cubicBezTo>
                    <a:pt x="0" y="1850"/>
                    <a:pt x="0" y="1850"/>
                    <a:pt x="0" y="1850"/>
                  </a:cubicBezTo>
                  <a:cubicBezTo>
                    <a:pt x="0" y="859"/>
                    <a:pt x="859" y="0"/>
                    <a:pt x="1850" y="0"/>
                  </a:cubicBezTo>
                  <a:cubicBezTo>
                    <a:pt x="19817" y="0"/>
                    <a:pt x="19817" y="0"/>
                    <a:pt x="19817" y="0"/>
                  </a:cubicBezTo>
                  <a:cubicBezTo>
                    <a:pt x="20807" y="0"/>
                    <a:pt x="21600" y="859"/>
                    <a:pt x="21600" y="1850"/>
                  </a:cubicBezTo>
                  <a:cubicBezTo>
                    <a:pt x="21600" y="19750"/>
                    <a:pt x="21600" y="19750"/>
                    <a:pt x="21600" y="19750"/>
                  </a:cubicBezTo>
                  <a:cubicBezTo>
                    <a:pt x="21600" y="20807"/>
                    <a:pt x="20807" y="21600"/>
                    <a:pt x="19817" y="21600"/>
                  </a:cubicBezTo>
                  <a:close/>
                </a:path>
              </a:pathLst>
            </a:cu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84" name="MORE FUNCTIONS"/>
            <p:cNvSpPr txBox="1"/>
            <p:nvPr/>
          </p:nvSpPr>
          <p:spPr>
            <a:xfrm>
              <a:off x="281371" y="331137"/>
              <a:ext cx="3456933" cy="7168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MORE FUNCTIONS</a:t>
              </a:r>
            </a:p>
          </p:txBody>
        </p:sp>
        <p:sp>
          <p:nvSpPr>
            <p:cNvPr id="1785" name="t.test(), cor(), cor.test(), aov(), quantile(), p.adjust(),…"/>
            <p:cNvSpPr txBox="1"/>
            <p:nvPr/>
          </p:nvSpPr>
          <p:spPr>
            <a:xfrm>
              <a:off x="284714" y="984749"/>
              <a:ext cx="3668688" cy="22999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t.test(), cor(), cor.test(), aov(), quantile(), p.adjust(),</a:t>
              </a:r>
            </a:p>
            <a:p>
              <a:pPr>
                <a:defRPr sz="2500">
                  <a:solidFill>
                    <a:srgbClr val="FFFFFF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rank(), …</a:t>
              </a:r>
            </a:p>
          </p:txBody>
        </p:sp>
      </p:grpSp>
      <p:grpSp>
        <p:nvGrpSpPr>
          <p:cNvPr id="1798" name="Group"/>
          <p:cNvGrpSpPr/>
          <p:nvPr/>
        </p:nvGrpSpPr>
        <p:grpSpPr>
          <a:xfrm>
            <a:off x="1751677" y="4899672"/>
            <a:ext cx="4923645" cy="2309711"/>
            <a:chOff x="0" y="0"/>
            <a:chExt cx="4923643" cy="2309710"/>
          </a:xfrm>
        </p:grpSpPr>
        <p:sp>
          <p:nvSpPr>
            <p:cNvPr id="1803" name="Connection Line"/>
            <p:cNvSpPr/>
            <p:nvPr/>
          </p:nvSpPr>
          <p:spPr>
            <a:xfrm>
              <a:off x="457113" y="773114"/>
              <a:ext cx="972243" cy="148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459" y="18816"/>
                    <a:pt x="16659" y="11616"/>
                    <a:pt x="21600" y="0"/>
                  </a:cubicBezTo>
                </a:path>
              </a:pathLst>
            </a:custGeom>
            <a:noFill/>
            <a:ln w="50800" cap="flat">
              <a:solidFill>
                <a:srgbClr val="436C6E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04" name="Connection Line"/>
            <p:cNvSpPr/>
            <p:nvPr/>
          </p:nvSpPr>
          <p:spPr>
            <a:xfrm>
              <a:off x="1420488" y="71456"/>
              <a:ext cx="907347" cy="764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0" y="15568"/>
                  </a:moveTo>
                  <a:cubicBezTo>
                    <a:pt x="6833" y="-5398"/>
                    <a:pt x="14033" y="-5187"/>
                    <a:pt x="21600" y="16202"/>
                  </a:cubicBezTo>
                </a:path>
              </a:pathLst>
            </a:custGeom>
            <a:noFill/>
            <a:ln w="50800" cap="flat">
              <a:solidFill>
                <a:srgbClr val="436C6E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05" name="Connection Line"/>
            <p:cNvSpPr/>
            <p:nvPr/>
          </p:nvSpPr>
          <p:spPr>
            <a:xfrm>
              <a:off x="2314261" y="790458"/>
              <a:ext cx="972243" cy="148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141" y="18816"/>
                    <a:pt x="4941" y="11616"/>
                    <a:pt x="0" y="0"/>
                  </a:cubicBezTo>
                </a:path>
              </a:pathLst>
            </a:custGeom>
            <a:noFill/>
            <a:ln w="50800" cap="flat">
              <a:solidFill>
                <a:srgbClr val="436C6E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06" name="Connection Line"/>
            <p:cNvSpPr/>
            <p:nvPr/>
          </p:nvSpPr>
          <p:spPr>
            <a:xfrm>
              <a:off x="2580174" y="73463"/>
              <a:ext cx="901124" cy="7662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0" y="15484"/>
                  </a:moveTo>
                  <a:cubicBezTo>
                    <a:pt x="6940" y="-5398"/>
                    <a:pt x="14140" y="-5159"/>
                    <a:pt x="21600" y="16202"/>
                  </a:cubicBezTo>
                </a:path>
              </a:pathLst>
            </a:custGeom>
            <a:noFill/>
            <a:ln w="50800" cap="flat">
              <a:solidFill>
                <a:srgbClr val="82A8B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07" name="Connection Line"/>
            <p:cNvSpPr/>
            <p:nvPr/>
          </p:nvSpPr>
          <p:spPr>
            <a:xfrm>
              <a:off x="3471995" y="804228"/>
              <a:ext cx="974195" cy="1489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150" y="18810"/>
                    <a:pt x="4950" y="11610"/>
                    <a:pt x="0" y="0"/>
                  </a:cubicBezTo>
                </a:path>
              </a:pathLst>
            </a:custGeom>
            <a:noFill/>
            <a:ln w="50800" cap="flat">
              <a:solidFill>
                <a:srgbClr val="82A8B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792" name="Shape"/>
            <p:cNvSpPr/>
            <p:nvPr/>
          </p:nvSpPr>
          <p:spPr>
            <a:xfrm>
              <a:off x="1638189" y="899455"/>
              <a:ext cx="964087" cy="1390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90" y="0"/>
                  </a:moveTo>
                  <a:lnTo>
                    <a:pt x="21600" y="21483"/>
                  </a:lnTo>
                  <a:lnTo>
                    <a:pt x="0" y="21600"/>
                  </a:lnTo>
                  <a:cubicBezTo>
                    <a:pt x="2377" y="20250"/>
                    <a:pt x="4652" y="18777"/>
                    <a:pt x="6811" y="17191"/>
                  </a:cubicBezTo>
                  <a:cubicBezTo>
                    <a:pt x="8802" y="15728"/>
                    <a:pt x="10692" y="14171"/>
                    <a:pt x="12472" y="12527"/>
                  </a:cubicBezTo>
                  <a:cubicBezTo>
                    <a:pt x="14315" y="10696"/>
                    <a:pt x="15963" y="8733"/>
                    <a:pt x="17396" y="6659"/>
                  </a:cubicBezTo>
                  <a:cubicBezTo>
                    <a:pt x="18863" y="4537"/>
                    <a:pt x="20100" y="2308"/>
                    <a:pt x="21090" y="0"/>
                  </a:cubicBezTo>
                  <a:close/>
                </a:path>
              </a:pathLst>
            </a:custGeom>
            <a:solidFill>
              <a:srgbClr val="374556">
                <a:alpha val="9111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08" name="Connection Line"/>
            <p:cNvSpPr/>
            <p:nvPr/>
          </p:nvSpPr>
          <p:spPr>
            <a:xfrm>
              <a:off x="1616798" y="773114"/>
              <a:ext cx="972244" cy="148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459" y="18816"/>
                    <a:pt x="16659" y="11616"/>
                    <a:pt x="21600" y="0"/>
                  </a:cubicBezTo>
                </a:path>
              </a:pathLst>
            </a:custGeom>
            <a:noFill/>
            <a:ln w="50800" cap="flat">
              <a:solidFill>
                <a:srgbClr val="82A8B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794" name="Line"/>
            <p:cNvSpPr/>
            <p:nvPr/>
          </p:nvSpPr>
          <p:spPr>
            <a:xfrm flipV="1">
              <a:off x="2593761" y="0"/>
              <a:ext cx="1" cy="2285608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95" name="Line"/>
            <p:cNvSpPr/>
            <p:nvPr/>
          </p:nvSpPr>
          <p:spPr>
            <a:xfrm flipH="1" flipV="1">
              <a:off x="-1" y="2309710"/>
              <a:ext cx="4923645" cy="1"/>
            </a:xfrm>
            <a:prstGeom prst="line">
              <a:avLst/>
            </a:prstGeom>
            <a:noFill/>
            <a:ln w="508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96" name="Line"/>
            <p:cNvSpPr/>
            <p:nvPr/>
          </p:nvSpPr>
          <p:spPr>
            <a:xfrm flipV="1">
              <a:off x="1857535" y="167749"/>
              <a:ext cx="1" cy="1781383"/>
            </a:xfrm>
            <a:prstGeom prst="line">
              <a:avLst/>
            </a:prstGeom>
            <a:noFill/>
            <a:ln w="31750" cap="flat">
              <a:solidFill>
                <a:srgbClr val="436C6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97" name="Line"/>
            <p:cNvSpPr/>
            <p:nvPr/>
          </p:nvSpPr>
          <p:spPr>
            <a:xfrm flipV="1">
              <a:off x="3030665" y="145690"/>
              <a:ext cx="1" cy="1825502"/>
            </a:xfrm>
            <a:prstGeom prst="line">
              <a:avLst/>
            </a:prstGeom>
            <a:noFill/>
            <a:ln w="31750" cap="flat">
              <a:solidFill>
                <a:srgbClr val="82A8B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799" name="Line"/>
          <p:cNvSpPr/>
          <p:nvPr/>
        </p:nvSpPr>
        <p:spPr>
          <a:xfrm flipV="1">
            <a:off x="7544879" y="5316856"/>
            <a:ext cx="3350958" cy="1302453"/>
          </a:xfrm>
          <a:prstGeom prst="line">
            <a:avLst/>
          </a:prstGeom>
          <a:ln w="38100">
            <a:solidFill>
              <a:srgbClr val="6C84C3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00" name="X"/>
          <p:cNvSpPr txBox="1"/>
          <p:nvPr/>
        </p:nvSpPr>
        <p:spPr>
          <a:xfrm>
            <a:off x="9023994" y="7333436"/>
            <a:ext cx="408674" cy="395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 lvl="1">
              <a:defRPr sz="15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X</a:t>
            </a:r>
          </a:p>
        </p:txBody>
      </p:sp>
      <p:sp>
        <p:nvSpPr>
          <p:cNvPr id="1801" name="Y"/>
          <p:cNvSpPr txBox="1"/>
          <p:nvPr/>
        </p:nvSpPr>
        <p:spPr>
          <a:xfrm>
            <a:off x="6902312" y="5555436"/>
            <a:ext cx="408674" cy="395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 lvl="1">
              <a:defRPr sz="15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</a:t>
            </a:r>
          </a:p>
        </p:txBody>
      </p:sp>
      <p:sp>
        <p:nvSpPr>
          <p:cNvPr id="1802" name="31"/>
          <p:cNvSpPr txBox="1"/>
          <p:nvPr/>
        </p:nvSpPr>
        <p:spPr>
          <a:xfrm>
            <a:off x="374649" y="13025174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28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8" grpId="1" animBg="1" advAuto="0"/>
      <p:bldP spid="1782" grpId="2" animBg="1" advAuto="0"/>
      <p:bldP spid="1786" grpId="3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Rectangle"/>
          <p:cNvSpPr/>
          <p:nvPr/>
        </p:nvSpPr>
        <p:spPr>
          <a:xfrm>
            <a:off x="-29388" y="-53314"/>
            <a:ext cx="9094586" cy="13822628"/>
          </a:xfrm>
          <a:prstGeom prst="rect">
            <a:avLst/>
          </a:prstGeom>
          <a:solidFill>
            <a:srgbClr val="81A489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11" name="Oval 16"/>
          <p:cNvSpPr/>
          <p:nvPr/>
        </p:nvSpPr>
        <p:spPr>
          <a:xfrm rot="5400000" flipH="1">
            <a:off x="13922782" y="14298548"/>
            <a:ext cx="182788" cy="177330"/>
          </a:xfrm>
          <a:prstGeom prst="ellipse">
            <a:avLst/>
          </a:prstGeom>
          <a:solidFill>
            <a:srgbClr val="00ADB5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12" name="33"/>
          <p:cNvSpPr txBox="1"/>
          <p:nvPr/>
        </p:nvSpPr>
        <p:spPr>
          <a:xfrm>
            <a:off x="374649" y="13057831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29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816" name="Group"/>
          <p:cNvGrpSpPr/>
          <p:nvPr/>
        </p:nvGrpSpPr>
        <p:grpSpPr>
          <a:xfrm>
            <a:off x="489835" y="5727448"/>
            <a:ext cx="8056140" cy="2261104"/>
            <a:chOff x="0" y="0"/>
            <a:chExt cx="8056139" cy="2261103"/>
          </a:xfrm>
        </p:grpSpPr>
        <p:sp>
          <p:nvSpPr>
            <p:cNvPr id="1813" name="Let’s use R in a statistical analysis"/>
            <p:cNvSpPr txBox="1"/>
            <p:nvPr/>
          </p:nvSpPr>
          <p:spPr>
            <a:xfrm>
              <a:off x="0" y="524536"/>
              <a:ext cx="7780512" cy="1736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5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Let’s use R in a statistical analysis</a:t>
              </a:r>
            </a:p>
          </p:txBody>
        </p:sp>
        <p:sp>
          <p:nvSpPr>
            <p:cNvPr id="1814" name="Rectangle"/>
            <p:cNvSpPr txBox="1"/>
            <p:nvPr/>
          </p:nvSpPr>
          <p:spPr>
            <a:xfrm>
              <a:off x="1135287" y="0"/>
              <a:ext cx="6920853" cy="12138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15" name="Line"/>
            <p:cNvSpPr/>
            <p:nvPr/>
          </p:nvSpPr>
          <p:spPr>
            <a:xfrm>
              <a:off x="1073514" y="235653"/>
              <a:ext cx="961762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1817" name="iStock-1352298752.jpg" descr="iStock-1352298752.jpg"/>
          <p:cNvPicPr>
            <a:picLocks noChangeAspect="1"/>
          </p:cNvPicPr>
          <p:nvPr/>
        </p:nvPicPr>
        <p:blipFill>
          <a:blip r:embed="rId2"/>
          <a:srcRect t="8752" b="11000"/>
          <a:stretch>
            <a:fillRect/>
          </a:stretch>
        </p:blipFill>
        <p:spPr>
          <a:xfrm>
            <a:off x="11082047" y="9439881"/>
            <a:ext cx="4486349" cy="36001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8" name="iStock-1161002238.jpg" descr="iStock-1161002238.jpg"/>
          <p:cNvPicPr>
            <a:picLocks noChangeAspect="1"/>
          </p:cNvPicPr>
          <p:nvPr/>
        </p:nvPicPr>
        <p:blipFill>
          <a:blip r:embed="rId3"/>
          <a:srcRect l="19452"/>
          <a:stretch>
            <a:fillRect/>
          </a:stretch>
        </p:blipFill>
        <p:spPr>
          <a:xfrm>
            <a:off x="10427534" y="5751945"/>
            <a:ext cx="6676032" cy="27337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9" name="iStock-1298299509.jpg" descr="iStock-12982995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0628" y="915063"/>
            <a:ext cx="4354687" cy="3820694"/>
          </a:xfrm>
          <a:prstGeom prst="rect">
            <a:avLst/>
          </a:prstGeom>
          <a:ln w="12700">
            <a:miter lim="400000"/>
          </a:ln>
        </p:spPr>
      </p:pic>
      <p:sp>
        <p:nvSpPr>
          <p:cNvPr id="1820" name="YOU…"/>
          <p:cNvSpPr txBox="1"/>
          <p:nvPr/>
        </p:nvSpPr>
        <p:spPr>
          <a:xfrm>
            <a:off x="17300880" y="1811949"/>
            <a:ext cx="5762803" cy="202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algn="just"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YOU</a:t>
            </a:r>
            <a:r>
              <a:t> </a:t>
            </a:r>
          </a:p>
          <a:p>
            <a:pPr algn="just"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The researcher with R skills!</a:t>
            </a:r>
          </a:p>
        </p:txBody>
      </p:sp>
      <p:sp>
        <p:nvSpPr>
          <p:cNvPr id="1821" name="YOUR DATA…"/>
          <p:cNvSpPr txBox="1"/>
          <p:nvPr/>
        </p:nvSpPr>
        <p:spPr>
          <a:xfrm>
            <a:off x="17300880" y="5328082"/>
            <a:ext cx="5762803" cy="358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algn="just"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YOUR DATA</a:t>
            </a:r>
            <a:r>
              <a:t> </a:t>
            </a:r>
          </a:p>
          <a:p>
            <a:pPr algn="just"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Gene expression data, i.e. how much a gene is used to produce a protein. Multiple genes measured in one experiment.</a:t>
            </a:r>
          </a:p>
        </p:txBody>
      </p:sp>
      <p:sp>
        <p:nvSpPr>
          <p:cNvPr id="1822" name="YOUR DISEASE OF INTEREST…"/>
          <p:cNvSpPr txBox="1"/>
          <p:nvPr/>
        </p:nvSpPr>
        <p:spPr>
          <a:xfrm>
            <a:off x="17300880" y="10004571"/>
            <a:ext cx="5597310" cy="254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algn="just">
              <a:lnSpc>
                <a:spcPct val="12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YOUR DISEASE OF INTEREST</a:t>
            </a:r>
          </a:p>
          <a:p>
            <a:pPr algn="just"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Psoriasis, an immune-mediated skin disorder.</a:t>
            </a:r>
          </a:p>
        </p:txBody>
      </p:sp>
      <p:sp>
        <p:nvSpPr>
          <p:cNvPr id="1823" name="Rectangle"/>
          <p:cNvSpPr/>
          <p:nvPr/>
        </p:nvSpPr>
        <p:spPr>
          <a:xfrm>
            <a:off x="10089042" y="884885"/>
            <a:ext cx="13691640" cy="3881050"/>
          </a:xfrm>
          <a:prstGeom prst="rect">
            <a:avLst/>
          </a:prstGeom>
          <a:ln w="63500">
            <a:solidFill>
              <a:srgbClr val="FFD3B2">
                <a:alpha val="95258"/>
              </a:srgbClr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4" name="Rectangle"/>
          <p:cNvSpPr/>
          <p:nvPr/>
        </p:nvSpPr>
        <p:spPr>
          <a:xfrm>
            <a:off x="10089042" y="9336587"/>
            <a:ext cx="13691640" cy="3881050"/>
          </a:xfrm>
          <a:prstGeom prst="rect">
            <a:avLst/>
          </a:prstGeom>
          <a:ln w="635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5" name="Rectangle"/>
          <p:cNvSpPr/>
          <p:nvPr/>
        </p:nvSpPr>
        <p:spPr>
          <a:xfrm>
            <a:off x="10089042" y="5178258"/>
            <a:ext cx="13691640" cy="3881050"/>
          </a:xfrm>
          <a:prstGeom prst="rect">
            <a:avLst/>
          </a:prstGeom>
          <a:ln w="63500">
            <a:solidFill>
              <a:srgbClr val="0087AA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6" name="Rectangle"/>
          <p:cNvSpPr/>
          <p:nvPr/>
        </p:nvSpPr>
        <p:spPr>
          <a:xfrm>
            <a:off x="10409269" y="7103533"/>
            <a:ext cx="819648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Rectangle"/>
          <p:cNvSpPr/>
          <p:nvPr/>
        </p:nvSpPr>
        <p:spPr>
          <a:xfrm>
            <a:off x="1268874" y="-1"/>
            <a:ext cx="10631807" cy="13843001"/>
          </a:xfrm>
          <a:prstGeom prst="rect">
            <a:avLst/>
          </a:prstGeom>
          <a:solidFill>
            <a:srgbClr val="81A489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9" name="Rectangle"/>
          <p:cNvSpPr/>
          <p:nvPr/>
        </p:nvSpPr>
        <p:spPr>
          <a:xfrm>
            <a:off x="1275089" y="3905238"/>
            <a:ext cx="10619376" cy="8665711"/>
          </a:xfrm>
          <a:prstGeom prst="rect">
            <a:avLst/>
          </a:prstGeom>
          <a:solidFill>
            <a:srgbClr val="FFFFFF"/>
          </a:solidFill>
          <a:ln w="12700">
            <a:solidFill>
              <a:srgbClr val="293441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839" name="Group"/>
          <p:cNvGrpSpPr/>
          <p:nvPr/>
        </p:nvGrpSpPr>
        <p:grpSpPr>
          <a:xfrm>
            <a:off x="1751677" y="8572883"/>
            <a:ext cx="4923645" cy="3640384"/>
            <a:chOff x="0" y="0"/>
            <a:chExt cx="4923643" cy="3640382"/>
          </a:xfrm>
        </p:grpSpPr>
        <p:sp>
          <p:nvSpPr>
            <p:cNvPr id="1830" name="Rectangle"/>
            <p:cNvSpPr/>
            <p:nvPr/>
          </p:nvSpPr>
          <p:spPr>
            <a:xfrm>
              <a:off x="702062" y="134374"/>
              <a:ext cx="1927923" cy="25231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31" name="Rectangle"/>
            <p:cNvSpPr/>
            <p:nvPr/>
          </p:nvSpPr>
          <p:spPr>
            <a:xfrm>
              <a:off x="2995721" y="134374"/>
              <a:ext cx="1927923" cy="25231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1832" name="LogisticRegressionPlot.pdf" descr="LogisticRegressionPlot.pdf"/>
            <p:cNvPicPr>
              <a:picLocks noChangeAspect="1"/>
            </p:cNvPicPr>
            <p:nvPr/>
          </p:nvPicPr>
          <p:blipFill>
            <a:blip r:embed="rId2"/>
            <a:srcRect l="73556" t="120" r="7857" b="52086"/>
            <a:stretch>
              <a:fillRect/>
            </a:stretch>
          </p:blipFill>
          <p:spPr>
            <a:xfrm>
              <a:off x="51721" y="0"/>
              <a:ext cx="2529491" cy="3547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33" name="LogisticRegressionPlot.pdf" descr="LogisticRegressionPlot.pdf"/>
            <p:cNvPicPr>
              <a:picLocks noChangeAspect="1"/>
            </p:cNvPicPr>
            <p:nvPr/>
          </p:nvPicPr>
          <p:blipFill>
            <a:blip r:embed="rId2"/>
            <a:srcRect l="40627" t="48281" r="43937" b="3925"/>
            <a:stretch>
              <a:fillRect/>
            </a:stretch>
          </p:blipFill>
          <p:spPr>
            <a:xfrm>
              <a:off x="2531423" y="11622"/>
              <a:ext cx="2100687" cy="3547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34" name="Rectangle"/>
            <p:cNvSpPr/>
            <p:nvPr/>
          </p:nvSpPr>
          <p:spPr>
            <a:xfrm>
              <a:off x="3000693" y="122810"/>
              <a:ext cx="1162279" cy="2309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35" name="Variable 2"/>
            <p:cNvSpPr txBox="1"/>
            <p:nvPr/>
          </p:nvSpPr>
          <p:spPr>
            <a:xfrm>
              <a:off x="2140135" y="40679"/>
              <a:ext cx="2342051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6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Variable 2</a:t>
              </a:r>
            </a:p>
          </p:txBody>
        </p:sp>
        <p:sp>
          <p:nvSpPr>
            <p:cNvPr id="1836" name="Rectangle"/>
            <p:cNvSpPr/>
            <p:nvPr/>
          </p:nvSpPr>
          <p:spPr>
            <a:xfrm>
              <a:off x="993826" y="122810"/>
              <a:ext cx="1162279" cy="2309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37" name="Variable 1"/>
            <p:cNvSpPr txBox="1"/>
            <p:nvPr/>
          </p:nvSpPr>
          <p:spPr>
            <a:xfrm>
              <a:off x="0" y="40679"/>
              <a:ext cx="2342050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6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Variable 1</a:t>
              </a:r>
            </a:p>
          </p:txBody>
        </p:sp>
        <p:sp>
          <p:nvSpPr>
            <p:cNvPr id="1838" name="Rectangle"/>
            <p:cNvSpPr/>
            <p:nvPr/>
          </p:nvSpPr>
          <p:spPr>
            <a:xfrm>
              <a:off x="568498" y="3270329"/>
              <a:ext cx="4082654" cy="37005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840" name="Rectangle"/>
          <p:cNvSpPr/>
          <p:nvPr/>
        </p:nvSpPr>
        <p:spPr>
          <a:xfrm>
            <a:off x="8629650" y="4555066"/>
            <a:ext cx="505619" cy="2396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41" name="Rectangle"/>
          <p:cNvSpPr/>
          <p:nvPr/>
        </p:nvSpPr>
        <p:spPr>
          <a:xfrm>
            <a:off x="9569450" y="4548716"/>
            <a:ext cx="225029" cy="2523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42" name="Rectangle"/>
          <p:cNvSpPr/>
          <p:nvPr/>
        </p:nvSpPr>
        <p:spPr>
          <a:xfrm>
            <a:off x="10228659" y="4548716"/>
            <a:ext cx="225029" cy="2523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43" name="Rectangle"/>
          <p:cNvSpPr/>
          <p:nvPr/>
        </p:nvSpPr>
        <p:spPr>
          <a:xfrm>
            <a:off x="10887868" y="4548716"/>
            <a:ext cx="225029" cy="2523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1844" name="unnamed.png" descr="unnamed.png"/>
          <p:cNvPicPr>
            <a:picLocks noChangeAspect="1"/>
          </p:cNvPicPr>
          <p:nvPr/>
        </p:nvPicPr>
        <p:blipFill>
          <a:blip r:embed="rId3"/>
          <a:srcRect l="11902" b="15530"/>
          <a:stretch>
            <a:fillRect/>
          </a:stretch>
        </p:blipFill>
        <p:spPr>
          <a:xfrm>
            <a:off x="7311424" y="4622602"/>
            <a:ext cx="3706931" cy="266567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4" name="Group"/>
          <p:cNvGrpSpPr/>
          <p:nvPr/>
        </p:nvGrpSpPr>
        <p:grpSpPr>
          <a:xfrm>
            <a:off x="7336506" y="8501184"/>
            <a:ext cx="3767704" cy="3412090"/>
            <a:chOff x="0" y="0"/>
            <a:chExt cx="3767702" cy="3412089"/>
          </a:xfrm>
        </p:grpSpPr>
        <p:pic>
          <p:nvPicPr>
            <p:cNvPr id="1845" name="BatchCorrectionBoxplot.pdf" descr="BatchCorrectionBoxplot.pdf"/>
            <p:cNvPicPr>
              <a:picLocks/>
            </p:cNvPicPr>
            <p:nvPr/>
          </p:nvPicPr>
          <p:blipFill>
            <a:blip r:embed="rId4"/>
            <a:srcRect l="42366" t="31517" r="18796" b="7333"/>
            <a:stretch>
              <a:fillRect/>
            </a:stretch>
          </p:blipFill>
          <p:spPr>
            <a:xfrm>
              <a:off x="0" y="75699"/>
              <a:ext cx="3767703" cy="33363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46" name="Rectangle"/>
            <p:cNvSpPr/>
            <p:nvPr/>
          </p:nvSpPr>
          <p:spPr>
            <a:xfrm>
              <a:off x="615134" y="166806"/>
              <a:ext cx="614429" cy="12676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47" name="Rectangle"/>
            <p:cNvSpPr/>
            <p:nvPr/>
          </p:nvSpPr>
          <p:spPr>
            <a:xfrm>
              <a:off x="2421906" y="166806"/>
              <a:ext cx="614430" cy="12676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48" name="Rectangle"/>
            <p:cNvSpPr/>
            <p:nvPr/>
          </p:nvSpPr>
          <p:spPr>
            <a:xfrm>
              <a:off x="503247" y="1819070"/>
              <a:ext cx="838201" cy="12677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49" name="Rectangle"/>
            <p:cNvSpPr/>
            <p:nvPr/>
          </p:nvSpPr>
          <p:spPr>
            <a:xfrm>
              <a:off x="2310021" y="1819070"/>
              <a:ext cx="838201" cy="12677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850" name="A"/>
            <p:cNvSpPr txBox="1"/>
            <p:nvPr/>
          </p:nvSpPr>
          <p:spPr>
            <a:xfrm>
              <a:off x="718011" y="0"/>
              <a:ext cx="408674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A</a:t>
              </a:r>
            </a:p>
          </p:txBody>
        </p:sp>
        <p:sp>
          <p:nvSpPr>
            <p:cNvPr id="1851" name="B"/>
            <p:cNvSpPr txBox="1"/>
            <p:nvPr/>
          </p:nvSpPr>
          <p:spPr>
            <a:xfrm>
              <a:off x="2524785" y="12700"/>
              <a:ext cx="408673" cy="3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B</a:t>
              </a:r>
            </a:p>
          </p:txBody>
        </p:sp>
        <p:sp>
          <p:nvSpPr>
            <p:cNvPr id="1852" name="C"/>
            <p:cNvSpPr txBox="1"/>
            <p:nvPr/>
          </p:nvSpPr>
          <p:spPr>
            <a:xfrm>
              <a:off x="718011" y="1697566"/>
              <a:ext cx="408674" cy="395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</a:t>
              </a:r>
            </a:p>
          </p:txBody>
        </p:sp>
        <p:sp>
          <p:nvSpPr>
            <p:cNvPr id="1853" name="D"/>
            <p:cNvSpPr txBox="1"/>
            <p:nvPr/>
          </p:nvSpPr>
          <p:spPr>
            <a:xfrm>
              <a:off x="2524785" y="1710266"/>
              <a:ext cx="408673" cy="395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lvl="1">
                <a:defRPr sz="15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D</a:t>
              </a:r>
            </a:p>
          </p:txBody>
        </p:sp>
      </p:grpSp>
      <p:grpSp>
        <p:nvGrpSpPr>
          <p:cNvPr id="1866" name="Group"/>
          <p:cNvGrpSpPr/>
          <p:nvPr/>
        </p:nvGrpSpPr>
        <p:grpSpPr>
          <a:xfrm>
            <a:off x="1751677" y="4899672"/>
            <a:ext cx="4923645" cy="2309711"/>
            <a:chOff x="0" y="0"/>
            <a:chExt cx="4923643" cy="2309710"/>
          </a:xfrm>
        </p:grpSpPr>
        <p:sp>
          <p:nvSpPr>
            <p:cNvPr id="1876" name="Connection Line"/>
            <p:cNvSpPr/>
            <p:nvPr/>
          </p:nvSpPr>
          <p:spPr>
            <a:xfrm>
              <a:off x="457113" y="773114"/>
              <a:ext cx="972243" cy="148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459" y="18816"/>
                    <a:pt x="16659" y="11616"/>
                    <a:pt x="21600" y="0"/>
                  </a:cubicBezTo>
                </a:path>
              </a:pathLst>
            </a:custGeom>
            <a:noFill/>
            <a:ln w="50800" cap="flat">
              <a:solidFill>
                <a:srgbClr val="436C6E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77" name="Connection Line"/>
            <p:cNvSpPr/>
            <p:nvPr/>
          </p:nvSpPr>
          <p:spPr>
            <a:xfrm>
              <a:off x="1420488" y="71456"/>
              <a:ext cx="907347" cy="764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0" y="15568"/>
                  </a:moveTo>
                  <a:cubicBezTo>
                    <a:pt x="6833" y="-5398"/>
                    <a:pt x="14033" y="-5187"/>
                    <a:pt x="21600" y="16202"/>
                  </a:cubicBezTo>
                </a:path>
              </a:pathLst>
            </a:custGeom>
            <a:noFill/>
            <a:ln w="50800" cap="flat">
              <a:solidFill>
                <a:srgbClr val="436C6E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78" name="Connection Line"/>
            <p:cNvSpPr/>
            <p:nvPr/>
          </p:nvSpPr>
          <p:spPr>
            <a:xfrm>
              <a:off x="2314261" y="790458"/>
              <a:ext cx="972243" cy="148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141" y="18816"/>
                    <a:pt x="4941" y="11616"/>
                    <a:pt x="0" y="0"/>
                  </a:cubicBezTo>
                </a:path>
              </a:pathLst>
            </a:custGeom>
            <a:noFill/>
            <a:ln w="50800" cap="flat">
              <a:solidFill>
                <a:srgbClr val="436C6E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79" name="Connection Line"/>
            <p:cNvSpPr/>
            <p:nvPr/>
          </p:nvSpPr>
          <p:spPr>
            <a:xfrm>
              <a:off x="2580174" y="73463"/>
              <a:ext cx="901124" cy="7662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0" y="15484"/>
                  </a:moveTo>
                  <a:cubicBezTo>
                    <a:pt x="6940" y="-5398"/>
                    <a:pt x="14140" y="-5159"/>
                    <a:pt x="21600" y="16202"/>
                  </a:cubicBezTo>
                </a:path>
              </a:pathLst>
            </a:custGeom>
            <a:noFill/>
            <a:ln w="50800" cap="flat">
              <a:solidFill>
                <a:srgbClr val="82A8B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80" name="Connection Line"/>
            <p:cNvSpPr/>
            <p:nvPr/>
          </p:nvSpPr>
          <p:spPr>
            <a:xfrm>
              <a:off x="3471995" y="804228"/>
              <a:ext cx="974195" cy="1489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150" y="18810"/>
                    <a:pt x="4950" y="11610"/>
                    <a:pt x="0" y="0"/>
                  </a:cubicBezTo>
                </a:path>
              </a:pathLst>
            </a:custGeom>
            <a:noFill/>
            <a:ln w="50800" cap="flat">
              <a:solidFill>
                <a:srgbClr val="82A8B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60" name="Shape"/>
            <p:cNvSpPr/>
            <p:nvPr/>
          </p:nvSpPr>
          <p:spPr>
            <a:xfrm>
              <a:off x="1638189" y="899455"/>
              <a:ext cx="964087" cy="1390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90" y="0"/>
                  </a:moveTo>
                  <a:lnTo>
                    <a:pt x="21600" y="21483"/>
                  </a:lnTo>
                  <a:lnTo>
                    <a:pt x="0" y="21600"/>
                  </a:lnTo>
                  <a:cubicBezTo>
                    <a:pt x="2377" y="20250"/>
                    <a:pt x="4652" y="18777"/>
                    <a:pt x="6811" y="17191"/>
                  </a:cubicBezTo>
                  <a:cubicBezTo>
                    <a:pt x="8802" y="15728"/>
                    <a:pt x="10692" y="14171"/>
                    <a:pt x="12472" y="12527"/>
                  </a:cubicBezTo>
                  <a:cubicBezTo>
                    <a:pt x="14315" y="10696"/>
                    <a:pt x="15963" y="8733"/>
                    <a:pt x="17396" y="6659"/>
                  </a:cubicBezTo>
                  <a:cubicBezTo>
                    <a:pt x="18863" y="4537"/>
                    <a:pt x="20100" y="2308"/>
                    <a:pt x="21090" y="0"/>
                  </a:cubicBezTo>
                  <a:close/>
                </a:path>
              </a:pathLst>
            </a:custGeom>
            <a:solidFill>
              <a:srgbClr val="374556">
                <a:alpha val="9111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81" name="Connection Line"/>
            <p:cNvSpPr/>
            <p:nvPr/>
          </p:nvSpPr>
          <p:spPr>
            <a:xfrm>
              <a:off x="1616798" y="773114"/>
              <a:ext cx="972244" cy="148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459" y="18816"/>
                    <a:pt x="16659" y="11616"/>
                    <a:pt x="21600" y="0"/>
                  </a:cubicBezTo>
                </a:path>
              </a:pathLst>
            </a:custGeom>
            <a:noFill/>
            <a:ln w="50800" cap="flat">
              <a:solidFill>
                <a:srgbClr val="82A8B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1862" name="Line"/>
            <p:cNvSpPr/>
            <p:nvPr/>
          </p:nvSpPr>
          <p:spPr>
            <a:xfrm flipV="1">
              <a:off x="2593761" y="0"/>
              <a:ext cx="1" cy="2285608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63" name="Line"/>
            <p:cNvSpPr/>
            <p:nvPr/>
          </p:nvSpPr>
          <p:spPr>
            <a:xfrm flipH="1" flipV="1">
              <a:off x="-1" y="2309710"/>
              <a:ext cx="4923645" cy="1"/>
            </a:xfrm>
            <a:prstGeom prst="line">
              <a:avLst/>
            </a:prstGeom>
            <a:noFill/>
            <a:ln w="508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64" name="Line"/>
            <p:cNvSpPr/>
            <p:nvPr/>
          </p:nvSpPr>
          <p:spPr>
            <a:xfrm flipV="1">
              <a:off x="1857535" y="167749"/>
              <a:ext cx="1" cy="1781383"/>
            </a:xfrm>
            <a:prstGeom prst="line">
              <a:avLst/>
            </a:prstGeom>
            <a:noFill/>
            <a:ln w="31750" cap="flat">
              <a:solidFill>
                <a:srgbClr val="436C6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65" name="Line"/>
            <p:cNvSpPr/>
            <p:nvPr/>
          </p:nvSpPr>
          <p:spPr>
            <a:xfrm flipV="1">
              <a:off x="3030665" y="145690"/>
              <a:ext cx="1" cy="1825502"/>
            </a:xfrm>
            <a:prstGeom prst="line">
              <a:avLst/>
            </a:prstGeom>
            <a:noFill/>
            <a:ln w="31750" cap="flat">
              <a:solidFill>
                <a:srgbClr val="82A8B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867" name="Line"/>
          <p:cNvSpPr/>
          <p:nvPr/>
        </p:nvSpPr>
        <p:spPr>
          <a:xfrm flipV="1">
            <a:off x="7544879" y="5316856"/>
            <a:ext cx="3350958" cy="1302453"/>
          </a:xfrm>
          <a:prstGeom prst="line">
            <a:avLst/>
          </a:prstGeom>
          <a:ln w="38100">
            <a:solidFill>
              <a:srgbClr val="6C84C3"/>
            </a:solidFill>
            <a:miter lim="400000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68" name="X"/>
          <p:cNvSpPr txBox="1"/>
          <p:nvPr/>
        </p:nvSpPr>
        <p:spPr>
          <a:xfrm>
            <a:off x="9023994" y="7333436"/>
            <a:ext cx="408674" cy="395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 lvl="1">
              <a:defRPr sz="15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X</a:t>
            </a:r>
          </a:p>
        </p:txBody>
      </p:sp>
      <p:sp>
        <p:nvSpPr>
          <p:cNvPr id="1869" name="Y"/>
          <p:cNvSpPr txBox="1"/>
          <p:nvPr/>
        </p:nvSpPr>
        <p:spPr>
          <a:xfrm>
            <a:off x="6902312" y="5555436"/>
            <a:ext cx="408674" cy="395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 lvl="1">
              <a:defRPr sz="15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</a:t>
            </a:r>
          </a:p>
        </p:txBody>
      </p:sp>
      <p:sp>
        <p:nvSpPr>
          <p:cNvPr id="1870" name="32"/>
          <p:cNvSpPr txBox="1"/>
          <p:nvPr/>
        </p:nvSpPr>
        <p:spPr>
          <a:xfrm>
            <a:off x="374649" y="13057831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3</a:t>
            </a:r>
            <a:r>
              <a:rPr lang="da-DK"/>
              <a:t>0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71" name="During this session:…"/>
          <p:cNvSpPr txBox="1"/>
          <p:nvPr/>
        </p:nvSpPr>
        <p:spPr>
          <a:xfrm>
            <a:off x="13601058" y="5385978"/>
            <a:ext cx="9160254" cy="5593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During this session:</a:t>
            </a:r>
          </a:p>
          <a:p>
            <a:pPr>
              <a:defRPr sz="30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>
              <a:lnSpc>
                <a:spcPct val="120000"/>
              </a:lnSpc>
              <a:buSzPct val="100000"/>
              <a:buChar char="•"/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 </a:t>
            </a:r>
            <a:r>
              <a:rPr i="1"/>
              <a:t>Cooperatively</a:t>
            </a:r>
            <a:r>
              <a:t> discuss and share ideas about the data</a:t>
            </a:r>
          </a:p>
          <a:p>
            <a:pPr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>
              <a:lnSpc>
                <a:spcPct val="120000"/>
              </a:lnSpc>
              <a:buSzPct val="100000"/>
              <a:buChar char="•"/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 Apply steps of basic statistical analysis for hypothesis testing consistent with the given data</a:t>
            </a:r>
          </a:p>
          <a:p>
            <a:pPr>
              <a:lnSpc>
                <a:spcPct val="12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>
              <a:lnSpc>
                <a:spcPct val="120000"/>
              </a:lnSpc>
              <a:buSzPct val="100000"/>
              <a:buChar char="•"/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 Suggest conclusions based on your analysis, regarding the association between psoriasis and gene expression levels</a:t>
            </a:r>
          </a:p>
        </p:txBody>
      </p:sp>
      <p:grpSp>
        <p:nvGrpSpPr>
          <p:cNvPr id="1875" name="Group"/>
          <p:cNvGrpSpPr/>
          <p:nvPr/>
        </p:nvGrpSpPr>
        <p:grpSpPr>
          <a:xfrm>
            <a:off x="13391762" y="1489524"/>
            <a:ext cx="9486170" cy="3475978"/>
            <a:chOff x="0" y="0"/>
            <a:chExt cx="9486169" cy="3475976"/>
          </a:xfrm>
        </p:grpSpPr>
        <p:sp>
          <p:nvSpPr>
            <p:cNvPr id="1872" name="R - A STATISTICAL…"/>
            <p:cNvSpPr txBox="1"/>
            <p:nvPr/>
          </p:nvSpPr>
          <p:spPr>
            <a:xfrm>
              <a:off x="0" y="720813"/>
              <a:ext cx="9486170" cy="27551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b="1"/>
                <a:t>R</a:t>
              </a:r>
              <a:r>
                <a:t> - A STATISTICAL </a:t>
              </a:r>
            </a:p>
            <a:p>
              <a:pPr algn="ctr"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SCRIPTING LANGUAGE</a:t>
              </a:r>
            </a:p>
          </p:txBody>
        </p:sp>
        <p:sp>
          <p:nvSpPr>
            <p:cNvPr id="1873" name="http://www.sthda.com/english/"/>
            <p:cNvSpPr txBox="1"/>
            <p:nvPr/>
          </p:nvSpPr>
          <p:spPr>
            <a:xfrm>
              <a:off x="2559380" y="0"/>
              <a:ext cx="5723756" cy="5190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u="sng">
                  <a:hlinkClick r:id="rId5"/>
                </a:rPr>
                <a:t>http://www.sthda.com/english/</a:t>
              </a:r>
              <a:r>
                <a:t> </a:t>
              </a:r>
            </a:p>
          </p:txBody>
        </p:sp>
        <p:sp>
          <p:nvSpPr>
            <p:cNvPr id="1874" name="Line"/>
            <p:cNvSpPr/>
            <p:nvPr/>
          </p:nvSpPr>
          <p:spPr>
            <a:xfrm>
              <a:off x="1156530" y="218268"/>
              <a:ext cx="1053959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244E-3E2A-0082-AE60-39144331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">
            <a:extLst>
              <a:ext uri="{FF2B5EF4-FFF2-40B4-BE49-F238E27FC236}">
                <a16:creationId xmlns:a16="http://schemas.microsoft.com/office/drawing/2014/main" id="{4EC92557-A51E-8448-BEBC-D5CFED1C22E7}"/>
              </a:ext>
            </a:extLst>
          </p:cNvPr>
          <p:cNvSpPr/>
          <p:nvPr/>
        </p:nvSpPr>
        <p:spPr>
          <a:xfrm>
            <a:off x="-146892" y="-27802"/>
            <a:ext cx="24665084" cy="4522483"/>
          </a:xfrm>
          <a:prstGeom prst="rect">
            <a:avLst/>
          </a:prstGeom>
          <a:solidFill>
            <a:srgbClr val="81A48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93" name="Group">
            <a:extLst>
              <a:ext uri="{FF2B5EF4-FFF2-40B4-BE49-F238E27FC236}">
                <a16:creationId xmlns:a16="http://schemas.microsoft.com/office/drawing/2014/main" id="{7747334E-6D87-6D1B-E1E2-8A04101A0A87}"/>
              </a:ext>
            </a:extLst>
          </p:cNvPr>
          <p:cNvGrpSpPr/>
          <p:nvPr/>
        </p:nvGrpSpPr>
        <p:grpSpPr>
          <a:xfrm>
            <a:off x="3906382" y="1337704"/>
            <a:ext cx="16558534" cy="3716297"/>
            <a:chOff x="-1203197" y="237250"/>
            <a:chExt cx="16558533" cy="3716295"/>
          </a:xfrm>
        </p:grpSpPr>
        <p:sp>
          <p:nvSpPr>
            <p:cNvPr id="390" name="LET’S GET STARTED">
              <a:extLst>
                <a:ext uri="{FF2B5EF4-FFF2-40B4-BE49-F238E27FC236}">
                  <a16:creationId xmlns:a16="http://schemas.microsoft.com/office/drawing/2014/main" id="{465D8469-7D96-510B-4311-AAE21AC815CD}"/>
                </a:ext>
              </a:extLst>
            </p:cNvPr>
            <p:cNvSpPr txBox="1"/>
            <p:nvPr/>
          </p:nvSpPr>
          <p:spPr>
            <a:xfrm>
              <a:off x="-1203197" y="894542"/>
              <a:ext cx="16558533" cy="305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8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>
                <a:defRPr sz="9000"/>
              </a:pPr>
              <a:r>
                <a:rPr lang="da-DK" sz="8000"/>
                <a:t>LIVE CODING 4 – APPLIED STATS</a:t>
              </a:r>
              <a:endParaRPr sz="8000"/>
            </a:p>
          </p:txBody>
        </p:sp>
        <p:sp>
          <p:nvSpPr>
            <p:cNvPr id="391" name="FROM EXCEL TO R">
              <a:extLst>
                <a:ext uri="{FF2B5EF4-FFF2-40B4-BE49-F238E27FC236}">
                  <a16:creationId xmlns:a16="http://schemas.microsoft.com/office/drawing/2014/main" id="{403301DE-17CE-5894-97A6-8233A5F2F769}"/>
                </a:ext>
              </a:extLst>
            </p:cNvPr>
            <p:cNvSpPr txBox="1"/>
            <p:nvPr/>
          </p:nvSpPr>
          <p:spPr>
            <a:xfrm>
              <a:off x="1035214" y="237250"/>
              <a:ext cx="7185392" cy="675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4000" spc="75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/>
                <a:t>FROM EXCEL TO R</a:t>
              </a:r>
            </a:p>
          </p:txBody>
        </p:sp>
        <p:sp>
          <p:nvSpPr>
            <p:cNvPr id="392" name="Line">
              <a:extLst>
                <a:ext uri="{FF2B5EF4-FFF2-40B4-BE49-F238E27FC236}">
                  <a16:creationId xmlns:a16="http://schemas.microsoft.com/office/drawing/2014/main" id="{F94D9443-18EF-8556-85FD-83703ABE2FD4}"/>
                </a:ext>
              </a:extLst>
            </p:cNvPr>
            <p:cNvSpPr/>
            <p:nvPr/>
          </p:nvSpPr>
          <p:spPr>
            <a:xfrm>
              <a:off x="-1203197" y="456064"/>
              <a:ext cx="1893346" cy="1"/>
            </a:xfrm>
            <a:prstGeom prst="line">
              <a:avLst/>
            </a:prstGeom>
            <a:noFill/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5" name="Grafik 4" descr="Programmør med massiv udfyldning">
            <a:extLst>
              <a:ext uri="{FF2B5EF4-FFF2-40B4-BE49-F238E27FC236}">
                <a16:creationId xmlns:a16="http://schemas.microsoft.com/office/drawing/2014/main" id="{B4FA95B5-1491-08E8-29F2-EEB1ADC83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8159" y="4542095"/>
            <a:ext cx="8794981" cy="87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1913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Rectangle"/>
          <p:cNvSpPr/>
          <p:nvPr/>
        </p:nvSpPr>
        <p:spPr>
          <a:xfrm>
            <a:off x="-29388" y="-53314"/>
            <a:ext cx="24430076" cy="4005392"/>
          </a:xfrm>
          <a:prstGeom prst="rect">
            <a:avLst/>
          </a:prstGeom>
          <a:solidFill>
            <a:srgbClr val="E7B07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84" name="Oval 16"/>
          <p:cNvSpPr/>
          <p:nvPr/>
        </p:nvSpPr>
        <p:spPr>
          <a:xfrm rot="5400000" flipH="1">
            <a:off x="14997186" y="14325748"/>
            <a:ext cx="182788" cy="177330"/>
          </a:xfrm>
          <a:prstGeom prst="ellipse">
            <a:avLst/>
          </a:prstGeom>
          <a:solidFill>
            <a:srgbClr val="00ADB5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85" name="34"/>
          <p:cNvSpPr txBox="1"/>
          <p:nvPr/>
        </p:nvSpPr>
        <p:spPr>
          <a:xfrm>
            <a:off x="374649" y="13057831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3</a:t>
            </a:r>
            <a:r>
              <a:rPr lang="da-DK"/>
              <a:t>1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889" name="Group"/>
          <p:cNvGrpSpPr/>
          <p:nvPr/>
        </p:nvGrpSpPr>
        <p:grpSpPr>
          <a:xfrm>
            <a:off x="2116354" y="1013301"/>
            <a:ext cx="24208200" cy="2461604"/>
            <a:chOff x="-5924214" y="212886"/>
            <a:chExt cx="24208198" cy="2461602"/>
          </a:xfrm>
        </p:grpSpPr>
        <p:sp>
          <p:nvSpPr>
            <p:cNvPr id="1886" name="STATS  CHEAT SHEET"/>
            <p:cNvSpPr txBox="1"/>
            <p:nvPr/>
          </p:nvSpPr>
          <p:spPr>
            <a:xfrm>
              <a:off x="-1" y="1442734"/>
              <a:ext cx="8290163" cy="1231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STATS</a:t>
              </a:r>
              <a:r>
                <a:rPr sz="12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rPr>
                <a:t> </a:t>
              </a:r>
              <a:r>
                <a:t> CHEAT SHEET </a:t>
              </a:r>
            </a:p>
          </p:txBody>
        </p:sp>
        <p:sp>
          <p:nvSpPr>
            <p:cNvPr id="1887" name="https://rstudio.com/resources/cheatsheets/ for various relevant cheat sheets.…"/>
            <p:cNvSpPr txBox="1"/>
            <p:nvPr/>
          </p:nvSpPr>
          <p:spPr>
            <a:xfrm>
              <a:off x="-4004834" y="212886"/>
              <a:ext cx="22288819" cy="23784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https://rstudio.com/resources/cheatsheets/ for various relevant cheat sheets.</a:t>
              </a:r>
              <a:endParaRPr sz="1200" spc="225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endParaRPr>
            </a:p>
            <a:p>
              <a: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Other example: https://www.dummies.com/programming/r/statistical-analysis-with-r-for-dummies-cheat-sheet/</a:t>
              </a:r>
              <a:endParaRPr sz="1200" spc="225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endParaRPr>
            </a:p>
          </p:txBody>
        </p:sp>
        <p:sp>
          <p:nvSpPr>
            <p:cNvPr id="1888" name="Line"/>
            <p:cNvSpPr/>
            <p:nvPr/>
          </p:nvSpPr>
          <p:spPr>
            <a:xfrm>
              <a:off x="-5924215" y="403636"/>
              <a:ext cx="1490287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894" name="Group"/>
          <p:cNvGrpSpPr/>
          <p:nvPr/>
        </p:nvGrpSpPr>
        <p:grpSpPr>
          <a:xfrm>
            <a:off x="18905029" y="4605484"/>
            <a:ext cx="5219309" cy="8202499"/>
            <a:chOff x="0" y="0"/>
            <a:chExt cx="5219308" cy="8202497"/>
          </a:xfrm>
        </p:grpSpPr>
        <p:sp>
          <p:nvSpPr>
            <p:cNvPr id="1890" name="Freeform 51"/>
            <p:cNvSpPr/>
            <p:nvPr/>
          </p:nvSpPr>
          <p:spPr>
            <a:xfrm>
              <a:off x="0" y="6458800"/>
              <a:ext cx="3646366" cy="1743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3976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93B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891" name="Freeform 52"/>
            <p:cNvSpPr/>
            <p:nvPr/>
          </p:nvSpPr>
          <p:spPr>
            <a:xfrm>
              <a:off x="0" y="4305874"/>
              <a:ext cx="5219309" cy="1743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6274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39C8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892" name="Freeform 53"/>
            <p:cNvSpPr/>
            <p:nvPr/>
          </p:nvSpPr>
          <p:spPr>
            <a:xfrm>
              <a:off x="0" y="2152937"/>
              <a:ext cx="5219309" cy="1761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6274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3C290">
                <a:alpha val="9525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1893" name="Freeform 54"/>
            <p:cNvSpPr/>
            <p:nvPr/>
          </p:nvSpPr>
          <p:spPr>
            <a:xfrm>
              <a:off x="0" y="0"/>
              <a:ext cx="3646366" cy="1761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3976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880C0A">
                <a:alpha val="67831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</p:grpSp>
      <p:grpSp>
        <p:nvGrpSpPr>
          <p:cNvPr id="1906" name="Group"/>
          <p:cNvGrpSpPr/>
          <p:nvPr/>
        </p:nvGrpSpPr>
        <p:grpSpPr>
          <a:xfrm>
            <a:off x="1736161" y="4596970"/>
            <a:ext cx="16887740" cy="8271296"/>
            <a:chOff x="-12699" y="0"/>
            <a:chExt cx="16887738" cy="8271295"/>
          </a:xfrm>
        </p:grpSpPr>
        <p:sp>
          <p:nvSpPr>
            <p:cNvPr id="1895" name="Группа 36"/>
            <p:cNvSpPr/>
            <p:nvPr/>
          </p:nvSpPr>
          <p:spPr>
            <a:xfrm>
              <a:off x="0" y="0"/>
              <a:ext cx="16875039" cy="1788800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896" name="Группа 54"/>
            <p:cNvSpPr/>
            <p:nvPr/>
          </p:nvSpPr>
          <p:spPr>
            <a:xfrm>
              <a:off x="-12700" y="2160832"/>
              <a:ext cx="16875039" cy="178880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897" name="Группа 63"/>
            <p:cNvSpPr/>
            <p:nvPr/>
          </p:nvSpPr>
          <p:spPr>
            <a:xfrm>
              <a:off x="0" y="4321664"/>
              <a:ext cx="16875039" cy="178880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898" name="Группа 69"/>
            <p:cNvSpPr/>
            <p:nvPr/>
          </p:nvSpPr>
          <p:spPr>
            <a:xfrm>
              <a:off x="0" y="6482495"/>
              <a:ext cx="16875039" cy="1788801"/>
            </a:xfrm>
            <a:prstGeom prst="rect">
              <a:avLst/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b">
              <a:noAutofit/>
            </a:bodyPr>
            <a:lstStyle/>
            <a:p>
              <a:pPr defTabSz="914400">
                <a:spcBef>
                  <a:spcPts val="2400"/>
                </a:spcBef>
                <a:defRPr sz="1000">
                  <a:solidFill>
                    <a:srgbClr val="242524">
                      <a:alpha val="70000"/>
                    </a:srgbClr>
                  </a:solidFill>
                </a:defRPr>
              </a:pPr>
              <a:endParaRPr/>
            </a:p>
          </p:txBody>
        </p:sp>
        <p:sp>
          <p:nvSpPr>
            <p:cNvPr id="1899" name="Line"/>
            <p:cNvSpPr/>
            <p:nvPr/>
          </p:nvSpPr>
          <p:spPr>
            <a:xfrm flipV="1">
              <a:off x="5709033" y="119943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880C0A">
                  <a:alpha val="67831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00" name="Line"/>
            <p:cNvSpPr/>
            <p:nvPr/>
          </p:nvSpPr>
          <p:spPr>
            <a:xfrm flipV="1">
              <a:off x="4016005" y="2300532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F3C29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01" name="Line"/>
            <p:cNvSpPr/>
            <p:nvPr/>
          </p:nvSpPr>
          <p:spPr>
            <a:xfrm flipV="1">
              <a:off x="7020727" y="2300532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F3C29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02" name="Line"/>
            <p:cNvSpPr/>
            <p:nvPr/>
          </p:nvSpPr>
          <p:spPr>
            <a:xfrm flipV="1">
              <a:off x="9475901" y="4441608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B39C8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03" name="Line"/>
            <p:cNvSpPr/>
            <p:nvPr/>
          </p:nvSpPr>
          <p:spPr>
            <a:xfrm flipV="1">
              <a:off x="6774096" y="6582682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7893B7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04" name="Line"/>
            <p:cNvSpPr/>
            <p:nvPr/>
          </p:nvSpPr>
          <p:spPr>
            <a:xfrm flipV="1">
              <a:off x="10885442" y="2300532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F3C29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05" name="Line"/>
            <p:cNvSpPr/>
            <p:nvPr/>
          </p:nvSpPr>
          <p:spPr>
            <a:xfrm flipV="1">
              <a:off x="4349240" y="4441609"/>
              <a:ext cx="1" cy="1548914"/>
            </a:xfrm>
            <a:prstGeom prst="line">
              <a:avLst/>
            </a:prstGeom>
            <a:noFill/>
            <a:ln w="50800" cap="flat">
              <a:solidFill>
                <a:srgbClr val="B39C85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907" name="GET STARTED"/>
          <p:cNvSpPr txBox="1"/>
          <p:nvPr/>
        </p:nvSpPr>
        <p:spPr>
          <a:xfrm>
            <a:off x="19307834" y="5061994"/>
            <a:ext cx="200519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GET STARTED</a:t>
            </a:r>
          </a:p>
        </p:txBody>
      </p:sp>
      <p:sp>
        <p:nvSpPr>
          <p:cNvPr id="1908" name="REGRESSION MODELS"/>
          <p:cNvSpPr txBox="1"/>
          <p:nvPr/>
        </p:nvSpPr>
        <p:spPr>
          <a:xfrm>
            <a:off x="19307834" y="7013222"/>
            <a:ext cx="2784979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REGRESSION MODELS</a:t>
            </a:r>
            <a:endParaRPr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09" name="VARIABLES"/>
          <p:cNvSpPr txBox="1"/>
          <p:nvPr/>
        </p:nvSpPr>
        <p:spPr>
          <a:xfrm>
            <a:off x="19307834" y="11655023"/>
            <a:ext cx="2543715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VARIABLES</a:t>
            </a:r>
            <a:r>
              <a: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</p:txBody>
      </p:sp>
      <p:sp>
        <p:nvSpPr>
          <p:cNvPr id="1910" name="Import Data:"/>
          <p:cNvSpPr txBox="1"/>
          <p:nvPr/>
        </p:nvSpPr>
        <p:spPr>
          <a:xfrm>
            <a:off x="2029364" y="4718849"/>
            <a:ext cx="2278134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Import Data:</a:t>
            </a:r>
          </a:p>
        </p:txBody>
      </p:sp>
      <p:sp>
        <p:nvSpPr>
          <p:cNvPr id="1911" name="summary(my.data)…"/>
          <p:cNvSpPr txBox="1"/>
          <p:nvPr/>
        </p:nvSpPr>
        <p:spPr>
          <a:xfrm>
            <a:off x="11938295" y="5074033"/>
            <a:ext cx="323168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summary(</a:t>
            </a:r>
            <a:r>
              <a:rPr err="1"/>
              <a:t>my.data</a:t>
            </a:r>
            <a:r>
              <a:t>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nrow</a:t>
            </a:r>
            <a:r>
              <a:t>(</a:t>
            </a:r>
            <a:r>
              <a:rPr err="1"/>
              <a:t>my.data</a:t>
            </a:r>
            <a:r>
              <a:t>)</a:t>
            </a:r>
          </a:p>
        </p:txBody>
      </p:sp>
      <p:sp>
        <p:nvSpPr>
          <p:cNvPr id="1912" name="length(my.data)…"/>
          <p:cNvSpPr txBox="1"/>
          <p:nvPr/>
        </p:nvSpPr>
        <p:spPr>
          <a:xfrm>
            <a:off x="15245943" y="5074033"/>
            <a:ext cx="3377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length(</a:t>
            </a:r>
            <a:r>
              <a:rPr err="1"/>
              <a:t>my.data</a:t>
            </a:r>
            <a:r>
              <a:t>)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names(</a:t>
            </a:r>
            <a:r>
              <a:rPr err="1"/>
              <a:t>my.data</a:t>
            </a:r>
            <a:r>
              <a:t>)</a:t>
            </a:r>
          </a:p>
        </p:txBody>
      </p:sp>
      <p:sp>
        <p:nvSpPr>
          <p:cNvPr id="1913" name="Overview of Data:"/>
          <p:cNvSpPr txBox="1"/>
          <p:nvPr/>
        </p:nvSpPr>
        <p:spPr>
          <a:xfrm>
            <a:off x="8375087" y="4718849"/>
            <a:ext cx="337795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Overview of Data:</a:t>
            </a:r>
          </a:p>
        </p:txBody>
      </p:sp>
      <p:sp>
        <p:nvSpPr>
          <p:cNvPr id="1914" name="read_excel(“my.data.xlsx”)"/>
          <p:cNvSpPr txBox="1"/>
          <p:nvPr/>
        </p:nvSpPr>
        <p:spPr>
          <a:xfrm>
            <a:off x="2052238" y="5329691"/>
            <a:ext cx="4553789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read_excel(“my.data.xlsx”)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15" name="Linear:"/>
          <p:cNvSpPr txBox="1"/>
          <p:nvPr/>
        </p:nvSpPr>
        <p:spPr>
          <a:xfrm>
            <a:off x="1966822" y="6837791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Linear:</a:t>
            </a:r>
          </a:p>
        </p:txBody>
      </p:sp>
      <p:sp>
        <p:nvSpPr>
          <p:cNvPr id="1916" name="Logistic:"/>
          <p:cNvSpPr txBox="1"/>
          <p:nvPr/>
        </p:nvSpPr>
        <p:spPr>
          <a:xfrm>
            <a:off x="6063088" y="6837791"/>
            <a:ext cx="356824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Logistic:</a:t>
            </a:r>
          </a:p>
        </p:txBody>
      </p:sp>
      <p:sp>
        <p:nvSpPr>
          <p:cNvPr id="1917" name="lm(y~x, data=my.data)…"/>
          <p:cNvSpPr txBox="1"/>
          <p:nvPr/>
        </p:nvSpPr>
        <p:spPr>
          <a:xfrm>
            <a:off x="1963210" y="7435162"/>
            <a:ext cx="3806358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lm</a:t>
            </a:r>
            <a:r>
              <a:t>(</a:t>
            </a:r>
            <a:r>
              <a:rPr err="1"/>
              <a:t>y~x</a:t>
            </a:r>
            <a:r>
              <a:t>, data=</a:t>
            </a:r>
            <a:r>
              <a:rPr err="1"/>
              <a:t>my.data</a:t>
            </a:r>
            <a:r>
              <a:t>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confint</a:t>
            </a:r>
            <a:r>
              <a:t>(model)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18" name="glm(y~x,…"/>
          <p:cNvSpPr txBox="1"/>
          <p:nvPr/>
        </p:nvSpPr>
        <p:spPr>
          <a:xfrm>
            <a:off x="6267992" y="7435162"/>
            <a:ext cx="3806357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glm(y~x, </a:t>
            </a: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data=my.data)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19" name="Linear Mixed:"/>
          <p:cNvSpPr txBox="1"/>
          <p:nvPr/>
        </p:nvSpPr>
        <p:spPr>
          <a:xfrm>
            <a:off x="8989671" y="6837791"/>
            <a:ext cx="312123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Linear Mixed:</a:t>
            </a:r>
          </a:p>
        </p:txBody>
      </p:sp>
      <p:sp>
        <p:nvSpPr>
          <p:cNvPr id="1920" name="lmer(y~x + (1|z), data=my.data)"/>
          <p:cNvSpPr txBox="1"/>
          <p:nvPr/>
        </p:nvSpPr>
        <p:spPr>
          <a:xfrm>
            <a:off x="9383903" y="7524062"/>
            <a:ext cx="3059286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lmer(y~x + (1|z), data=my.data)</a:t>
            </a:r>
          </a:p>
        </p:txBody>
      </p:sp>
      <p:sp>
        <p:nvSpPr>
          <p:cNvPr id="1921" name="Emmeans:"/>
          <p:cNvSpPr txBox="1"/>
          <p:nvPr/>
        </p:nvSpPr>
        <p:spPr>
          <a:xfrm>
            <a:off x="11996152" y="9021533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Emmeans:</a:t>
            </a:r>
          </a:p>
        </p:txBody>
      </p:sp>
      <p:sp>
        <p:nvSpPr>
          <p:cNvPr id="1922" name="emmeans(model,~x)…"/>
          <p:cNvSpPr txBox="1"/>
          <p:nvPr/>
        </p:nvSpPr>
        <p:spPr>
          <a:xfrm>
            <a:off x="14025698" y="9245237"/>
            <a:ext cx="4281552" cy="125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emmeans</a:t>
            </a:r>
            <a:r>
              <a:t>(</a:t>
            </a:r>
            <a:r>
              <a:rPr err="1"/>
              <a:t>model,~x</a:t>
            </a:r>
            <a:r>
              <a:t>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pairs(</a:t>
            </a:r>
            <a:r>
              <a:rPr err="1"/>
              <a:t>emmeans</a:t>
            </a:r>
            <a:r>
              <a:t>(</a:t>
            </a:r>
            <a:r>
              <a:rPr err="1"/>
              <a:t>model,~x</a:t>
            </a:r>
            <a:r>
              <a:t>))</a:t>
            </a:r>
            <a:endParaRPr lang="en-US"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500">
                <a:sym typeface="Courier"/>
              </a:rPr>
              <a:t>predict(model, </a:t>
            </a:r>
            <a:r>
              <a:rPr lang="en-US" sz="2500" err="1">
                <a:sym typeface="Courier"/>
              </a:rPr>
              <a:t>newdata</a:t>
            </a:r>
            <a:r>
              <a:rPr lang="en-US" sz="2500">
                <a:sym typeface="Courier"/>
              </a:rPr>
              <a:t>)</a:t>
            </a:r>
            <a:endParaRPr/>
          </a:p>
        </p:txBody>
      </p:sp>
      <p:sp>
        <p:nvSpPr>
          <p:cNvPr id="1923" name="table(my.data$x)…"/>
          <p:cNvSpPr txBox="1"/>
          <p:nvPr/>
        </p:nvSpPr>
        <p:spPr>
          <a:xfrm>
            <a:off x="4352477" y="11492476"/>
            <a:ext cx="4553789" cy="124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table(my.data$x)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is.numeric(my.data$x)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is.factor(my.data$x)</a:t>
            </a:r>
          </a:p>
        </p:txBody>
      </p:sp>
      <p:sp>
        <p:nvSpPr>
          <p:cNvPr id="1924" name="my.data &lt;- mutate(my.data, x = factor(x))…"/>
          <p:cNvSpPr txBox="1"/>
          <p:nvPr/>
        </p:nvSpPr>
        <p:spPr>
          <a:xfrm>
            <a:off x="11485470" y="11678759"/>
            <a:ext cx="7135756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mutate(</a:t>
            </a:r>
            <a:r>
              <a:rPr err="1"/>
              <a:t>my.data</a:t>
            </a:r>
            <a:r>
              <a:t>, x = factor(x))</a:t>
            </a:r>
            <a:endParaRPr lang="en-US"/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500" err="1">
                <a:sym typeface="Courier"/>
              </a:rPr>
              <a:t>fct_collapse</a:t>
            </a:r>
            <a:r>
              <a:rPr lang="en-US" sz="2500">
                <a:sym typeface="Courier"/>
              </a:rPr>
              <a:t>(x)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25" name="anova(model2, model1)"/>
          <p:cNvSpPr txBox="1"/>
          <p:nvPr/>
        </p:nvSpPr>
        <p:spPr>
          <a:xfrm>
            <a:off x="1996631" y="9760199"/>
            <a:ext cx="7808858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anova(model2, model1)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26" name="ANOVA:"/>
          <p:cNvSpPr txBox="1"/>
          <p:nvPr/>
        </p:nvSpPr>
        <p:spPr>
          <a:xfrm>
            <a:off x="1966822" y="9021533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ANOVA:</a:t>
            </a:r>
          </a:p>
        </p:txBody>
      </p:sp>
      <p:sp>
        <p:nvSpPr>
          <p:cNvPr id="1927" name="Check Type:"/>
          <p:cNvSpPr txBox="1"/>
          <p:nvPr/>
        </p:nvSpPr>
        <p:spPr>
          <a:xfrm>
            <a:off x="1968940" y="11205275"/>
            <a:ext cx="3125571" cy="5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Check Type:</a:t>
            </a:r>
          </a:p>
        </p:txBody>
      </p:sp>
      <p:sp>
        <p:nvSpPr>
          <p:cNvPr id="1928" name="TESTS/COMPARISONS"/>
          <p:cNvSpPr txBox="1"/>
          <p:nvPr/>
        </p:nvSpPr>
        <p:spPr>
          <a:xfrm>
            <a:off x="19307834" y="9342322"/>
            <a:ext cx="3377958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TESTS/</a:t>
            </a:r>
            <a:endParaRPr lang="en-GB"/>
          </a:p>
          <a:p>
            <a:r>
              <a:t>COMPARISONS</a:t>
            </a:r>
            <a:endParaRPr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29" name="Change Type:"/>
          <p:cNvSpPr txBox="1"/>
          <p:nvPr/>
        </p:nvSpPr>
        <p:spPr>
          <a:xfrm>
            <a:off x="8929082" y="11204113"/>
            <a:ext cx="3568241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Change Type:</a:t>
            </a:r>
          </a:p>
        </p:txBody>
      </p:sp>
      <p:sp>
        <p:nvSpPr>
          <p:cNvPr id="1930" name="Check Model:"/>
          <p:cNvSpPr txBox="1"/>
          <p:nvPr/>
        </p:nvSpPr>
        <p:spPr>
          <a:xfrm>
            <a:off x="12922787" y="6837791"/>
            <a:ext cx="312123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Check Model:</a:t>
            </a:r>
          </a:p>
        </p:txBody>
      </p:sp>
      <p:sp>
        <p:nvSpPr>
          <p:cNvPr id="1931" name="F-Test:"/>
          <p:cNvSpPr txBox="1"/>
          <p:nvPr/>
        </p:nvSpPr>
        <p:spPr>
          <a:xfrm>
            <a:off x="6917987" y="9021533"/>
            <a:ext cx="2633367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F-Test:</a:t>
            </a:r>
          </a:p>
        </p:txBody>
      </p:sp>
      <p:sp>
        <p:nvSpPr>
          <p:cNvPr id="1932" name="summary(model) par(mfrow=c(2,2))…"/>
          <p:cNvSpPr txBox="1"/>
          <p:nvPr/>
        </p:nvSpPr>
        <p:spPr>
          <a:xfrm>
            <a:off x="15405279" y="7028762"/>
            <a:ext cx="3059287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summary(model)</a:t>
            </a:r>
            <a:r>
              <a:rPr sz="1200" spc="-96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par(mfrow=c(2,2))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plot(model)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933" name="drop1(model, test=&quot;F&quot;)"/>
          <p:cNvSpPr txBox="1"/>
          <p:nvPr/>
        </p:nvSpPr>
        <p:spPr>
          <a:xfrm>
            <a:off x="6884974" y="9760199"/>
            <a:ext cx="780885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drop1(model, test="F")</a:t>
            </a: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500" spc="-2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1200" spc="-96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71E12-ADB5-2BF7-B738-BC2A2F2F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6">
            <a:extLst>
              <a:ext uri="{FF2B5EF4-FFF2-40B4-BE49-F238E27FC236}">
                <a16:creationId xmlns:a16="http://schemas.microsoft.com/office/drawing/2014/main" id="{3D9E026E-D998-1849-044F-34A3E5C77B82}"/>
              </a:ext>
            </a:extLst>
          </p:cNvPr>
          <p:cNvSpPr/>
          <p:nvPr/>
        </p:nvSpPr>
        <p:spPr>
          <a:xfrm>
            <a:off x="5179926" y="3403113"/>
            <a:ext cx="2138563" cy="2493034"/>
          </a:xfrm>
          <a:custGeom>
            <a:avLst/>
            <a:gdLst>
              <a:gd name="csX0" fmla="*/ 21600 w 21600"/>
              <a:gd name="csY0" fmla="*/ 0 h 21600"/>
              <a:gd name="csX1" fmla="*/ 10307 w 21600"/>
              <a:gd name="csY1" fmla="*/ 9701 h 21600"/>
              <a:gd name="csX2" fmla="*/ 2722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0307 w 21600"/>
              <a:gd name="csY1" fmla="*/ 9701 h 21600"/>
              <a:gd name="csX2" fmla="*/ 7514 w 21600"/>
              <a:gd name="csY2" fmla="*/ 21600 h 21600"/>
              <a:gd name="csX3" fmla="*/ 0 w 21600"/>
              <a:gd name="csY3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7514 w 21600"/>
              <a:gd name="csY3" fmla="*/ 21600 h 21600"/>
              <a:gd name="csX4" fmla="*/ 0 w 21600"/>
              <a:gd name="csY4" fmla="*/ 21600 h 21600"/>
              <a:gd name="csX0" fmla="*/ 21600 w 21600"/>
              <a:gd name="csY0" fmla="*/ 0 h 21600"/>
              <a:gd name="csX1" fmla="*/ 15756 w 21600"/>
              <a:gd name="csY1" fmla="*/ 5338 h 21600"/>
              <a:gd name="csX2" fmla="*/ 10307 w 21600"/>
              <a:gd name="csY2" fmla="*/ 9701 h 21600"/>
              <a:gd name="csX3" fmla="*/ 4962 w 21600"/>
              <a:gd name="csY3" fmla="*/ 21600 h 21600"/>
              <a:gd name="csX4" fmla="*/ 0 w 21600"/>
              <a:gd name="csY4" fmla="*/ 21600 h 21600"/>
              <a:gd name="csX0" fmla="*/ 26339 w 26339"/>
              <a:gd name="csY0" fmla="*/ 0 h 22365"/>
              <a:gd name="csX1" fmla="*/ 15756 w 26339"/>
              <a:gd name="csY1" fmla="*/ 6103 h 22365"/>
              <a:gd name="csX2" fmla="*/ 10307 w 26339"/>
              <a:gd name="csY2" fmla="*/ 10466 h 22365"/>
              <a:gd name="csX3" fmla="*/ 4962 w 26339"/>
              <a:gd name="csY3" fmla="*/ 22365 h 22365"/>
              <a:gd name="csX4" fmla="*/ 0 w 26339"/>
              <a:gd name="csY4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6339 w 26339"/>
              <a:gd name="csY0" fmla="*/ 0 h 22365"/>
              <a:gd name="csX1" fmla="*/ 10307 w 26339"/>
              <a:gd name="csY1" fmla="*/ 10466 h 22365"/>
              <a:gd name="csX2" fmla="*/ 4962 w 26339"/>
              <a:gd name="csY2" fmla="*/ 22365 h 22365"/>
              <a:gd name="csX3" fmla="*/ 0 w 26339"/>
              <a:gd name="csY3" fmla="*/ 22365 h 22365"/>
              <a:gd name="csX0" fmla="*/ 25792 w 25792"/>
              <a:gd name="csY0" fmla="*/ 0 h 21982"/>
              <a:gd name="csX1" fmla="*/ 10307 w 25792"/>
              <a:gd name="csY1" fmla="*/ 10083 h 21982"/>
              <a:gd name="csX2" fmla="*/ 4962 w 25792"/>
              <a:gd name="csY2" fmla="*/ 21982 h 21982"/>
              <a:gd name="csX3" fmla="*/ 0 w 25792"/>
              <a:gd name="csY3" fmla="*/ 21982 h 21982"/>
              <a:gd name="csX0" fmla="*/ 24004 w 24004"/>
              <a:gd name="csY0" fmla="*/ 0 h 16063"/>
              <a:gd name="csX1" fmla="*/ 10307 w 24004"/>
              <a:gd name="csY1" fmla="*/ 4164 h 16063"/>
              <a:gd name="csX2" fmla="*/ 4962 w 24004"/>
              <a:gd name="csY2" fmla="*/ 16063 h 16063"/>
              <a:gd name="csX3" fmla="*/ 0 w 24004"/>
              <a:gd name="csY3" fmla="*/ 16063 h 16063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  <a:gd name="csX0" fmla="*/ 21740 w 21740"/>
              <a:gd name="csY0" fmla="*/ 0 h 17730"/>
              <a:gd name="csX1" fmla="*/ 10307 w 21740"/>
              <a:gd name="csY1" fmla="*/ 5831 h 17730"/>
              <a:gd name="csX2" fmla="*/ 4962 w 21740"/>
              <a:gd name="csY2" fmla="*/ 17730 h 17730"/>
              <a:gd name="csX3" fmla="*/ 0 w 21740"/>
              <a:gd name="csY3" fmla="*/ 17730 h 1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740" h="17730" extrusionOk="0">
                <a:moveTo>
                  <a:pt x="21740" y="0"/>
                </a:moveTo>
                <a:cubicBezTo>
                  <a:pt x="11452" y="5325"/>
                  <a:pt x="20684" y="495"/>
                  <a:pt x="10307" y="5831"/>
                </a:cubicBezTo>
                <a:lnTo>
                  <a:pt x="4962" y="17730"/>
                </a:lnTo>
                <a:lnTo>
                  <a:pt x="0" y="17730"/>
                </a:lnTo>
              </a:path>
            </a:pathLst>
          </a:cu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130" name="Rectangle">
            <a:extLst>
              <a:ext uri="{FF2B5EF4-FFF2-40B4-BE49-F238E27FC236}">
                <a16:creationId xmlns:a16="http://schemas.microsoft.com/office/drawing/2014/main" id="{DEE57C0B-8824-3322-BA99-496C7DDDF85F}"/>
              </a:ext>
            </a:extLst>
          </p:cNvPr>
          <p:cNvSpPr/>
          <p:nvPr/>
        </p:nvSpPr>
        <p:spPr>
          <a:xfrm>
            <a:off x="17503754" y="-34288"/>
            <a:ext cx="6940820" cy="13830860"/>
          </a:xfrm>
          <a:prstGeom prst="rect">
            <a:avLst/>
          </a:prstGeom>
          <a:solidFill>
            <a:srgbClr val="81A489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134" name="Group">
            <a:extLst>
              <a:ext uri="{FF2B5EF4-FFF2-40B4-BE49-F238E27FC236}">
                <a16:creationId xmlns:a16="http://schemas.microsoft.com/office/drawing/2014/main" id="{1C965D96-7952-B65A-E375-67A039A9BAB2}"/>
              </a:ext>
            </a:extLst>
          </p:cNvPr>
          <p:cNvGrpSpPr/>
          <p:nvPr/>
        </p:nvGrpSpPr>
        <p:grpSpPr>
          <a:xfrm>
            <a:off x="18325766" y="6146204"/>
            <a:ext cx="5330386" cy="2042092"/>
            <a:chOff x="0" y="0"/>
            <a:chExt cx="5330385" cy="2042090"/>
          </a:xfrm>
        </p:grpSpPr>
        <p:sp>
          <p:nvSpPr>
            <p:cNvPr id="1131" name="EXERCISE 2">
              <a:extLst>
                <a:ext uri="{FF2B5EF4-FFF2-40B4-BE49-F238E27FC236}">
                  <a16:creationId xmlns:a16="http://schemas.microsoft.com/office/drawing/2014/main" id="{E24B3EA3-E284-3BE9-CAB5-1C6541A506E3}"/>
                </a:ext>
              </a:extLst>
            </p:cNvPr>
            <p:cNvSpPr txBox="1"/>
            <p:nvPr/>
          </p:nvSpPr>
          <p:spPr>
            <a:xfrm>
              <a:off x="0" y="493933"/>
              <a:ext cx="5330386" cy="1548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EXERCISE </a:t>
              </a:r>
              <a:r>
                <a:rPr lang="da-DK" b="1"/>
                <a:t>4</a:t>
              </a:r>
              <a:endParaRPr b="1"/>
            </a:p>
          </p:txBody>
        </p:sp>
        <p:sp>
          <p:nvSpPr>
            <p:cNvPr id="1132" name="TIDYVERSE">
              <a:extLst>
                <a:ext uri="{FF2B5EF4-FFF2-40B4-BE49-F238E27FC236}">
                  <a16:creationId xmlns:a16="http://schemas.microsoft.com/office/drawing/2014/main" id="{35A8A66F-ECDB-744A-ADB8-CAF2D4AB9FD6}"/>
                </a:ext>
              </a:extLst>
            </p:cNvPr>
            <p:cNvSpPr txBox="1"/>
            <p:nvPr/>
          </p:nvSpPr>
          <p:spPr>
            <a:xfrm>
              <a:off x="1271711" y="0"/>
              <a:ext cx="3636519" cy="3757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/>
                <a:t>Statistics in R</a:t>
              </a:r>
            </a:p>
          </p:txBody>
        </p:sp>
        <p:sp>
          <p:nvSpPr>
            <p:cNvPr id="1133" name="Line">
              <a:extLst>
                <a:ext uri="{FF2B5EF4-FFF2-40B4-BE49-F238E27FC236}">
                  <a16:creationId xmlns:a16="http://schemas.microsoft.com/office/drawing/2014/main" id="{00EBE2C5-17A6-A66D-7E98-8331EAFF7E2A}"/>
                </a:ext>
              </a:extLst>
            </p:cNvPr>
            <p:cNvSpPr/>
            <p:nvPr/>
          </p:nvSpPr>
          <p:spPr>
            <a:xfrm>
              <a:off x="809193" y="175104"/>
              <a:ext cx="95822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178" name="Group">
            <a:extLst>
              <a:ext uri="{FF2B5EF4-FFF2-40B4-BE49-F238E27FC236}">
                <a16:creationId xmlns:a16="http://schemas.microsoft.com/office/drawing/2014/main" id="{8352C5E5-C1AF-09CD-138D-BB6C45520A37}"/>
              </a:ext>
            </a:extLst>
          </p:cNvPr>
          <p:cNvGrpSpPr/>
          <p:nvPr/>
        </p:nvGrpSpPr>
        <p:grpSpPr>
          <a:xfrm>
            <a:off x="4046841" y="3357111"/>
            <a:ext cx="10493207" cy="7531380"/>
            <a:chOff x="0" y="12699"/>
            <a:chExt cx="10493204" cy="7531377"/>
          </a:xfrm>
        </p:grpSpPr>
        <p:sp>
          <p:nvSpPr>
            <p:cNvPr id="1143" name="Line 18">
              <a:extLst>
                <a:ext uri="{FF2B5EF4-FFF2-40B4-BE49-F238E27FC236}">
                  <a16:creationId xmlns:a16="http://schemas.microsoft.com/office/drawing/2014/main" id="{D7086C9E-B7D9-214D-3E97-162DA69EED26}"/>
                </a:ext>
              </a:extLst>
            </p:cNvPr>
            <p:cNvSpPr/>
            <p:nvPr/>
          </p:nvSpPr>
          <p:spPr>
            <a:xfrm>
              <a:off x="576575" y="3773856"/>
              <a:ext cx="3743717" cy="1"/>
            </a:xfrm>
            <a:prstGeom prst="lin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44" name="Oval 9">
              <a:extLst>
                <a:ext uri="{FF2B5EF4-FFF2-40B4-BE49-F238E27FC236}">
                  <a16:creationId xmlns:a16="http://schemas.microsoft.com/office/drawing/2014/main" id="{0BBC6C84-A6B8-57D1-ECAD-78168D28E7EE}"/>
                </a:ext>
              </a:extLst>
            </p:cNvPr>
            <p:cNvSpPr/>
            <p:nvPr/>
          </p:nvSpPr>
          <p:spPr>
            <a:xfrm>
              <a:off x="4552661" y="3109328"/>
              <a:ext cx="1331012" cy="1331012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45" name="Oval 14">
              <a:extLst>
                <a:ext uri="{FF2B5EF4-FFF2-40B4-BE49-F238E27FC236}">
                  <a16:creationId xmlns:a16="http://schemas.microsoft.com/office/drawing/2014/main" id="{AA945244-908E-0900-5AD8-5995AF30DB95}"/>
                </a:ext>
              </a:extLst>
            </p:cNvPr>
            <p:cNvSpPr/>
            <p:nvPr/>
          </p:nvSpPr>
          <p:spPr>
            <a:xfrm>
              <a:off x="4384575" y="2939286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46" name="Oval 27">
              <a:extLst>
                <a:ext uri="{FF2B5EF4-FFF2-40B4-BE49-F238E27FC236}">
                  <a16:creationId xmlns:a16="http://schemas.microsoft.com/office/drawing/2014/main" id="{506CAF58-E914-7706-8FD0-C119CFC8AC01}"/>
                </a:ext>
              </a:extLst>
            </p:cNvPr>
            <p:cNvSpPr/>
            <p:nvPr/>
          </p:nvSpPr>
          <p:spPr>
            <a:xfrm>
              <a:off x="408488" y="3695676"/>
              <a:ext cx="158316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47" name="Oval 28">
              <a:extLst>
                <a:ext uri="{FF2B5EF4-FFF2-40B4-BE49-F238E27FC236}">
                  <a16:creationId xmlns:a16="http://schemas.microsoft.com/office/drawing/2014/main" id="{B3F5395B-E435-8980-CE5B-270E0FB99433}"/>
                </a:ext>
              </a:extLst>
            </p:cNvPr>
            <p:cNvSpPr/>
            <p:nvPr/>
          </p:nvSpPr>
          <p:spPr>
            <a:xfrm>
              <a:off x="1862970" y="3701289"/>
              <a:ext cx="160270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48" name="Oval 29">
              <a:extLst>
                <a:ext uri="{FF2B5EF4-FFF2-40B4-BE49-F238E27FC236}">
                  <a16:creationId xmlns:a16="http://schemas.microsoft.com/office/drawing/2014/main" id="{5E0B218D-8364-B2D5-ADA6-C3872C106A08}"/>
                </a:ext>
              </a:extLst>
            </p:cNvPr>
            <p:cNvSpPr/>
            <p:nvPr/>
          </p:nvSpPr>
          <p:spPr>
            <a:xfrm>
              <a:off x="4304440" y="3695676"/>
              <a:ext cx="158316" cy="158316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49" name="Oval 10">
              <a:extLst>
                <a:ext uri="{FF2B5EF4-FFF2-40B4-BE49-F238E27FC236}">
                  <a16:creationId xmlns:a16="http://schemas.microsoft.com/office/drawing/2014/main" id="{8A5B7737-A835-F91F-E4A7-01408568E98B}"/>
                </a:ext>
              </a:extLst>
            </p:cNvPr>
            <p:cNvSpPr/>
            <p:nvPr/>
          </p:nvSpPr>
          <p:spPr>
            <a:xfrm>
              <a:off x="4432794" y="6039115"/>
              <a:ext cx="1331012" cy="1336875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0" name="Oval 15">
              <a:extLst>
                <a:ext uri="{FF2B5EF4-FFF2-40B4-BE49-F238E27FC236}">
                  <a16:creationId xmlns:a16="http://schemas.microsoft.com/office/drawing/2014/main" id="{0B81C874-D34F-166F-F9B8-861C848E2E76}"/>
                </a:ext>
              </a:extLst>
            </p:cNvPr>
            <p:cNvSpPr/>
            <p:nvPr/>
          </p:nvSpPr>
          <p:spPr>
            <a:xfrm>
              <a:off x="4264707" y="5871028"/>
              <a:ext cx="1667185" cy="1673048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1" name="Freeform 20">
              <a:extLst>
                <a:ext uri="{FF2B5EF4-FFF2-40B4-BE49-F238E27FC236}">
                  <a16:creationId xmlns:a16="http://schemas.microsoft.com/office/drawing/2014/main" id="{4553F833-2C0E-8F0D-F4E7-BF7A29F22560}"/>
                </a:ext>
              </a:extLst>
            </p:cNvPr>
            <p:cNvSpPr/>
            <p:nvPr/>
          </p:nvSpPr>
          <p:spPr>
            <a:xfrm>
              <a:off x="914703" y="4829283"/>
              <a:ext cx="3350005" cy="1876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6944" y="0"/>
                  </a:lnTo>
                  <a:lnTo>
                    <a:pt x="18752" y="21600"/>
                  </a:lnTo>
                  <a:lnTo>
                    <a:pt x="2160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2" name="Oval 33">
              <a:extLst>
                <a:ext uri="{FF2B5EF4-FFF2-40B4-BE49-F238E27FC236}">
                  <a16:creationId xmlns:a16="http://schemas.microsoft.com/office/drawing/2014/main" id="{FD842176-E0AE-5BCF-A621-C60D34CA97B3}"/>
                </a:ext>
              </a:extLst>
            </p:cNvPr>
            <p:cNvSpPr/>
            <p:nvPr/>
          </p:nvSpPr>
          <p:spPr>
            <a:xfrm>
              <a:off x="744661" y="4749148"/>
              <a:ext cx="160271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3" name="Oval 34">
              <a:extLst>
                <a:ext uri="{FF2B5EF4-FFF2-40B4-BE49-F238E27FC236}">
                  <a16:creationId xmlns:a16="http://schemas.microsoft.com/office/drawing/2014/main" id="{F663D9FA-DFA0-07B9-0E24-1807454A98F9}"/>
                </a:ext>
              </a:extLst>
            </p:cNvPr>
            <p:cNvSpPr/>
            <p:nvPr/>
          </p:nvSpPr>
          <p:spPr>
            <a:xfrm>
              <a:off x="3031420" y="5898391"/>
              <a:ext cx="160271" cy="160271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4" name="Oval 35">
              <a:extLst>
                <a:ext uri="{FF2B5EF4-FFF2-40B4-BE49-F238E27FC236}">
                  <a16:creationId xmlns:a16="http://schemas.microsoft.com/office/drawing/2014/main" id="{023040F9-B6BC-B2E8-928E-E3E00ADC2E5E}"/>
                </a:ext>
              </a:extLst>
            </p:cNvPr>
            <p:cNvSpPr/>
            <p:nvPr/>
          </p:nvSpPr>
          <p:spPr>
            <a:xfrm>
              <a:off x="4184571" y="6625463"/>
              <a:ext cx="158316" cy="164178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5" name="Oval 8">
              <a:extLst>
                <a:ext uri="{FF2B5EF4-FFF2-40B4-BE49-F238E27FC236}">
                  <a16:creationId xmlns:a16="http://schemas.microsoft.com/office/drawing/2014/main" id="{6266122B-9031-F0E0-EDED-EDBADD7CD0E2}"/>
                </a:ext>
              </a:extLst>
            </p:cNvPr>
            <p:cNvSpPr/>
            <p:nvPr/>
          </p:nvSpPr>
          <p:spPr>
            <a:xfrm>
              <a:off x="6686325" y="4735468"/>
              <a:ext cx="1331013" cy="1332968"/>
            </a:xfrm>
            <a:prstGeom prst="ellipse">
              <a:avLst/>
            </a:prstGeom>
            <a:solidFill>
              <a:srgbClr val="81A489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6" name="Oval 13">
              <a:extLst>
                <a:ext uri="{FF2B5EF4-FFF2-40B4-BE49-F238E27FC236}">
                  <a16:creationId xmlns:a16="http://schemas.microsoft.com/office/drawing/2014/main" id="{32D22D98-9D77-690C-CA6F-DE319947A1D7}"/>
                </a:ext>
              </a:extLst>
            </p:cNvPr>
            <p:cNvSpPr/>
            <p:nvPr/>
          </p:nvSpPr>
          <p:spPr>
            <a:xfrm>
              <a:off x="6518240" y="4567381"/>
              <a:ext cx="1667185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7" name="Freeform 19">
              <a:extLst>
                <a:ext uri="{FF2B5EF4-FFF2-40B4-BE49-F238E27FC236}">
                  <a16:creationId xmlns:a16="http://schemas.microsoft.com/office/drawing/2014/main" id="{B3BB29FB-DD98-1BD6-9357-2666162B15E7}"/>
                </a:ext>
              </a:extLst>
            </p:cNvPr>
            <p:cNvSpPr/>
            <p:nvPr/>
          </p:nvSpPr>
          <p:spPr>
            <a:xfrm>
              <a:off x="238448" y="4305479"/>
              <a:ext cx="6279794" cy="1096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1173" y="0"/>
                  </a:lnTo>
                  <a:lnTo>
                    <a:pt x="15650" y="21600"/>
                  </a:lnTo>
                  <a:lnTo>
                    <a:pt x="2160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8" name="Oval 30">
              <a:extLst>
                <a:ext uri="{FF2B5EF4-FFF2-40B4-BE49-F238E27FC236}">
                  <a16:creationId xmlns:a16="http://schemas.microsoft.com/office/drawing/2014/main" id="{61D3724F-0E6C-6A23-FFB3-D28C5D67EAAB}"/>
                </a:ext>
              </a:extLst>
            </p:cNvPr>
            <p:cNvSpPr/>
            <p:nvPr/>
          </p:nvSpPr>
          <p:spPr>
            <a:xfrm>
              <a:off x="70361" y="4219481"/>
              <a:ext cx="160271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59" name="Oval 31">
              <a:extLst>
                <a:ext uri="{FF2B5EF4-FFF2-40B4-BE49-F238E27FC236}">
                  <a16:creationId xmlns:a16="http://schemas.microsoft.com/office/drawing/2014/main" id="{A4BEE869-4851-3959-ECE5-2F30ADEB2339}"/>
                </a:ext>
              </a:extLst>
            </p:cNvPr>
            <p:cNvSpPr/>
            <p:nvPr/>
          </p:nvSpPr>
          <p:spPr>
            <a:xfrm>
              <a:off x="3410275" y="4225345"/>
              <a:ext cx="160270" cy="164178"/>
            </a:xfrm>
            <a:prstGeom prst="ellipse">
              <a:avLst/>
            </a:prstGeom>
            <a:solidFill>
              <a:srgbClr val="81A489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0" name="Oval 32">
              <a:extLst>
                <a:ext uri="{FF2B5EF4-FFF2-40B4-BE49-F238E27FC236}">
                  <a16:creationId xmlns:a16="http://schemas.microsoft.com/office/drawing/2014/main" id="{0F80FA8B-2118-0511-EF44-614CADA64C24}"/>
                </a:ext>
              </a:extLst>
            </p:cNvPr>
            <p:cNvSpPr/>
            <p:nvPr/>
          </p:nvSpPr>
          <p:spPr>
            <a:xfrm>
              <a:off x="6432242" y="5321816"/>
              <a:ext cx="164178" cy="160271"/>
            </a:xfrm>
            <a:prstGeom prst="ellipse">
              <a:avLst/>
            </a:prstGeom>
            <a:solidFill>
              <a:srgbClr val="81A489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1" name="Freeform 17">
              <a:extLst>
                <a:ext uri="{FF2B5EF4-FFF2-40B4-BE49-F238E27FC236}">
                  <a16:creationId xmlns:a16="http://schemas.microsoft.com/office/drawing/2014/main" id="{8A806F7A-670A-439E-7387-21C87B752F99}"/>
                </a:ext>
              </a:extLst>
            </p:cNvPr>
            <p:cNvSpPr/>
            <p:nvPr/>
          </p:nvSpPr>
          <p:spPr>
            <a:xfrm>
              <a:off x="168086" y="2398083"/>
              <a:ext cx="8608192" cy="851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9453" y="0"/>
                  </a:lnTo>
                  <a:lnTo>
                    <a:pt x="7234" y="21600"/>
                  </a:lnTo>
                  <a:lnTo>
                    <a:pt x="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2" name="Oval 7">
              <a:extLst>
                <a:ext uri="{FF2B5EF4-FFF2-40B4-BE49-F238E27FC236}">
                  <a16:creationId xmlns:a16="http://schemas.microsoft.com/office/drawing/2014/main" id="{20D18A47-F7C5-37BA-8E65-1B49CB904F66}"/>
                </a:ext>
              </a:extLst>
            </p:cNvPr>
            <p:cNvSpPr/>
            <p:nvPr/>
          </p:nvSpPr>
          <p:spPr>
            <a:xfrm>
              <a:off x="8994105" y="1723474"/>
              <a:ext cx="1331012" cy="1331012"/>
            </a:xfrm>
            <a:prstGeom prst="ellipse">
              <a:avLst/>
            </a:pr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3" name="Oval 12">
              <a:extLst>
                <a:ext uri="{FF2B5EF4-FFF2-40B4-BE49-F238E27FC236}">
                  <a16:creationId xmlns:a16="http://schemas.microsoft.com/office/drawing/2014/main" id="{0A5056F0-F172-B6B9-BA87-59941D709CD2}"/>
                </a:ext>
              </a:extLst>
            </p:cNvPr>
            <p:cNvSpPr/>
            <p:nvPr/>
          </p:nvSpPr>
          <p:spPr>
            <a:xfrm>
              <a:off x="8826018" y="1554409"/>
              <a:ext cx="1667186" cy="1669141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4" name="Oval 24">
              <a:extLst>
                <a:ext uri="{FF2B5EF4-FFF2-40B4-BE49-F238E27FC236}">
                  <a16:creationId xmlns:a16="http://schemas.microsoft.com/office/drawing/2014/main" id="{2FCB3FE0-C703-18CB-0572-2A45CEF2617B}"/>
                </a:ext>
              </a:extLst>
            </p:cNvPr>
            <p:cNvSpPr/>
            <p:nvPr/>
          </p:nvSpPr>
          <p:spPr>
            <a:xfrm>
              <a:off x="0" y="3166007"/>
              <a:ext cx="160270" cy="16417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5" name="Oval 25">
              <a:extLst>
                <a:ext uri="{FF2B5EF4-FFF2-40B4-BE49-F238E27FC236}">
                  <a16:creationId xmlns:a16="http://schemas.microsoft.com/office/drawing/2014/main" id="{C3A3E2D6-6A70-6697-871D-59EBEAEED9B7}"/>
                </a:ext>
              </a:extLst>
            </p:cNvPr>
            <p:cNvSpPr/>
            <p:nvPr/>
          </p:nvSpPr>
          <p:spPr>
            <a:xfrm>
              <a:off x="2995853" y="3153281"/>
              <a:ext cx="160271" cy="158316"/>
            </a:xfrm>
            <a:prstGeom prst="ellipse">
              <a:avLst/>
            </a:pr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6" name="Oval 26">
              <a:extLst>
                <a:ext uri="{FF2B5EF4-FFF2-40B4-BE49-F238E27FC236}">
                  <a16:creationId xmlns:a16="http://schemas.microsoft.com/office/drawing/2014/main" id="{A2C6C984-359E-5A60-1CAD-1B232DF8E656}"/>
                </a:ext>
              </a:extLst>
            </p:cNvPr>
            <p:cNvSpPr/>
            <p:nvPr/>
          </p:nvSpPr>
          <p:spPr>
            <a:xfrm>
              <a:off x="8742674" y="2309822"/>
              <a:ext cx="164179" cy="158316"/>
            </a:xfrm>
            <a:prstGeom prst="ellipse">
              <a:avLst/>
            </a:pr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7" name="Oval 6">
              <a:extLst>
                <a:ext uri="{FF2B5EF4-FFF2-40B4-BE49-F238E27FC236}">
                  <a16:creationId xmlns:a16="http://schemas.microsoft.com/office/drawing/2014/main" id="{EC7D7368-1D79-654B-A842-1C7E538C60DF}"/>
                </a:ext>
              </a:extLst>
            </p:cNvPr>
            <p:cNvSpPr/>
            <p:nvPr/>
          </p:nvSpPr>
          <p:spPr>
            <a:xfrm>
              <a:off x="7150492" y="180786"/>
              <a:ext cx="1331013" cy="1332965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8" name="Oval 11">
              <a:extLst>
                <a:ext uri="{FF2B5EF4-FFF2-40B4-BE49-F238E27FC236}">
                  <a16:creationId xmlns:a16="http://schemas.microsoft.com/office/drawing/2014/main" id="{98A508E7-D474-2D8C-250C-7B181EB2C908}"/>
                </a:ext>
              </a:extLst>
            </p:cNvPr>
            <p:cNvSpPr/>
            <p:nvPr/>
          </p:nvSpPr>
          <p:spPr>
            <a:xfrm>
              <a:off x="6982407" y="12699"/>
              <a:ext cx="1667185" cy="1669139"/>
            </a:xfrm>
            <a:prstGeom prst="ellipse">
              <a:avLst/>
            </a:pr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69" name="Freeform 16">
              <a:extLst>
                <a:ext uri="{FF2B5EF4-FFF2-40B4-BE49-F238E27FC236}">
                  <a16:creationId xmlns:a16="http://schemas.microsoft.com/office/drawing/2014/main" id="{696C7CE3-08C0-34A2-EA1A-59B4E02C7333}"/>
                </a:ext>
              </a:extLst>
            </p:cNvPr>
            <p:cNvSpPr/>
            <p:nvPr/>
          </p:nvSpPr>
          <p:spPr>
            <a:xfrm>
              <a:off x="787660" y="844067"/>
              <a:ext cx="6169222" cy="1876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1178" y="0"/>
                  </a:lnTo>
                  <a:lnTo>
                    <a:pt x="2722" y="21600"/>
                  </a:lnTo>
                  <a:lnTo>
                    <a:pt x="0" y="21600"/>
                  </a:lnTo>
                </a:path>
              </a:pathLst>
            </a:custGeom>
            <a:noFill/>
            <a:ln w="14288" cap="rnd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70" name="Freeform 21">
              <a:extLst>
                <a:ext uri="{FF2B5EF4-FFF2-40B4-BE49-F238E27FC236}">
                  <a16:creationId xmlns:a16="http://schemas.microsoft.com/office/drawing/2014/main" id="{4C75BD5A-B159-B357-9D4D-DF1C3DB66EA4}"/>
                </a:ext>
              </a:extLst>
            </p:cNvPr>
            <p:cNvSpPr/>
            <p:nvPr/>
          </p:nvSpPr>
          <p:spPr>
            <a:xfrm>
              <a:off x="615724" y="2641660"/>
              <a:ext cx="160151" cy="157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29" h="18125" extrusionOk="0">
                  <a:moveTo>
                    <a:pt x="11906" y="17702"/>
                  </a:moveTo>
                  <a:cubicBezTo>
                    <a:pt x="4706" y="19862"/>
                    <a:pt x="-1386" y="13382"/>
                    <a:pt x="276" y="6362"/>
                  </a:cubicBezTo>
                  <a:cubicBezTo>
                    <a:pt x="1383" y="3662"/>
                    <a:pt x="3599" y="962"/>
                    <a:pt x="6922" y="422"/>
                  </a:cubicBezTo>
                  <a:cubicBezTo>
                    <a:pt x="14122" y="-1738"/>
                    <a:pt x="20214" y="4742"/>
                    <a:pt x="18552" y="11762"/>
                  </a:cubicBezTo>
                  <a:cubicBezTo>
                    <a:pt x="17445" y="14462"/>
                    <a:pt x="15229" y="17162"/>
                    <a:pt x="11906" y="17702"/>
                  </a:cubicBezTo>
                  <a:close/>
                </a:path>
              </a:pathLst>
            </a:custGeom>
            <a:solidFill>
              <a:srgbClr val="436C6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71" name="Freeform 22">
              <a:extLst>
                <a:ext uri="{FF2B5EF4-FFF2-40B4-BE49-F238E27FC236}">
                  <a16:creationId xmlns:a16="http://schemas.microsoft.com/office/drawing/2014/main" id="{EE22F5D9-28A0-BC1E-268B-DD164C14AF88}"/>
                </a:ext>
              </a:extLst>
            </p:cNvPr>
            <p:cNvSpPr/>
            <p:nvPr/>
          </p:nvSpPr>
          <p:spPr>
            <a:xfrm>
              <a:off x="6899062" y="766867"/>
              <a:ext cx="157445" cy="1608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25" h="18511" extrusionOk="0">
                  <a:moveTo>
                    <a:pt x="11762" y="18242"/>
                  </a:moveTo>
                  <a:cubicBezTo>
                    <a:pt x="4742" y="19862"/>
                    <a:pt x="-1738" y="13922"/>
                    <a:pt x="422" y="6902"/>
                  </a:cubicBezTo>
                  <a:cubicBezTo>
                    <a:pt x="962" y="3662"/>
                    <a:pt x="3662" y="962"/>
                    <a:pt x="6362" y="422"/>
                  </a:cubicBezTo>
                  <a:cubicBezTo>
                    <a:pt x="13382" y="-1738"/>
                    <a:pt x="19862" y="4742"/>
                    <a:pt x="17702" y="11762"/>
                  </a:cubicBezTo>
                  <a:cubicBezTo>
                    <a:pt x="17162" y="15002"/>
                    <a:pt x="14462" y="17162"/>
                    <a:pt x="11762" y="18242"/>
                  </a:cubicBezTo>
                  <a:close/>
                </a:path>
              </a:pathLst>
            </a:cu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172" name="1">
              <a:extLst>
                <a:ext uri="{FF2B5EF4-FFF2-40B4-BE49-F238E27FC236}">
                  <a16:creationId xmlns:a16="http://schemas.microsoft.com/office/drawing/2014/main" id="{34B12FA7-2479-2196-441C-FA401C807F3F}"/>
                </a:ext>
              </a:extLst>
            </p:cNvPr>
            <p:cNvSpPr txBox="1"/>
            <p:nvPr/>
          </p:nvSpPr>
          <p:spPr>
            <a:xfrm>
              <a:off x="7532118" y="237551"/>
              <a:ext cx="567761" cy="1265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173" name="2">
              <a:extLst>
                <a:ext uri="{FF2B5EF4-FFF2-40B4-BE49-F238E27FC236}">
                  <a16:creationId xmlns:a16="http://schemas.microsoft.com/office/drawing/2014/main" id="{E9B94CCD-BBC7-6621-7CED-5CF01E6EC561}"/>
                </a:ext>
              </a:extLst>
            </p:cNvPr>
            <p:cNvSpPr txBox="1"/>
            <p:nvPr/>
          </p:nvSpPr>
          <p:spPr>
            <a:xfrm>
              <a:off x="9388430" y="1783912"/>
              <a:ext cx="567762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174" name="3">
              <a:extLst>
                <a:ext uri="{FF2B5EF4-FFF2-40B4-BE49-F238E27FC236}">
                  <a16:creationId xmlns:a16="http://schemas.microsoft.com/office/drawing/2014/main" id="{E7BF1113-F60E-1BEE-F3F5-E2CE08137EC7}"/>
                </a:ext>
              </a:extLst>
            </p:cNvPr>
            <p:cNvSpPr txBox="1"/>
            <p:nvPr/>
          </p:nvSpPr>
          <p:spPr>
            <a:xfrm>
              <a:off x="4934286" y="3217347"/>
              <a:ext cx="567762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175" name="4">
              <a:extLst>
                <a:ext uri="{FF2B5EF4-FFF2-40B4-BE49-F238E27FC236}">
                  <a16:creationId xmlns:a16="http://schemas.microsoft.com/office/drawing/2014/main" id="{9651AE4D-95FC-A3DE-F38F-F97FB3F10B1C}"/>
                </a:ext>
              </a:extLst>
            </p:cNvPr>
            <p:cNvSpPr txBox="1"/>
            <p:nvPr/>
          </p:nvSpPr>
          <p:spPr>
            <a:xfrm>
              <a:off x="7048192" y="4829502"/>
              <a:ext cx="567761" cy="13310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176" name="5">
              <a:extLst>
                <a:ext uri="{FF2B5EF4-FFF2-40B4-BE49-F238E27FC236}">
                  <a16:creationId xmlns:a16="http://schemas.microsoft.com/office/drawing/2014/main" id="{28066EE2-B681-AAFE-D664-9910E78F380F}"/>
                </a:ext>
              </a:extLst>
            </p:cNvPr>
            <p:cNvSpPr txBox="1"/>
            <p:nvPr/>
          </p:nvSpPr>
          <p:spPr>
            <a:xfrm>
              <a:off x="4802935" y="6157051"/>
              <a:ext cx="567761" cy="1296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7000" b="1">
                  <a:solidFill>
                    <a:srgbClr val="EBEBEB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177" name="Oval 23">
              <a:extLst>
                <a:ext uri="{FF2B5EF4-FFF2-40B4-BE49-F238E27FC236}">
                  <a16:creationId xmlns:a16="http://schemas.microsoft.com/office/drawing/2014/main" id="{4375199F-4E36-9AFA-05B7-712DEE45076C}"/>
                </a:ext>
              </a:extLst>
            </p:cNvPr>
            <p:cNvSpPr/>
            <p:nvPr/>
          </p:nvSpPr>
          <p:spPr>
            <a:xfrm>
              <a:off x="5286115" y="767134"/>
              <a:ext cx="160271" cy="160269"/>
            </a:xfrm>
            <a:prstGeom prst="ellipse">
              <a:avLst/>
            </a:prstGeom>
            <a:solidFill>
              <a:srgbClr val="AFAFAF">
                <a:alpha val="7998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  <p:grpSp>
        <p:nvGrpSpPr>
          <p:cNvPr id="1188" name="Group">
            <a:extLst>
              <a:ext uri="{FF2B5EF4-FFF2-40B4-BE49-F238E27FC236}">
                <a16:creationId xmlns:a16="http://schemas.microsoft.com/office/drawing/2014/main" id="{345CCB2F-7639-8445-74DD-6940EB19F290}"/>
              </a:ext>
            </a:extLst>
          </p:cNvPr>
          <p:cNvGrpSpPr/>
          <p:nvPr/>
        </p:nvGrpSpPr>
        <p:grpSpPr>
          <a:xfrm>
            <a:off x="1346026" y="5822905"/>
            <a:ext cx="4393054" cy="2587093"/>
            <a:chOff x="0" y="0"/>
            <a:chExt cx="4393052" cy="2587090"/>
          </a:xfrm>
        </p:grpSpPr>
        <p:sp>
          <p:nvSpPr>
            <p:cNvPr id="1179" name="Freeform 395">
              <a:extLst>
                <a:ext uri="{FF2B5EF4-FFF2-40B4-BE49-F238E27FC236}">
                  <a16:creationId xmlns:a16="http://schemas.microsoft.com/office/drawing/2014/main" id="{4F1FFCBF-C245-A108-BE7B-9B84E8584FA4}"/>
                </a:ext>
              </a:extLst>
            </p:cNvPr>
            <p:cNvSpPr/>
            <p:nvPr/>
          </p:nvSpPr>
          <p:spPr>
            <a:xfrm>
              <a:off x="402774" y="0"/>
              <a:ext cx="3585943" cy="2510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84" y="21600"/>
                  </a:moveTo>
                  <a:cubicBezTo>
                    <a:pt x="316" y="21600"/>
                    <a:pt x="316" y="21600"/>
                    <a:pt x="316" y="21600"/>
                  </a:cubicBezTo>
                  <a:cubicBezTo>
                    <a:pt x="158" y="21600"/>
                    <a:pt x="0" y="21402"/>
                    <a:pt x="0" y="21137"/>
                  </a:cubicBezTo>
                  <a:cubicBezTo>
                    <a:pt x="0" y="1025"/>
                    <a:pt x="0" y="1025"/>
                    <a:pt x="0" y="1025"/>
                  </a:cubicBezTo>
                  <a:cubicBezTo>
                    <a:pt x="0" y="463"/>
                    <a:pt x="316" y="0"/>
                    <a:pt x="699" y="0"/>
                  </a:cubicBezTo>
                  <a:cubicBezTo>
                    <a:pt x="20901" y="0"/>
                    <a:pt x="20901" y="0"/>
                    <a:pt x="20901" y="0"/>
                  </a:cubicBezTo>
                  <a:cubicBezTo>
                    <a:pt x="21284" y="0"/>
                    <a:pt x="21600" y="463"/>
                    <a:pt x="21600" y="1025"/>
                  </a:cubicBezTo>
                  <a:cubicBezTo>
                    <a:pt x="21600" y="21137"/>
                    <a:pt x="21600" y="21137"/>
                    <a:pt x="21600" y="21137"/>
                  </a:cubicBezTo>
                  <a:cubicBezTo>
                    <a:pt x="21600" y="21402"/>
                    <a:pt x="21442" y="21600"/>
                    <a:pt x="21284" y="21600"/>
                  </a:cubicBezTo>
                  <a:close/>
                </a:path>
              </a:pathLst>
            </a:custGeom>
            <a:solidFill>
              <a:srgbClr val="81A4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180" name="Freeform 396">
              <a:extLst>
                <a:ext uri="{FF2B5EF4-FFF2-40B4-BE49-F238E27FC236}">
                  <a16:creationId xmlns:a16="http://schemas.microsoft.com/office/drawing/2014/main" id="{9B34639B-2A09-73C9-7332-97B675F02FF1}"/>
                </a:ext>
              </a:extLst>
            </p:cNvPr>
            <p:cNvSpPr/>
            <p:nvPr/>
          </p:nvSpPr>
          <p:spPr>
            <a:xfrm>
              <a:off x="402774" y="2402869"/>
              <a:ext cx="3585943" cy="107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10800"/>
                    <a:pt x="0" y="10800"/>
                    <a:pt x="0" y="10800"/>
                  </a:cubicBezTo>
                  <a:cubicBezTo>
                    <a:pt x="0" y="16971"/>
                    <a:pt x="158" y="21600"/>
                    <a:pt x="316" y="21600"/>
                  </a:cubicBezTo>
                  <a:cubicBezTo>
                    <a:pt x="21284" y="21600"/>
                    <a:pt x="21284" y="21600"/>
                    <a:pt x="21284" y="21600"/>
                  </a:cubicBezTo>
                  <a:cubicBezTo>
                    <a:pt x="21442" y="21600"/>
                    <a:pt x="21600" y="16971"/>
                    <a:pt x="21600" y="10800"/>
                  </a:cubicBezTo>
                  <a:cubicBezTo>
                    <a:pt x="21600" y="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253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181" name="Rectangle 397">
              <a:extLst>
                <a:ext uri="{FF2B5EF4-FFF2-40B4-BE49-F238E27FC236}">
                  <a16:creationId xmlns:a16="http://schemas.microsoft.com/office/drawing/2014/main" id="{A47D2EAC-3EE3-399B-4841-D68FAF622200}"/>
                </a:ext>
              </a:extLst>
            </p:cNvPr>
            <p:cNvSpPr/>
            <p:nvPr/>
          </p:nvSpPr>
          <p:spPr>
            <a:xfrm>
              <a:off x="546399" y="177812"/>
              <a:ext cx="3300254" cy="212413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182" name="Freeform 398">
              <a:extLst>
                <a:ext uri="{FF2B5EF4-FFF2-40B4-BE49-F238E27FC236}">
                  <a16:creationId xmlns:a16="http://schemas.microsoft.com/office/drawing/2014/main" id="{F1CF5047-0A98-7E6D-366C-F9C0D02AD229}"/>
                </a:ext>
              </a:extLst>
            </p:cNvPr>
            <p:cNvSpPr/>
            <p:nvPr/>
          </p:nvSpPr>
          <p:spPr>
            <a:xfrm>
              <a:off x="0" y="2521411"/>
              <a:ext cx="4393053" cy="6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0"/>
                    <a:pt x="405" y="21600"/>
                    <a:pt x="2741" y="21600"/>
                  </a:cubicBezTo>
                  <a:cubicBezTo>
                    <a:pt x="5096" y="21600"/>
                    <a:pt x="16504" y="21600"/>
                    <a:pt x="18840" y="21600"/>
                  </a:cubicBezTo>
                  <a:cubicBezTo>
                    <a:pt x="21195" y="2160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1A4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183" name="Rectangle 399">
              <a:extLst>
                <a:ext uri="{FF2B5EF4-FFF2-40B4-BE49-F238E27FC236}">
                  <a16:creationId xmlns:a16="http://schemas.microsoft.com/office/drawing/2014/main" id="{6AAD6E52-9AAC-EA79-6F5B-61197D8BF335}"/>
                </a:ext>
              </a:extLst>
            </p:cNvPr>
            <p:cNvSpPr/>
            <p:nvPr/>
          </p:nvSpPr>
          <p:spPr>
            <a:xfrm>
              <a:off x="0" y="2494178"/>
              <a:ext cx="4393053" cy="27234"/>
            </a:xfrm>
            <a:prstGeom prst="rect">
              <a:avLst/>
            </a:prstGeom>
            <a:solidFill>
              <a:srgbClr val="576D8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184" name="Oval">
              <a:extLst>
                <a:ext uri="{FF2B5EF4-FFF2-40B4-BE49-F238E27FC236}">
                  <a16:creationId xmlns:a16="http://schemas.microsoft.com/office/drawing/2014/main" id="{330E0B40-C23B-11AA-01BC-C5B9D933FD48}"/>
                </a:ext>
              </a:extLst>
            </p:cNvPr>
            <p:cNvSpPr/>
            <p:nvPr/>
          </p:nvSpPr>
          <p:spPr>
            <a:xfrm>
              <a:off x="1094086" y="812619"/>
              <a:ext cx="785398" cy="780611"/>
            </a:xfrm>
            <a:prstGeom prst="ellipse">
              <a:avLst/>
            </a:prstGeom>
            <a:solidFill>
              <a:srgbClr val="81A489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85" name="Oval">
              <a:extLst>
                <a:ext uri="{FF2B5EF4-FFF2-40B4-BE49-F238E27FC236}">
                  <a16:creationId xmlns:a16="http://schemas.microsoft.com/office/drawing/2014/main" id="{B25E0AA0-745C-1D25-2140-59840F7866F0}"/>
                </a:ext>
              </a:extLst>
            </p:cNvPr>
            <p:cNvSpPr/>
            <p:nvPr/>
          </p:nvSpPr>
          <p:spPr>
            <a:xfrm>
              <a:off x="1238205" y="848178"/>
              <a:ext cx="497161" cy="292106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86" name="R">
              <a:extLst>
                <a:ext uri="{FF2B5EF4-FFF2-40B4-BE49-F238E27FC236}">
                  <a16:creationId xmlns:a16="http://schemas.microsoft.com/office/drawing/2014/main" id="{3A326F86-798D-139B-676D-63AA9309C470}"/>
                </a:ext>
              </a:extLst>
            </p:cNvPr>
            <p:cNvSpPr txBox="1"/>
            <p:nvPr/>
          </p:nvSpPr>
          <p:spPr>
            <a:xfrm>
              <a:off x="1266045" y="777324"/>
              <a:ext cx="493840" cy="7464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400">
                  <a:solidFill>
                    <a:srgbClr val="EBEBEB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187" name="Studio">
              <a:extLst>
                <a:ext uri="{FF2B5EF4-FFF2-40B4-BE49-F238E27FC236}">
                  <a16:creationId xmlns:a16="http://schemas.microsoft.com/office/drawing/2014/main" id="{429B3F6A-6EB7-BFC1-9776-47E3668BBD92}"/>
                </a:ext>
              </a:extLst>
            </p:cNvPr>
            <p:cNvSpPr txBox="1"/>
            <p:nvPr/>
          </p:nvSpPr>
          <p:spPr>
            <a:xfrm>
              <a:off x="1898247" y="848178"/>
              <a:ext cx="1219284" cy="7319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Studio</a:t>
              </a:r>
            </a:p>
          </p:txBody>
        </p:sp>
      </p:grpSp>
      <p:sp>
        <p:nvSpPr>
          <p:cNvPr id="1190" name="21">
            <a:extLst>
              <a:ext uri="{FF2B5EF4-FFF2-40B4-BE49-F238E27FC236}">
                <a16:creationId xmlns:a16="http://schemas.microsoft.com/office/drawing/2014/main" id="{E85A080D-E3F4-8D5A-BDFE-FA172F2E9263}"/>
              </a:ext>
            </a:extLst>
          </p:cNvPr>
          <p:cNvSpPr txBox="1"/>
          <p:nvPr/>
        </p:nvSpPr>
        <p:spPr>
          <a:xfrm>
            <a:off x="309335" y="12867821"/>
            <a:ext cx="665164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21</a:t>
            </a:r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DD095ECD-5B7D-137B-E8BB-AD48679B6E73}"/>
              </a:ext>
            </a:extLst>
          </p:cNvPr>
          <p:cNvSpPr/>
          <p:nvPr/>
        </p:nvSpPr>
        <p:spPr>
          <a:xfrm>
            <a:off x="7307120" y="2237011"/>
            <a:ext cx="1331013" cy="1331012"/>
          </a:xfrm>
          <a:prstGeom prst="ellipse">
            <a:avLst/>
          </a:prstGeom>
          <a:solidFill>
            <a:srgbClr val="C0C0C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76095E38-7B2C-EAC9-30E8-1A4E30A9EB9D}"/>
              </a:ext>
            </a:extLst>
          </p:cNvPr>
          <p:cNvSpPr/>
          <p:nvPr/>
        </p:nvSpPr>
        <p:spPr>
          <a:xfrm>
            <a:off x="7139031" y="2068923"/>
            <a:ext cx="1667187" cy="1669141"/>
          </a:xfrm>
          <a:prstGeom prst="ellipse">
            <a:avLst/>
          </a:prstGeom>
          <a:noFill/>
          <a:ln w="14288" cap="rnd">
            <a:solidFill>
              <a:srgbClr val="80808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EC0A7C3B-C538-4168-E63D-EC006F023AE1}"/>
              </a:ext>
            </a:extLst>
          </p:cNvPr>
          <p:cNvSpPr txBox="1"/>
          <p:nvPr/>
        </p:nvSpPr>
        <p:spPr>
          <a:xfrm>
            <a:off x="7682422" y="2334537"/>
            <a:ext cx="674777" cy="1265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da-DK"/>
              <a:t>0</a:t>
            </a:r>
            <a:endParaRPr/>
          </a:p>
        </p:txBody>
      </p:sp>
      <p:sp>
        <p:nvSpPr>
          <p:cNvPr id="10" name="Oval 25">
            <a:extLst>
              <a:ext uri="{FF2B5EF4-FFF2-40B4-BE49-F238E27FC236}">
                <a16:creationId xmlns:a16="http://schemas.microsoft.com/office/drawing/2014/main" id="{050A60BA-69F4-49C1-9FB1-88B1213A270C}"/>
              </a:ext>
            </a:extLst>
          </p:cNvPr>
          <p:cNvSpPr/>
          <p:nvPr/>
        </p:nvSpPr>
        <p:spPr>
          <a:xfrm>
            <a:off x="6121816" y="415765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1" name="Oval 25">
            <a:extLst>
              <a:ext uri="{FF2B5EF4-FFF2-40B4-BE49-F238E27FC236}">
                <a16:creationId xmlns:a16="http://schemas.microsoft.com/office/drawing/2014/main" id="{55FCBE6C-AC3C-05BE-EFCB-272D6687ABC5}"/>
              </a:ext>
            </a:extLst>
          </p:cNvPr>
          <p:cNvSpPr/>
          <p:nvPr/>
        </p:nvSpPr>
        <p:spPr>
          <a:xfrm>
            <a:off x="7223781" y="3337044"/>
            <a:ext cx="160271" cy="158316"/>
          </a:xfrm>
          <a:prstGeom prst="ellipse">
            <a:avLst/>
          </a:prstGeom>
          <a:solidFill>
            <a:srgbClr val="C0C0C0">
              <a:alpha val="79983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id="{98DCCAA4-0EC0-8CDF-5F94-3F1D083A32FD}"/>
              </a:ext>
            </a:extLst>
          </p:cNvPr>
          <p:cNvGrpSpPr/>
          <p:nvPr/>
        </p:nvGrpSpPr>
        <p:grpSpPr>
          <a:xfrm>
            <a:off x="12637219" y="7563895"/>
            <a:ext cx="3599568" cy="2768601"/>
            <a:chOff x="0" y="0"/>
            <a:chExt cx="3599567" cy="2768600"/>
          </a:xfrm>
        </p:grpSpPr>
        <p:sp>
          <p:nvSpPr>
            <p:cNvPr id="4" name="Linear regression…">
              <a:extLst>
                <a:ext uri="{FF2B5EF4-FFF2-40B4-BE49-F238E27FC236}">
                  <a16:creationId xmlns:a16="http://schemas.microsoft.com/office/drawing/2014/main" id="{5830DE77-B9DE-3233-4962-2158550A1F69}"/>
                </a:ext>
              </a:extLst>
            </p:cNvPr>
            <p:cNvSpPr txBox="1"/>
            <p:nvPr/>
          </p:nvSpPr>
          <p:spPr>
            <a:xfrm>
              <a:off x="333676" y="-1"/>
              <a:ext cx="3265892" cy="276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Linear regression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Summary Statistics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ANOVA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Logistic regression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Clustering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Correlation</a:t>
              </a:r>
            </a:p>
          </p:txBody>
        </p:sp>
        <p:sp>
          <p:nvSpPr>
            <p:cNvPr id="5" name="Oval 23">
              <a:extLst>
                <a:ext uri="{FF2B5EF4-FFF2-40B4-BE49-F238E27FC236}">
                  <a16:creationId xmlns:a16="http://schemas.microsoft.com/office/drawing/2014/main" id="{9014BC2B-E5AA-E9A4-30EE-22015E7405CA}"/>
                </a:ext>
              </a:extLst>
            </p:cNvPr>
            <p:cNvSpPr/>
            <p:nvPr/>
          </p:nvSpPr>
          <p:spPr>
            <a:xfrm>
              <a:off x="0" y="228310"/>
              <a:ext cx="155496" cy="155494"/>
            </a:xfrm>
            <a:prstGeom prst="ellipse">
              <a:avLst/>
            </a:pr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2" name="Oval 23">
              <a:extLst>
                <a:ext uri="{FF2B5EF4-FFF2-40B4-BE49-F238E27FC236}">
                  <a16:creationId xmlns:a16="http://schemas.microsoft.com/office/drawing/2014/main" id="{6C34CB99-0959-1F47-8754-788839C9FB80}"/>
                </a:ext>
              </a:extLst>
            </p:cNvPr>
            <p:cNvSpPr/>
            <p:nvPr/>
          </p:nvSpPr>
          <p:spPr>
            <a:xfrm>
              <a:off x="0" y="668249"/>
              <a:ext cx="155496" cy="155494"/>
            </a:xfrm>
            <a:prstGeom prst="ellipse">
              <a:avLst/>
            </a:pr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0B10326C-064E-5B31-E2F6-E758138B5B66}"/>
                </a:ext>
              </a:extLst>
            </p:cNvPr>
            <p:cNvSpPr/>
            <p:nvPr/>
          </p:nvSpPr>
          <p:spPr>
            <a:xfrm>
              <a:off x="0" y="1101283"/>
              <a:ext cx="155496" cy="155494"/>
            </a:xfrm>
            <a:prstGeom prst="ellipse">
              <a:avLst/>
            </a:pr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4" name="Oval 23">
              <a:extLst>
                <a:ext uri="{FF2B5EF4-FFF2-40B4-BE49-F238E27FC236}">
                  <a16:creationId xmlns:a16="http://schemas.microsoft.com/office/drawing/2014/main" id="{E7506484-0CBC-FF69-67D4-5370B2B0A997}"/>
                </a:ext>
              </a:extLst>
            </p:cNvPr>
            <p:cNvSpPr/>
            <p:nvPr/>
          </p:nvSpPr>
          <p:spPr>
            <a:xfrm>
              <a:off x="0" y="1534319"/>
              <a:ext cx="155496" cy="155494"/>
            </a:xfrm>
            <a:prstGeom prst="ellipse">
              <a:avLst/>
            </a:pr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D9B3AC94-36A5-4AD7-F3F5-085CC2B4310F}"/>
                </a:ext>
              </a:extLst>
            </p:cNvPr>
            <p:cNvSpPr/>
            <p:nvPr/>
          </p:nvSpPr>
          <p:spPr>
            <a:xfrm>
              <a:off x="0" y="1972547"/>
              <a:ext cx="155496" cy="155494"/>
            </a:xfrm>
            <a:prstGeom prst="ellipse">
              <a:avLst/>
            </a:pr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6" name="Oval 23">
              <a:extLst>
                <a:ext uri="{FF2B5EF4-FFF2-40B4-BE49-F238E27FC236}">
                  <a16:creationId xmlns:a16="http://schemas.microsoft.com/office/drawing/2014/main" id="{DEB4FC33-6AB7-38FE-7DF5-58A5DFF2ECCC}"/>
                </a:ext>
              </a:extLst>
            </p:cNvPr>
            <p:cNvSpPr/>
            <p:nvPr/>
          </p:nvSpPr>
          <p:spPr>
            <a:xfrm>
              <a:off x="0" y="2405581"/>
              <a:ext cx="155496" cy="155494"/>
            </a:xfrm>
            <a:prstGeom prst="ellipse">
              <a:avLst/>
            </a:prstGeom>
            <a:solidFill>
              <a:srgbClr val="7FA28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97240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Rectangle"/>
          <p:cNvSpPr/>
          <p:nvPr/>
        </p:nvSpPr>
        <p:spPr>
          <a:xfrm>
            <a:off x="0" y="-1"/>
            <a:ext cx="24371300" cy="4033800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995" name="Group"/>
          <p:cNvGrpSpPr/>
          <p:nvPr/>
        </p:nvGrpSpPr>
        <p:grpSpPr>
          <a:xfrm>
            <a:off x="6156468" y="1020229"/>
            <a:ext cx="12467189" cy="3542048"/>
            <a:chOff x="-1006676" y="0"/>
            <a:chExt cx="12467188" cy="3542046"/>
          </a:xfrm>
        </p:grpSpPr>
        <p:sp>
          <p:nvSpPr>
            <p:cNvPr id="1992" name="BIOINFORMATICS IN R"/>
            <p:cNvSpPr txBox="1"/>
            <p:nvPr/>
          </p:nvSpPr>
          <p:spPr>
            <a:xfrm>
              <a:off x="-1006677" y="786882"/>
              <a:ext cx="12467189" cy="2755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BIOINFORMATICS IN </a:t>
              </a:r>
              <a:r>
                <a:rPr b="1"/>
                <a:t>R</a:t>
              </a:r>
            </a:p>
          </p:txBody>
        </p:sp>
        <p:sp>
          <p:nvSpPr>
            <p:cNvPr id="1993" name="https://www.r-graph-gallery.com/"/>
            <p:cNvSpPr txBox="1"/>
            <p:nvPr/>
          </p:nvSpPr>
          <p:spPr>
            <a:xfrm>
              <a:off x="2940380" y="0"/>
              <a:ext cx="6471696" cy="4369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https://www.r-graph-gallery.com/</a:t>
              </a:r>
            </a:p>
          </p:txBody>
        </p:sp>
        <p:sp>
          <p:nvSpPr>
            <p:cNvPr id="1994" name="Line"/>
            <p:cNvSpPr/>
            <p:nvPr/>
          </p:nvSpPr>
          <p:spPr>
            <a:xfrm>
              <a:off x="1590121" y="192868"/>
              <a:ext cx="1077568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2184" name="Group"/>
          <p:cNvGrpSpPr/>
          <p:nvPr/>
        </p:nvGrpSpPr>
        <p:grpSpPr>
          <a:xfrm>
            <a:off x="1526944" y="5704728"/>
            <a:ext cx="7870445" cy="7422129"/>
            <a:chOff x="0" y="0"/>
            <a:chExt cx="7870444" cy="7422128"/>
          </a:xfrm>
        </p:grpSpPr>
        <p:sp>
          <p:nvSpPr>
            <p:cNvPr id="1996" name="Rectangle"/>
            <p:cNvSpPr/>
            <p:nvPr/>
          </p:nvSpPr>
          <p:spPr>
            <a:xfrm>
              <a:off x="0" y="0"/>
              <a:ext cx="7870445" cy="7422129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grpSp>
          <p:nvGrpSpPr>
            <p:cNvPr id="2020" name="Group"/>
            <p:cNvGrpSpPr/>
            <p:nvPr/>
          </p:nvGrpSpPr>
          <p:grpSpPr>
            <a:xfrm>
              <a:off x="236844" y="303883"/>
              <a:ext cx="7210385" cy="3956892"/>
              <a:chOff x="-78713" y="0"/>
              <a:chExt cx="7210384" cy="3956890"/>
            </a:xfrm>
          </p:grpSpPr>
          <p:sp>
            <p:nvSpPr>
              <p:cNvPr id="1997" name="Line"/>
              <p:cNvSpPr/>
              <p:nvPr/>
            </p:nvSpPr>
            <p:spPr>
              <a:xfrm>
                <a:off x="1531797" y="3770611"/>
                <a:ext cx="3248419" cy="1"/>
              </a:xfrm>
              <a:prstGeom prst="line">
                <a:avLst/>
              </a:prstGeom>
              <a:noFill/>
              <a:ln w="25400" cap="flat">
                <a:solidFill>
                  <a:srgbClr val="81A48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pic>
            <p:nvPicPr>
              <p:cNvPr id="1998" name="illustration-of-dna-scientist-in-medical-laboratory.jpg" descr="illustration-of-dna-scientist-in-medical-laboratory.jpg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2403820" y="0"/>
                <a:ext cx="4727851" cy="316175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999" name="standard_sentraldogmaet.png" descr="standard_sentraldogmaet.png"/>
              <p:cNvPicPr>
                <a:picLocks noChangeAspect="1"/>
              </p:cNvPicPr>
              <p:nvPr/>
            </p:nvPicPr>
            <p:blipFill>
              <a:blip r:embed="rId4"/>
              <a:srcRect l="29643" r="18700" b="23062"/>
              <a:stretch>
                <a:fillRect/>
              </a:stretch>
            </p:blipFill>
            <p:spPr>
              <a:xfrm>
                <a:off x="1510270" y="1213575"/>
                <a:ext cx="3107777" cy="231440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000" name="Rectangle"/>
              <p:cNvSpPr/>
              <p:nvPr/>
            </p:nvSpPr>
            <p:spPr>
              <a:xfrm>
                <a:off x="1496702" y="3054975"/>
                <a:ext cx="3113695" cy="21298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1" name="Rectangle"/>
              <p:cNvSpPr/>
              <p:nvPr/>
            </p:nvSpPr>
            <p:spPr>
              <a:xfrm>
                <a:off x="1400033" y="2838500"/>
                <a:ext cx="158506" cy="21298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2" name="Rectangle"/>
              <p:cNvSpPr/>
              <p:nvPr/>
            </p:nvSpPr>
            <p:spPr>
              <a:xfrm>
                <a:off x="1400033" y="2068916"/>
                <a:ext cx="158506" cy="2129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3" name="Rectangle"/>
              <p:cNvSpPr/>
              <p:nvPr/>
            </p:nvSpPr>
            <p:spPr>
              <a:xfrm>
                <a:off x="1376965" y="1501373"/>
                <a:ext cx="158506" cy="17282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4" name="Circle"/>
              <p:cNvSpPr/>
              <p:nvPr/>
            </p:nvSpPr>
            <p:spPr>
              <a:xfrm>
                <a:off x="2184922" y="3583083"/>
                <a:ext cx="343302" cy="345745"/>
              </a:xfrm>
              <a:prstGeom prst="ellipse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5" name="Circle"/>
              <p:cNvSpPr/>
              <p:nvPr/>
            </p:nvSpPr>
            <p:spPr>
              <a:xfrm>
                <a:off x="2699675" y="3583083"/>
                <a:ext cx="343302" cy="345745"/>
              </a:xfrm>
              <a:prstGeom prst="ellipse">
                <a:avLst/>
              </a:prstGeom>
              <a:solidFill>
                <a:srgbClr val="30525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6" name="Circle"/>
              <p:cNvSpPr/>
              <p:nvPr/>
            </p:nvSpPr>
            <p:spPr>
              <a:xfrm>
                <a:off x="3214428" y="3583083"/>
                <a:ext cx="343301" cy="345745"/>
              </a:xfrm>
              <a:prstGeom prst="ellipse">
                <a:avLst/>
              </a:prstGeom>
              <a:solidFill>
                <a:srgbClr val="4B797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7" name="Circle"/>
              <p:cNvSpPr/>
              <p:nvPr/>
            </p:nvSpPr>
            <p:spPr>
              <a:xfrm>
                <a:off x="3729180" y="3583083"/>
                <a:ext cx="343302" cy="345745"/>
              </a:xfrm>
              <a:prstGeom prst="ellipse">
                <a:avLst/>
              </a:prstGeom>
              <a:solidFill>
                <a:srgbClr val="86AB8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8" name="Circle"/>
              <p:cNvSpPr/>
              <p:nvPr/>
            </p:nvSpPr>
            <p:spPr>
              <a:xfrm>
                <a:off x="4243933" y="3583083"/>
                <a:ext cx="343301" cy="345745"/>
              </a:xfrm>
              <a:prstGeom prst="ellipse">
                <a:avLst/>
              </a:prstGeom>
              <a:solidFill>
                <a:srgbClr val="355B6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09" name="Circle"/>
              <p:cNvSpPr/>
              <p:nvPr/>
            </p:nvSpPr>
            <p:spPr>
              <a:xfrm>
                <a:off x="1670170" y="3583083"/>
                <a:ext cx="343301" cy="345745"/>
              </a:xfrm>
              <a:prstGeom prst="ellipse">
                <a:avLst/>
              </a:prstGeom>
              <a:solidFill>
                <a:srgbClr val="436C6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grpSp>
            <p:nvGrpSpPr>
              <p:cNvPr id="2019" name="Group"/>
              <p:cNvGrpSpPr/>
              <p:nvPr/>
            </p:nvGrpSpPr>
            <p:grpSpPr>
              <a:xfrm>
                <a:off x="-78714" y="1591443"/>
                <a:ext cx="1486141" cy="2365448"/>
                <a:chOff x="-163318" y="-94193"/>
                <a:chExt cx="1486140" cy="2365447"/>
              </a:xfrm>
            </p:grpSpPr>
            <p:sp>
              <p:nvSpPr>
                <p:cNvPr id="2010" name="DNA"/>
                <p:cNvSpPr txBox="1"/>
                <p:nvPr/>
              </p:nvSpPr>
              <p:spPr>
                <a:xfrm>
                  <a:off x="196246" y="-94194"/>
                  <a:ext cx="796383" cy="4561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>
                    <a:lnSpc>
                      <a:spcPct val="140000"/>
                    </a:lnSpc>
                    <a:defRPr sz="2400">
                      <a:solidFill>
                        <a:srgbClr val="374556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t>DNA</a:t>
                  </a:r>
                </a:p>
              </p:txBody>
            </p:sp>
            <p:sp>
              <p:nvSpPr>
                <p:cNvPr id="2011" name="RNA"/>
                <p:cNvSpPr txBox="1"/>
                <p:nvPr/>
              </p:nvSpPr>
              <p:spPr>
                <a:xfrm>
                  <a:off x="185722" y="866003"/>
                  <a:ext cx="788059" cy="48256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>
                    <a:lnSpc>
                      <a:spcPct val="140000"/>
                    </a:lnSpc>
                    <a:defRPr sz="2400">
                      <a:solidFill>
                        <a:srgbClr val="374556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t>RNA</a:t>
                  </a:r>
                </a:p>
              </p:txBody>
            </p:sp>
            <p:sp>
              <p:nvSpPr>
                <p:cNvPr id="2012" name="PROTEIN"/>
                <p:cNvSpPr txBox="1"/>
                <p:nvPr/>
              </p:nvSpPr>
              <p:spPr>
                <a:xfrm>
                  <a:off x="-163319" y="1852591"/>
                  <a:ext cx="1486141" cy="418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>
                    <a:lnSpc>
                      <a:spcPct val="140000"/>
                    </a:lnSpc>
                    <a:defRPr sz="2400">
                      <a:solidFill>
                        <a:srgbClr val="374556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t>PROTEIN</a:t>
                  </a:r>
                </a:p>
              </p:txBody>
            </p:sp>
            <p:grpSp>
              <p:nvGrpSpPr>
                <p:cNvPr id="2015" name="Group"/>
                <p:cNvGrpSpPr/>
                <p:nvPr/>
              </p:nvGrpSpPr>
              <p:grpSpPr>
                <a:xfrm>
                  <a:off x="492549" y="426326"/>
                  <a:ext cx="174406" cy="365220"/>
                  <a:chOff x="-6439" y="0"/>
                  <a:chExt cx="174404" cy="365219"/>
                </a:xfrm>
              </p:grpSpPr>
              <p:sp>
                <p:nvSpPr>
                  <p:cNvPr id="2013" name="Line"/>
                  <p:cNvSpPr/>
                  <p:nvPr/>
                </p:nvSpPr>
                <p:spPr>
                  <a:xfrm flipV="1">
                    <a:off x="82933" y="-1"/>
                    <a:ext cx="1" cy="313889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374556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296" name="Connection Line"/>
                  <p:cNvSpPr/>
                  <p:nvPr/>
                </p:nvSpPr>
                <p:spPr>
                  <a:xfrm>
                    <a:off x="-6440" y="256079"/>
                    <a:ext cx="174406" cy="10914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16207" extrusionOk="0">
                        <a:moveTo>
                          <a:pt x="21600" y="0"/>
                        </a:moveTo>
                        <a:cubicBezTo>
                          <a:pt x="15875" y="21169"/>
                          <a:pt x="8675" y="21600"/>
                          <a:pt x="0" y="1292"/>
                        </a:cubicBezTo>
                      </a:path>
                    </a:pathLst>
                  </a:custGeom>
                  <a:noFill/>
                  <a:ln w="25400" cap="flat">
                    <a:solidFill>
                      <a:srgbClr val="374556"/>
                    </a:solidFill>
                    <a:prstDash val="solid"/>
                    <a:miter lim="400000"/>
                  </a:ln>
                  <a:effectLst/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  <p:grpSp>
              <p:nvGrpSpPr>
                <p:cNvPr id="2018" name="Group"/>
                <p:cNvGrpSpPr/>
                <p:nvPr/>
              </p:nvGrpSpPr>
              <p:grpSpPr>
                <a:xfrm>
                  <a:off x="494535" y="1388606"/>
                  <a:ext cx="174405" cy="365220"/>
                  <a:chOff x="-6439" y="0"/>
                  <a:chExt cx="174404" cy="365219"/>
                </a:xfrm>
              </p:grpSpPr>
              <p:sp>
                <p:nvSpPr>
                  <p:cNvPr id="2016" name="Line"/>
                  <p:cNvSpPr/>
                  <p:nvPr/>
                </p:nvSpPr>
                <p:spPr>
                  <a:xfrm flipV="1">
                    <a:off x="82933" y="-1"/>
                    <a:ext cx="1" cy="313889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374556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297" name="Connection Line"/>
                  <p:cNvSpPr/>
                  <p:nvPr/>
                </p:nvSpPr>
                <p:spPr>
                  <a:xfrm>
                    <a:off x="-6440" y="256079"/>
                    <a:ext cx="174406" cy="10914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16207" extrusionOk="0">
                        <a:moveTo>
                          <a:pt x="21600" y="0"/>
                        </a:moveTo>
                        <a:cubicBezTo>
                          <a:pt x="15875" y="21169"/>
                          <a:pt x="8675" y="21600"/>
                          <a:pt x="0" y="1292"/>
                        </a:cubicBezTo>
                      </a:path>
                    </a:pathLst>
                  </a:custGeom>
                  <a:noFill/>
                  <a:ln w="25400" cap="flat">
                    <a:solidFill>
                      <a:srgbClr val="374556"/>
                    </a:solidFill>
                    <a:prstDash val="solid"/>
                    <a:miter lim="400000"/>
                  </a:ln>
                  <a:effectLst/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</p:grpSp>
        <p:sp>
          <p:nvSpPr>
            <p:cNvPr id="2021" name="Line"/>
            <p:cNvSpPr/>
            <p:nvPr/>
          </p:nvSpPr>
          <p:spPr>
            <a:xfrm rot="1140000">
              <a:off x="6210015" y="5607289"/>
              <a:ext cx="269429" cy="232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1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CBC8EE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2" name="Line"/>
            <p:cNvSpPr/>
            <p:nvPr/>
          </p:nvSpPr>
          <p:spPr>
            <a:xfrm rot="7380000">
              <a:off x="6191029" y="5616468"/>
              <a:ext cx="277750" cy="226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4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CBC8EE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3" name="Line"/>
            <p:cNvSpPr/>
            <p:nvPr/>
          </p:nvSpPr>
          <p:spPr>
            <a:xfrm flipV="1">
              <a:off x="5333438" y="6142220"/>
              <a:ext cx="1" cy="1212733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4" name="Line"/>
            <p:cNvSpPr/>
            <p:nvPr/>
          </p:nvSpPr>
          <p:spPr>
            <a:xfrm flipV="1">
              <a:off x="5504361" y="6526009"/>
              <a:ext cx="1" cy="82894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5" name="Line"/>
            <p:cNvSpPr/>
            <p:nvPr/>
          </p:nvSpPr>
          <p:spPr>
            <a:xfrm flipV="1">
              <a:off x="5551525" y="6677572"/>
              <a:ext cx="1" cy="67738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6" name="Line"/>
            <p:cNvSpPr/>
            <p:nvPr/>
          </p:nvSpPr>
          <p:spPr>
            <a:xfrm flipV="1">
              <a:off x="5842975" y="6892888"/>
              <a:ext cx="1" cy="469198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7" name="Line"/>
            <p:cNvSpPr/>
            <p:nvPr/>
          </p:nvSpPr>
          <p:spPr>
            <a:xfrm flipV="1">
              <a:off x="5796193" y="6728125"/>
              <a:ext cx="1" cy="626829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8" name="Line"/>
            <p:cNvSpPr/>
            <p:nvPr/>
          </p:nvSpPr>
          <p:spPr>
            <a:xfrm flipV="1">
              <a:off x="6249394" y="6613793"/>
              <a:ext cx="1" cy="741160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29" name="Line"/>
            <p:cNvSpPr/>
            <p:nvPr/>
          </p:nvSpPr>
          <p:spPr>
            <a:xfrm flipV="1">
              <a:off x="6338430" y="5951689"/>
              <a:ext cx="1" cy="140326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0" name="Line"/>
            <p:cNvSpPr/>
            <p:nvPr/>
          </p:nvSpPr>
          <p:spPr>
            <a:xfrm flipV="1">
              <a:off x="6594027" y="6900021"/>
              <a:ext cx="1" cy="454933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1" name="Line"/>
            <p:cNvSpPr/>
            <p:nvPr/>
          </p:nvSpPr>
          <p:spPr>
            <a:xfrm flipV="1">
              <a:off x="6641523" y="6526009"/>
              <a:ext cx="1" cy="82894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2" name="Line"/>
            <p:cNvSpPr/>
            <p:nvPr/>
          </p:nvSpPr>
          <p:spPr>
            <a:xfrm flipV="1">
              <a:off x="6689018" y="6973649"/>
              <a:ext cx="1" cy="381305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3" name="Line"/>
            <p:cNvSpPr/>
            <p:nvPr/>
          </p:nvSpPr>
          <p:spPr>
            <a:xfrm flipV="1">
              <a:off x="7091128" y="6618743"/>
              <a:ext cx="1" cy="736210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4" name="Line"/>
            <p:cNvSpPr/>
            <p:nvPr/>
          </p:nvSpPr>
          <p:spPr>
            <a:xfrm flipV="1">
              <a:off x="7139419" y="6339203"/>
              <a:ext cx="1" cy="1015750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5" name="Line"/>
            <p:cNvSpPr/>
            <p:nvPr/>
          </p:nvSpPr>
          <p:spPr>
            <a:xfrm flipV="1">
              <a:off x="7186768" y="5951689"/>
              <a:ext cx="1" cy="140326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6" name="Line"/>
            <p:cNvSpPr/>
            <p:nvPr/>
          </p:nvSpPr>
          <p:spPr>
            <a:xfrm flipV="1">
              <a:off x="7412985" y="6283946"/>
              <a:ext cx="1" cy="106778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7" name="Line"/>
            <p:cNvSpPr/>
            <p:nvPr/>
          </p:nvSpPr>
          <p:spPr>
            <a:xfrm flipV="1">
              <a:off x="5749166" y="6677572"/>
              <a:ext cx="1" cy="67738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8" name="Line"/>
            <p:cNvSpPr/>
            <p:nvPr/>
          </p:nvSpPr>
          <p:spPr>
            <a:xfrm rot="1140000">
              <a:off x="5618824" y="6353177"/>
              <a:ext cx="269428" cy="232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1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8783CA">
                  <a:alpha val="80000"/>
                </a:srgbClr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39" name="Line"/>
            <p:cNvSpPr/>
            <p:nvPr/>
          </p:nvSpPr>
          <p:spPr>
            <a:xfrm rot="7380000">
              <a:off x="5599838" y="6362356"/>
              <a:ext cx="277750" cy="226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5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8783CA">
                  <a:alpha val="80000"/>
                </a:srgbClr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0" name="Line"/>
            <p:cNvSpPr/>
            <p:nvPr/>
          </p:nvSpPr>
          <p:spPr>
            <a:xfrm rot="1140000">
              <a:off x="5205713" y="5795719"/>
              <a:ext cx="269428" cy="232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2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87A6CF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1" name="Line"/>
            <p:cNvSpPr/>
            <p:nvPr/>
          </p:nvSpPr>
          <p:spPr>
            <a:xfrm rot="7380000">
              <a:off x="5186727" y="5804898"/>
              <a:ext cx="277750" cy="226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5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87A6CF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2" name="Line"/>
            <p:cNvSpPr/>
            <p:nvPr/>
          </p:nvSpPr>
          <p:spPr>
            <a:xfrm rot="1140000">
              <a:off x="5379061" y="6191348"/>
              <a:ext cx="269428" cy="232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2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4F8ECD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3" name="Line"/>
            <p:cNvSpPr/>
            <p:nvPr/>
          </p:nvSpPr>
          <p:spPr>
            <a:xfrm rot="7380000">
              <a:off x="5360075" y="6200526"/>
              <a:ext cx="277750" cy="226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5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4F8ECD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4" name="Line"/>
            <p:cNvSpPr/>
            <p:nvPr/>
          </p:nvSpPr>
          <p:spPr>
            <a:xfrm rot="1140000">
              <a:off x="6516226" y="6184214"/>
              <a:ext cx="269428" cy="232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1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B5B1E4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5" name="Line"/>
            <p:cNvSpPr/>
            <p:nvPr/>
          </p:nvSpPr>
          <p:spPr>
            <a:xfrm rot="7380000">
              <a:off x="6497241" y="6193392"/>
              <a:ext cx="277749" cy="226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4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B5B1E4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6" name="Line"/>
            <p:cNvSpPr/>
            <p:nvPr/>
          </p:nvSpPr>
          <p:spPr>
            <a:xfrm rot="1140000">
              <a:off x="7065474" y="5606925"/>
              <a:ext cx="269429" cy="232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1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7E9AE4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7" name="Line"/>
            <p:cNvSpPr/>
            <p:nvPr/>
          </p:nvSpPr>
          <p:spPr>
            <a:xfrm rot="7380000">
              <a:off x="7046489" y="5616104"/>
              <a:ext cx="277750" cy="226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4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7E9AE4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8" name="Line"/>
            <p:cNvSpPr/>
            <p:nvPr/>
          </p:nvSpPr>
          <p:spPr>
            <a:xfrm rot="1140000">
              <a:off x="7290155" y="5945513"/>
              <a:ext cx="269429" cy="232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9" h="21360" extrusionOk="0">
                  <a:moveTo>
                    <a:pt x="12277" y="0"/>
                  </a:moveTo>
                  <a:cubicBezTo>
                    <a:pt x="10277" y="2002"/>
                    <a:pt x="11734" y="6045"/>
                    <a:pt x="14267" y="5523"/>
                  </a:cubicBezTo>
                  <a:cubicBezTo>
                    <a:pt x="15305" y="5310"/>
                    <a:pt x="16206" y="4020"/>
                    <a:pt x="17228" y="4555"/>
                  </a:cubicBezTo>
                  <a:cubicBezTo>
                    <a:pt x="18813" y="5383"/>
                    <a:pt x="18326" y="8335"/>
                    <a:pt x="16613" y="8279"/>
                  </a:cubicBezTo>
                  <a:cubicBezTo>
                    <a:pt x="15198" y="8353"/>
                    <a:pt x="14123" y="9881"/>
                    <a:pt x="14243" y="11650"/>
                  </a:cubicBezTo>
                  <a:cubicBezTo>
                    <a:pt x="14292" y="12369"/>
                    <a:pt x="14558" y="13050"/>
                    <a:pt x="14539" y="13772"/>
                  </a:cubicBezTo>
                  <a:cubicBezTo>
                    <a:pt x="14488" y="15656"/>
                    <a:pt x="12882" y="16811"/>
                    <a:pt x="11548" y="15922"/>
                  </a:cubicBezTo>
                  <a:cubicBezTo>
                    <a:pt x="10432" y="15403"/>
                    <a:pt x="9609" y="14196"/>
                    <a:pt x="9375" y="12737"/>
                  </a:cubicBezTo>
                  <a:cubicBezTo>
                    <a:pt x="9264" y="12044"/>
                    <a:pt x="9297" y="11327"/>
                    <a:pt x="9470" y="10657"/>
                  </a:cubicBezTo>
                  <a:cubicBezTo>
                    <a:pt x="9874" y="9674"/>
                    <a:pt x="10585" y="8946"/>
                    <a:pt x="11435" y="8645"/>
                  </a:cubicBezTo>
                  <a:cubicBezTo>
                    <a:pt x="13279" y="7994"/>
                    <a:pt x="15206" y="9343"/>
                    <a:pt x="15738" y="11657"/>
                  </a:cubicBezTo>
                  <a:cubicBezTo>
                    <a:pt x="16147" y="12239"/>
                    <a:pt x="16689" y="12651"/>
                    <a:pt x="17289" y="12837"/>
                  </a:cubicBezTo>
                  <a:cubicBezTo>
                    <a:pt x="18086" y="13084"/>
                    <a:pt x="18926" y="12920"/>
                    <a:pt x="19620" y="12381"/>
                  </a:cubicBezTo>
                  <a:cubicBezTo>
                    <a:pt x="20599" y="11687"/>
                    <a:pt x="21186" y="10370"/>
                    <a:pt x="21147" y="8958"/>
                  </a:cubicBezTo>
                  <a:cubicBezTo>
                    <a:pt x="21102" y="7308"/>
                    <a:pt x="20226" y="5867"/>
                    <a:pt x="18966" y="5368"/>
                  </a:cubicBezTo>
                  <a:cubicBezTo>
                    <a:pt x="17808" y="4581"/>
                    <a:pt x="16512" y="4172"/>
                    <a:pt x="15199" y="4178"/>
                  </a:cubicBezTo>
                  <a:cubicBezTo>
                    <a:pt x="13353" y="4187"/>
                    <a:pt x="11572" y="5008"/>
                    <a:pt x="10170" y="6498"/>
                  </a:cubicBezTo>
                  <a:lnTo>
                    <a:pt x="6357" y="8021"/>
                  </a:lnTo>
                  <a:cubicBezTo>
                    <a:pt x="5434" y="8209"/>
                    <a:pt x="4520" y="8457"/>
                    <a:pt x="3619" y="8765"/>
                  </a:cubicBezTo>
                  <a:cubicBezTo>
                    <a:pt x="2128" y="9273"/>
                    <a:pt x="597" y="10097"/>
                    <a:pt x="132" y="11909"/>
                  </a:cubicBezTo>
                  <a:cubicBezTo>
                    <a:pt x="-414" y="14038"/>
                    <a:pt x="794" y="16256"/>
                    <a:pt x="2581" y="16406"/>
                  </a:cubicBezTo>
                  <a:cubicBezTo>
                    <a:pt x="3308" y="16673"/>
                    <a:pt x="4079" y="16674"/>
                    <a:pt x="4802" y="16408"/>
                  </a:cubicBezTo>
                  <a:cubicBezTo>
                    <a:pt x="5579" y="16123"/>
                    <a:pt x="6266" y="15544"/>
                    <a:pt x="6768" y="14751"/>
                  </a:cubicBezTo>
                  <a:cubicBezTo>
                    <a:pt x="7601" y="13662"/>
                    <a:pt x="7288" y="11856"/>
                    <a:pt x="6166" y="11281"/>
                  </a:cubicBezTo>
                  <a:cubicBezTo>
                    <a:pt x="5023" y="10695"/>
                    <a:pt x="3677" y="11961"/>
                    <a:pt x="2595" y="11116"/>
                  </a:cubicBezTo>
                  <a:cubicBezTo>
                    <a:pt x="1552" y="10300"/>
                    <a:pt x="1650" y="8409"/>
                    <a:pt x="2494" y="6940"/>
                  </a:cubicBezTo>
                  <a:cubicBezTo>
                    <a:pt x="3399" y="5365"/>
                    <a:pt x="4850" y="4439"/>
                    <a:pt x="6406" y="4470"/>
                  </a:cubicBezTo>
                  <a:cubicBezTo>
                    <a:pt x="7354" y="4486"/>
                    <a:pt x="8293" y="4717"/>
                    <a:pt x="9178" y="5151"/>
                  </a:cubicBezTo>
                  <a:cubicBezTo>
                    <a:pt x="10238" y="5670"/>
                    <a:pt x="11198" y="6469"/>
                    <a:pt x="11992" y="7493"/>
                  </a:cubicBezTo>
                  <a:cubicBezTo>
                    <a:pt x="12466" y="7961"/>
                    <a:pt x="12838" y="8543"/>
                    <a:pt x="13098" y="9187"/>
                  </a:cubicBezTo>
                  <a:cubicBezTo>
                    <a:pt x="13344" y="9800"/>
                    <a:pt x="13497" y="10489"/>
                    <a:pt x="13435" y="11203"/>
                  </a:cubicBezTo>
                  <a:cubicBezTo>
                    <a:pt x="13337" y="12333"/>
                    <a:pt x="12707" y="13276"/>
                    <a:pt x="11837" y="13594"/>
                  </a:cubicBezTo>
                  <a:cubicBezTo>
                    <a:pt x="10312" y="13620"/>
                    <a:pt x="8939" y="14732"/>
                    <a:pt x="8300" y="16459"/>
                  </a:cubicBezTo>
                  <a:cubicBezTo>
                    <a:pt x="8011" y="17239"/>
                    <a:pt x="7896" y="18104"/>
                    <a:pt x="7968" y="18962"/>
                  </a:cubicBezTo>
                  <a:cubicBezTo>
                    <a:pt x="8148" y="19751"/>
                    <a:pt x="8558" y="20428"/>
                    <a:pt x="9118" y="20857"/>
                  </a:cubicBezTo>
                  <a:cubicBezTo>
                    <a:pt x="10085" y="21600"/>
                    <a:pt x="11314" y="21513"/>
                    <a:pt x="12198" y="20640"/>
                  </a:cubicBezTo>
                  <a:lnTo>
                    <a:pt x="13758" y="18333"/>
                  </a:lnTo>
                  <a:cubicBezTo>
                    <a:pt x="14129" y="17597"/>
                    <a:pt x="14648" y="16996"/>
                    <a:pt x="15262" y="16589"/>
                  </a:cubicBezTo>
                  <a:cubicBezTo>
                    <a:pt x="16091" y="16040"/>
                    <a:pt x="17041" y="15873"/>
                    <a:pt x="17979" y="15961"/>
                  </a:cubicBezTo>
                  <a:cubicBezTo>
                    <a:pt x="18952" y="16052"/>
                    <a:pt x="19898" y="16413"/>
                    <a:pt x="20749" y="17017"/>
                  </a:cubicBezTo>
                </a:path>
              </a:pathLst>
            </a:custGeom>
            <a:noFill/>
            <a:ln w="19050" cap="flat">
              <a:solidFill>
                <a:srgbClr val="928DEF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49" name="Line"/>
            <p:cNvSpPr/>
            <p:nvPr/>
          </p:nvSpPr>
          <p:spPr>
            <a:xfrm rot="7380000">
              <a:off x="7271170" y="5954692"/>
              <a:ext cx="277750" cy="226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353" extrusionOk="0">
                  <a:moveTo>
                    <a:pt x="12411" y="0"/>
                  </a:moveTo>
                  <a:cubicBezTo>
                    <a:pt x="10391" y="2034"/>
                    <a:pt x="11795" y="6044"/>
                    <a:pt x="14329" y="5477"/>
                  </a:cubicBezTo>
                  <a:cubicBezTo>
                    <a:pt x="15367" y="5245"/>
                    <a:pt x="16282" y="3942"/>
                    <a:pt x="17295" y="4457"/>
                  </a:cubicBezTo>
                  <a:cubicBezTo>
                    <a:pt x="18867" y="5255"/>
                    <a:pt x="18345" y="8211"/>
                    <a:pt x="16636" y="8186"/>
                  </a:cubicBezTo>
                  <a:cubicBezTo>
                    <a:pt x="15223" y="8285"/>
                    <a:pt x="14132" y="9830"/>
                    <a:pt x="14230" y="11593"/>
                  </a:cubicBezTo>
                  <a:cubicBezTo>
                    <a:pt x="14269" y="12309"/>
                    <a:pt x="14527" y="12985"/>
                    <a:pt x="14499" y="13706"/>
                  </a:cubicBezTo>
                  <a:cubicBezTo>
                    <a:pt x="14425" y="15587"/>
                    <a:pt x="12808" y="16769"/>
                    <a:pt x="11488" y="15906"/>
                  </a:cubicBezTo>
                  <a:cubicBezTo>
                    <a:pt x="10381" y="15408"/>
                    <a:pt x="9574" y="14218"/>
                    <a:pt x="9359" y="12766"/>
                  </a:cubicBezTo>
                  <a:cubicBezTo>
                    <a:pt x="9256" y="12076"/>
                    <a:pt x="9298" y="11360"/>
                    <a:pt x="9479" y="10688"/>
                  </a:cubicBezTo>
                  <a:cubicBezTo>
                    <a:pt x="9894" y="9699"/>
                    <a:pt x="10612" y="8960"/>
                    <a:pt x="11465" y="8644"/>
                  </a:cubicBezTo>
                  <a:cubicBezTo>
                    <a:pt x="13312" y="7961"/>
                    <a:pt x="15219" y="9273"/>
                    <a:pt x="15721" y="11573"/>
                  </a:cubicBezTo>
                  <a:cubicBezTo>
                    <a:pt x="16123" y="12146"/>
                    <a:pt x="16658" y="12547"/>
                    <a:pt x="17254" y="12722"/>
                  </a:cubicBezTo>
                  <a:cubicBezTo>
                    <a:pt x="18047" y="12955"/>
                    <a:pt x="18888" y="12776"/>
                    <a:pt x="19587" y="12226"/>
                  </a:cubicBezTo>
                  <a:cubicBezTo>
                    <a:pt x="20572" y="11515"/>
                    <a:pt x="21174" y="10190"/>
                    <a:pt x="21153" y="8781"/>
                  </a:cubicBezTo>
                  <a:cubicBezTo>
                    <a:pt x="21127" y="7135"/>
                    <a:pt x="20271" y="5712"/>
                    <a:pt x="19020" y="5237"/>
                  </a:cubicBezTo>
                  <a:cubicBezTo>
                    <a:pt x="17874" y="4473"/>
                    <a:pt x="16586" y="4088"/>
                    <a:pt x="15275" y="4118"/>
                  </a:cubicBezTo>
                  <a:cubicBezTo>
                    <a:pt x="13433" y="4160"/>
                    <a:pt x="11646" y="5012"/>
                    <a:pt x="10229" y="6524"/>
                  </a:cubicBezTo>
                  <a:lnTo>
                    <a:pt x="6405" y="8113"/>
                  </a:lnTo>
                  <a:cubicBezTo>
                    <a:pt x="5481" y="8318"/>
                    <a:pt x="4566" y="8582"/>
                    <a:pt x="3663" y="8905"/>
                  </a:cubicBezTo>
                  <a:cubicBezTo>
                    <a:pt x="2169" y="9440"/>
                    <a:pt x="631" y="10290"/>
                    <a:pt x="145" y="12107"/>
                  </a:cubicBezTo>
                  <a:cubicBezTo>
                    <a:pt x="-426" y="14242"/>
                    <a:pt x="752" y="16434"/>
                    <a:pt x="2534" y="16551"/>
                  </a:cubicBezTo>
                  <a:cubicBezTo>
                    <a:pt x="3256" y="16805"/>
                    <a:pt x="4025" y="16792"/>
                    <a:pt x="4750" y="16513"/>
                  </a:cubicBezTo>
                  <a:cubicBezTo>
                    <a:pt x="5529" y="16215"/>
                    <a:pt x="6222" y="15624"/>
                    <a:pt x="6732" y="14823"/>
                  </a:cubicBezTo>
                  <a:cubicBezTo>
                    <a:pt x="7577" y="13722"/>
                    <a:pt x="7287" y="11924"/>
                    <a:pt x="6174" y="11371"/>
                  </a:cubicBezTo>
                  <a:cubicBezTo>
                    <a:pt x="5041" y="10807"/>
                    <a:pt x="3682" y="12095"/>
                    <a:pt x="2613" y="11271"/>
                  </a:cubicBezTo>
                  <a:cubicBezTo>
                    <a:pt x="1582" y="10476"/>
                    <a:pt x="1702" y="8586"/>
                    <a:pt x="2563" y="7105"/>
                  </a:cubicBezTo>
                  <a:cubicBezTo>
                    <a:pt x="3486" y="5516"/>
                    <a:pt x="4945" y="4565"/>
                    <a:pt x="6497" y="4568"/>
                  </a:cubicBezTo>
                  <a:cubicBezTo>
                    <a:pt x="7443" y="4567"/>
                    <a:pt x="8377" y="4780"/>
                    <a:pt x="9255" y="5197"/>
                  </a:cubicBezTo>
                  <a:cubicBezTo>
                    <a:pt x="10307" y="5697"/>
                    <a:pt x="11254" y="6477"/>
                    <a:pt x="12034" y="7484"/>
                  </a:cubicBezTo>
                  <a:cubicBezTo>
                    <a:pt x="12502" y="7943"/>
                    <a:pt x="12866" y="8517"/>
                    <a:pt x="13117" y="9156"/>
                  </a:cubicBezTo>
                  <a:cubicBezTo>
                    <a:pt x="13355" y="9762"/>
                    <a:pt x="13500" y="10448"/>
                    <a:pt x="13429" y="11161"/>
                  </a:cubicBezTo>
                  <a:cubicBezTo>
                    <a:pt x="13318" y="12291"/>
                    <a:pt x="12678" y="13243"/>
                    <a:pt x="11805" y="13577"/>
                  </a:cubicBezTo>
                  <a:cubicBezTo>
                    <a:pt x="10283" y="13630"/>
                    <a:pt x="8899" y="14765"/>
                    <a:pt x="8240" y="16501"/>
                  </a:cubicBezTo>
                  <a:cubicBezTo>
                    <a:pt x="7942" y="17284"/>
                    <a:pt x="7817" y="18150"/>
                    <a:pt x="7878" y="19005"/>
                  </a:cubicBezTo>
                  <a:cubicBezTo>
                    <a:pt x="8048" y="19789"/>
                    <a:pt x="8449" y="20458"/>
                    <a:pt x="9002" y="20876"/>
                  </a:cubicBezTo>
                  <a:cubicBezTo>
                    <a:pt x="9958" y="21600"/>
                    <a:pt x="11186" y="21491"/>
                    <a:pt x="12078" y="20604"/>
                  </a:cubicBezTo>
                  <a:lnTo>
                    <a:pt x="13664" y="18273"/>
                  </a:lnTo>
                  <a:cubicBezTo>
                    <a:pt x="14043" y="17531"/>
                    <a:pt x="14568" y="16922"/>
                    <a:pt x="15187" y="16504"/>
                  </a:cubicBezTo>
                  <a:cubicBezTo>
                    <a:pt x="16020" y="15941"/>
                    <a:pt x="16970" y="15757"/>
                    <a:pt x="17905" y="15828"/>
                  </a:cubicBezTo>
                  <a:cubicBezTo>
                    <a:pt x="18875" y="15902"/>
                    <a:pt x="19814" y="16245"/>
                    <a:pt x="20656" y="16833"/>
                  </a:cubicBezTo>
                </a:path>
              </a:pathLst>
            </a:custGeom>
            <a:noFill/>
            <a:ln w="19050" cap="flat">
              <a:solidFill>
                <a:srgbClr val="928DEF"/>
              </a:solidFill>
              <a:prstDash val="solid"/>
              <a:miter lim="400000"/>
            </a:ln>
            <a:effectLst>
              <a:outerShdw blurRad="50800" dist="101600" dir="5400000" rotWithShape="0">
                <a:srgbClr val="000000">
                  <a:alpha val="2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0" name="Line"/>
            <p:cNvSpPr/>
            <p:nvPr/>
          </p:nvSpPr>
          <p:spPr>
            <a:xfrm flipV="1">
              <a:off x="5333438" y="6142220"/>
              <a:ext cx="1" cy="1212733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1" name="Line"/>
            <p:cNvSpPr/>
            <p:nvPr/>
          </p:nvSpPr>
          <p:spPr>
            <a:xfrm flipV="1">
              <a:off x="5504361" y="6526009"/>
              <a:ext cx="1" cy="82894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2" name="Line"/>
            <p:cNvSpPr/>
            <p:nvPr/>
          </p:nvSpPr>
          <p:spPr>
            <a:xfrm flipV="1">
              <a:off x="5551525" y="6677572"/>
              <a:ext cx="1" cy="67738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3" name="Line"/>
            <p:cNvSpPr/>
            <p:nvPr/>
          </p:nvSpPr>
          <p:spPr>
            <a:xfrm flipV="1">
              <a:off x="5842975" y="6892888"/>
              <a:ext cx="1" cy="469198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4" name="Line"/>
            <p:cNvSpPr/>
            <p:nvPr/>
          </p:nvSpPr>
          <p:spPr>
            <a:xfrm flipV="1">
              <a:off x="5796193" y="6728125"/>
              <a:ext cx="1" cy="626829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5" name="Line"/>
            <p:cNvSpPr/>
            <p:nvPr/>
          </p:nvSpPr>
          <p:spPr>
            <a:xfrm flipV="1">
              <a:off x="6249394" y="6613793"/>
              <a:ext cx="1" cy="741160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6" name="Line"/>
            <p:cNvSpPr/>
            <p:nvPr/>
          </p:nvSpPr>
          <p:spPr>
            <a:xfrm flipV="1">
              <a:off x="6338430" y="5951689"/>
              <a:ext cx="1" cy="140326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7" name="Line"/>
            <p:cNvSpPr/>
            <p:nvPr/>
          </p:nvSpPr>
          <p:spPr>
            <a:xfrm flipV="1">
              <a:off x="6594027" y="6900021"/>
              <a:ext cx="1" cy="454933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8" name="Line"/>
            <p:cNvSpPr/>
            <p:nvPr/>
          </p:nvSpPr>
          <p:spPr>
            <a:xfrm flipV="1">
              <a:off x="6641523" y="6526009"/>
              <a:ext cx="1" cy="82894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59" name="Line"/>
            <p:cNvSpPr/>
            <p:nvPr/>
          </p:nvSpPr>
          <p:spPr>
            <a:xfrm flipV="1">
              <a:off x="6689018" y="6973649"/>
              <a:ext cx="1" cy="381305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60" name="Line"/>
            <p:cNvSpPr/>
            <p:nvPr/>
          </p:nvSpPr>
          <p:spPr>
            <a:xfrm flipV="1">
              <a:off x="7091128" y="6618743"/>
              <a:ext cx="1" cy="736210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61" name="Line"/>
            <p:cNvSpPr/>
            <p:nvPr/>
          </p:nvSpPr>
          <p:spPr>
            <a:xfrm flipV="1">
              <a:off x="7139419" y="6339203"/>
              <a:ext cx="1" cy="1015750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62" name="Line"/>
            <p:cNvSpPr/>
            <p:nvPr/>
          </p:nvSpPr>
          <p:spPr>
            <a:xfrm flipV="1">
              <a:off x="7186768" y="5951689"/>
              <a:ext cx="1" cy="1403264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63" name="Line"/>
            <p:cNvSpPr/>
            <p:nvPr/>
          </p:nvSpPr>
          <p:spPr>
            <a:xfrm flipV="1">
              <a:off x="7412985" y="6283946"/>
              <a:ext cx="1" cy="106778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64" name="Line"/>
            <p:cNvSpPr/>
            <p:nvPr/>
          </p:nvSpPr>
          <p:spPr>
            <a:xfrm flipV="1">
              <a:off x="5749166" y="6677572"/>
              <a:ext cx="1" cy="67738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065" name="PROTEOMICS DATA"/>
            <p:cNvSpPr txBox="1"/>
            <p:nvPr/>
          </p:nvSpPr>
          <p:spPr>
            <a:xfrm>
              <a:off x="5281490" y="4743306"/>
              <a:ext cx="2161523" cy="464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40000"/>
                </a:lnSpc>
                <a:defRPr sz="24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PROTEOMICS DATA</a:t>
              </a:r>
            </a:p>
          </p:txBody>
        </p:sp>
        <p:grpSp>
          <p:nvGrpSpPr>
            <p:cNvPr id="2110" name="Group"/>
            <p:cNvGrpSpPr/>
            <p:nvPr/>
          </p:nvGrpSpPr>
          <p:grpSpPr>
            <a:xfrm>
              <a:off x="250955" y="6596171"/>
              <a:ext cx="3220509" cy="602622"/>
              <a:chOff x="0" y="0"/>
              <a:chExt cx="3220507" cy="602621"/>
            </a:xfrm>
          </p:grpSpPr>
          <p:sp>
            <p:nvSpPr>
              <p:cNvPr id="2066" name="Line"/>
              <p:cNvSpPr/>
              <p:nvPr/>
            </p:nvSpPr>
            <p:spPr>
              <a:xfrm>
                <a:off x="0" y="556150"/>
                <a:ext cx="3220508" cy="1"/>
              </a:xfrm>
              <a:prstGeom prst="line">
                <a:avLst/>
              </a:prstGeom>
              <a:noFill/>
              <a:ln w="63500" cap="flat">
                <a:solidFill>
                  <a:srgbClr val="374556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67" name="Rectangle"/>
              <p:cNvSpPr/>
              <p:nvPr/>
            </p:nvSpPr>
            <p:spPr>
              <a:xfrm>
                <a:off x="60064" y="355983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68" name="Rectangle"/>
              <p:cNvSpPr/>
              <p:nvPr/>
            </p:nvSpPr>
            <p:spPr>
              <a:xfrm>
                <a:off x="307207" y="353497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69" name="Rectangle"/>
              <p:cNvSpPr/>
              <p:nvPr/>
            </p:nvSpPr>
            <p:spPr>
              <a:xfrm>
                <a:off x="137409" y="239641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0" name="Rectangle"/>
              <p:cNvSpPr/>
              <p:nvPr/>
            </p:nvSpPr>
            <p:spPr>
              <a:xfrm>
                <a:off x="437413" y="236611"/>
                <a:ext cx="94144" cy="68509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1" name="Rectangle"/>
              <p:cNvSpPr/>
              <p:nvPr/>
            </p:nvSpPr>
            <p:spPr>
              <a:xfrm>
                <a:off x="1594333" y="359408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2" name="Rectangle"/>
              <p:cNvSpPr/>
              <p:nvPr/>
            </p:nvSpPr>
            <p:spPr>
              <a:xfrm>
                <a:off x="1853378" y="121918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3" name="Rectangle"/>
              <p:cNvSpPr/>
              <p:nvPr/>
            </p:nvSpPr>
            <p:spPr>
              <a:xfrm>
                <a:off x="3055887" y="355580"/>
                <a:ext cx="94144" cy="64341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4" name="Rectangle"/>
              <p:cNvSpPr/>
              <p:nvPr/>
            </p:nvSpPr>
            <p:spPr>
              <a:xfrm>
                <a:off x="2840460" y="239690"/>
                <a:ext cx="94143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5" name="Rectangle"/>
              <p:cNvSpPr/>
              <p:nvPr/>
            </p:nvSpPr>
            <p:spPr>
              <a:xfrm>
                <a:off x="2622617" y="355580"/>
                <a:ext cx="94144" cy="69313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6" name="Rectangle"/>
              <p:cNvSpPr/>
              <p:nvPr/>
            </p:nvSpPr>
            <p:spPr>
              <a:xfrm>
                <a:off x="2483828" y="239690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7" name="Rectangle"/>
              <p:cNvSpPr/>
              <p:nvPr/>
            </p:nvSpPr>
            <p:spPr>
              <a:xfrm>
                <a:off x="2824695" y="118414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8" name="Rectangle"/>
              <p:cNvSpPr/>
              <p:nvPr/>
            </p:nvSpPr>
            <p:spPr>
              <a:xfrm>
                <a:off x="1511721" y="123293"/>
                <a:ext cx="94915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79" name="Rectangle"/>
              <p:cNvSpPr/>
              <p:nvPr/>
            </p:nvSpPr>
            <p:spPr>
              <a:xfrm>
                <a:off x="1475265" y="239641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0" name="Rectangle"/>
              <p:cNvSpPr/>
              <p:nvPr/>
            </p:nvSpPr>
            <p:spPr>
              <a:xfrm>
                <a:off x="60064" y="501286"/>
                <a:ext cx="569847" cy="98704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374556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1" name="Rectangle"/>
              <p:cNvSpPr/>
              <p:nvPr/>
            </p:nvSpPr>
            <p:spPr>
              <a:xfrm>
                <a:off x="1275865" y="504937"/>
                <a:ext cx="701468" cy="92944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374556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2" name="Rectangle"/>
              <p:cNvSpPr/>
              <p:nvPr/>
            </p:nvSpPr>
            <p:spPr>
              <a:xfrm>
                <a:off x="2485331" y="509678"/>
                <a:ext cx="664678" cy="92944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374556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3" name="Rectangle"/>
              <p:cNvSpPr/>
              <p:nvPr/>
            </p:nvSpPr>
            <p:spPr>
              <a:xfrm>
                <a:off x="2540373" y="125833"/>
                <a:ext cx="94143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4" name="Rectangle"/>
              <p:cNvSpPr/>
              <p:nvPr/>
            </p:nvSpPr>
            <p:spPr>
              <a:xfrm>
                <a:off x="1812425" y="239641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5" name="Rectangle"/>
              <p:cNvSpPr/>
              <p:nvPr/>
            </p:nvSpPr>
            <p:spPr>
              <a:xfrm>
                <a:off x="1622254" y="3800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6" name="Rectangle"/>
              <p:cNvSpPr/>
              <p:nvPr/>
            </p:nvSpPr>
            <p:spPr>
              <a:xfrm>
                <a:off x="1828458" y="359456"/>
                <a:ext cx="94143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7" name="Rectangle"/>
              <p:cNvSpPr/>
              <p:nvPr/>
            </p:nvSpPr>
            <p:spPr>
              <a:xfrm>
                <a:off x="1680336" y="237078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8" name="Line"/>
              <p:cNvSpPr/>
              <p:nvPr/>
            </p:nvSpPr>
            <p:spPr>
              <a:xfrm flipV="1">
                <a:off x="667957" y="290407"/>
                <a:ext cx="223238" cy="105620"/>
              </a:xfrm>
              <a:prstGeom prst="line">
                <a:avLst/>
              </a:prstGeom>
              <a:noFill/>
              <a:ln w="12700" cap="flat">
                <a:solidFill>
                  <a:srgbClr val="79797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9" name="Line"/>
              <p:cNvSpPr/>
              <p:nvPr/>
            </p:nvSpPr>
            <p:spPr>
              <a:xfrm flipH="1" flipV="1">
                <a:off x="890439" y="290407"/>
                <a:ext cx="223239" cy="105620"/>
              </a:xfrm>
              <a:prstGeom prst="line">
                <a:avLst/>
              </a:prstGeom>
              <a:noFill/>
              <a:ln w="12700" cap="flat">
                <a:solidFill>
                  <a:srgbClr val="79797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0" name="Line"/>
              <p:cNvSpPr/>
              <p:nvPr/>
            </p:nvSpPr>
            <p:spPr>
              <a:xfrm flipV="1">
                <a:off x="2012680" y="290407"/>
                <a:ext cx="223239" cy="105620"/>
              </a:xfrm>
              <a:prstGeom prst="line">
                <a:avLst/>
              </a:prstGeom>
              <a:noFill/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1" name="Line"/>
              <p:cNvSpPr/>
              <p:nvPr/>
            </p:nvSpPr>
            <p:spPr>
              <a:xfrm flipH="1" flipV="1">
                <a:off x="2235163" y="290407"/>
                <a:ext cx="223239" cy="105620"/>
              </a:xfrm>
              <a:prstGeom prst="line">
                <a:avLst/>
              </a:prstGeom>
              <a:noFill/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2" name="Rectangle"/>
              <p:cNvSpPr/>
              <p:nvPr/>
            </p:nvSpPr>
            <p:spPr>
              <a:xfrm>
                <a:off x="317621" y="236611"/>
                <a:ext cx="94143" cy="68509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3" name="Rectangle"/>
              <p:cNvSpPr/>
              <p:nvPr/>
            </p:nvSpPr>
            <p:spPr>
              <a:xfrm>
                <a:off x="181523" y="355983"/>
                <a:ext cx="94143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4" name="Rectangle"/>
              <p:cNvSpPr/>
              <p:nvPr/>
            </p:nvSpPr>
            <p:spPr>
              <a:xfrm>
                <a:off x="422177" y="359768"/>
                <a:ext cx="94144" cy="68509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5" name="Rectangle"/>
              <p:cNvSpPr/>
              <p:nvPr/>
            </p:nvSpPr>
            <p:spPr>
              <a:xfrm>
                <a:off x="536997" y="359408"/>
                <a:ext cx="94143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6" name="Rectangle"/>
              <p:cNvSpPr/>
              <p:nvPr/>
            </p:nvSpPr>
            <p:spPr>
              <a:xfrm>
                <a:off x="1320642" y="359408"/>
                <a:ext cx="93530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7" name="Rectangle"/>
              <p:cNvSpPr/>
              <p:nvPr/>
            </p:nvSpPr>
            <p:spPr>
              <a:xfrm>
                <a:off x="1436787" y="359408"/>
                <a:ext cx="93531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8" name="Rectangle"/>
              <p:cNvSpPr/>
              <p:nvPr/>
            </p:nvSpPr>
            <p:spPr>
              <a:xfrm>
                <a:off x="1726582" y="355983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9" name="Rectangle"/>
              <p:cNvSpPr/>
              <p:nvPr/>
            </p:nvSpPr>
            <p:spPr>
              <a:xfrm>
                <a:off x="1372770" y="239641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0" name="Rectangle"/>
              <p:cNvSpPr/>
              <p:nvPr/>
            </p:nvSpPr>
            <p:spPr>
              <a:xfrm>
                <a:off x="1631304" y="121918"/>
                <a:ext cx="94916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1" name="Rectangle"/>
              <p:cNvSpPr/>
              <p:nvPr/>
            </p:nvSpPr>
            <p:spPr>
              <a:xfrm>
                <a:off x="1371887" y="912"/>
                <a:ext cx="94143" cy="68509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2" name="Rectangle"/>
              <p:cNvSpPr/>
              <p:nvPr/>
            </p:nvSpPr>
            <p:spPr>
              <a:xfrm>
                <a:off x="1477720" y="0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3" name="Rectangle"/>
              <p:cNvSpPr/>
              <p:nvPr/>
            </p:nvSpPr>
            <p:spPr>
              <a:xfrm>
                <a:off x="1798941" y="10222"/>
                <a:ext cx="94143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4" name="Rectangle"/>
              <p:cNvSpPr/>
              <p:nvPr/>
            </p:nvSpPr>
            <p:spPr>
              <a:xfrm>
                <a:off x="2684906" y="117560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5" name="Rectangle"/>
              <p:cNvSpPr/>
              <p:nvPr/>
            </p:nvSpPr>
            <p:spPr>
              <a:xfrm>
                <a:off x="2951089" y="236611"/>
                <a:ext cx="94143" cy="68509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6" name="Rectangle"/>
              <p:cNvSpPr/>
              <p:nvPr/>
            </p:nvSpPr>
            <p:spPr>
              <a:xfrm>
                <a:off x="2766490" y="359006"/>
                <a:ext cx="94143" cy="69313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7" name="Rectangle"/>
              <p:cNvSpPr/>
              <p:nvPr/>
            </p:nvSpPr>
            <p:spPr>
              <a:xfrm>
                <a:off x="2951089" y="355580"/>
                <a:ext cx="94143" cy="64341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8" name="Rectangle"/>
              <p:cNvSpPr/>
              <p:nvPr/>
            </p:nvSpPr>
            <p:spPr>
              <a:xfrm>
                <a:off x="2662144" y="239239"/>
                <a:ext cx="94144" cy="69313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9" name="Rectangle"/>
              <p:cNvSpPr/>
              <p:nvPr/>
            </p:nvSpPr>
            <p:spPr>
              <a:xfrm>
                <a:off x="1353843" y="121091"/>
                <a:ext cx="94144" cy="68508"/>
              </a:xfrm>
              <a:prstGeom prst="rect">
                <a:avLst/>
              </a:prstGeom>
              <a:solidFill>
                <a:srgbClr val="738DA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180" name="Group"/>
            <p:cNvGrpSpPr/>
            <p:nvPr/>
          </p:nvGrpSpPr>
          <p:grpSpPr>
            <a:xfrm>
              <a:off x="1204429" y="5503452"/>
              <a:ext cx="3220509" cy="886722"/>
              <a:chOff x="0" y="0"/>
              <a:chExt cx="3220507" cy="886721"/>
            </a:xfrm>
          </p:grpSpPr>
          <p:sp>
            <p:nvSpPr>
              <p:cNvPr id="2111" name="Line"/>
              <p:cNvSpPr/>
              <p:nvPr/>
            </p:nvSpPr>
            <p:spPr>
              <a:xfrm>
                <a:off x="-1" y="841207"/>
                <a:ext cx="3220509" cy="1"/>
              </a:xfrm>
              <a:prstGeom prst="line">
                <a:avLst/>
              </a:prstGeom>
              <a:noFill/>
              <a:ln w="63500" cap="flat">
                <a:solidFill>
                  <a:srgbClr val="374556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2" name="Rectangle"/>
              <p:cNvSpPr/>
              <p:nvPr/>
            </p:nvSpPr>
            <p:spPr>
              <a:xfrm>
                <a:off x="60064" y="645163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3" name="Rectangle"/>
              <p:cNvSpPr/>
              <p:nvPr/>
            </p:nvSpPr>
            <p:spPr>
              <a:xfrm>
                <a:off x="307207" y="642728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4" name="Rectangle"/>
              <p:cNvSpPr/>
              <p:nvPr/>
            </p:nvSpPr>
            <p:spPr>
              <a:xfrm>
                <a:off x="137409" y="531218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5" name="Rectangle"/>
              <p:cNvSpPr/>
              <p:nvPr/>
            </p:nvSpPr>
            <p:spPr>
              <a:xfrm>
                <a:off x="437413" y="528250"/>
                <a:ext cx="94144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6" name="Rectangle"/>
              <p:cNvSpPr/>
              <p:nvPr/>
            </p:nvSpPr>
            <p:spPr>
              <a:xfrm>
                <a:off x="478492" y="417265"/>
                <a:ext cx="94144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7" name="Rectangle"/>
              <p:cNvSpPr/>
              <p:nvPr/>
            </p:nvSpPr>
            <p:spPr>
              <a:xfrm>
                <a:off x="290580" y="411974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8" name="Rectangle"/>
              <p:cNvSpPr/>
              <p:nvPr/>
            </p:nvSpPr>
            <p:spPr>
              <a:xfrm>
                <a:off x="114981" y="297219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9" name="Rectangle"/>
              <p:cNvSpPr/>
              <p:nvPr/>
            </p:nvSpPr>
            <p:spPr>
              <a:xfrm>
                <a:off x="364488" y="296512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0" name="Rectangle"/>
              <p:cNvSpPr/>
              <p:nvPr/>
            </p:nvSpPr>
            <p:spPr>
              <a:xfrm>
                <a:off x="1169225" y="643305"/>
                <a:ext cx="93530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1" name="Rectangle"/>
              <p:cNvSpPr/>
              <p:nvPr/>
            </p:nvSpPr>
            <p:spPr>
              <a:xfrm>
                <a:off x="1594333" y="648517"/>
                <a:ext cx="94144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2" name="Rectangle"/>
              <p:cNvSpPr/>
              <p:nvPr/>
            </p:nvSpPr>
            <p:spPr>
              <a:xfrm>
                <a:off x="93314" y="182567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3" name="Rectangle"/>
              <p:cNvSpPr/>
              <p:nvPr/>
            </p:nvSpPr>
            <p:spPr>
              <a:xfrm>
                <a:off x="1251435" y="417265"/>
                <a:ext cx="94143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4" name="Rectangle"/>
              <p:cNvSpPr/>
              <p:nvPr/>
            </p:nvSpPr>
            <p:spPr>
              <a:xfrm>
                <a:off x="1853378" y="415919"/>
                <a:ext cx="94144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5" name="Rectangle"/>
              <p:cNvSpPr/>
              <p:nvPr/>
            </p:nvSpPr>
            <p:spPr>
              <a:xfrm>
                <a:off x="3055887" y="644769"/>
                <a:ext cx="94144" cy="63015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6" name="Rectangle"/>
              <p:cNvSpPr/>
              <p:nvPr/>
            </p:nvSpPr>
            <p:spPr>
              <a:xfrm>
                <a:off x="2840460" y="531266"/>
                <a:ext cx="94143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7" name="Rectangle"/>
              <p:cNvSpPr/>
              <p:nvPr/>
            </p:nvSpPr>
            <p:spPr>
              <a:xfrm>
                <a:off x="2622617" y="644769"/>
                <a:ext cx="94144" cy="67885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8" name="Rectangle"/>
              <p:cNvSpPr/>
              <p:nvPr/>
            </p:nvSpPr>
            <p:spPr>
              <a:xfrm>
                <a:off x="2918029" y="296512"/>
                <a:ext cx="94144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29" name="Rectangle"/>
              <p:cNvSpPr/>
              <p:nvPr/>
            </p:nvSpPr>
            <p:spPr>
              <a:xfrm>
                <a:off x="2483828" y="531266"/>
                <a:ext cx="94144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0" name="Rectangle"/>
              <p:cNvSpPr/>
              <p:nvPr/>
            </p:nvSpPr>
            <p:spPr>
              <a:xfrm>
                <a:off x="2562550" y="411974"/>
                <a:ext cx="94144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1" name="Rectangle"/>
              <p:cNvSpPr/>
              <p:nvPr/>
            </p:nvSpPr>
            <p:spPr>
              <a:xfrm>
                <a:off x="2824695" y="412488"/>
                <a:ext cx="94144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2" name="Rectangle"/>
              <p:cNvSpPr/>
              <p:nvPr/>
            </p:nvSpPr>
            <p:spPr>
              <a:xfrm>
                <a:off x="1141023" y="531266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3" name="Rectangle"/>
              <p:cNvSpPr/>
              <p:nvPr/>
            </p:nvSpPr>
            <p:spPr>
              <a:xfrm>
                <a:off x="1511721" y="417265"/>
                <a:ext cx="94915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4" name="Rectangle"/>
              <p:cNvSpPr/>
              <p:nvPr/>
            </p:nvSpPr>
            <p:spPr>
              <a:xfrm>
                <a:off x="1475265" y="531218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5" name="Rectangle"/>
              <p:cNvSpPr/>
              <p:nvPr/>
            </p:nvSpPr>
            <p:spPr>
              <a:xfrm>
                <a:off x="60064" y="787473"/>
                <a:ext cx="569847" cy="96671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374556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6" name="Rectangle"/>
              <p:cNvSpPr/>
              <p:nvPr/>
            </p:nvSpPr>
            <p:spPr>
              <a:xfrm>
                <a:off x="1141023" y="791049"/>
                <a:ext cx="836310" cy="91030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374556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7" name="Rectangle"/>
              <p:cNvSpPr/>
              <p:nvPr/>
            </p:nvSpPr>
            <p:spPr>
              <a:xfrm>
                <a:off x="2485331" y="795692"/>
                <a:ext cx="664678" cy="91030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374556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8" name="Rectangle"/>
              <p:cNvSpPr/>
              <p:nvPr/>
            </p:nvSpPr>
            <p:spPr>
              <a:xfrm>
                <a:off x="3031505" y="416557"/>
                <a:ext cx="94143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39" name="Rectangle"/>
              <p:cNvSpPr/>
              <p:nvPr/>
            </p:nvSpPr>
            <p:spPr>
              <a:xfrm>
                <a:off x="1812426" y="531218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0" name="Rectangle"/>
              <p:cNvSpPr/>
              <p:nvPr/>
            </p:nvSpPr>
            <p:spPr>
              <a:xfrm>
                <a:off x="290580" y="182567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1" name="Rectangle"/>
              <p:cNvSpPr/>
              <p:nvPr/>
            </p:nvSpPr>
            <p:spPr>
              <a:xfrm>
                <a:off x="1622254" y="300234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2" name="Rectangle"/>
              <p:cNvSpPr/>
              <p:nvPr/>
            </p:nvSpPr>
            <p:spPr>
              <a:xfrm>
                <a:off x="1828458" y="648565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3" name="Rectangle"/>
              <p:cNvSpPr/>
              <p:nvPr/>
            </p:nvSpPr>
            <p:spPr>
              <a:xfrm>
                <a:off x="1680336" y="528707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4" name="Rectangle"/>
              <p:cNvSpPr/>
              <p:nvPr/>
            </p:nvSpPr>
            <p:spPr>
              <a:xfrm>
                <a:off x="439647" y="69064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5" name="Rectangle"/>
              <p:cNvSpPr/>
              <p:nvPr/>
            </p:nvSpPr>
            <p:spPr>
              <a:xfrm>
                <a:off x="188523" y="69064"/>
                <a:ext cx="93359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6" name="Line"/>
              <p:cNvSpPr/>
              <p:nvPr/>
            </p:nvSpPr>
            <p:spPr>
              <a:xfrm flipV="1">
                <a:off x="667011" y="587"/>
                <a:ext cx="896932" cy="262057"/>
              </a:xfrm>
              <a:prstGeom prst="line">
                <a:avLst/>
              </a:prstGeom>
              <a:noFill/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7" name="Line"/>
              <p:cNvSpPr/>
              <p:nvPr/>
            </p:nvSpPr>
            <p:spPr>
              <a:xfrm flipV="1">
                <a:off x="669896" y="344729"/>
                <a:ext cx="223239" cy="103445"/>
              </a:xfrm>
              <a:prstGeom prst="line">
                <a:avLst/>
              </a:prstGeom>
              <a:noFill/>
              <a:ln w="12700" cap="flat">
                <a:solidFill>
                  <a:srgbClr val="79797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8" name="Line"/>
              <p:cNvSpPr/>
              <p:nvPr/>
            </p:nvSpPr>
            <p:spPr>
              <a:xfrm flipH="1" flipV="1">
                <a:off x="892379" y="344729"/>
                <a:ext cx="223238" cy="103445"/>
              </a:xfrm>
              <a:prstGeom prst="line">
                <a:avLst/>
              </a:prstGeom>
              <a:noFill/>
              <a:ln w="12700" cap="flat">
                <a:solidFill>
                  <a:srgbClr val="79797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49" name="Line"/>
              <p:cNvSpPr/>
              <p:nvPr/>
            </p:nvSpPr>
            <p:spPr>
              <a:xfrm flipV="1">
                <a:off x="667957" y="580937"/>
                <a:ext cx="223238" cy="103445"/>
              </a:xfrm>
              <a:prstGeom prst="line">
                <a:avLst/>
              </a:prstGeom>
              <a:noFill/>
              <a:ln w="12700" cap="flat">
                <a:solidFill>
                  <a:srgbClr val="79797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0" name="Line"/>
              <p:cNvSpPr/>
              <p:nvPr/>
            </p:nvSpPr>
            <p:spPr>
              <a:xfrm flipH="1" flipV="1">
                <a:off x="890440" y="580937"/>
                <a:ext cx="223238" cy="103445"/>
              </a:xfrm>
              <a:prstGeom prst="line">
                <a:avLst/>
              </a:prstGeom>
              <a:noFill/>
              <a:ln w="12700" cap="flat">
                <a:solidFill>
                  <a:srgbClr val="797979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1" name="Line"/>
              <p:cNvSpPr/>
              <p:nvPr/>
            </p:nvSpPr>
            <p:spPr>
              <a:xfrm flipV="1">
                <a:off x="2012680" y="580937"/>
                <a:ext cx="223239" cy="103445"/>
              </a:xfrm>
              <a:prstGeom prst="line">
                <a:avLst/>
              </a:prstGeom>
              <a:noFill/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2" name="Line"/>
              <p:cNvSpPr/>
              <p:nvPr/>
            </p:nvSpPr>
            <p:spPr>
              <a:xfrm flipH="1" flipV="1">
                <a:off x="2235163" y="580937"/>
                <a:ext cx="223239" cy="103445"/>
              </a:xfrm>
              <a:prstGeom prst="line">
                <a:avLst/>
              </a:prstGeom>
              <a:noFill/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3" name="Rectangle"/>
              <p:cNvSpPr/>
              <p:nvPr/>
            </p:nvSpPr>
            <p:spPr>
              <a:xfrm>
                <a:off x="2526303" y="298430"/>
                <a:ext cx="94143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4" name="Rectangle"/>
              <p:cNvSpPr/>
              <p:nvPr/>
            </p:nvSpPr>
            <p:spPr>
              <a:xfrm>
                <a:off x="303344" y="69064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5" name="Rectangle"/>
              <p:cNvSpPr/>
              <p:nvPr/>
            </p:nvSpPr>
            <p:spPr>
              <a:xfrm>
                <a:off x="409503" y="182567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6" name="Rectangle"/>
              <p:cNvSpPr/>
              <p:nvPr/>
            </p:nvSpPr>
            <p:spPr>
              <a:xfrm>
                <a:off x="518561" y="300234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7" name="Rectangle"/>
              <p:cNvSpPr/>
              <p:nvPr/>
            </p:nvSpPr>
            <p:spPr>
              <a:xfrm>
                <a:off x="254064" y="295366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8" name="Rectangle"/>
              <p:cNvSpPr/>
              <p:nvPr/>
            </p:nvSpPr>
            <p:spPr>
              <a:xfrm>
                <a:off x="162964" y="409843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9" name="Rectangle"/>
              <p:cNvSpPr/>
              <p:nvPr/>
            </p:nvSpPr>
            <p:spPr>
              <a:xfrm>
                <a:off x="317621" y="528250"/>
                <a:ext cx="94143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0" name="Rectangle"/>
              <p:cNvSpPr/>
              <p:nvPr/>
            </p:nvSpPr>
            <p:spPr>
              <a:xfrm>
                <a:off x="537147" y="528250"/>
                <a:ext cx="94144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1" name="Rectangle"/>
              <p:cNvSpPr/>
              <p:nvPr/>
            </p:nvSpPr>
            <p:spPr>
              <a:xfrm>
                <a:off x="181523" y="645163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2" name="Rectangle"/>
              <p:cNvSpPr/>
              <p:nvPr/>
            </p:nvSpPr>
            <p:spPr>
              <a:xfrm>
                <a:off x="422177" y="648870"/>
                <a:ext cx="94144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3" name="Rectangle"/>
              <p:cNvSpPr/>
              <p:nvPr/>
            </p:nvSpPr>
            <p:spPr>
              <a:xfrm>
                <a:off x="536997" y="648517"/>
                <a:ext cx="94143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4" name="Rectangle"/>
              <p:cNvSpPr/>
              <p:nvPr/>
            </p:nvSpPr>
            <p:spPr>
              <a:xfrm>
                <a:off x="1320642" y="648517"/>
                <a:ext cx="93530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5" name="Rectangle"/>
              <p:cNvSpPr/>
              <p:nvPr/>
            </p:nvSpPr>
            <p:spPr>
              <a:xfrm>
                <a:off x="1436787" y="648517"/>
                <a:ext cx="93531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6" name="Rectangle"/>
              <p:cNvSpPr/>
              <p:nvPr/>
            </p:nvSpPr>
            <p:spPr>
              <a:xfrm>
                <a:off x="1726582" y="645163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7" name="Rectangle"/>
              <p:cNvSpPr/>
              <p:nvPr/>
            </p:nvSpPr>
            <p:spPr>
              <a:xfrm>
                <a:off x="1372771" y="531218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8" name="Rectangle"/>
              <p:cNvSpPr/>
              <p:nvPr/>
            </p:nvSpPr>
            <p:spPr>
              <a:xfrm>
                <a:off x="1631304" y="415919"/>
                <a:ext cx="94916" cy="67098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9" name="Rectangle"/>
              <p:cNvSpPr/>
              <p:nvPr/>
            </p:nvSpPr>
            <p:spPr>
              <a:xfrm>
                <a:off x="1371887" y="297406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0" name="Rectangle"/>
              <p:cNvSpPr/>
              <p:nvPr/>
            </p:nvSpPr>
            <p:spPr>
              <a:xfrm>
                <a:off x="1477720" y="296512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1" name="Rectangle"/>
              <p:cNvSpPr/>
              <p:nvPr/>
            </p:nvSpPr>
            <p:spPr>
              <a:xfrm>
                <a:off x="1798941" y="306524"/>
                <a:ext cx="94144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2" name="Rectangle"/>
              <p:cNvSpPr/>
              <p:nvPr/>
            </p:nvSpPr>
            <p:spPr>
              <a:xfrm>
                <a:off x="1205823" y="296512"/>
                <a:ext cx="94143" cy="67097"/>
              </a:xfrm>
              <a:prstGeom prst="rect">
                <a:avLst/>
              </a:prstGeom>
              <a:solidFill>
                <a:srgbClr val="81A48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3" name="Rectangle"/>
              <p:cNvSpPr/>
              <p:nvPr/>
            </p:nvSpPr>
            <p:spPr>
              <a:xfrm>
                <a:off x="2719716" y="289576"/>
                <a:ext cx="94144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4" name="Rectangle"/>
              <p:cNvSpPr/>
              <p:nvPr/>
            </p:nvSpPr>
            <p:spPr>
              <a:xfrm>
                <a:off x="2684906" y="411651"/>
                <a:ext cx="94144" cy="67097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5" name="Rectangle"/>
              <p:cNvSpPr/>
              <p:nvPr/>
            </p:nvSpPr>
            <p:spPr>
              <a:xfrm>
                <a:off x="2951089" y="528250"/>
                <a:ext cx="94143" cy="67098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6" name="Rectangle"/>
              <p:cNvSpPr/>
              <p:nvPr/>
            </p:nvSpPr>
            <p:spPr>
              <a:xfrm>
                <a:off x="2766490" y="648124"/>
                <a:ext cx="94143" cy="67885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7" name="Rectangle"/>
              <p:cNvSpPr/>
              <p:nvPr/>
            </p:nvSpPr>
            <p:spPr>
              <a:xfrm>
                <a:off x="2951089" y="644769"/>
                <a:ext cx="94143" cy="63015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8" name="Rectangle"/>
              <p:cNvSpPr/>
              <p:nvPr/>
            </p:nvSpPr>
            <p:spPr>
              <a:xfrm>
                <a:off x="2662144" y="530824"/>
                <a:ext cx="94144" cy="67885"/>
              </a:xfrm>
              <a:prstGeom prst="rect">
                <a:avLst/>
              </a:prstGeom>
              <a:solidFill>
                <a:srgbClr val="7FA28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79" name="Line"/>
              <p:cNvSpPr/>
              <p:nvPr/>
            </p:nvSpPr>
            <p:spPr>
              <a:xfrm flipH="1" flipV="1">
                <a:off x="1564029" y="0"/>
                <a:ext cx="894187" cy="263231"/>
              </a:xfrm>
              <a:prstGeom prst="line">
                <a:avLst/>
              </a:prstGeom>
              <a:noFill/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2181" name="RNA SEQ DATA"/>
            <p:cNvSpPr txBox="1"/>
            <p:nvPr/>
          </p:nvSpPr>
          <p:spPr>
            <a:xfrm>
              <a:off x="1228981" y="4743306"/>
              <a:ext cx="2404612" cy="4735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40000"/>
                </a:lnSpc>
                <a:defRPr sz="2400" b="1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RNA SEQ DATA</a:t>
              </a:r>
            </a:p>
          </p:txBody>
        </p:sp>
        <p:sp>
          <p:nvSpPr>
            <p:cNvPr id="2182" name="Line"/>
            <p:cNvSpPr/>
            <p:nvPr/>
          </p:nvSpPr>
          <p:spPr>
            <a:xfrm>
              <a:off x="19035" y="4590847"/>
              <a:ext cx="7832374" cy="1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83" name="Line"/>
            <p:cNvSpPr/>
            <p:nvPr/>
          </p:nvSpPr>
          <p:spPr>
            <a:xfrm flipH="1">
              <a:off x="4809854" y="4574698"/>
              <a:ext cx="1" cy="2841122"/>
            </a:xfrm>
            <a:prstGeom prst="line">
              <a:avLst/>
            </a:prstGeom>
            <a:noFill/>
            <a:ln w="381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292" name="Group"/>
          <p:cNvGrpSpPr/>
          <p:nvPr/>
        </p:nvGrpSpPr>
        <p:grpSpPr>
          <a:xfrm>
            <a:off x="11161610" y="4579240"/>
            <a:ext cx="11403599" cy="8667664"/>
            <a:chOff x="0" y="0"/>
            <a:chExt cx="11403597" cy="8667662"/>
          </a:xfrm>
        </p:grpSpPr>
        <p:sp>
          <p:nvSpPr>
            <p:cNvPr id="2185" name="Rounded Rectangle"/>
            <p:cNvSpPr/>
            <p:nvPr/>
          </p:nvSpPr>
          <p:spPr>
            <a:xfrm>
              <a:off x="0" y="0"/>
              <a:ext cx="11403597" cy="812260"/>
            </a:xfrm>
            <a:prstGeom prst="roundRect">
              <a:avLst>
                <a:gd name="adj" fmla="val 23453"/>
              </a:avLst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186" name="BIOINFORMATIC ANALYSIS"/>
            <p:cNvSpPr txBox="1"/>
            <p:nvPr/>
          </p:nvSpPr>
          <p:spPr>
            <a:xfrm>
              <a:off x="3197618" y="126729"/>
              <a:ext cx="6947821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9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BIOINFORMATIC ANALYSIS</a:t>
              </a:r>
            </a:p>
          </p:txBody>
        </p:sp>
        <p:grpSp>
          <p:nvGrpSpPr>
            <p:cNvPr id="2291" name="Group"/>
            <p:cNvGrpSpPr/>
            <p:nvPr/>
          </p:nvGrpSpPr>
          <p:grpSpPr>
            <a:xfrm>
              <a:off x="33829" y="1154231"/>
              <a:ext cx="11314495" cy="7513431"/>
              <a:chOff x="0" y="0"/>
              <a:chExt cx="11314494" cy="7513430"/>
            </a:xfrm>
          </p:grpSpPr>
          <p:pic>
            <p:nvPicPr>
              <p:cNvPr id="2187" name="NaiURzB.png" descr="NaiURzB.png"/>
              <p:cNvPicPr>
                <a:picLocks noChangeAspect="1"/>
              </p:cNvPicPr>
              <p:nvPr/>
            </p:nvPicPr>
            <p:blipFill>
              <a:blip r:embed="rId5"/>
              <a:srcRect l="10791" t="6189" r="10791" b="9907"/>
              <a:stretch>
                <a:fillRect/>
              </a:stretch>
            </p:blipFill>
            <p:spPr>
              <a:xfrm>
                <a:off x="1090426" y="1406935"/>
                <a:ext cx="2507479" cy="197983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188" name="DIMENSIONALITY REDUCTION"/>
              <p:cNvSpPr txBox="1"/>
              <p:nvPr/>
            </p:nvSpPr>
            <p:spPr>
              <a:xfrm>
                <a:off x="0" y="0"/>
                <a:ext cx="4688309" cy="5166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2400" b="1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DIMENSIONALITY REDUCTION</a:t>
                </a:r>
              </a:p>
            </p:txBody>
          </p:sp>
          <p:sp>
            <p:nvSpPr>
              <p:cNvPr id="2189" name="CLUSTERING"/>
              <p:cNvSpPr txBox="1"/>
              <p:nvPr/>
            </p:nvSpPr>
            <p:spPr>
              <a:xfrm>
                <a:off x="6089806" y="26823"/>
                <a:ext cx="2104667" cy="463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lnSpc>
                    <a:spcPct val="140000"/>
                  </a:lnSpc>
                  <a:defRPr sz="2400" b="1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CLUSTERING</a:t>
                </a:r>
              </a:p>
            </p:txBody>
          </p:sp>
          <p:grpSp>
            <p:nvGrpSpPr>
              <p:cNvPr id="2226" name="Group"/>
              <p:cNvGrpSpPr/>
              <p:nvPr/>
            </p:nvGrpSpPr>
            <p:grpSpPr>
              <a:xfrm rot="1320000">
                <a:off x="8566956" y="5285958"/>
                <a:ext cx="2069129" cy="1538959"/>
                <a:chOff x="0" y="0"/>
                <a:chExt cx="2069128" cy="1538958"/>
              </a:xfrm>
            </p:grpSpPr>
            <p:sp>
              <p:nvSpPr>
                <p:cNvPr id="2190" name="Line"/>
                <p:cNvSpPr/>
                <p:nvPr/>
              </p:nvSpPr>
              <p:spPr>
                <a:xfrm flipV="1">
                  <a:off x="81701" y="318208"/>
                  <a:ext cx="580136" cy="797154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1" name="Line"/>
                <p:cNvSpPr/>
                <p:nvPr/>
              </p:nvSpPr>
              <p:spPr>
                <a:xfrm flipH="1" flipV="1">
                  <a:off x="725166" y="306010"/>
                  <a:ext cx="592400" cy="258925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2" name="Line"/>
                <p:cNvSpPr/>
                <p:nvPr/>
              </p:nvSpPr>
              <p:spPr>
                <a:xfrm flipH="1" flipV="1">
                  <a:off x="684002" y="278360"/>
                  <a:ext cx="614300" cy="763812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3" name="Line"/>
                <p:cNvSpPr/>
                <p:nvPr/>
              </p:nvSpPr>
              <p:spPr>
                <a:xfrm flipV="1">
                  <a:off x="561718" y="285840"/>
                  <a:ext cx="116916" cy="656800"/>
                </a:xfrm>
                <a:prstGeom prst="line">
                  <a:avLst/>
                </a:prstGeom>
                <a:noFill/>
                <a:ln w="38100" cap="flat">
                  <a:solidFill>
                    <a:srgbClr val="E7AC8C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4" name="Line"/>
                <p:cNvSpPr/>
                <p:nvPr/>
              </p:nvSpPr>
              <p:spPr>
                <a:xfrm flipH="1" flipV="1">
                  <a:off x="688131" y="282262"/>
                  <a:ext cx="104597" cy="995298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5" name="Line"/>
                <p:cNvSpPr/>
                <p:nvPr/>
              </p:nvSpPr>
              <p:spPr>
                <a:xfrm flipH="1">
                  <a:off x="543728" y="539498"/>
                  <a:ext cx="894847" cy="386653"/>
                </a:xfrm>
                <a:prstGeom prst="line">
                  <a:avLst/>
                </a:prstGeom>
                <a:noFill/>
                <a:ln w="31750" cap="flat">
                  <a:solidFill>
                    <a:srgbClr val="E7AC8C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6" name="Line"/>
                <p:cNvSpPr/>
                <p:nvPr/>
              </p:nvSpPr>
              <p:spPr>
                <a:xfrm flipH="1" flipV="1">
                  <a:off x="560305" y="893754"/>
                  <a:ext cx="204944" cy="482545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7" name="Line"/>
                <p:cNvSpPr/>
                <p:nvPr/>
              </p:nvSpPr>
              <p:spPr>
                <a:xfrm flipH="1">
                  <a:off x="747152" y="523899"/>
                  <a:ext cx="642958" cy="744797"/>
                </a:xfrm>
                <a:prstGeom prst="line">
                  <a:avLst/>
                </a:prstGeom>
                <a:noFill/>
                <a:ln w="381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8" name="Oval"/>
                <p:cNvSpPr/>
                <p:nvPr/>
              </p:nvSpPr>
              <p:spPr>
                <a:xfrm rot="21600000">
                  <a:off x="617466" y="203504"/>
                  <a:ext cx="142493" cy="147116"/>
                </a:xfrm>
                <a:prstGeom prst="ellipse">
                  <a:avLst/>
                </a:prstGeom>
                <a:solidFill>
                  <a:srgbClr val="7FA287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199" name="Line"/>
                <p:cNvSpPr/>
                <p:nvPr/>
              </p:nvSpPr>
              <p:spPr>
                <a:xfrm flipH="1">
                  <a:off x="744227" y="1048046"/>
                  <a:ext cx="554278" cy="259164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0" name="Line"/>
                <p:cNvSpPr/>
                <p:nvPr/>
              </p:nvSpPr>
              <p:spPr>
                <a:xfrm flipH="1" flipV="1">
                  <a:off x="112927" y="1135193"/>
                  <a:ext cx="555682" cy="151494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1" name="Circle"/>
                <p:cNvSpPr/>
                <p:nvPr/>
              </p:nvSpPr>
              <p:spPr>
                <a:xfrm rot="21600000">
                  <a:off x="642825" y="1203399"/>
                  <a:ext cx="222298" cy="224810"/>
                </a:xfrm>
                <a:prstGeom prst="ellipse">
                  <a:avLst/>
                </a:prstGeom>
                <a:solidFill>
                  <a:srgbClr val="7FA287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36384A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2" name="Line"/>
                <p:cNvSpPr/>
                <p:nvPr/>
              </p:nvSpPr>
              <p:spPr>
                <a:xfrm flipH="1" flipV="1">
                  <a:off x="1572099" y="44980"/>
                  <a:ext cx="288734" cy="307713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3" name="Line"/>
                <p:cNvSpPr/>
                <p:nvPr/>
              </p:nvSpPr>
              <p:spPr>
                <a:xfrm flipH="1" flipV="1">
                  <a:off x="1295657" y="1038444"/>
                  <a:ext cx="204679" cy="435362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4" name="Line"/>
                <p:cNvSpPr/>
                <p:nvPr/>
              </p:nvSpPr>
              <p:spPr>
                <a:xfrm flipV="1">
                  <a:off x="1423799" y="113594"/>
                  <a:ext cx="190535" cy="358730"/>
                </a:xfrm>
                <a:prstGeom prst="line">
                  <a:avLst/>
                </a:prstGeom>
                <a:noFill/>
                <a:ln w="38100" cap="flat">
                  <a:solidFill>
                    <a:srgbClr val="E7AC8C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5" name="Line"/>
                <p:cNvSpPr/>
                <p:nvPr/>
              </p:nvSpPr>
              <p:spPr>
                <a:xfrm flipH="1" flipV="1">
                  <a:off x="1656638" y="178513"/>
                  <a:ext cx="153187" cy="513918"/>
                </a:xfrm>
                <a:prstGeom prst="line">
                  <a:avLst/>
                </a:prstGeom>
                <a:noFill/>
                <a:ln w="190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6" name="Line"/>
                <p:cNvSpPr/>
                <p:nvPr/>
              </p:nvSpPr>
              <p:spPr>
                <a:xfrm flipH="1" flipV="1">
                  <a:off x="1583413" y="84758"/>
                  <a:ext cx="442130" cy="1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7" name="Line"/>
                <p:cNvSpPr/>
                <p:nvPr/>
              </p:nvSpPr>
              <p:spPr>
                <a:xfrm flipH="1">
                  <a:off x="1452796" y="1128347"/>
                  <a:ext cx="201018" cy="340529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8" name="Line"/>
                <p:cNvSpPr/>
                <p:nvPr/>
              </p:nvSpPr>
              <p:spPr>
                <a:xfrm flipH="1">
                  <a:off x="1456093" y="331901"/>
                  <a:ext cx="418767" cy="149866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09" name="Circle"/>
                <p:cNvSpPr/>
                <p:nvPr/>
              </p:nvSpPr>
              <p:spPr>
                <a:xfrm rot="21600000">
                  <a:off x="1508774" y="-1"/>
                  <a:ext cx="222299" cy="224811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36384A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0" name="Line"/>
                <p:cNvSpPr/>
                <p:nvPr/>
              </p:nvSpPr>
              <p:spPr>
                <a:xfrm flipH="1" flipV="1">
                  <a:off x="1419675" y="509439"/>
                  <a:ext cx="400496" cy="209603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1" name="Oval"/>
                <p:cNvSpPr/>
                <p:nvPr/>
              </p:nvSpPr>
              <p:spPr>
                <a:xfrm rot="21600000">
                  <a:off x="1265375" y="386095"/>
                  <a:ext cx="265243" cy="277144"/>
                </a:xfrm>
                <a:prstGeom prst="ellipse">
                  <a:avLst/>
                </a:prstGeom>
                <a:solidFill>
                  <a:srgbClr val="7FA287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2" name="Line"/>
                <p:cNvSpPr/>
                <p:nvPr/>
              </p:nvSpPr>
              <p:spPr>
                <a:xfrm flipH="1">
                  <a:off x="1862668" y="80271"/>
                  <a:ext cx="142845" cy="277989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3" name="Oval"/>
                <p:cNvSpPr/>
                <p:nvPr/>
              </p:nvSpPr>
              <p:spPr>
                <a:xfrm rot="21600000">
                  <a:off x="1806575" y="278627"/>
                  <a:ext cx="142492" cy="147116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4" name="Circle"/>
                <p:cNvSpPr/>
                <p:nvPr/>
              </p:nvSpPr>
              <p:spPr>
                <a:xfrm rot="21600000">
                  <a:off x="1945635" y="12412"/>
                  <a:ext cx="123494" cy="127501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5" name="Circle"/>
                <p:cNvSpPr/>
                <p:nvPr/>
              </p:nvSpPr>
              <p:spPr>
                <a:xfrm rot="21600000">
                  <a:off x="1231792" y="994169"/>
                  <a:ext cx="123494" cy="127500"/>
                </a:xfrm>
                <a:prstGeom prst="ellipse">
                  <a:avLst/>
                </a:prstGeom>
                <a:solidFill>
                  <a:srgbClr val="7FA287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6" name="Line"/>
                <p:cNvSpPr/>
                <p:nvPr/>
              </p:nvSpPr>
              <p:spPr>
                <a:xfrm>
                  <a:off x="1656577" y="1097444"/>
                  <a:ext cx="274028" cy="292039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7" name="Line"/>
                <p:cNvSpPr/>
                <p:nvPr/>
              </p:nvSpPr>
              <p:spPr>
                <a:xfrm flipV="1">
                  <a:off x="1488732" y="1362986"/>
                  <a:ext cx="455468" cy="86570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8" name="Oval"/>
                <p:cNvSpPr/>
                <p:nvPr/>
              </p:nvSpPr>
              <p:spPr>
                <a:xfrm rot="21600000">
                  <a:off x="1862844" y="1302162"/>
                  <a:ext cx="142493" cy="147116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19" name="Oval"/>
                <p:cNvSpPr/>
                <p:nvPr/>
              </p:nvSpPr>
              <p:spPr>
                <a:xfrm rot="21600000">
                  <a:off x="1404183" y="1368550"/>
                  <a:ext cx="157014" cy="170408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20" name="Line"/>
                <p:cNvSpPr/>
                <p:nvPr/>
              </p:nvSpPr>
              <p:spPr>
                <a:xfrm flipV="1">
                  <a:off x="1666842" y="743733"/>
                  <a:ext cx="150193" cy="360391"/>
                </a:xfrm>
                <a:prstGeom prst="line">
                  <a:avLst/>
                </a:prstGeom>
                <a:noFill/>
                <a:ln w="2540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21" name="Oval"/>
                <p:cNvSpPr/>
                <p:nvPr/>
              </p:nvSpPr>
              <p:spPr>
                <a:xfrm rot="21600000">
                  <a:off x="1740772" y="651510"/>
                  <a:ext cx="142493" cy="147116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22" name="Oval"/>
                <p:cNvSpPr/>
                <p:nvPr/>
              </p:nvSpPr>
              <p:spPr>
                <a:xfrm rot="21600000">
                  <a:off x="1625146" y="1061469"/>
                  <a:ext cx="80661" cy="85963"/>
                </a:xfrm>
                <a:prstGeom prst="ellipse">
                  <a:avLst/>
                </a:prstGeom>
                <a:solidFill>
                  <a:srgbClr val="415969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23" name="Line"/>
                <p:cNvSpPr/>
                <p:nvPr/>
              </p:nvSpPr>
              <p:spPr>
                <a:xfrm flipH="1">
                  <a:off x="56963" y="911271"/>
                  <a:ext cx="527143" cy="255790"/>
                </a:xfrm>
                <a:prstGeom prst="line">
                  <a:avLst/>
                </a:prstGeom>
                <a:noFill/>
                <a:ln w="31750" cap="flat">
                  <a:solidFill>
                    <a:srgbClr val="525067"/>
                  </a:solidFill>
                  <a:prstDash val="solid"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24" name="Oval"/>
                <p:cNvSpPr/>
                <p:nvPr/>
              </p:nvSpPr>
              <p:spPr>
                <a:xfrm rot="21600000">
                  <a:off x="-1" y="1061469"/>
                  <a:ext cx="142493" cy="147115"/>
                </a:xfrm>
                <a:prstGeom prst="ellipse">
                  <a:avLst/>
                </a:prstGeom>
                <a:solidFill>
                  <a:srgbClr val="7FA287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2225" name="Oval"/>
                <p:cNvSpPr/>
                <p:nvPr/>
              </p:nvSpPr>
              <p:spPr>
                <a:xfrm rot="21600000">
                  <a:off x="486874" y="820470"/>
                  <a:ext cx="157014" cy="170409"/>
                </a:xfrm>
                <a:prstGeom prst="ellipse">
                  <a:avLst/>
                </a:prstGeom>
                <a:solidFill>
                  <a:srgbClr val="7FA287"/>
                </a:solidFill>
                <a:ln w="12700" cap="flat">
                  <a:noFill/>
                  <a:miter lim="400000"/>
                </a:ln>
                <a:effectLst>
                  <a:outerShdw blurRad="101600" dist="50800" dir="54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2283" name="Group"/>
              <p:cNvGrpSpPr/>
              <p:nvPr/>
            </p:nvGrpSpPr>
            <p:grpSpPr>
              <a:xfrm>
                <a:off x="3594699" y="5192935"/>
                <a:ext cx="1997407" cy="1807737"/>
                <a:chOff x="0" y="0"/>
                <a:chExt cx="1997405" cy="1807736"/>
              </a:xfrm>
            </p:grpSpPr>
            <p:grpSp>
              <p:nvGrpSpPr>
                <p:cNvPr id="2240" name="Group"/>
                <p:cNvGrpSpPr/>
                <p:nvPr/>
              </p:nvGrpSpPr>
              <p:grpSpPr>
                <a:xfrm>
                  <a:off x="928534" y="1145855"/>
                  <a:ext cx="979347" cy="661882"/>
                  <a:chOff x="0" y="0"/>
                  <a:chExt cx="979345" cy="661880"/>
                </a:xfrm>
              </p:grpSpPr>
              <p:sp>
                <p:nvSpPr>
                  <p:cNvPr id="2227" name="Circle"/>
                  <p:cNvSpPr/>
                  <p:nvPr/>
                </p:nvSpPr>
                <p:spPr>
                  <a:xfrm>
                    <a:off x="0" y="473545"/>
                    <a:ext cx="188336" cy="188336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28" name="Circle"/>
                  <p:cNvSpPr/>
                  <p:nvPr/>
                </p:nvSpPr>
                <p:spPr>
                  <a:xfrm>
                    <a:off x="263669" y="473545"/>
                    <a:ext cx="188337" cy="188336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29" name="Circle"/>
                  <p:cNvSpPr/>
                  <p:nvPr/>
                </p:nvSpPr>
                <p:spPr>
                  <a:xfrm>
                    <a:off x="527340" y="473545"/>
                    <a:ext cx="188336" cy="188336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0" name="Circle"/>
                  <p:cNvSpPr/>
                  <p:nvPr/>
                </p:nvSpPr>
                <p:spPr>
                  <a:xfrm>
                    <a:off x="131835" y="209875"/>
                    <a:ext cx="188336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1" name="Line"/>
                  <p:cNvSpPr/>
                  <p:nvPr/>
                </p:nvSpPr>
                <p:spPr>
                  <a:xfrm flipV="1">
                    <a:off x="280803" y="95458"/>
                    <a:ext cx="175019" cy="175020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2" name="Line"/>
                  <p:cNvSpPr/>
                  <p:nvPr/>
                </p:nvSpPr>
                <p:spPr>
                  <a:xfrm flipH="1" flipV="1">
                    <a:off x="747965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3" name="Line"/>
                  <p:cNvSpPr/>
                  <p:nvPr/>
                </p:nvSpPr>
                <p:spPr>
                  <a:xfrm flipV="1">
                    <a:off x="94090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4" name="Line"/>
                  <p:cNvSpPr/>
                  <p:nvPr/>
                </p:nvSpPr>
                <p:spPr>
                  <a:xfrm flipV="1">
                    <a:off x="621430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5" name="Line"/>
                  <p:cNvSpPr/>
                  <p:nvPr/>
                </p:nvSpPr>
                <p:spPr>
                  <a:xfrm flipH="1" flipV="1">
                    <a:off x="222432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6" name="Line"/>
                  <p:cNvSpPr/>
                  <p:nvPr/>
                </p:nvSpPr>
                <p:spPr>
                  <a:xfrm flipH="1" flipV="1">
                    <a:off x="525330" y="95458"/>
                    <a:ext cx="192355" cy="155767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7" name="Circle"/>
                  <p:cNvSpPr/>
                  <p:nvPr/>
                </p:nvSpPr>
                <p:spPr>
                  <a:xfrm>
                    <a:off x="394764" y="0"/>
                    <a:ext cx="188336" cy="188336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8" name="Circle"/>
                  <p:cNvSpPr/>
                  <p:nvPr/>
                </p:nvSpPr>
                <p:spPr>
                  <a:xfrm>
                    <a:off x="646618" y="209875"/>
                    <a:ext cx="188337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39" name="Circle"/>
                  <p:cNvSpPr/>
                  <p:nvPr/>
                </p:nvSpPr>
                <p:spPr>
                  <a:xfrm>
                    <a:off x="791009" y="473545"/>
                    <a:ext cx="188337" cy="188336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</p:grpSp>
            <p:grpSp>
              <p:nvGrpSpPr>
                <p:cNvPr id="2254" name="Group"/>
                <p:cNvGrpSpPr/>
                <p:nvPr/>
              </p:nvGrpSpPr>
              <p:grpSpPr>
                <a:xfrm>
                  <a:off x="1018060" y="-1"/>
                  <a:ext cx="979346" cy="661883"/>
                  <a:chOff x="0" y="0"/>
                  <a:chExt cx="979345" cy="661881"/>
                </a:xfrm>
              </p:grpSpPr>
              <p:sp>
                <p:nvSpPr>
                  <p:cNvPr id="2241" name="Circle"/>
                  <p:cNvSpPr/>
                  <p:nvPr/>
                </p:nvSpPr>
                <p:spPr>
                  <a:xfrm>
                    <a:off x="0" y="473545"/>
                    <a:ext cx="188336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2" name="Circle"/>
                  <p:cNvSpPr/>
                  <p:nvPr/>
                </p:nvSpPr>
                <p:spPr>
                  <a:xfrm>
                    <a:off x="263669" y="47354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3" name="Circle"/>
                  <p:cNvSpPr/>
                  <p:nvPr/>
                </p:nvSpPr>
                <p:spPr>
                  <a:xfrm>
                    <a:off x="527339" y="47354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4" name="Circle"/>
                  <p:cNvSpPr/>
                  <p:nvPr/>
                </p:nvSpPr>
                <p:spPr>
                  <a:xfrm>
                    <a:off x="131835" y="209875"/>
                    <a:ext cx="188336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5" name="Line"/>
                  <p:cNvSpPr/>
                  <p:nvPr/>
                </p:nvSpPr>
                <p:spPr>
                  <a:xfrm flipV="1">
                    <a:off x="280803" y="95458"/>
                    <a:ext cx="175019" cy="175020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6" name="Line"/>
                  <p:cNvSpPr/>
                  <p:nvPr/>
                </p:nvSpPr>
                <p:spPr>
                  <a:xfrm flipH="1" flipV="1">
                    <a:off x="747965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7" name="Line"/>
                  <p:cNvSpPr/>
                  <p:nvPr/>
                </p:nvSpPr>
                <p:spPr>
                  <a:xfrm flipV="1">
                    <a:off x="94090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8" name="Line"/>
                  <p:cNvSpPr/>
                  <p:nvPr/>
                </p:nvSpPr>
                <p:spPr>
                  <a:xfrm flipV="1">
                    <a:off x="621430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49" name="Line"/>
                  <p:cNvSpPr/>
                  <p:nvPr/>
                </p:nvSpPr>
                <p:spPr>
                  <a:xfrm flipH="1" flipV="1">
                    <a:off x="222432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0" name="Line"/>
                  <p:cNvSpPr/>
                  <p:nvPr/>
                </p:nvSpPr>
                <p:spPr>
                  <a:xfrm flipH="1" flipV="1">
                    <a:off x="525330" y="95459"/>
                    <a:ext cx="192355" cy="155766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1" name="Circle"/>
                  <p:cNvSpPr/>
                  <p:nvPr/>
                </p:nvSpPr>
                <p:spPr>
                  <a:xfrm>
                    <a:off x="394764" y="0"/>
                    <a:ext cx="188336" cy="188336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2" name="Circle"/>
                  <p:cNvSpPr/>
                  <p:nvPr/>
                </p:nvSpPr>
                <p:spPr>
                  <a:xfrm>
                    <a:off x="646618" y="209875"/>
                    <a:ext cx="188337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3" name="Circle"/>
                  <p:cNvSpPr/>
                  <p:nvPr/>
                </p:nvSpPr>
                <p:spPr>
                  <a:xfrm>
                    <a:off x="791009" y="473545"/>
                    <a:ext cx="188337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</p:grpSp>
            <p:grpSp>
              <p:nvGrpSpPr>
                <p:cNvPr id="2268" name="Group"/>
                <p:cNvGrpSpPr/>
                <p:nvPr/>
              </p:nvGrpSpPr>
              <p:grpSpPr>
                <a:xfrm>
                  <a:off x="513197" y="231537"/>
                  <a:ext cx="979347" cy="661882"/>
                  <a:chOff x="0" y="0"/>
                  <a:chExt cx="979345" cy="661881"/>
                </a:xfrm>
              </p:grpSpPr>
              <p:sp>
                <p:nvSpPr>
                  <p:cNvPr id="2255" name="Circle"/>
                  <p:cNvSpPr/>
                  <p:nvPr/>
                </p:nvSpPr>
                <p:spPr>
                  <a:xfrm>
                    <a:off x="0" y="473545"/>
                    <a:ext cx="188336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6" name="Circle"/>
                  <p:cNvSpPr/>
                  <p:nvPr/>
                </p:nvSpPr>
                <p:spPr>
                  <a:xfrm>
                    <a:off x="263669" y="47354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7" name="Circle"/>
                  <p:cNvSpPr/>
                  <p:nvPr/>
                </p:nvSpPr>
                <p:spPr>
                  <a:xfrm>
                    <a:off x="791009" y="47354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8" name="Circle"/>
                  <p:cNvSpPr/>
                  <p:nvPr/>
                </p:nvSpPr>
                <p:spPr>
                  <a:xfrm>
                    <a:off x="131835" y="209875"/>
                    <a:ext cx="188336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59" name="Line"/>
                  <p:cNvSpPr/>
                  <p:nvPr/>
                </p:nvSpPr>
                <p:spPr>
                  <a:xfrm flipV="1">
                    <a:off x="263468" y="95458"/>
                    <a:ext cx="192354" cy="155766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0" name="Line"/>
                  <p:cNvSpPr/>
                  <p:nvPr/>
                </p:nvSpPr>
                <p:spPr>
                  <a:xfrm flipH="1" flipV="1">
                    <a:off x="747965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1" name="Line"/>
                  <p:cNvSpPr/>
                  <p:nvPr/>
                </p:nvSpPr>
                <p:spPr>
                  <a:xfrm flipV="1">
                    <a:off x="94090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2" name="Line"/>
                  <p:cNvSpPr/>
                  <p:nvPr/>
                </p:nvSpPr>
                <p:spPr>
                  <a:xfrm flipV="1">
                    <a:off x="621430" y="323556"/>
                    <a:ext cx="123758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3" name="Line"/>
                  <p:cNvSpPr/>
                  <p:nvPr/>
                </p:nvSpPr>
                <p:spPr>
                  <a:xfrm flipH="1" flipV="1">
                    <a:off x="222432" y="323556"/>
                    <a:ext cx="123757" cy="214354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4" name="Line"/>
                  <p:cNvSpPr/>
                  <p:nvPr/>
                </p:nvSpPr>
                <p:spPr>
                  <a:xfrm flipH="1" flipV="1">
                    <a:off x="525330" y="95458"/>
                    <a:ext cx="192355" cy="155766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5" name="Circle"/>
                  <p:cNvSpPr/>
                  <p:nvPr/>
                </p:nvSpPr>
                <p:spPr>
                  <a:xfrm>
                    <a:off x="394764" y="0"/>
                    <a:ext cx="188337" cy="188336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6" name="Circle"/>
                  <p:cNvSpPr/>
                  <p:nvPr/>
                </p:nvSpPr>
                <p:spPr>
                  <a:xfrm>
                    <a:off x="646618" y="209875"/>
                    <a:ext cx="188337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67" name="Circle"/>
                  <p:cNvSpPr/>
                  <p:nvPr/>
                </p:nvSpPr>
                <p:spPr>
                  <a:xfrm>
                    <a:off x="527339" y="473545"/>
                    <a:ext cx="188337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</p:grpSp>
            <p:grpSp>
              <p:nvGrpSpPr>
                <p:cNvPr id="2282" name="Group"/>
                <p:cNvGrpSpPr/>
                <p:nvPr/>
              </p:nvGrpSpPr>
              <p:grpSpPr>
                <a:xfrm>
                  <a:off x="0" y="475243"/>
                  <a:ext cx="979346" cy="661882"/>
                  <a:chOff x="0" y="0"/>
                  <a:chExt cx="979345" cy="661881"/>
                </a:xfrm>
              </p:grpSpPr>
              <p:sp>
                <p:nvSpPr>
                  <p:cNvPr id="2269" name="Circle"/>
                  <p:cNvSpPr/>
                  <p:nvPr/>
                </p:nvSpPr>
                <p:spPr>
                  <a:xfrm>
                    <a:off x="0" y="473545"/>
                    <a:ext cx="188336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0" name="Circle"/>
                  <p:cNvSpPr/>
                  <p:nvPr/>
                </p:nvSpPr>
                <p:spPr>
                  <a:xfrm>
                    <a:off x="527339" y="47354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1" name="Line"/>
                  <p:cNvSpPr/>
                  <p:nvPr/>
                </p:nvSpPr>
                <p:spPr>
                  <a:xfrm flipV="1">
                    <a:off x="280803" y="95458"/>
                    <a:ext cx="175019" cy="175020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2" name="Line"/>
                  <p:cNvSpPr/>
                  <p:nvPr/>
                </p:nvSpPr>
                <p:spPr>
                  <a:xfrm flipH="1" flipV="1">
                    <a:off x="747965" y="323557"/>
                    <a:ext cx="123758" cy="214353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3" name="Line"/>
                  <p:cNvSpPr/>
                  <p:nvPr/>
                </p:nvSpPr>
                <p:spPr>
                  <a:xfrm flipV="1">
                    <a:off x="94090" y="323557"/>
                    <a:ext cx="123758" cy="214353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4" name="Line"/>
                  <p:cNvSpPr/>
                  <p:nvPr/>
                </p:nvSpPr>
                <p:spPr>
                  <a:xfrm flipV="1">
                    <a:off x="621430" y="323557"/>
                    <a:ext cx="123758" cy="214353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5" name="Line"/>
                  <p:cNvSpPr/>
                  <p:nvPr/>
                </p:nvSpPr>
                <p:spPr>
                  <a:xfrm flipH="1" flipV="1">
                    <a:off x="222432" y="323557"/>
                    <a:ext cx="123758" cy="214353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82A8BF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6" name="Line"/>
                  <p:cNvSpPr/>
                  <p:nvPr/>
                </p:nvSpPr>
                <p:spPr>
                  <a:xfrm flipH="1" flipV="1">
                    <a:off x="525330" y="95459"/>
                    <a:ext cx="192355" cy="155766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525067"/>
                    </a:solidFill>
                    <a:prstDash val="solid"/>
                    <a:miter lim="8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7" name="Circle"/>
                  <p:cNvSpPr/>
                  <p:nvPr/>
                </p:nvSpPr>
                <p:spPr>
                  <a:xfrm>
                    <a:off x="394764" y="0"/>
                    <a:ext cx="188336" cy="188336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8" name="Circle"/>
                  <p:cNvSpPr/>
                  <p:nvPr/>
                </p:nvSpPr>
                <p:spPr>
                  <a:xfrm>
                    <a:off x="646618" y="20987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79" name="Circle"/>
                  <p:cNvSpPr/>
                  <p:nvPr/>
                </p:nvSpPr>
                <p:spPr>
                  <a:xfrm>
                    <a:off x="791009" y="473545"/>
                    <a:ext cx="188337" cy="188337"/>
                  </a:xfrm>
                  <a:prstGeom prst="ellipse">
                    <a:avLst/>
                  </a:prstGeom>
                  <a:solidFill>
                    <a:srgbClr val="525067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80" name="Circle"/>
                  <p:cNvSpPr/>
                  <p:nvPr/>
                </p:nvSpPr>
                <p:spPr>
                  <a:xfrm>
                    <a:off x="131835" y="209875"/>
                    <a:ext cx="188336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  <p:sp>
                <p:nvSpPr>
                  <p:cNvPr id="2281" name="Circle"/>
                  <p:cNvSpPr/>
                  <p:nvPr/>
                </p:nvSpPr>
                <p:spPr>
                  <a:xfrm>
                    <a:off x="263669" y="473545"/>
                    <a:ext cx="188337" cy="188337"/>
                  </a:xfrm>
                  <a:prstGeom prst="ellipse">
                    <a:avLst/>
                  </a:prstGeom>
                  <a:solidFill>
                    <a:srgbClr val="82A8BF"/>
                  </a:solidFill>
                  <a:ln w="12700" cap="flat">
                    <a:noFill/>
                    <a:miter lim="400000"/>
                  </a:ln>
                  <a:effectLst>
                    <a:outerShdw blurRad="101600" dist="50800" dir="5400000" rotWithShape="0">
                      <a:srgbClr val="000000">
                        <a:alpha val="2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914400">
                      <a:defRPr sz="1800">
                        <a:solidFill>
                          <a:srgbClr val="000000"/>
                        </a:solidFill>
                      </a:defRPr>
                    </a:pPr>
                    <a:endParaRPr/>
                  </a:p>
                </p:txBody>
              </p:sp>
            </p:grpSp>
          </p:grpSp>
          <p:pic>
            <p:nvPicPr>
              <p:cNvPr id="2284" name="005-visualizing-dendrograms-cutree-1.png" descr="005-visualizing-dendrograms-cutree-1.png"/>
              <p:cNvPicPr>
                <a:picLocks noChangeAspect="1"/>
              </p:cNvPicPr>
              <p:nvPr/>
            </p:nvPicPr>
            <p:blipFill>
              <a:blip r:embed="rId6"/>
              <a:srcRect l="10919" t="9574" r="21851" b="17640"/>
              <a:stretch>
                <a:fillRect/>
              </a:stretch>
            </p:blipFill>
            <p:spPr>
              <a:xfrm>
                <a:off x="6023284" y="1297702"/>
                <a:ext cx="2190611" cy="162537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285" name="NETWORK ANALYSIS"/>
              <p:cNvSpPr txBox="1"/>
              <p:nvPr/>
            </p:nvSpPr>
            <p:spPr>
              <a:xfrm>
                <a:off x="8001861" y="4029680"/>
                <a:ext cx="3312634" cy="4795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2400" b="1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NETWORK ANALYSIS</a:t>
                </a:r>
              </a:p>
            </p:txBody>
          </p:sp>
          <p:sp>
            <p:nvSpPr>
              <p:cNvPr id="2286" name="Circle"/>
              <p:cNvSpPr/>
              <p:nvPr/>
            </p:nvSpPr>
            <p:spPr>
              <a:xfrm>
                <a:off x="5748982" y="858537"/>
                <a:ext cx="2786314" cy="2786314"/>
              </a:xfrm>
              <a:prstGeom prst="ellipse">
                <a:avLst/>
              </a:prstGeom>
              <a:noFill/>
              <a:ln w="127000" cap="flat">
                <a:solidFill>
                  <a:srgbClr val="374556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287" name="MACHINE LEARNING"/>
              <p:cNvSpPr txBox="1"/>
              <p:nvPr/>
            </p:nvSpPr>
            <p:spPr>
              <a:xfrm>
                <a:off x="3142429" y="3998757"/>
                <a:ext cx="3205177" cy="5414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2400" b="1">
                    <a:solidFill>
                      <a:srgbClr val="374556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r>
                  <a:t>MACHINE LEARNING</a:t>
                </a:r>
              </a:p>
            </p:txBody>
          </p:sp>
          <p:sp>
            <p:nvSpPr>
              <p:cNvPr id="2288" name="Circle"/>
              <p:cNvSpPr/>
              <p:nvPr/>
            </p:nvSpPr>
            <p:spPr>
              <a:xfrm>
                <a:off x="950977" y="858404"/>
                <a:ext cx="2786315" cy="2786314"/>
              </a:xfrm>
              <a:prstGeom prst="ellipse">
                <a:avLst/>
              </a:prstGeom>
              <a:noFill/>
              <a:ln w="127000" cap="flat">
                <a:solidFill>
                  <a:srgbClr val="374556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289" name="Circle"/>
              <p:cNvSpPr/>
              <p:nvPr/>
            </p:nvSpPr>
            <p:spPr>
              <a:xfrm>
                <a:off x="3351860" y="4727116"/>
                <a:ext cx="2786314" cy="2786315"/>
              </a:xfrm>
              <a:prstGeom prst="ellipse">
                <a:avLst/>
              </a:prstGeom>
              <a:noFill/>
              <a:ln w="127000" cap="flat">
                <a:solidFill>
                  <a:srgbClr val="374556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290" name="Circle"/>
              <p:cNvSpPr/>
              <p:nvPr/>
            </p:nvSpPr>
            <p:spPr>
              <a:xfrm>
                <a:off x="8265021" y="4727116"/>
                <a:ext cx="2786314" cy="2786315"/>
              </a:xfrm>
              <a:prstGeom prst="ellipse">
                <a:avLst/>
              </a:prstGeom>
              <a:noFill/>
              <a:ln w="127000" cap="flat">
                <a:solidFill>
                  <a:srgbClr val="374556"/>
                </a:solidFill>
                <a:prstDash val="solid"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2293" name="Rounded Rectangle"/>
          <p:cNvSpPr/>
          <p:nvPr/>
        </p:nvSpPr>
        <p:spPr>
          <a:xfrm>
            <a:off x="1467607" y="4579240"/>
            <a:ext cx="7989119" cy="812260"/>
          </a:xfrm>
          <a:prstGeom prst="roundRect">
            <a:avLst>
              <a:gd name="adj" fmla="val 23453"/>
            </a:avLst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94" name="HIGH THROUGHPUT DATA"/>
          <p:cNvSpPr txBox="1"/>
          <p:nvPr/>
        </p:nvSpPr>
        <p:spPr>
          <a:xfrm>
            <a:off x="3064249" y="4705970"/>
            <a:ext cx="6052737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29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HIGH THROUGHPUT DATA</a:t>
            </a:r>
          </a:p>
        </p:txBody>
      </p:sp>
      <p:sp>
        <p:nvSpPr>
          <p:cNvPr id="2295" name="36"/>
          <p:cNvSpPr txBox="1"/>
          <p:nvPr/>
        </p:nvSpPr>
        <p:spPr>
          <a:xfrm>
            <a:off x="374649" y="13057831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3</a:t>
            </a:r>
            <a:r>
              <a:rPr lang="da-DK"/>
              <a:t>3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2" grpId="1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D629D-552B-AE97-16DD-1D86AC88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Rectangle">
            <a:extLst>
              <a:ext uri="{FF2B5EF4-FFF2-40B4-BE49-F238E27FC236}">
                <a16:creationId xmlns:a16="http://schemas.microsoft.com/office/drawing/2014/main" id="{439B78F3-4961-21E6-1021-64A66AEBCD2F}"/>
              </a:ext>
            </a:extLst>
          </p:cNvPr>
          <p:cNvSpPr/>
          <p:nvPr/>
        </p:nvSpPr>
        <p:spPr>
          <a:xfrm>
            <a:off x="17520549" y="-57430"/>
            <a:ext cx="6940820" cy="13830860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939" name="Group">
            <a:extLst>
              <a:ext uri="{FF2B5EF4-FFF2-40B4-BE49-F238E27FC236}">
                <a16:creationId xmlns:a16="http://schemas.microsoft.com/office/drawing/2014/main" id="{8323E3E2-0B5D-4C34-7134-00EAEF35770F}"/>
              </a:ext>
            </a:extLst>
          </p:cNvPr>
          <p:cNvGrpSpPr/>
          <p:nvPr/>
        </p:nvGrpSpPr>
        <p:grpSpPr>
          <a:xfrm>
            <a:off x="18323799" y="6247505"/>
            <a:ext cx="5330386" cy="2029391"/>
            <a:chOff x="0" y="-76200"/>
            <a:chExt cx="5330385" cy="2029390"/>
          </a:xfrm>
        </p:grpSpPr>
        <p:sp>
          <p:nvSpPr>
            <p:cNvPr id="1936" name="EXERCISE 5">
              <a:extLst>
                <a:ext uri="{FF2B5EF4-FFF2-40B4-BE49-F238E27FC236}">
                  <a16:creationId xmlns:a16="http://schemas.microsoft.com/office/drawing/2014/main" id="{666A2C59-D707-C953-424A-95CE1CA3C164}"/>
                </a:ext>
              </a:extLst>
            </p:cNvPr>
            <p:cNvSpPr txBox="1"/>
            <p:nvPr/>
          </p:nvSpPr>
          <p:spPr>
            <a:xfrm>
              <a:off x="0" y="405033"/>
              <a:ext cx="5330386" cy="1548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EXERCISE </a:t>
              </a:r>
              <a:r>
                <a:rPr lang="da-DK" b="1"/>
                <a:t>5</a:t>
              </a:r>
              <a:endParaRPr b="1"/>
            </a:p>
          </p:txBody>
        </p:sp>
        <p:sp>
          <p:nvSpPr>
            <p:cNvPr id="1937" name="Statistics in R">
              <a:extLst>
                <a:ext uri="{FF2B5EF4-FFF2-40B4-BE49-F238E27FC236}">
                  <a16:creationId xmlns:a16="http://schemas.microsoft.com/office/drawing/2014/main" id="{01848A0F-E47C-024C-377E-719000DE6356}"/>
                </a:ext>
              </a:extLst>
            </p:cNvPr>
            <p:cNvSpPr txBox="1"/>
            <p:nvPr/>
          </p:nvSpPr>
          <p:spPr>
            <a:xfrm>
              <a:off x="1462211" y="-76200"/>
              <a:ext cx="3636519" cy="45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2200" b="1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Statistics in R</a:t>
              </a:r>
            </a:p>
          </p:txBody>
        </p:sp>
        <p:sp>
          <p:nvSpPr>
            <p:cNvPr id="1938" name="Line">
              <a:extLst>
                <a:ext uri="{FF2B5EF4-FFF2-40B4-BE49-F238E27FC236}">
                  <a16:creationId xmlns:a16="http://schemas.microsoft.com/office/drawing/2014/main" id="{E19EB317-3A89-106E-6405-8F2DD417C82C}"/>
                </a:ext>
              </a:extLst>
            </p:cNvPr>
            <p:cNvSpPr/>
            <p:nvPr/>
          </p:nvSpPr>
          <p:spPr>
            <a:xfrm>
              <a:off x="859993" y="149891"/>
              <a:ext cx="958221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940" name="Line 18">
            <a:extLst>
              <a:ext uri="{FF2B5EF4-FFF2-40B4-BE49-F238E27FC236}">
                <a16:creationId xmlns:a16="http://schemas.microsoft.com/office/drawing/2014/main" id="{784827C3-CFC2-44A9-C399-41FBAE44974D}"/>
              </a:ext>
            </a:extLst>
          </p:cNvPr>
          <p:cNvSpPr/>
          <p:nvPr/>
        </p:nvSpPr>
        <p:spPr>
          <a:xfrm>
            <a:off x="4767351" y="6270378"/>
            <a:ext cx="4793995" cy="1"/>
          </a:xfrm>
          <a:prstGeom prst="line">
            <a:avLst/>
          </a:pr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1" name="Oval 9">
            <a:extLst>
              <a:ext uri="{FF2B5EF4-FFF2-40B4-BE49-F238E27FC236}">
                <a16:creationId xmlns:a16="http://schemas.microsoft.com/office/drawing/2014/main" id="{C86E4F96-E644-400D-157B-4FBFC5051987}"/>
              </a:ext>
            </a:extLst>
          </p:cNvPr>
          <p:cNvSpPr/>
          <p:nvPr/>
        </p:nvSpPr>
        <p:spPr>
          <a:xfrm>
            <a:off x="9774206" y="5587750"/>
            <a:ext cx="1331012" cy="1331012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2" name="Oval 14">
            <a:extLst>
              <a:ext uri="{FF2B5EF4-FFF2-40B4-BE49-F238E27FC236}">
                <a16:creationId xmlns:a16="http://schemas.microsoft.com/office/drawing/2014/main" id="{587F9CEA-2D70-3056-5578-FDFE02B0C56D}"/>
              </a:ext>
            </a:extLst>
          </p:cNvPr>
          <p:cNvSpPr/>
          <p:nvPr/>
        </p:nvSpPr>
        <p:spPr>
          <a:xfrm>
            <a:off x="9606119" y="5418685"/>
            <a:ext cx="1667186" cy="1669141"/>
          </a:xfrm>
          <a:prstGeom prst="ellipse">
            <a:avLst/>
          </a:pr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3" name="Oval 28">
            <a:extLst>
              <a:ext uri="{FF2B5EF4-FFF2-40B4-BE49-F238E27FC236}">
                <a16:creationId xmlns:a16="http://schemas.microsoft.com/office/drawing/2014/main" id="{D241F16D-5694-2AAB-999D-76946D729258}"/>
              </a:ext>
            </a:extLst>
          </p:cNvPr>
          <p:cNvSpPr/>
          <p:nvPr/>
        </p:nvSpPr>
        <p:spPr>
          <a:xfrm>
            <a:off x="7106729" y="6192962"/>
            <a:ext cx="160270" cy="158315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4" name="Oval 29">
            <a:extLst>
              <a:ext uri="{FF2B5EF4-FFF2-40B4-BE49-F238E27FC236}">
                <a16:creationId xmlns:a16="http://schemas.microsoft.com/office/drawing/2014/main" id="{8653E7A4-DBC9-3464-CB15-0D3DBE3B3A79}"/>
              </a:ext>
            </a:extLst>
          </p:cNvPr>
          <p:cNvSpPr/>
          <p:nvPr/>
        </p:nvSpPr>
        <p:spPr>
          <a:xfrm>
            <a:off x="9522775" y="6174098"/>
            <a:ext cx="158316" cy="158316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5" name="Oval 10">
            <a:extLst>
              <a:ext uri="{FF2B5EF4-FFF2-40B4-BE49-F238E27FC236}">
                <a16:creationId xmlns:a16="http://schemas.microsoft.com/office/drawing/2014/main" id="{BFCB2141-A1A4-CD2D-CB5F-F49B9193ABD1}"/>
              </a:ext>
            </a:extLst>
          </p:cNvPr>
          <p:cNvSpPr/>
          <p:nvPr/>
        </p:nvSpPr>
        <p:spPr>
          <a:xfrm>
            <a:off x="13479468" y="8140709"/>
            <a:ext cx="1331013" cy="1336875"/>
          </a:xfrm>
          <a:prstGeom prst="ellipse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6" name="Oval 15">
            <a:extLst>
              <a:ext uri="{FF2B5EF4-FFF2-40B4-BE49-F238E27FC236}">
                <a16:creationId xmlns:a16="http://schemas.microsoft.com/office/drawing/2014/main" id="{B8389C8C-F4B3-1B5F-8456-C153EBBB3556}"/>
              </a:ext>
            </a:extLst>
          </p:cNvPr>
          <p:cNvSpPr/>
          <p:nvPr/>
        </p:nvSpPr>
        <p:spPr>
          <a:xfrm>
            <a:off x="13311382" y="7972621"/>
            <a:ext cx="1667186" cy="1673049"/>
          </a:xfrm>
          <a:prstGeom prst="ellipse">
            <a:avLst/>
          </a:pr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9" name="Oval 8">
            <a:extLst>
              <a:ext uri="{FF2B5EF4-FFF2-40B4-BE49-F238E27FC236}">
                <a16:creationId xmlns:a16="http://schemas.microsoft.com/office/drawing/2014/main" id="{AFFE250C-401B-35E0-107B-4E749E708947}"/>
              </a:ext>
            </a:extLst>
          </p:cNvPr>
          <p:cNvSpPr/>
          <p:nvPr/>
        </p:nvSpPr>
        <p:spPr>
          <a:xfrm>
            <a:off x="11244605" y="7078696"/>
            <a:ext cx="1331013" cy="1332968"/>
          </a:xfrm>
          <a:prstGeom prst="ellipse">
            <a:avLst/>
          </a:prstGeom>
          <a:solidFill>
            <a:srgbClr val="C0C0C0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0" name="Oval 13">
            <a:extLst>
              <a:ext uri="{FF2B5EF4-FFF2-40B4-BE49-F238E27FC236}">
                <a16:creationId xmlns:a16="http://schemas.microsoft.com/office/drawing/2014/main" id="{BEEE7A80-59AF-EB7D-4FAF-24FDCDAE09EF}"/>
              </a:ext>
            </a:extLst>
          </p:cNvPr>
          <p:cNvSpPr/>
          <p:nvPr/>
        </p:nvSpPr>
        <p:spPr>
          <a:xfrm>
            <a:off x="11076520" y="6910609"/>
            <a:ext cx="1667185" cy="1669140"/>
          </a:xfrm>
          <a:prstGeom prst="ellipse">
            <a:avLst/>
          </a:pr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1" name="Freeform 19">
            <a:extLst>
              <a:ext uri="{FF2B5EF4-FFF2-40B4-BE49-F238E27FC236}">
                <a16:creationId xmlns:a16="http://schemas.microsoft.com/office/drawing/2014/main" id="{007B6FBD-FD40-E2AF-FA70-1CD2429996ED}"/>
              </a:ext>
            </a:extLst>
          </p:cNvPr>
          <p:cNvSpPr/>
          <p:nvPr/>
        </p:nvSpPr>
        <p:spPr>
          <a:xfrm>
            <a:off x="4429224" y="6774019"/>
            <a:ext cx="6548183" cy="9763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173" y="0"/>
                </a:lnTo>
                <a:lnTo>
                  <a:pt x="15650" y="21600"/>
                </a:lnTo>
                <a:lnTo>
                  <a:pt x="21600" y="21600"/>
                </a:lnTo>
              </a:path>
            </a:pathLst>
          </a:custGeom>
          <a:ln w="14288" cap="rnd">
            <a:solidFill>
              <a:srgbClr val="81A489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2" name="Oval 31">
            <a:extLst>
              <a:ext uri="{FF2B5EF4-FFF2-40B4-BE49-F238E27FC236}">
                <a16:creationId xmlns:a16="http://schemas.microsoft.com/office/drawing/2014/main" id="{F55E780B-3D03-5AB2-4F57-BED1820FBB15}"/>
              </a:ext>
            </a:extLst>
          </p:cNvPr>
          <p:cNvSpPr/>
          <p:nvPr/>
        </p:nvSpPr>
        <p:spPr>
          <a:xfrm>
            <a:off x="7752343" y="6683533"/>
            <a:ext cx="160270" cy="164179"/>
          </a:xfrm>
          <a:prstGeom prst="ellipse">
            <a:avLst/>
          </a:prstGeom>
          <a:solidFill>
            <a:srgbClr val="C0C0C0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3" name="Oval 32">
            <a:extLst>
              <a:ext uri="{FF2B5EF4-FFF2-40B4-BE49-F238E27FC236}">
                <a16:creationId xmlns:a16="http://schemas.microsoft.com/office/drawing/2014/main" id="{A2129F78-0253-C681-FD63-D96B64C731E6}"/>
              </a:ext>
            </a:extLst>
          </p:cNvPr>
          <p:cNvSpPr/>
          <p:nvPr/>
        </p:nvSpPr>
        <p:spPr>
          <a:xfrm>
            <a:off x="10990522" y="7665044"/>
            <a:ext cx="164178" cy="160271"/>
          </a:xfrm>
          <a:prstGeom prst="ellipse">
            <a:avLst/>
          </a:prstGeom>
          <a:solidFill>
            <a:srgbClr val="C0C0C0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4" name="Freeform 17">
            <a:extLst>
              <a:ext uri="{FF2B5EF4-FFF2-40B4-BE49-F238E27FC236}">
                <a16:creationId xmlns:a16="http://schemas.microsoft.com/office/drawing/2014/main" id="{86C0E4E0-86FD-9490-5F91-ADA058105604}"/>
              </a:ext>
            </a:extLst>
          </p:cNvPr>
          <p:cNvSpPr/>
          <p:nvPr/>
        </p:nvSpPr>
        <p:spPr>
          <a:xfrm>
            <a:off x="4358862" y="5161933"/>
            <a:ext cx="7904860" cy="613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9453" y="0"/>
                </a:lnTo>
                <a:lnTo>
                  <a:pt x="7234" y="21600"/>
                </a:lnTo>
                <a:lnTo>
                  <a:pt x="0" y="21600"/>
                </a:lnTo>
              </a:path>
            </a:pathLst>
          </a:cu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5" name="Oval 7">
            <a:extLst>
              <a:ext uri="{FF2B5EF4-FFF2-40B4-BE49-F238E27FC236}">
                <a16:creationId xmlns:a16="http://schemas.microsoft.com/office/drawing/2014/main" id="{117E3106-60C8-B705-6A0F-8F8CC280658D}"/>
              </a:ext>
            </a:extLst>
          </p:cNvPr>
          <p:cNvSpPr/>
          <p:nvPr/>
        </p:nvSpPr>
        <p:spPr>
          <a:xfrm>
            <a:off x="12475337" y="4516639"/>
            <a:ext cx="1331013" cy="1331012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6" name="Oval 12">
            <a:extLst>
              <a:ext uri="{FF2B5EF4-FFF2-40B4-BE49-F238E27FC236}">
                <a16:creationId xmlns:a16="http://schemas.microsoft.com/office/drawing/2014/main" id="{BD1B41E6-B259-05A3-6268-F1FE5AB0559E}"/>
              </a:ext>
            </a:extLst>
          </p:cNvPr>
          <p:cNvSpPr/>
          <p:nvPr/>
        </p:nvSpPr>
        <p:spPr>
          <a:xfrm>
            <a:off x="12307251" y="4347574"/>
            <a:ext cx="1667185" cy="1669141"/>
          </a:xfrm>
          <a:prstGeom prst="ellipse">
            <a:avLst/>
          </a:pr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7" name="Oval 25">
            <a:extLst>
              <a:ext uri="{FF2B5EF4-FFF2-40B4-BE49-F238E27FC236}">
                <a16:creationId xmlns:a16="http://schemas.microsoft.com/office/drawing/2014/main" id="{5F5C53A3-067D-F4C0-6577-4275B1F517F4}"/>
              </a:ext>
            </a:extLst>
          </p:cNvPr>
          <p:cNvSpPr/>
          <p:nvPr/>
        </p:nvSpPr>
        <p:spPr>
          <a:xfrm>
            <a:off x="7726943" y="5102987"/>
            <a:ext cx="160270" cy="158316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8" name="Oval 26">
            <a:extLst>
              <a:ext uri="{FF2B5EF4-FFF2-40B4-BE49-F238E27FC236}">
                <a16:creationId xmlns:a16="http://schemas.microsoft.com/office/drawing/2014/main" id="{60AB6388-D3D6-A02C-41D6-996F729D792E}"/>
              </a:ext>
            </a:extLst>
          </p:cNvPr>
          <p:cNvSpPr/>
          <p:nvPr/>
        </p:nvSpPr>
        <p:spPr>
          <a:xfrm>
            <a:off x="12230058" y="5077587"/>
            <a:ext cx="164179" cy="158316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59" name="Oval 6">
            <a:extLst>
              <a:ext uri="{FF2B5EF4-FFF2-40B4-BE49-F238E27FC236}">
                <a16:creationId xmlns:a16="http://schemas.microsoft.com/office/drawing/2014/main" id="{7AA8FF88-3121-D6E5-D6FF-B5F098ED8772}"/>
              </a:ext>
            </a:extLst>
          </p:cNvPr>
          <p:cNvSpPr/>
          <p:nvPr/>
        </p:nvSpPr>
        <p:spPr>
          <a:xfrm>
            <a:off x="10152269" y="3161822"/>
            <a:ext cx="1331012" cy="1332965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60" name="Oval 11">
            <a:extLst>
              <a:ext uri="{FF2B5EF4-FFF2-40B4-BE49-F238E27FC236}">
                <a16:creationId xmlns:a16="http://schemas.microsoft.com/office/drawing/2014/main" id="{85AD66E7-9B4F-C723-075B-773650CF61D0}"/>
              </a:ext>
            </a:extLst>
          </p:cNvPr>
          <p:cNvSpPr/>
          <p:nvPr/>
        </p:nvSpPr>
        <p:spPr>
          <a:xfrm>
            <a:off x="9984183" y="2993735"/>
            <a:ext cx="1667186" cy="1669138"/>
          </a:xfrm>
          <a:prstGeom prst="ellipse">
            <a:avLst/>
          </a:pr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61" name="Freeform 16">
            <a:extLst>
              <a:ext uri="{FF2B5EF4-FFF2-40B4-BE49-F238E27FC236}">
                <a16:creationId xmlns:a16="http://schemas.microsoft.com/office/drawing/2014/main" id="{75ED5076-1D3B-3468-DE97-0A71632D5482}"/>
              </a:ext>
            </a:extLst>
          </p:cNvPr>
          <p:cNvSpPr/>
          <p:nvPr/>
        </p:nvSpPr>
        <p:spPr>
          <a:xfrm>
            <a:off x="5067336" y="3854310"/>
            <a:ext cx="4874056" cy="14040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1178" y="0"/>
                </a:lnTo>
                <a:lnTo>
                  <a:pt x="2722" y="21600"/>
                </a:lnTo>
                <a:lnTo>
                  <a:pt x="0" y="21600"/>
                </a:lnTo>
              </a:path>
            </a:pathLst>
          </a:cu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62" name="Freeform 22">
            <a:extLst>
              <a:ext uri="{FF2B5EF4-FFF2-40B4-BE49-F238E27FC236}">
                <a16:creationId xmlns:a16="http://schemas.microsoft.com/office/drawing/2014/main" id="{C832491F-5396-69EB-8400-75EA791D800A}"/>
              </a:ext>
            </a:extLst>
          </p:cNvPr>
          <p:cNvSpPr/>
          <p:nvPr/>
        </p:nvSpPr>
        <p:spPr>
          <a:xfrm>
            <a:off x="9902469" y="3774729"/>
            <a:ext cx="157445" cy="160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125" h="18511" extrusionOk="0">
                <a:moveTo>
                  <a:pt x="11762" y="18242"/>
                </a:moveTo>
                <a:cubicBezTo>
                  <a:pt x="4742" y="19862"/>
                  <a:pt x="-1738" y="13922"/>
                  <a:pt x="422" y="6902"/>
                </a:cubicBezTo>
                <a:cubicBezTo>
                  <a:pt x="962" y="3662"/>
                  <a:pt x="3662" y="962"/>
                  <a:pt x="6362" y="422"/>
                </a:cubicBezTo>
                <a:cubicBezTo>
                  <a:pt x="13382" y="-1738"/>
                  <a:pt x="19862" y="4742"/>
                  <a:pt x="17702" y="11762"/>
                </a:cubicBezTo>
                <a:cubicBezTo>
                  <a:pt x="17162" y="15002"/>
                  <a:pt x="14462" y="17162"/>
                  <a:pt x="11762" y="18242"/>
                </a:cubicBezTo>
                <a:close/>
              </a:path>
            </a:pathLst>
          </a:cu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63" name="1">
            <a:extLst>
              <a:ext uri="{FF2B5EF4-FFF2-40B4-BE49-F238E27FC236}">
                <a16:creationId xmlns:a16="http://schemas.microsoft.com/office/drawing/2014/main" id="{50B711E1-DC3D-C662-263E-DB54A618711D}"/>
              </a:ext>
            </a:extLst>
          </p:cNvPr>
          <p:cNvSpPr txBox="1"/>
          <p:nvPr/>
        </p:nvSpPr>
        <p:spPr>
          <a:xfrm>
            <a:off x="10533895" y="3236515"/>
            <a:ext cx="567761" cy="126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1964" name="2">
            <a:extLst>
              <a:ext uri="{FF2B5EF4-FFF2-40B4-BE49-F238E27FC236}">
                <a16:creationId xmlns:a16="http://schemas.microsoft.com/office/drawing/2014/main" id="{52A049D5-9A69-BA32-888A-346A0FA0E918}"/>
              </a:ext>
            </a:extLst>
          </p:cNvPr>
          <p:cNvSpPr txBox="1"/>
          <p:nvPr/>
        </p:nvSpPr>
        <p:spPr>
          <a:xfrm>
            <a:off x="12895392" y="4641571"/>
            <a:ext cx="567762" cy="129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1965" name="3">
            <a:extLst>
              <a:ext uri="{FF2B5EF4-FFF2-40B4-BE49-F238E27FC236}">
                <a16:creationId xmlns:a16="http://schemas.microsoft.com/office/drawing/2014/main" id="{4173185C-C202-1E5C-99F6-511868B641C8}"/>
              </a:ext>
            </a:extLst>
          </p:cNvPr>
          <p:cNvSpPr txBox="1"/>
          <p:nvPr/>
        </p:nvSpPr>
        <p:spPr>
          <a:xfrm>
            <a:off x="10175789" y="5714437"/>
            <a:ext cx="567761" cy="129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1966" name="4">
            <a:extLst>
              <a:ext uri="{FF2B5EF4-FFF2-40B4-BE49-F238E27FC236}">
                <a16:creationId xmlns:a16="http://schemas.microsoft.com/office/drawing/2014/main" id="{F2BBF872-76A3-32D4-AF9C-2154AA28598C}"/>
              </a:ext>
            </a:extLst>
          </p:cNvPr>
          <p:cNvSpPr txBox="1"/>
          <p:nvPr/>
        </p:nvSpPr>
        <p:spPr>
          <a:xfrm>
            <a:off x="11606472" y="7184257"/>
            <a:ext cx="567761" cy="1331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1967" name="5">
            <a:extLst>
              <a:ext uri="{FF2B5EF4-FFF2-40B4-BE49-F238E27FC236}">
                <a16:creationId xmlns:a16="http://schemas.microsoft.com/office/drawing/2014/main" id="{4C2EBC04-420E-FBE9-42BD-BE1D71816C3F}"/>
              </a:ext>
            </a:extLst>
          </p:cNvPr>
          <p:cNvSpPr txBox="1"/>
          <p:nvPr/>
        </p:nvSpPr>
        <p:spPr>
          <a:xfrm>
            <a:off x="13882267" y="8252242"/>
            <a:ext cx="567761" cy="129679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>
            <a:lvl1pPr>
              <a:defRPr sz="7000" b="1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5</a:t>
            </a:r>
          </a:p>
        </p:txBody>
      </p:sp>
      <p:sp>
        <p:nvSpPr>
          <p:cNvPr id="1968" name="Oval 23">
            <a:extLst>
              <a:ext uri="{FF2B5EF4-FFF2-40B4-BE49-F238E27FC236}">
                <a16:creationId xmlns:a16="http://schemas.microsoft.com/office/drawing/2014/main" id="{AFA47D23-8189-941A-6F33-111AFB6283B2}"/>
              </a:ext>
            </a:extLst>
          </p:cNvPr>
          <p:cNvSpPr/>
          <p:nvPr/>
        </p:nvSpPr>
        <p:spPr>
          <a:xfrm>
            <a:off x="6344746" y="4583930"/>
            <a:ext cx="160271" cy="160268"/>
          </a:xfrm>
          <a:prstGeom prst="ellipse">
            <a:avLst/>
          </a:prstGeom>
          <a:solidFill>
            <a:srgbClr val="AFAFAF">
              <a:alpha val="79983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69" name="Freeform 16">
            <a:extLst>
              <a:ext uri="{FF2B5EF4-FFF2-40B4-BE49-F238E27FC236}">
                <a16:creationId xmlns:a16="http://schemas.microsoft.com/office/drawing/2014/main" id="{1CFCD6FD-8D78-B7F9-53B5-15C849CDE291}"/>
              </a:ext>
            </a:extLst>
          </p:cNvPr>
          <p:cNvSpPr/>
          <p:nvPr/>
        </p:nvSpPr>
        <p:spPr>
          <a:xfrm rot="10800000" flipH="1">
            <a:off x="5063428" y="7228286"/>
            <a:ext cx="8195041" cy="1574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1178" y="0"/>
                </a:lnTo>
                <a:lnTo>
                  <a:pt x="2722" y="21600"/>
                </a:lnTo>
                <a:lnTo>
                  <a:pt x="0" y="21600"/>
                </a:lnTo>
              </a:path>
            </a:pathLst>
          </a:custGeom>
          <a:ln w="14288" cap="rnd">
            <a:solidFill>
              <a:srgbClr val="808080"/>
            </a:solidFill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70" name="Oval 28">
            <a:extLst>
              <a:ext uri="{FF2B5EF4-FFF2-40B4-BE49-F238E27FC236}">
                <a16:creationId xmlns:a16="http://schemas.microsoft.com/office/drawing/2014/main" id="{07539E4D-DE5E-EC98-5E5D-0F4FCA91EDF2}"/>
              </a:ext>
            </a:extLst>
          </p:cNvPr>
          <p:cNvSpPr/>
          <p:nvPr/>
        </p:nvSpPr>
        <p:spPr>
          <a:xfrm>
            <a:off x="6006062" y="7157642"/>
            <a:ext cx="160271" cy="158316"/>
          </a:xfrm>
          <a:prstGeom prst="ellipse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grpSp>
        <p:nvGrpSpPr>
          <p:cNvPr id="1980" name="Group">
            <a:extLst>
              <a:ext uri="{FF2B5EF4-FFF2-40B4-BE49-F238E27FC236}">
                <a16:creationId xmlns:a16="http://schemas.microsoft.com/office/drawing/2014/main" id="{AB2CA87A-DA7D-C7C0-7C61-556BCD76959B}"/>
              </a:ext>
            </a:extLst>
          </p:cNvPr>
          <p:cNvGrpSpPr/>
          <p:nvPr/>
        </p:nvGrpSpPr>
        <p:grpSpPr>
          <a:xfrm>
            <a:off x="1103372" y="4977684"/>
            <a:ext cx="4393054" cy="2587092"/>
            <a:chOff x="0" y="0"/>
            <a:chExt cx="4393053" cy="2587091"/>
          </a:xfrm>
        </p:grpSpPr>
        <p:sp>
          <p:nvSpPr>
            <p:cNvPr id="1971" name="Freeform 395">
              <a:extLst>
                <a:ext uri="{FF2B5EF4-FFF2-40B4-BE49-F238E27FC236}">
                  <a16:creationId xmlns:a16="http://schemas.microsoft.com/office/drawing/2014/main" id="{584FEB9D-6931-21D8-5D34-7E81817C406F}"/>
                </a:ext>
              </a:extLst>
            </p:cNvPr>
            <p:cNvSpPr/>
            <p:nvPr/>
          </p:nvSpPr>
          <p:spPr>
            <a:xfrm>
              <a:off x="402774" y="0"/>
              <a:ext cx="3585943" cy="2510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84" y="21600"/>
                  </a:moveTo>
                  <a:cubicBezTo>
                    <a:pt x="316" y="21600"/>
                    <a:pt x="316" y="21600"/>
                    <a:pt x="316" y="21600"/>
                  </a:cubicBezTo>
                  <a:cubicBezTo>
                    <a:pt x="158" y="21600"/>
                    <a:pt x="0" y="21402"/>
                    <a:pt x="0" y="21137"/>
                  </a:cubicBezTo>
                  <a:cubicBezTo>
                    <a:pt x="0" y="1025"/>
                    <a:pt x="0" y="1025"/>
                    <a:pt x="0" y="1025"/>
                  </a:cubicBezTo>
                  <a:cubicBezTo>
                    <a:pt x="0" y="463"/>
                    <a:pt x="316" y="0"/>
                    <a:pt x="699" y="0"/>
                  </a:cubicBezTo>
                  <a:cubicBezTo>
                    <a:pt x="20901" y="0"/>
                    <a:pt x="20901" y="0"/>
                    <a:pt x="20901" y="0"/>
                  </a:cubicBezTo>
                  <a:cubicBezTo>
                    <a:pt x="21284" y="0"/>
                    <a:pt x="21600" y="463"/>
                    <a:pt x="21600" y="1025"/>
                  </a:cubicBezTo>
                  <a:cubicBezTo>
                    <a:pt x="21600" y="21137"/>
                    <a:pt x="21600" y="21137"/>
                    <a:pt x="21600" y="21137"/>
                  </a:cubicBezTo>
                  <a:cubicBezTo>
                    <a:pt x="21600" y="21402"/>
                    <a:pt x="21442" y="21600"/>
                    <a:pt x="21284" y="21600"/>
                  </a:cubicBezTo>
                  <a:close/>
                </a:path>
              </a:pathLst>
            </a:custGeom>
            <a:solidFill>
              <a:srgbClr val="5250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72" name="Freeform 396">
              <a:extLst>
                <a:ext uri="{FF2B5EF4-FFF2-40B4-BE49-F238E27FC236}">
                  <a16:creationId xmlns:a16="http://schemas.microsoft.com/office/drawing/2014/main" id="{CD7594CE-78C6-9294-24A7-CC1A904790C0}"/>
                </a:ext>
              </a:extLst>
            </p:cNvPr>
            <p:cNvSpPr/>
            <p:nvPr/>
          </p:nvSpPr>
          <p:spPr>
            <a:xfrm>
              <a:off x="402774" y="2402869"/>
              <a:ext cx="3585943" cy="107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10800"/>
                    <a:pt x="0" y="10800"/>
                    <a:pt x="0" y="10800"/>
                  </a:cubicBezTo>
                  <a:cubicBezTo>
                    <a:pt x="0" y="16971"/>
                    <a:pt x="158" y="21600"/>
                    <a:pt x="316" y="21600"/>
                  </a:cubicBezTo>
                  <a:cubicBezTo>
                    <a:pt x="21284" y="21600"/>
                    <a:pt x="21284" y="21600"/>
                    <a:pt x="21284" y="21600"/>
                  </a:cubicBezTo>
                  <a:cubicBezTo>
                    <a:pt x="21442" y="21600"/>
                    <a:pt x="21600" y="16971"/>
                    <a:pt x="21600" y="10800"/>
                  </a:cubicBezTo>
                  <a:cubicBezTo>
                    <a:pt x="21600" y="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8465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73" name="Rectangle 397">
              <a:extLst>
                <a:ext uri="{FF2B5EF4-FFF2-40B4-BE49-F238E27FC236}">
                  <a16:creationId xmlns:a16="http://schemas.microsoft.com/office/drawing/2014/main" id="{5F67464E-40F3-6F17-C45A-142E3E8C1E59}"/>
                </a:ext>
              </a:extLst>
            </p:cNvPr>
            <p:cNvSpPr/>
            <p:nvPr/>
          </p:nvSpPr>
          <p:spPr>
            <a:xfrm>
              <a:off x="546399" y="177812"/>
              <a:ext cx="3300254" cy="212413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74" name="Freeform 398">
              <a:extLst>
                <a:ext uri="{FF2B5EF4-FFF2-40B4-BE49-F238E27FC236}">
                  <a16:creationId xmlns:a16="http://schemas.microsoft.com/office/drawing/2014/main" id="{47485616-C258-8815-4F30-22EF8DAA2231}"/>
                </a:ext>
              </a:extLst>
            </p:cNvPr>
            <p:cNvSpPr/>
            <p:nvPr/>
          </p:nvSpPr>
          <p:spPr>
            <a:xfrm>
              <a:off x="0" y="2521411"/>
              <a:ext cx="4393053" cy="65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0"/>
                    <a:pt x="405" y="21600"/>
                    <a:pt x="2741" y="21600"/>
                  </a:cubicBezTo>
                  <a:cubicBezTo>
                    <a:pt x="5096" y="21600"/>
                    <a:pt x="16504" y="21600"/>
                    <a:pt x="18840" y="21600"/>
                  </a:cubicBezTo>
                  <a:cubicBezTo>
                    <a:pt x="21195" y="21600"/>
                    <a:pt x="21600" y="0"/>
                    <a:pt x="216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75" name="Rectangle 399">
              <a:extLst>
                <a:ext uri="{FF2B5EF4-FFF2-40B4-BE49-F238E27FC236}">
                  <a16:creationId xmlns:a16="http://schemas.microsoft.com/office/drawing/2014/main" id="{6D8504E3-4E67-1F34-2E3E-AF413AB82210}"/>
                </a:ext>
              </a:extLst>
            </p:cNvPr>
            <p:cNvSpPr/>
            <p:nvPr/>
          </p:nvSpPr>
          <p:spPr>
            <a:xfrm>
              <a:off x="0" y="2494178"/>
              <a:ext cx="4393053" cy="27234"/>
            </a:xfrm>
            <a:prstGeom prst="rect">
              <a:avLst/>
            </a:prstGeom>
            <a:solidFill>
              <a:srgbClr val="5250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76" name="Oval">
              <a:extLst>
                <a:ext uri="{FF2B5EF4-FFF2-40B4-BE49-F238E27FC236}">
                  <a16:creationId xmlns:a16="http://schemas.microsoft.com/office/drawing/2014/main" id="{55DA3E7D-AB3F-1419-170A-474CC2940619}"/>
                </a:ext>
              </a:extLst>
            </p:cNvPr>
            <p:cNvSpPr/>
            <p:nvPr/>
          </p:nvSpPr>
          <p:spPr>
            <a:xfrm>
              <a:off x="1094086" y="812619"/>
              <a:ext cx="785398" cy="780611"/>
            </a:xfrm>
            <a:prstGeom prst="ellipse">
              <a:avLst/>
            </a:prstGeom>
            <a:solidFill>
              <a:srgbClr val="48465A"/>
            </a:solidFill>
            <a:ln w="12700" cap="flat">
              <a:noFill/>
              <a:miter lim="400000"/>
            </a:ln>
            <a:effectLst>
              <a:outerShdw blurRad="101600" dist="76200" dir="5400000" rotWithShape="0">
                <a:srgbClr val="000000">
                  <a:alpha val="3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977" name="Oval">
              <a:extLst>
                <a:ext uri="{FF2B5EF4-FFF2-40B4-BE49-F238E27FC236}">
                  <a16:creationId xmlns:a16="http://schemas.microsoft.com/office/drawing/2014/main" id="{97019921-B41E-ACD1-084E-7CCD577F6351}"/>
                </a:ext>
              </a:extLst>
            </p:cNvPr>
            <p:cNvSpPr/>
            <p:nvPr/>
          </p:nvSpPr>
          <p:spPr>
            <a:xfrm>
              <a:off x="1238205" y="848178"/>
              <a:ext cx="497161" cy="292106"/>
            </a:xfrm>
            <a:prstGeom prst="ellipse">
              <a:avLst/>
            </a:prstGeom>
            <a:solidFill>
              <a:srgbClr val="FFFFFF">
                <a:alpha val="26000"/>
              </a:srgbClr>
            </a:solidFill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978" name="R">
              <a:extLst>
                <a:ext uri="{FF2B5EF4-FFF2-40B4-BE49-F238E27FC236}">
                  <a16:creationId xmlns:a16="http://schemas.microsoft.com/office/drawing/2014/main" id="{CC6267D3-BC75-1C04-0A8A-6DED0AF94D02}"/>
                </a:ext>
              </a:extLst>
            </p:cNvPr>
            <p:cNvSpPr txBox="1"/>
            <p:nvPr/>
          </p:nvSpPr>
          <p:spPr>
            <a:xfrm>
              <a:off x="1293033" y="805900"/>
              <a:ext cx="493840" cy="7464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400">
                  <a:solidFill>
                    <a:srgbClr val="EBEBEB"/>
                  </a:solidFill>
                  <a:latin typeface="Source Sans Pro Regular"/>
                  <a:ea typeface="Source Sans Pro Regular"/>
                  <a:cs typeface="Source Sans Pro Regular"/>
                  <a:sym typeface="Source Sans Pro Regular"/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979" name="Studio">
              <a:extLst>
                <a:ext uri="{FF2B5EF4-FFF2-40B4-BE49-F238E27FC236}">
                  <a16:creationId xmlns:a16="http://schemas.microsoft.com/office/drawing/2014/main" id="{319FE5AD-3A7D-A25A-B201-A8FAB4D4CF11}"/>
                </a:ext>
              </a:extLst>
            </p:cNvPr>
            <p:cNvSpPr txBox="1"/>
            <p:nvPr/>
          </p:nvSpPr>
          <p:spPr>
            <a:xfrm>
              <a:off x="1898247" y="848178"/>
              <a:ext cx="1219284" cy="7319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000">
                  <a:solidFill>
                    <a:srgbClr val="6A877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>
                  <a:solidFill>
                    <a:srgbClr val="48465A"/>
                  </a:solidFill>
                </a:rPr>
                <a:t>Studio</a:t>
              </a:r>
            </a:p>
          </p:txBody>
        </p:sp>
      </p:grpSp>
      <p:grpSp>
        <p:nvGrpSpPr>
          <p:cNvPr id="1988" name="Group">
            <a:extLst>
              <a:ext uri="{FF2B5EF4-FFF2-40B4-BE49-F238E27FC236}">
                <a16:creationId xmlns:a16="http://schemas.microsoft.com/office/drawing/2014/main" id="{A5DF608A-0618-BE6C-A03C-B4D725B6B5C1}"/>
              </a:ext>
            </a:extLst>
          </p:cNvPr>
          <p:cNvGrpSpPr/>
          <p:nvPr/>
        </p:nvGrpSpPr>
        <p:grpSpPr>
          <a:xfrm>
            <a:off x="9272827" y="9907930"/>
            <a:ext cx="2048889" cy="1887696"/>
            <a:chOff x="0" y="440452"/>
            <a:chExt cx="2048889" cy="1887695"/>
          </a:xfrm>
        </p:grpSpPr>
        <p:sp>
          <p:nvSpPr>
            <p:cNvPr id="1981" name="Linear regression…">
              <a:extLst>
                <a:ext uri="{FF2B5EF4-FFF2-40B4-BE49-F238E27FC236}">
                  <a16:creationId xmlns:a16="http://schemas.microsoft.com/office/drawing/2014/main" id="{299A8A33-C3B5-E58E-91BE-8638D5C7824E}"/>
                </a:ext>
              </a:extLst>
            </p:cNvPr>
            <p:cNvSpPr txBox="1"/>
            <p:nvPr/>
          </p:nvSpPr>
          <p:spPr>
            <a:xfrm>
              <a:off x="333676" y="440452"/>
              <a:ext cx="1715213" cy="18876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/>
                <a:t>Tidyverse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 err="1"/>
                <a:t>ggplot</a:t>
              </a:r>
              <a:endParaRPr lang="da-DK"/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/>
                <a:t>Stats</a:t>
              </a:r>
            </a:p>
            <a:p>
              <a:pPr>
                <a:defRPr sz="29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da-DK" err="1"/>
                <a:t>Quarto</a:t>
              </a:r>
              <a:endParaRPr lang="da-DK"/>
            </a:p>
          </p:txBody>
        </p:sp>
        <p:sp>
          <p:nvSpPr>
            <p:cNvPr id="1983" name="Oval 23">
              <a:extLst>
                <a:ext uri="{FF2B5EF4-FFF2-40B4-BE49-F238E27FC236}">
                  <a16:creationId xmlns:a16="http://schemas.microsoft.com/office/drawing/2014/main" id="{BA9D300A-60AD-E5E9-8B41-9D38BAD2B408}"/>
                </a:ext>
              </a:extLst>
            </p:cNvPr>
            <p:cNvSpPr/>
            <p:nvPr/>
          </p:nvSpPr>
          <p:spPr>
            <a:xfrm>
              <a:off x="0" y="668249"/>
              <a:ext cx="155496" cy="155494"/>
            </a:xfrm>
            <a:prstGeom prst="ellipse">
              <a:avLst/>
            </a:prstGeom>
            <a:solidFill>
              <a:srgbClr val="48465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984" name="Oval 23">
              <a:extLst>
                <a:ext uri="{FF2B5EF4-FFF2-40B4-BE49-F238E27FC236}">
                  <a16:creationId xmlns:a16="http://schemas.microsoft.com/office/drawing/2014/main" id="{4C933E15-9A63-F6BE-BB83-42D44CF69073}"/>
                </a:ext>
              </a:extLst>
            </p:cNvPr>
            <p:cNvSpPr/>
            <p:nvPr/>
          </p:nvSpPr>
          <p:spPr>
            <a:xfrm>
              <a:off x="0" y="1101283"/>
              <a:ext cx="155496" cy="155494"/>
            </a:xfrm>
            <a:prstGeom prst="ellipse">
              <a:avLst/>
            </a:prstGeom>
            <a:solidFill>
              <a:srgbClr val="5250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985" name="Oval 23">
              <a:extLst>
                <a:ext uri="{FF2B5EF4-FFF2-40B4-BE49-F238E27FC236}">
                  <a16:creationId xmlns:a16="http://schemas.microsoft.com/office/drawing/2014/main" id="{53B36BE1-4684-0D61-3197-04B86B848B98}"/>
                </a:ext>
              </a:extLst>
            </p:cNvPr>
            <p:cNvSpPr/>
            <p:nvPr/>
          </p:nvSpPr>
          <p:spPr>
            <a:xfrm>
              <a:off x="0" y="1534319"/>
              <a:ext cx="155496" cy="155494"/>
            </a:xfrm>
            <a:prstGeom prst="ellipse">
              <a:avLst/>
            </a:prstGeom>
            <a:solidFill>
              <a:srgbClr val="48465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  <p:sp>
          <p:nvSpPr>
            <p:cNvPr id="1986" name="Oval 23">
              <a:extLst>
                <a:ext uri="{FF2B5EF4-FFF2-40B4-BE49-F238E27FC236}">
                  <a16:creationId xmlns:a16="http://schemas.microsoft.com/office/drawing/2014/main" id="{04F3052A-664F-985B-AB74-8E71EB6970F4}"/>
                </a:ext>
              </a:extLst>
            </p:cNvPr>
            <p:cNvSpPr/>
            <p:nvPr/>
          </p:nvSpPr>
          <p:spPr>
            <a:xfrm>
              <a:off x="0" y="1972547"/>
              <a:ext cx="155496" cy="155494"/>
            </a:xfrm>
            <a:prstGeom prst="ellipse">
              <a:avLst/>
            </a:prstGeom>
            <a:solidFill>
              <a:srgbClr val="5250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</a:defRPr>
              </a:pPr>
              <a:endParaRPr/>
            </a:p>
          </p:txBody>
        </p:sp>
      </p:grpSp>
      <p:sp>
        <p:nvSpPr>
          <p:cNvPr id="1989" name="35">
            <a:extLst>
              <a:ext uri="{FF2B5EF4-FFF2-40B4-BE49-F238E27FC236}">
                <a16:creationId xmlns:a16="http://schemas.microsoft.com/office/drawing/2014/main" id="{E99B5BDE-FF85-41D8-6904-EE22F68A444A}"/>
              </a:ext>
            </a:extLst>
          </p:cNvPr>
          <p:cNvSpPr txBox="1"/>
          <p:nvPr/>
        </p:nvSpPr>
        <p:spPr>
          <a:xfrm>
            <a:off x="374649" y="13057831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3</a:t>
            </a:r>
            <a:r>
              <a:rPr lang="da-DK"/>
              <a:t>4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48" name="Oval 35">
            <a:extLst>
              <a:ext uri="{FF2B5EF4-FFF2-40B4-BE49-F238E27FC236}">
                <a16:creationId xmlns:a16="http://schemas.microsoft.com/office/drawing/2014/main" id="{DB81D965-FDED-E1C7-1E15-402646C4BDB7}"/>
              </a:ext>
            </a:extLst>
          </p:cNvPr>
          <p:cNvSpPr/>
          <p:nvPr/>
        </p:nvSpPr>
        <p:spPr>
          <a:xfrm>
            <a:off x="9238190" y="8729243"/>
            <a:ext cx="158316" cy="164178"/>
          </a:xfrm>
          <a:prstGeom prst="ellipse">
            <a:avLst/>
          </a:prstGeom>
          <a:solidFill>
            <a:srgbClr val="48465A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947" name="Oval 34">
            <a:extLst>
              <a:ext uri="{FF2B5EF4-FFF2-40B4-BE49-F238E27FC236}">
                <a16:creationId xmlns:a16="http://schemas.microsoft.com/office/drawing/2014/main" id="{6F510C90-B931-FF32-179A-35BEC8E46D84}"/>
              </a:ext>
            </a:extLst>
          </p:cNvPr>
          <p:cNvSpPr/>
          <p:nvPr/>
        </p:nvSpPr>
        <p:spPr>
          <a:xfrm>
            <a:off x="13216349" y="8729011"/>
            <a:ext cx="160271" cy="160271"/>
          </a:xfrm>
          <a:prstGeom prst="ellipse">
            <a:avLst/>
          </a:prstGeom>
          <a:solidFill>
            <a:srgbClr val="525067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54390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Полилиния 174"/>
          <p:cNvSpPr/>
          <p:nvPr/>
        </p:nvSpPr>
        <p:spPr>
          <a:xfrm flipH="1">
            <a:off x="-89175" y="8421416"/>
            <a:ext cx="24561550" cy="5307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28" y="0"/>
                </a:moveTo>
                <a:lnTo>
                  <a:pt x="8145" y="945"/>
                </a:lnTo>
                <a:lnTo>
                  <a:pt x="11543" y="63"/>
                </a:lnTo>
                <a:lnTo>
                  <a:pt x="13950" y="1008"/>
                </a:lnTo>
                <a:lnTo>
                  <a:pt x="18472" y="63"/>
                </a:lnTo>
                <a:lnTo>
                  <a:pt x="21600" y="840"/>
                </a:lnTo>
                <a:lnTo>
                  <a:pt x="21600" y="21600"/>
                </a:lnTo>
                <a:lnTo>
                  <a:pt x="0" y="21600"/>
                </a:lnTo>
                <a:lnTo>
                  <a:pt x="0" y="649"/>
                </a:lnTo>
                <a:close/>
              </a:path>
            </a:pathLst>
          </a:custGeom>
          <a:solidFill>
            <a:srgbClr val="5D89B0">
              <a:alpha val="5986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00" name="Полилиния 49"/>
          <p:cNvSpPr/>
          <p:nvPr/>
        </p:nvSpPr>
        <p:spPr>
          <a:xfrm>
            <a:off x="-101075" y="8605969"/>
            <a:ext cx="24440598" cy="5093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28" y="0"/>
                </a:moveTo>
                <a:lnTo>
                  <a:pt x="8145" y="945"/>
                </a:lnTo>
                <a:lnTo>
                  <a:pt x="11542" y="63"/>
                </a:lnTo>
                <a:lnTo>
                  <a:pt x="13950" y="1008"/>
                </a:lnTo>
                <a:lnTo>
                  <a:pt x="18472" y="63"/>
                </a:lnTo>
                <a:lnTo>
                  <a:pt x="21600" y="840"/>
                </a:lnTo>
                <a:lnTo>
                  <a:pt x="21600" y="21600"/>
                </a:lnTo>
                <a:lnTo>
                  <a:pt x="0" y="21600"/>
                </a:lnTo>
                <a:lnTo>
                  <a:pt x="0" y="649"/>
                </a:lnTo>
                <a:close/>
              </a:path>
            </a:pathLst>
          </a:custGeom>
          <a:solidFill>
            <a:srgbClr val="557D9F">
              <a:alpha val="6006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310" name="Group"/>
          <p:cNvGrpSpPr/>
          <p:nvPr/>
        </p:nvGrpSpPr>
        <p:grpSpPr>
          <a:xfrm>
            <a:off x="9057225" y="6602363"/>
            <a:ext cx="6123998" cy="6995876"/>
            <a:chOff x="0" y="0"/>
            <a:chExt cx="6123996" cy="6995875"/>
          </a:xfrm>
        </p:grpSpPr>
        <p:sp>
          <p:nvSpPr>
            <p:cNvPr id="2301" name="Полилиния 50"/>
            <p:cNvSpPr/>
            <p:nvPr/>
          </p:nvSpPr>
          <p:spPr>
            <a:xfrm>
              <a:off x="29395" y="1996423"/>
              <a:ext cx="6094602" cy="3158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71"/>
                  </a:moveTo>
                  <a:lnTo>
                    <a:pt x="7139" y="15247"/>
                  </a:lnTo>
                  <a:lnTo>
                    <a:pt x="11368" y="2541"/>
                  </a:lnTo>
                  <a:lnTo>
                    <a:pt x="15416" y="10165"/>
                  </a:lnTo>
                  <a:lnTo>
                    <a:pt x="21600" y="0"/>
                  </a:lnTo>
                  <a:lnTo>
                    <a:pt x="15825" y="19059"/>
                  </a:lnTo>
                  <a:lnTo>
                    <a:pt x="11960" y="10165"/>
                  </a:lnTo>
                  <a:lnTo>
                    <a:pt x="6912" y="21600"/>
                  </a:lnTo>
                  <a:lnTo>
                    <a:pt x="2137" y="6353"/>
                  </a:lnTo>
                </a:path>
              </a:pathLst>
            </a:custGeom>
            <a:solidFill>
              <a:srgbClr val="2086C0">
                <a:alpha val="62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02" name="Freeform 5"/>
            <p:cNvSpPr/>
            <p:nvPr/>
          </p:nvSpPr>
          <p:spPr>
            <a:xfrm>
              <a:off x="1116553" y="2116495"/>
              <a:ext cx="4078217" cy="4879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1" y="0"/>
                  </a:moveTo>
                  <a:lnTo>
                    <a:pt x="0" y="2190"/>
                  </a:lnTo>
                  <a:lnTo>
                    <a:pt x="1246" y="5254"/>
                  </a:lnTo>
                  <a:lnTo>
                    <a:pt x="1246" y="7407"/>
                  </a:lnTo>
                  <a:lnTo>
                    <a:pt x="4758" y="10370"/>
                  </a:lnTo>
                  <a:lnTo>
                    <a:pt x="6289" y="15624"/>
                  </a:lnTo>
                  <a:lnTo>
                    <a:pt x="7655" y="14624"/>
                  </a:lnTo>
                  <a:lnTo>
                    <a:pt x="11003" y="21600"/>
                  </a:lnTo>
                  <a:lnTo>
                    <a:pt x="12639" y="20207"/>
                  </a:lnTo>
                  <a:lnTo>
                    <a:pt x="13825" y="11319"/>
                  </a:lnTo>
                  <a:lnTo>
                    <a:pt x="15986" y="13712"/>
                  </a:lnTo>
                  <a:lnTo>
                    <a:pt x="17232" y="10851"/>
                  </a:lnTo>
                  <a:lnTo>
                    <a:pt x="20069" y="9027"/>
                  </a:lnTo>
                  <a:lnTo>
                    <a:pt x="20744" y="5824"/>
                  </a:lnTo>
                  <a:lnTo>
                    <a:pt x="21030" y="2482"/>
                  </a:lnTo>
                  <a:lnTo>
                    <a:pt x="21600" y="139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2646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3" name="Freeform 6"/>
            <p:cNvSpPr/>
            <p:nvPr/>
          </p:nvSpPr>
          <p:spPr>
            <a:xfrm>
              <a:off x="1116552" y="2116495"/>
              <a:ext cx="1187474" cy="3486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99" y="0"/>
                  </a:moveTo>
                  <a:lnTo>
                    <a:pt x="0" y="3065"/>
                  </a:lnTo>
                  <a:lnTo>
                    <a:pt x="4279" y="7354"/>
                  </a:lnTo>
                  <a:lnTo>
                    <a:pt x="4279" y="10366"/>
                  </a:lnTo>
                  <a:lnTo>
                    <a:pt x="16342" y="14512"/>
                  </a:lnTo>
                  <a:lnTo>
                    <a:pt x="21600" y="21600"/>
                  </a:lnTo>
                  <a:lnTo>
                    <a:pt x="20260" y="14176"/>
                  </a:lnTo>
                  <a:lnTo>
                    <a:pt x="14383" y="11305"/>
                  </a:lnTo>
                  <a:lnTo>
                    <a:pt x="15156" y="9232"/>
                  </a:lnTo>
                  <a:lnTo>
                    <a:pt x="20827" y="9498"/>
                  </a:lnTo>
                  <a:lnTo>
                    <a:pt x="9743" y="8222"/>
                  </a:lnTo>
                  <a:lnTo>
                    <a:pt x="7166" y="4217"/>
                  </a:lnTo>
                  <a:lnTo>
                    <a:pt x="9125" y="0"/>
                  </a:lnTo>
                  <a:lnTo>
                    <a:pt x="3299" y="0"/>
                  </a:lnTo>
                  <a:close/>
                </a:path>
              </a:pathLst>
            </a:custGeom>
            <a:solidFill>
              <a:srgbClr val="1D374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4" name="Freeform 7"/>
            <p:cNvSpPr/>
            <p:nvPr/>
          </p:nvSpPr>
          <p:spPr>
            <a:xfrm>
              <a:off x="2561924" y="3475055"/>
              <a:ext cx="674508" cy="3520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68" y="4387"/>
                  </a:moveTo>
                  <a:lnTo>
                    <a:pt x="2723" y="0"/>
                  </a:lnTo>
                  <a:lnTo>
                    <a:pt x="6444" y="4580"/>
                  </a:lnTo>
                  <a:lnTo>
                    <a:pt x="0" y="11862"/>
                  </a:lnTo>
                  <a:lnTo>
                    <a:pt x="0" y="11932"/>
                  </a:lnTo>
                  <a:lnTo>
                    <a:pt x="20239" y="21600"/>
                  </a:lnTo>
                  <a:lnTo>
                    <a:pt x="21600" y="21337"/>
                  </a:lnTo>
                  <a:lnTo>
                    <a:pt x="21600" y="12195"/>
                  </a:lnTo>
                  <a:lnTo>
                    <a:pt x="9257" y="4913"/>
                  </a:lnTo>
                  <a:lnTo>
                    <a:pt x="21600" y="5632"/>
                  </a:lnTo>
                  <a:lnTo>
                    <a:pt x="8168" y="4387"/>
                  </a:lnTo>
                  <a:close/>
                </a:path>
              </a:pathLst>
            </a:custGeom>
            <a:solidFill>
              <a:srgbClr val="1D374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5" name="Freeform 8"/>
            <p:cNvSpPr/>
            <p:nvPr/>
          </p:nvSpPr>
          <p:spPr>
            <a:xfrm>
              <a:off x="2797151" y="2031403"/>
              <a:ext cx="2000849" cy="464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48"/>
                  </a:moveTo>
                  <a:lnTo>
                    <a:pt x="1959" y="3306"/>
                  </a:lnTo>
                  <a:lnTo>
                    <a:pt x="1959" y="5963"/>
                  </a:lnTo>
                  <a:lnTo>
                    <a:pt x="6577" y="8260"/>
                  </a:lnTo>
                  <a:lnTo>
                    <a:pt x="8904" y="10679"/>
                  </a:lnTo>
                  <a:cubicBezTo>
                    <a:pt x="8476" y="14320"/>
                    <a:pt x="8046" y="17960"/>
                    <a:pt x="7618" y="21600"/>
                  </a:cubicBezTo>
                  <a:lnTo>
                    <a:pt x="10035" y="12272"/>
                  </a:lnTo>
                  <a:lnTo>
                    <a:pt x="14319" y="14732"/>
                  </a:lnTo>
                  <a:lnTo>
                    <a:pt x="12360" y="10627"/>
                  </a:lnTo>
                  <a:lnTo>
                    <a:pt x="9698" y="8461"/>
                  </a:lnTo>
                  <a:lnTo>
                    <a:pt x="10860" y="5510"/>
                  </a:lnTo>
                  <a:lnTo>
                    <a:pt x="8076" y="3198"/>
                  </a:lnTo>
                  <a:lnTo>
                    <a:pt x="12483" y="1897"/>
                  </a:lnTo>
                  <a:lnTo>
                    <a:pt x="19060" y="4554"/>
                  </a:lnTo>
                  <a:lnTo>
                    <a:pt x="18021" y="7915"/>
                  </a:lnTo>
                  <a:lnTo>
                    <a:pt x="21600" y="4408"/>
                  </a:lnTo>
                  <a:lnTo>
                    <a:pt x="16643" y="2494"/>
                  </a:lnTo>
                  <a:lnTo>
                    <a:pt x="18021" y="541"/>
                  </a:lnTo>
                  <a:lnTo>
                    <a:pt x="8616" y="0"/>
                  </a:lnTo>
                  <a:lnTo>
                    <a:pt x="0" y="448"/>
                  </a:lnTo>
                  <a:close/>
                </a:path>
              </a:pathLst>
            </a:custGeom>
            <a:solidFill>
              <a:srgbClr val="1D374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6" name="Freeform 9"/>
            <p:cNvSpPr/>
            <p:nvPr/>
          </p:nvSpPr>
          <p:spPr>
            <a:xfrm>
              <a:off x="1876080" y="2127935"/>
              <a:ext cx="717020" cy="2245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53" y="17445"/>
                  </a:moveTo>
                  <a:lnTo>
                    <a:pt x="15453" y="8915"/>
                  </a:lnTo>
                  <a:lnTo>
                    <a:pt x="9989" y="4760"/>
                  </a:lnTo>
                  <a:lnTo>
                    <a:pt x="15111" y="0"/>
                  </a:lnTo>
                  <a:lnTo>
                    <a:pt x="14855" y="0"/>
                  </a:lnTo>
                  <a:lnTo>
                    <a:pt x="0" y="5173"/>
                  </a:lnTo>
                  <a:lnTo>
                    <a:pt x="8367" y="9438"/>
                  </a:lnTo>
                  <a:lnTo>
                    <a:pt x="9989" y="17638"/>
                  </a:lnTo>
                  <a:lnTo>
                    <a:pt x="21600" y="21600"/>
                  </a:lnTo>
                  <a:lnTo>
                    <a:pt x="15453" y="17445"/>
                  </a:lnTo>
                  <a:close/>
                </a:path>
              </a:pathLst>
            </a:custGeom>
            <a:solidFill>
              <a:srgbClr val="1D374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7" name="Freeform 71"/>
            <p:cNvSpPr/>
            <p:nvPr/>
          </p:nvSpPr>
          <p:spPr>
            <a:xfrm>
              <a:off x="1297930" y="0"/>
              <a:ext cx="3805652" cy="2213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652"/>
                  </a:moveTo>
                  <a:lnTo>
                    <a:pt x="4988" y="21600"/>
                  </a:lnTo>
                  <a:lnTo>
                    <a:pt x="8316" y="20958"/>
                  </a:lnTo>
                  <a:lnTo>
                    <a:pt x="12886" y="19807"/>
                  </a:lnTo>
                  <a:lnTo>
                    <a:pt x="21600" y="20958"/>
                  </a:lnTo>
                  <a:lnTo>
                    <a:pt x="19012" y="15180"/>
                  </a:lnTo>
                  <a:lnTo>
                    <a:pt x="16889" y="8847"/>
                  </a:lnTo>
                  <a:lnTo>
                    <a:pt x="16102" y="11051"/>
                  </a:lnTo>
                  <a:lnTo>
                    <a:pt x="13496" y="3041"/>
                  </a:lnTo>
                  <a:lnTo>
                    <a:pt x="11663" y="6530"/>
                  </a:lnTo>
                  <a:lnTo>
                    <a:pt x="10327" y="0"/>
                  </a:lnTo>
                  <a:lnTo>
                    <a:pt x="8444" y="6000"/>
                  </a:lnTo>
                  <a:cubicBezTo>
                    <a:pt x="8022" y="7964"/>
                    <a:pt x="7597" y="9925"/>
                    <a:pt x="7175" y="11889"/>
                  </a:cubicBezTo>
                  <a:lnTo>
                    <a:pt x="6016" y="9377"/>
                  </a:lnTo>
                  <a:lnTo>
                    <a:pt x="2670" y="16967"/>
                  </a:lnTo>
                  <a:lnTo>
                    <a:pt x="0" y="2065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2F2F2"/>
                </a:gs>
                <a:gs pos="100000">
                  <a:srgbClr val="D9D9D9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8" name="Полилиния 59"/>
            <p:cNvSpPr/>
            <p:nvPr/>
          </p:nvSpPr>
          <p:spPr>
            <a:xfrm>
              <a:off x="1297931" y="54342"/>
              <a:ext cx="3842991" cy="214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01" y="14553"/>
                  </a:moveTo>
                  <a:lnTo>
                    <a:pt x="19370" y="17573"/>
                  </a:lnTo>
                  <a:lnTo>
                    <a:pt x="18414" y="18551"/>
                  </a:lnTo>
                  <a:lnTo>
                    <a:pt x="21600" y="21054"/>
                  </a:lnTo>
                  <a:lnTo>
                    <a:pt x="16614" y="18983"/>
                  </a:lnTo>
                  <a:lnTo>
                    <a:pt x="18717" y="17573"/>
                  </a:lnTo>
                  <a:close/>
                  <a:moveTo>
                    <a:pt x="16726" y="8571"/>
                  </a:moveTo>
                  <a:lnTo>
                    <a:pt x="16789" y="8686"/>
                  </a:lnTo>
                  <a:lnTo>
                    <a:pt x="16487" y="10412"/>
                  </a:lnTo>
                  <a:lnTo>
                    <a:pt x="17092" y="10527"/>
                  </a:lnTo>
                  <a:lnTo>
                    <a:pt x="17395" y="13345"/>
                  </a:lnTo>
                  <a:lnTo>
                    <a:pt x="18653" y="15963"/>
                  </a:lnTo>
                  <a:lnTo>
                    <a:pt x="17092" y="13662"/>
                  </a:lnTo>
                  <a:lnTo>
                    <a:pt x="15945" y="10958"/>
                  </a:lnTo>
                  <a:lnTo>
                    <a:pt x="15945" y="10757"/>
                  </a:lnTo>
                  <a:close/>
                  <a:moveTo>
                    <a:pt x="11549" y="6069"/>
                  </a:moveTo>
                  <a:lnTo>
                    <a:pt x="11564" y="6153"/>
                  </a:lnTo>
                  <a:lnTo>
                    <a:pt x="11549" y="6184"/>
                  </a:lnTo>
                  <a:close/>
                  <a:moveTo>
                    <a:pt x="13237" y="2819"/>
                  </a:moveTo>
                  <a:lnTo>
                    <a:pt x="12998" y="6414"/>
                  </a:lnTo>
                  <a:lnTo>
                    <a:pt x="13365" y="8456"/>
                  </a:lnTo>
                  <a:lnTo>
                    <a:pt x="13173" y="13144"/>
                  </a:lnTo>
                  <a:lnTo>
                    <a:pt x="15165" y="17027"/>
                  </a:lnTo>
                  <a:lnTo>
                    <a:pt x="12871" y="13345"/>
                  </a:lnTo>
                  <a:lnTo>
                    <a:pt x="11564" y="6153"/>
                  </a:lnTo>
                  <a:close/>
                  <a:moveTo>
                    <a:pt x="10051" y="0"/>
                  </a:moveTo>
                  <a:lnTo>
                    <a:pt x="9573" y="2704"/>
                  </a:lnTo>
                  <a:lnTo>
                    <a:pt x="9319" y="7708"/>
                  </a:lnTo>
                  <a:lnTo>
                    <a:pt x="9271" y="13345"/>
                  </a:lnTo>
                  <a:lnTo>
                    <a:pt x="9749" y="14870"/>
                  </a:lnTo>
                  <a:lnTo>
                    <a:pt x="9032" y="15618"/>
                  </a:lnTo>
                  <a:lnTo>
                    <a:pt x="10593" y="15618"/>
                  </a:lnTo>
                  <a:lnTo>
                    <a:pt x="9271" y="21169"/>
                  </a:lnTo>
                  <a:lnTo>
                    <a:pt x="8235" y="21054"/>
                  </a:lnTo>
                  <a:lnTo>
                    <a:pt x="6865" y="18983"/>
                  </a:lnTo>
                  <a:lnTo>
                    <a:pt x="5655" y="14870"/>
                  </a:lnTo>
                  <a:lnTo>
                    <a:pt x="5719" y="17487"/>
                  </a:lnTo>
                  <a:lnTo>
                    <a:pt x="4508" y="20306"/>
                  </a:lnTo>
                  <a:lnTo>
                    <a:pt x="4874" y="21600"/>
                  </a:lnTo>
                  <a:lnTo>
                    <a:pt x="0" y="20737"/>
                  </a:lnTo>
                  <a:lnTo>
                    <a:pt x="2644" y="16941"/>
                  </a:lnTo>
                  <a:lnTo>
                    <a:pt x="5958" y="9117"/>
                  </a:lnTo>
                  <a:lnTo>
                    <a:pt x="5241" y="14122"/>
                  </a:lnTo>
                  <a:lnTo>
                    <a:pt x="7104" y="11706"/>
                  </a:lnTo>
                  <a:lnTo>
                    <a:pt x="8363" y="563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A8ADD8">
                    <a:alpha val="25000"/>
                  </a:srgbClr>
                </a:gs>
                <a:gs pos="99000">
                  <a:srgbClr val="9094B7">
                    <a:alpha val="32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600">
                  <a:solidFill>
                    <a:srgbClr val="242524"/>
                  </a:solidFill>
                </a:defRPr>
              </a:pPr>
              <a:endParaRPr/>
            </a:p>
          </p:txBody>
        </p:sp>
        <p:sp>
          <p:nvSpPr>
            <p:cNvPr id="2309" name="Полилиния 65"/>
            <p:cNvSpPr/>
            <p:nvPr/>
          </p:nvSpPr>
          <p:spPr>
            <a:xfrm>
              <a:off x="0" y="1944058"/>
              <a:ext cx="6022064" cy="516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71"/>
                  </a:moveTo>
                  <a:lnTo>
                    <a:pt x="7139" y="15247"/>
                  </a:lnTo>
                  <a:lnTo>
                    <a:pt x="11368" y="2541"/>
                  </a:lnTo>
                  <a:lnTo>
                    <a:pt x="15416" y="10165"/>
                  </a:lnTo>
                  <a:lnTo>
                    <a:pt x="21600" y="0"/>
                  </a:lnTo>
                  <a:lnTo>
                    <a:pt x="15825" y="19059"/>
                  </a:lnTo>
                  <a:lnTo>
                    <a:pt x="11960" y="10165"/>
                  </a:lnTo>
                  <a:lnTo>
                    <a:pt x="6912" y="21600"/>
                  </a:lnTo>
                  <a:lnTo>
                    <a:pt x="2137" y="6353"/>
                  </a:lnTo>
                </a:path>
              </a:pathLst>
            </a:custGeom>
            <a:solidFill>
              <a:srgbClr val="1F3A6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311" name="Полилиния 67"/>
          <p:cNvSpPr/>
          <p:nvPr/>
        </p:nvSpPr>
        <p:spPr>
          <a:xfrm>
            <a:off x="-77706" y="8595459"/>
            <a:ext cx="24393861" cy="5114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27" y="0"/>
                </a:moveTo>
                <a:lnTo>
                  <a:pt x="8145" y="945"/>
                </a:lnTo>
                <a:lnTo>
                  <a:pt x="11543" y="63"/>
                </a:lnTo>
                <a:lnTo>
                  <a:pt x="13950" y="1008"/>
                </a:lnTo>
                <a:lnTo>
                  <a:pt x="18472" y="63"/>
                </a:lnTo>
                <a:lnTo>
                  <a:pt x="21600" y="840"/>
                </a:lnTo>
                <a:lnTo>
                  <a:pt x="21600" y="21600"/>
                </a:lnTo>
                <a:lnTo>
                  <a:pt x="0" y="21600"/>
                </a:lnTo>
                <a:lnTo>
                  <a:pt x="0" y="649"/>
                </a:lnTo>
                <a:close/>
              </a:path>
            </a:pathLst>
          </a:custGeom>
          <a:solidFill>
            <a:srgbClr val="82BAE0">
              <a:alpha val="6011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315" name="Group"/>
          <p:cNvGrpSpPr/>
          <p:nvPr/>
        </p:nvGrpSpPr>
        <p:grpSpPr>
          <a:xfrm>
            <a:off x="11085558" y="8978566"/>
            <a:ext cx="2436022" cy="2243471"/>
            <a:chOff x="0" y="-47501"/>
            <a:chExt cx="2436020" cy="2243470"/>
          </a:xfrm>
        </p:grpSpPr>
        <p:sp>
          <p:nvSpPr>
            <p:cNvPr id="2312" name="Oval"/>
            <p:cNvSpPr/>
            <p:nvPr/>
          </p:nvSpPr>
          <p:spPr>
            <a:xfrm>
              <a:off x="-1" y="193872"/>
              <a:ext cx="2348150" cy="1212119"/>
            </a:xfrm>
            <a:prstGeom prst="ellipse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>
              <a:outerShdw blurRad="101600" dist="50800" dir="5400000" rotWithShape="0">
                <a:srgbClr val="000000">
                  <a:alpha val="20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313" name="Oval"/>
            <p:cNvSpPr/>
            <p:nvPr/>
          </p:nvSpPr>
          <p:spPr>
            <a:xfrm>
              <a:off x="692957" y="422874"/>
              <a:ext cx="1564397" cy="791102"/>
            </a:xfrm>
            <a:prstGeom prst="ellipse">
              <a:avLst/>
            </a:prstGeom>
            <a:solidFill>
              <a:srgbClr val="6B9AB9">
                <a:alpha val="8469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314" name="R"/>
            <p:cNvSpPr txBox="1"/>
            <p:nvPr/>
          </p:nvSpPr>
          <p:spPr>
            <a:xfrm>
              <a:off x="886842" y="-47502"/>
              <a:ext cx="1549179" cy="2243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101600" dist="50800" dir="5400000" rotWithShape="0">
                <a:srgbClr val="000000">
                  <a:alpha val="20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defRPr sz="11000" b="1">
                  <a:solidFill>
                    <a:srgbClr val="3E4D6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r>
                <a:t>R</a:t>
              </a:r>
            </a:p>
          </p:txBody>
        </p:sp>
      </p:grpSp>
      <p:grpSp>
        <p:nvGrpSpPr>
          <p:cNvPr id="2319" name="Group"/>
          <p:cNvGrpSpPr/>
          <p:nvPr/>
        </p:nvGrpSpPr>
        <p:grpSpPr>
          <a:xfrm>
            <a:off x="7442565" y="1397000"/>
            <a:ext cx="9486170" cy="3475977"/>
            <a:chOff x="0" y="0"/>
            <a:chExt cx="9486169" cy="3475976"/>
          </a:xfrm>
        </p:grpSpPr>
        <p:sp>
          <p:nvSpPr>
            <p:cNvPr id="2316" name="THE TOP OF THE R ICEBERG"/>
            <p:cNvSpPr txBox="1"/>
            <p:nvPr/>
          </p:nvSpPr>
          <p:spPr>
            <a:xfrm>
              <a:off x="0" y="720813"/>
              <a:ext cx="9486170" cy="27551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THE TOP OF THE R ICEBERG </a:t>
              </a:r>
            </a:p>
          </p:txBody>
        </p:sp>
        <p:sp>
          <p:nvSpPr>
            <p:cNvPr id="2317" name="FROM EXCEL TO R"/>
            <p:cNvSpPr txBox="1"/>
            <p:nvPr/>
          </p:nvSpPr>
          <p:spPr>
            <a:xfrm>
              <a:off x="2127580" y="0"/>
              <a:ext cx="6471696" cy="4369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2318" name="Line"/>
            <p:cNvSpPr/>
            <p:nvPr/>
          </p:nvSpPr>
          <p:spPr>
            <a:xfrm>
              <a:off x="111502" y="218268"/>
              <a:ext cx="1705287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320" name="STATISTICAL ANALYSIS"/>
          <p:cNvSpPr txBox="1"/>
          <p:nvPr/>
        </p:nvSpPr>
        <p:spPr>
          <a:xfrm>
            <a:off x="3179330" y="4828526"/>
            <a:ext cx="737870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STATISTICAL ANALYSIS</a:t>
            </a:r>
          </a:p>
        </p:txBody>
      </p:sp>
      <p:sp>
        <p:nvSpPr>
          <p:cNvPr id="2321" name="Statistical models (linear, generalized, mixed, …)"/>
          <p:cNvSpPr txBox="1"/>
          <p:nvPr/>
        </p:nvSpPr>
        <p:spPr>
          <a:xfrm>
            <a:off x="3179330" y="5620316"/>
            <a:ext cx="876062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Statistical models (linear, generalized, mixed, …)</a:t>
            </a:r>
          </a:p>
        </p:txBody>
      </p:sp>
      <p:sp>
        <p:nvSpPr>
          <p:cNvPr id="2322" name="Statistical tests (t-test, chisq, anova, …)"/>
          <p:cNvSpPr txBox="1"/>
          <p:nvPr/>
        </p:nvSpPr>
        <p:spPr>
          <a:xfrm>
            <a:off x="3179330" y="6302137"/>
            <a:ext cx="863868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Statistical tests (t-test, chisq, anova, …)</a:t>
            </a:r>
          </a:p>
        </p:txBody>
      </p:sp>
      <p:sp>
        <p:nvSpPr>
          <p:cNvPr id="2323" name="Survival analysis (Cox, Kaplan meier)"/>
          <p:cNvSpPr txBox="1"/>
          <p:nvPr/>
        </p:nvSpPr>
        <p:spPr>
          <a:xfrm>
            <a:off x="3179330" y="6990330"/>
            <a:ext cx="863868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29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Survival analysis (Cox, Kaplan meier)</a:t>
            </a:r>
          </a:p>
        </p:txBody>
      </p:sp>
      <p:sp>
        <p:nvSpPr>
          <p:cNvPr id="2324" name="Circle"/>
          <p:cNvSpPr/>
          <p:nvPr/>
        </p:nvSpPr>
        <p:spPr>
          <a:xfrm>
            <a:off x="1905000" y="4599926"/>
            <a:ext cx="1016000" cy="1016001"/>
          </a:xfrm>
          <a:prstGeom prst="ellipse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25" name="Shape"/>
          <p:cNvSpPr/>
          <p:nvPr/>
        </p:nvSpPr>
        <p:spPr>
          <a:xfrm>
            <a:off x="2084445" y="4815826"/>
            <a:ext cx="657110" cy="584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412" y="17319"/>
                </a:moveTo>
                <a:cubicBezTo>
                  <a:pt x="7594" y="17319"/>
                  <a:pt x="8606" y="16346"/>
                  <a:pt x="8606" y="14984"/>
                </a:cubicBezTo>
                <a:cubicBezTo>
                  <a:pt x="8606" y="14400"/>
                  <a:pt x="8437" y="13816"/>
                  <a:pt x="8100" y="13232"/>
                </a:cubicBezTo>
                <a:cubicBezTo>
                  <a:pt x="12150" y="7200"/>
                  <a:pt x="12150" y="7200"/>
                  <a:pt x="12150" y="7200"/>
                </a:cubicBezTo>
                <a:cubicBezTo>
                  <a:pt x="12319" y="7395"/>
                  <a:pt x="12656" y="7395"/>
                  <a:pt x="12994" y="7395"/>
                </a:cubicBezTo>
                <a:cubicBezTo>
                  <a:pt x="13500" y="7395"/>
                  <a:pt x="14006" y="7200"/>
                  <a:pt x="14344" y="6811"/>
                </a:cubicBezTo>
                <a:cubicBezTo>
                  <a:pt x="17381" y="9535"/>
                  <a:pt x="17381" y="9535"/>
                  <a:pt x="17381" y="9535"/>
                </a:cubicBezTo>
                <a:cubicBezTo>
                  <a:pt x="17212" y="9924"/>
                  <a:pt x="17212" y="10314"/>
                  <a:pt x="17212" y="10703"/>
                </a:cubicBezTo>
                <a:cubicBezTo>
                  <a:pt x="17212" y="12065"/>
                  <a:pt x="18225" y="13038"/>
                  <a:pt x="19406" y="13038"/>
                </a:cubicBezTo>
                <a:cubicBezTo>
                  <a:pt x="20587" y="13038"/>
                  <a:pt x="21600" y="12065"/>
                  <a:pt x="21600" y="10703"/>
                </a:cubicBezTo>
                <a:cubicBezTo>
                  <a:pt x="21600" y="9341"/>
                  <a:pt x="20587" y="8173"/>
                  <a:pt x="19406" y="8173"/>
                </a:cubicBezTo>
                <a:cubicBezTo>
                  <a:pt x="18900" y="8173"/>
                  <a:pt x="18394" y="8368"/>
                  <a:pt x="18056" y="8757"/>
                </a:cubicBezTo>
                <a:cubicBezTo>
                  <a:pt x="14850" y="6032"/>
                  <a:pt x="14850" y="6032"/>
                  <a:pt x="14850" y="6032"/>
                </a:cubicBezTo>
                <a:cubicBezTo>
                  <a:pt x="15019" y="5643"/>
                  <a:pt x="15019" y="5254"/>
                  <a:pt x="15019" y="4865"/>
                </a:cubicBezTo>
                <a:cubicBezTo>
                  <a:pt x="15019" y="3503"/>
                  <a:pt x="14175" y="2530"/>
                  <a:pt x="12994" y="2530"/>
                </a:cubicBezTo>
                <a:cubicBezTo>
                  <a:pt x="11812" y="2530"/>
                  <a:pt x="10800" y="3503"/>
                  <a:pt x="10800" y="4865"/>
                </a:cubicBezTo>
                <a:cubicBezTo>
                  <a:pt x="10800" y="5643"/>
                  <a:pt x="10969" y="6032"/>
                  <a:pt x="11306" y="6616"/>
                </a:cubicBezTo>
                <a:cubicBezTo>
                  <a:pt x="7425" y="12649"/>
                  <a:pt x="7425" y="12649"/>
                  <a:pt x="7425" y="12649"/>
                </a:cubicBezTo>
                <a:cubicBezTo>
                  <a:pt x="7088" y="12649"/>
                  <a:pt x="6750" y="12454"/>
                  <a:pt x="6412" y="12454"/>
                </a:cubicBezTo>
                <a:cubicBezTo>
                  <a:pt x="5231" y="12454"/>
                  <a:pt x="4388" y="13622"/>
                  <a:pt x="4388" y="14984"/>
                </a:cubicBezTo>
                <a:cubicBezTo>
                  <a:pt x="4388" y="16346"/>
                  <a:pt x="5231" y="17319"/>
                  <a:pt x="6412" y="17319"/>
                </a:cubicBezTo>
                <a:close/>
                <a:moveTo>
                  <a:pt x="20419" y="10703"/>
                </a:moveTo>
                <a:cubicBezTo>
                  <a:pt x="20419" y="11481"/>
                  <a:pt x="19913" y="12065"/>
                  <a:pt x="19237" y="12065"/>
                </a:cubicBezTo>
                <a:cubicBezTo>
                  <a:pt x="18731" y="12065"/>
                  <a:pt x="18056" y="11481"/>
                  <a:pt x="18056" y="10703"/>
                </a:cubicBezTo>
                <a:cubicBezTo>
                  <a:pt x="18056" y="9924"/>
                  <a:pt x="18731" y="9341"/>
                  <a:pt x="19237" y="9341"/>
                </a:cubicBezTo>
                <a:cubicBezTo>
                  <a:pt x="19913" y="9341"/>
                  <a:pt x="20419" y="9924"/>
                  <a:pt x="20419" y="10703"/>
                </a:cubicBezTo>
                <a:close/>
                <a:moveTo>
                  <a:pt x="12994" y="3697"/>
                </a:moveTo>
                <a:cubicBezTo>
                  <a:pt x="13669" y="3697"/>
                  <a:pt x="14175" y="4281"/>
                  <a:pt x="14175" y="5059"/>
                </a:cubicBezTo>
                <a:cubicBezTo>
                  <a:pt x="14175" y="5838"/>
                  <a:pt x="13669" y="6422"/>
                  <a:pt x="12994" y="6422"/>
                </a:cubicBezTo>
                <a:cubicBezTo>
                  <a:pt x="12319" y="6422"/>
                  <a:pt x="11812" y="5838"/>
                  <a:pt x="11812" y="5059"/>
                </a:cubicBezTo>
                <a:cubicBezTo>
                  <a:pt x="11812" y="4281"/>
                  <a:pt x="12319" y="3697"/>
                  <a:pt x="12994" y="3697"/>
                </a:cubicBezTo>
                <a:close/>
                <a:moveTo>
                  <a:pt x="6412" y="13622"/>
                </a:moveTo>
                <a:cubicBezTo>
                  <a:pt x="7088" y="13622"/>
                  <a:pt x="7594" y="14205"/>
                  <a:pt x="7594" y="14984"/>
                </a:cubicBezTo>
                <a:cubicBezTo>
                  <a:pt x="7594" y="15762"/>
                  <a:pt x="7088" y="16346"/>
                  <a:pt x="6412" y="16346"/>
                </a:cubicBezTo>
                <a:cubicBezTo>
                  <a:pt x="5906" y="16346"/>
                  <a:pt x="5231" y="15762"/>
                  <a:pt x="5231" y="14984"/>
                </a:cubicBezTo>
                <a:cubicBezTo>
                  <a:pt x="5231" y="14205"/>
                  <a:pt x="5906" y="13622"/>
                  <a:pt x="6412" y="13622"/>
                </a:cubicBezTo>
                <a:close/>
                <a:moveTo>
                  <a:pt x="21600" y="21211"/>
                </a:moveTo>
                <a:cubicBezTo>
                  <a:pt x="21600" y="21405"/>
                  <a:pt x="21431" y="21600"/>
                  <a:pt x="21262" y="21600"/>
                </a:cubicBezTo>
                <a:cubicBezTo>
                  <a:pt x="2869" y="21600"/>
                  <a:pt x="2869" y="21600"/>
                  <a:pt x="2869" y="21600"/>
                </a:cubicBezTo>
                <a:cubicBezTo>
                  <a:pt x="2700" y="21600"/>
                  <a:pt x="2363" y="21600"/>
                  <a:pt x="2025" y="21211"/>
                </a:cubicBezTo>
                <a:cubicBezTo>
                  <a:pt x="1688" y="21016"/>
                  <a:pt x="1519" y="20432"/>
                  <a:pt x="1519" y="19849"/>
                </a:cubicBezTo>
                <a:cubicBezTo>
                  <a:pt x="1519" y="19070"/>
                  <a:pt x="1519" y="19070"/>
                  <a:pt x="1519" y="19070"/>
                </a:cubicBezTo>
                <a:cubicBezTo>
                  <a:pt x="506" y="19070"/>
                  <a:pt x="506" y="19070"/>
                  <a:pt x="506" y="19070"/>
                </a:cubicBezTo>
                <a:cubicBezTo>
                  <a:pt x="169" y="19070"/>
                  <a:pt x="0" y="18681"/>
                  <a:pt x="0" y="18486"/>
                </a:cubicBezTo>
                <a:cubicBezTo>
                  <a:pt x="0" y="18097"/>
                  <a:pt x="169" y="17903"/>
                  <a:pt x="506" y="17903"/>
                </a:cubicBezTo>
                <a:cubicBezTo>
                  <a:pt x="1519" y="17903"/>
                  <a:pt x="1519" y="17903"/>
                  <a:pt x="1519" y="17903"/>
                </a:cubicBezTo>
                <a:cubicBezTo>
                  <a:pt x="1519" y="15373"/>
                  <a:pt x="1519" y="15373"/>
                  <a:pt x="1519" y="15373"/>
                </a:cubicBezTo>
                <a:cubicBezTo>
                  <a:pt x="506" y="15373"/>
                  <a:pt x="506" y="15373"/>
                  <a:pt x="506" y="15373"/>
                </a:cubicBezTo>
                <a:cubicBezTo>
                  <a:pt x="169" y="15373"/>
                  <a:pt x="0" y="15178"/>
                  <a:pt x="0" y="14984"/>
                </a:cubicBezTo>
                <a:cubicBezTo>
                  <a:pt x="0" y="14595"/>
                  <a:pt x="169" y="14400"/>
                  <a:pt x="506" y="14400"/>
                </a:cubicBezTo>
                <a:cubicBezTo>
                  <a:pt x="1519" y="14400"/>
                  <a:pt x="1519" y="14400"/>
                  <a:pt x="1519" y="14400"/>
                </a:cubicBezTo>
                <a:cubicBezTo>
                  <a:pt x="1519" y="11870"/>
                  <a:pt x="1519" y="11870"/>
                  <a:pt x="1519" y="11870"/>
                </a:cubicBezTo>
                <a:cubicBezTo>
                  <a:pt x="506" y="11870"/>
                  <a:pt x="506" y="11870"/>
                  <a:pt x="506" y="11870"/>
                </a:cubicBezTo>
                <a:cubicBezTo>
                  <a:pt x="169" y="11870"/>
                  <a:pt x="0" y="11676"/>
                  <a:pt x="0" y="11286"/>
                </a:cubicBezTo>
                <a:cubicBezTo>
                  <a:pt x="0" y="11092"/>
                  <a:pt x="169" y="10897"/>
                  <a:pt x="506" y="10897"/>
                </a:cubicBezTo>
                <a:cubicBezTo>
                  <a:pt x="1519" y="10897"/>
                  <a:pt x="1519" y="10897"/>
                  <a:pt x="1519" y="10897"/>
                </a:cubicBezTo>
                <a:cubicBezTo>
                  <a:pt x="1519" y="8368"/>
                  <a:pt x="1519" y="8368"/>
                  <a:pt x="1519" y="8368"/>
                </a:cubicBezTo>
                <a:cubicBezTo>
                  <a:pt x="506" y="8368"/>
                  <a:pt x="506" y="8368"/>
                  <a:pt x="506" y="8368"/>
                </a:cubicBezTo>
                <a:cubicBezTo>
                  <a:pt x="169" y="8368"/>
                  <a:pt x="0" y="8173"/>
                  <a:pt x="0" y="7784"/>
                </a:cubicBezTo>
                <a:cubicBezTo>
                  <a:pt x="0" y="7589"/>
                  <a:pt x="169" y="7200"/>
                  <a:pt x="506" y="7200"/>
                </a:cubicBezTo>
                <a:cubicBezTo>
                  <a:pt x="1519" y="7200"/>
                  <a:pt x="1519" y="7200"/>
                  <a:pt x="1519" y="7200"/>
                </a:cubicBezTo>
                <a:cubicBezTo>
                  <a:pt x="1519" y="4865"/>
                  <a:pt x="1519" y="4865"/>
                  <a:pt x="1519" y="4865"/>
                </a:cubicBezTo>
                <a:cubicBezTo>
                  <a:pt x="506" y="4865"/>
                  <a:pt x="506" y="4865"/>
                  <a:pt x="506" y="4865"/>
                </a:cubicBezTo>
                <a:cubicBezTo>
                  <a:pt x="169" y="4865"/>
                  <a:pt x="0" y="4476"/>
                  <a:pt x="0" y="4281"/>
                </a:cubicBezTo>
                <a:cubicBezTo>
                  <a:pt x="0" y="3892"/>
                  <a:pt x="169" y="3697"/>
                  <a:pt x="506" y="3697"/>
                </a:cubicBezTo>
                <a:cubicBezTo>
                  <a:pt x="1519" y="3697"/>
                  <a:pt x="1519" y="3697"/>
                  <a:pt x="1519" y="3697"/>
                </a:cubicBezTo>
                <a:cubicBezTo>
                  <a:pt x="1519" y="1168"/>
                  <a:pt x="1519" y="1168"/>
                  <a:pt x="1519" y="1168"/>
                </a:cubicBezTo>
                <a:cubicBezTo>
                  <a:pt x="506" y="1168"/>
                  <a:pt x="506" y="1168"/>
                  <a:pt x="506" y="1168"/>
                </a:cubicBezTo>
                <a:cubicBezTo>
                  <a:pt x="169" y="1168"/>
                  <a:pt x="0" y="778"/>
                  <a:pt x="0" y="584"/>
                </a:cubicBezTo>
                <a:cubicBezTo>
                  <a:pt x="0" y="195"/>
                  <a:pt x="169" y="0"/>
                  <a:pt x="506" y="0"/>
                </a:cubicBezTo>
                <a:cubicBezTo>
                  <a:pt x="2025" y="0"/>
                  <a:pt x="2025" y="0"/>
                  <a:pt x="2025" y="0"/>
                </a:cubicBezTo>
                <a:cubicBezTo>
                  <a:pt x="2194" y="0"/>
                  <a:pt x="2363" y="195"/>
                  <a:pt x="2363" y="584"/>
                </a:cubicBezTo>
                <a:cubicBezTo>
                  <a:pt x="2363" y="19849"/>
                  <a:pt x="2363" y="19849"/>
                  <a:pt x="2363" y="19849"/>
                </a:cubicBezTo>
                <a:cubicBezTo>
                  <a:pt x="2363" y="20043"/>
                  <a:pt x="2531" y="20432"/>
                  <a:pt x="2531" y="20432"/>
                </a:cubicBezTo>
                <a:cubicBezTo>
                  <a:pt x="2700" y="20627"/>
                  <a:pt x="2869" y="20627"/>
                  <a:pt x="2869" y="20627"/>
                </a:cubicBezTo>
                <a:cubicBezTo>
                  <a:pt x="21262" y="20627"/>
                  <a:pt x="21262" y="20627"/>
                  <a:pt x="21262" y="20627"/>
                </a:cubicBezTo>
                <a:cubicBezTo>
                  <a:pt x="21431" y="20627"/>
                  <a:pt x="21600" y="20822"/>
                  <a:pt x="21600" y="21211"/>
                </a:cubicBezTo>
                <a:close/>
                <a:moveTo>
                  <a:pt x="21600" y="21211"/>
                </a:moveTo>
                <a:cubicBezTo>
                  <a:pt x="21600" y="21211"/>
                  <a:pt x="21600" y="21211"/>
                  <a:pt x="21600" y="21211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335" name="Group"/>
          <p:cNvGrpSpPr/>
          <p:nvPr/>
        </p:nvGrpSpPr>
        <p:grpSpPr>
          <a:xfrm>
            <a:off x="15886896" y="4590859"/>
            <a:ext cx="6605521" cy="3381203"/>
            <a:chOff x="0" y="0"/>
            <a:chExt cx="6605519" cy="3381202"/>
          </a:xfrm>
        </p:grpSpPr>
        <p:sp>
          <p:nvSpPr>
            <p:cNvPr id="2326" name="BIOINFORMATIC ANALYSIS"/>
            <p:cNvSpPr txBox="1"/>
            <p:nvPr/>
          </p:nvSpPr>
          <p:spPr>
            <a:xfrm>
              <a:off x="1414936" y="2182322"/>
              <a:ext cx="5189475" cy="11988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40000"/>
                </a:lnSpc>
                <a:defRPr sz="3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BIOINFORMATIC ANALYSIS</a:t>
              </a:r>
            </a:p>
          </p:txBody>
        </p:sp>
        <p:sp>
          <p:nvSpPr>
            <p:cNvPr id="2327" name="DATA MANGEMENT"/>
            <p:cNvSpPr txBox="1"/>
            <p:nvPr/>
          </p:nvSpPr>
          <p:spPr>
            <a:xfrm>
              <a:off x="1414936" y="198564"/>
              <a:ext cx="5189475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40000"/>
                </a:lnSpc>
                <a:defRPr sz="3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DATA MANGEMENT</a:t>
              </a:r>
            </a:p>
          </p:txBody>
        </p:sp>
        <p:sp>
          <p:nvSpPr>
            <p:cNvPr id="2328" name="EASY PLOTTING"/>
            <p:cNvSpPr txBox="1"/>
            <p:nvPr/>
          </p:nvSpPr>
          <p:spPr>
            <a:xfrm>
              <a:off x="1413826" y="1374554"/>
              <a:ext cx="5191694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lnSpc>
                  <a:spcPct val="140000"/>
                </a:lnSpc>
                <a:defRPr sz="3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EASY PLOTTING</a:t>
              </a:r>
            </a:p>
          </p:txBody>
        </p:sp>
        <p:sp>
          <p:nvSpPr>
            <p:cNvPr id="2329" name="Oval"/>
            <p:cNvSpPr/>
            <p:nvPr/>
          </p:nvSpPr>
          <p:spPr>
            <a:xfrm>
              <a:off x="13520" y="2287610"/>
              <a:ext cx="1081603" cy="1016002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30" name="Oval"/>
            <p:cNvSpPr/>
            <p:nvPr/>
          </p:nvSpPr>
          <p:spPr>
            <a:xfrm>
              <a:off x="13520" y="1145954"/>
              <a:ext cx="1081603" cy="1016001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31" name="Oval"/>
            <p:cNvSpPr/>
            <p:nvPr/>
          </p:nvSpPr>
          <p:spPr>
            <a:xfrm>
              <a:off x="0" y="0"/>
              <a:ext cx="1081603" cy="1016001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32" name="Shape"/>
            <p:cNvSpPr/>
            <p:nvPr/>
          </p:nvSpPr>
          <p:spPr>
            <a:xfrm>
              <a:off x="122604" y="2487043"/>
              <a:ext cx="863435" cy="58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78" y="3024"/>
                  </a:moveTo>
                  <a:cubicBezTo>
                    <a:pt x="19096" y="3024"/>
                    <a:pt x="18470" y="3888"/>
                    <a:pt x="18157" y="4752"/>
                  </a:cubicBezTo>
                  <a:cubicBezTo>
                    <a:pt x="10800" y="1512"/>
                    <a:pt x="10800" y="1512"/>
                    <a:pt x="10800" y="1512"/>
                  </a:cubicBezTo>
                  <a:cubicBezTo>
                    <a:pt x="10800" y="648"/>
                    <a:pt x="10330" y="0"/>
                    <a:pt x="9861" y="0"/>
                  </a:cubicBezTo>
                  <a:cubicBezTo>
                    <a:pt x="9235" y="0"/>
                    <a:pt x="8765" y="648"/>
                    <a:pt x="8765" y="1512"/>
                  </a:cubicBezTo>
                  <a:cubicBezTo>
                    <a:pt x="8765" y="1728"/>
                    <a:pt x="8922" y="2160"/>
                    <a:pt x="9078" y="2376"/>
                  </a:cubicBezTo>
                  <a:cubicBezTo>
                    <a:pt x="1252" y="14904"/>
                    <a:pt x="1252" y="14904"/>
                    <a:pt x="1252" y="14904"/>
                  </a:cubicBezTo>
                  <a:cubicBezTo>
                    <a:pt x="1096" y="14688"/>
                    <a:pt x="939" y="14688"/>
                    <a:pt x="939" y="14688"/>
                  </a:cubicBezTo>
                  <a:cubicBezTo>
                    <a:pt x="470" y="14688"/>
                    <a:pt x="0" y="15336"/>
                    <a:pt x="0" y="15984"/>
                  </a:cubicBezTo>
                  <a:cubicBezTo>
                    <a:pt x="0" y="16632"/>
                    <a:pt x="470" y="17280"/>
                    <a:pt x="939" y="17280"/>
                  </a:cubicBezTo>
                  <a:cubicBezTo>
                    <a:pt x="1252" y="17280"/>
                    <a:pt x="1565" y="16848"/>
                    <a:pt x="1722" y="16416"/>
                  </a:cubicBezTo>
                  <a:cubicBezTo>
                    <a:pt x="8922" y="18792"/>
                    <a:pt x="8922" y="18792"/>
                    <a:pt x="8922" y="18792"/>
                  </a:cubicBezTo>
                  <a:cubicBezTo>
                    <a:pt x="8922" y="19008"/>
                    <a:pt x="8765" y="19224"/>
                    <a:pt x="8765" y="19440"/>
                  </a:cubicBezTo>
                  <a:cubicBezTo>
                    <a:pt x="8765" y="20520"/>
                    <a:pt x="9548" y="21600"/>
                    <a:pt x="10487" y="21600"/>
                  </a:cubicBezTo>
                  <a:cubicBezTo>
                    <a:pt x="11270" y="21600"/>
                    <a:pt x="12052" y="20520"/>
                    <a:pt x="12052" y="19440"/>
                  </a:cubicBezTo>
                  <a:cubicBezTo>
                    <a:pt x="12052" y="19008"/>
                    <a:pt x="12052" y="18792"/>
                    <a:pt x="11896" y="18792"/>
                  </a:cubicBezTo>
                  <a:cubicBezTo>
                    <a:pt x="17374" y="15552"/>
                    <a:pt x="17374" y="15552"/>
                    <a:pt x="17374" y="15552"/>
                  </a:cubicBezTo>
                  <a:cubicBezTo>
                    <a:pt x="17530" y="15768"/>
                    <a:pt x="17843" y="15984"/>
                    <a:pt x="18000" y="15984"/>
                  </a:cubicBezTo>
                  <a:cubicBezTo>
                    <a:pt x="18470" y="15984"/>
                    <a:pt x="18939" y="15336"/>
                    <a:pt x="18939" y="14688"/>
                  </a:cubicBezTo>
                  <a:cubicBezTo>
                    <a:pt x="18939" y="14256"/>
                    <a:pt x="18783" y="14040"/>
                    <a:pt x="18470" y="13824"/>
                  </a:cubicBezTo>
                  <a:cubicBezTo>
                    <a:pt x="19409" y="7776"/>
                    <a:pt x="19409" y="7776"/>
                    <a:pt x="19409" y="7776"/>
                  </a:cubicBezTo>
                  <a:cubicBezTo>
                    <a:pt x="19565" y="7776"/>
                    <a:pt x="19722" y="7776"/>
                    <a:pt x="19878" y="7776"/>
                  </a:cubicBezTo>
                  <a:cubicBezTo>
                    <a:pt x="20817" y="7776"/>
                    <a:pt x="21600" y="6696"/>
                    <a:pt x="21600" y="5400"/>
                  </a:cubicBezTo>
                  <a:cubicBezTo>
                    <a:pt x="21600" y="4104"/>
                    <a:pt x="20817" y="3024"/>
                    <a:pt x="19878" y="3024"/>
                  </a:cubicBezTo>
                  <a:close/>
                  <a:moveTo>
                    <a:pt x="10330" y="2592"/>
                  </a:moveTo>
                  <a:cubicBezTo>
                    <a:pt x="13774" y="8208"/>
                    <a:pt x="13774" y="8208"/>
                    <a:pt x="13774" y="8208"/>
                  </a:cubicBezTo>
                  <a:cubicBezTo>
                    <a:pt x="10330" y="10152"/>
                    <a:pt x="10330" y="10152"/>
                    <a:pt x="10330" y="10152"/>
                  </a:cubicBezTo>
                  <a:cubicBezTo>
                    <a:pt x="10174" y="2808"/>
                    <a:pt x="10174" y="2808"/>
                    <a:pt x="10174" y="2808"/>
                  </a:cubicBezTo>
                  <a:cubicBezTo>
                    <a:pt x="10174" y="2592"/>
                    <a:pt x="10330" y="2592"/>
                    <a:pt x="10330" y="2592"/>
                  </a:cubicBezTo>
                  <a:close/>
                  <a:moveTo>
                    <a:pt x="9861" y="2808"/>
                  </a:moveTo>
                  <a:cubicBezTo>
                    <a:pt x="10017" y="10368"/>
                    <a:pt x="10017" y="10368"/>
                    <a:pt x="10017" y="10368"/>
                  </a:cubicBezTo>
                  <a:cubicBezTo>
                    <a:pt x="8452" y="11232"/>
                    <a:pt x="8452" y="11232"/>
                    <a:pt x="8452" y="11232"/>
                  </a:cubicBezTo>
                  <a:cubicBezTo>
                    <a:pt x="8452" y="11016"/>
                    <a:pt x="8296" y="10800"/>
                    <a:pt x="8139" y="10800"/>
                  </a:cubicBezTo>
                  <a:cubicBezTo>
                    <a:pt x="9548" y="2592"/>
                    <a:pt x="9548" y="2592"/>
                    <a:pt x="9548" y="2592"/>
                  </a:cubicBezTo>
                  <a:cubicBezTo>
                    <a:pt x="9548" y="2808"/>
                    <a:pt x="9704" y="2808"/>
                    <a:pt x="9861" y="2808"/>
                  </a:cubicBezTo>
                  <a:close/>
                  <a:moveTo>
                    <a:pt x="8609" y="11880"/>
                  </a:moveTo>
                  <a:cubicBezTo>
                    <a:pt x="8609" y="11664"/>
                    <a:pt x="8609" y="11664"/>
                    <a:pt x="8609" y="11448"/>
                  </a:cubicBezTo>
                  <a:cubicBezTo>
                    <a:pt x="10017" y="10800"/>
                    <a:pt x="10017" y="10800"/>
                    <a:pt x="10017" y="10800"/>
                  </a:cubicBezTo>
                  <a:cubicBezTo>
                    <a:pt x="10174" y="17064"/>
                    <a:pt x="10174" y="17064"/>
                    <a:pt x="10174" y="17064"/>
                  </a:cubicBezTo>
                  <a:cubicBezTo>
                    <a:pt x="10017" y="17280"/>
                    <a:pt x="10017" y="17280"/>
                    <a:pt x="9861" y="17280"/>
                  </a:cubicBezTo>
                  <a:cubicBezTo>
                    <a:pt x="8296" y="12744"/>
                    <a:pt x="8296" y="12744"/>
                    <a:pt x="8296" y="12744"/>
                  </a:cubicBezTo>
                  <a:cubicBezTo>
                    <a:pt x="8452" y="12528"/>
                    <a:pt x="8609" y="12096"/>
                    <a:pt x="8609" y="11880"/>
                  </a:cubicBezTo>
                  <a:close/>
                  <a:moveTo>
                    <a:pt x="11426" y="17496"/>
                  </a:moveTo>
                  <a:cubicBezTo>
                    <a:pt x="11113" y="17280"/>
                    <a:pt x="10800" y="17064"/>
                    <a:pt x="10487" y="17064"/>
                  </a:cubicBezTo>
                  <a:cubicBezTo>
                    <a:pt x="10330" y="10584"/>
                    <a:pt x="10330" y="10584"/>
                    <a:pt x="10330" y="10584"/>
                  </a:cubicBezTo>
                  <a:cubicBezTo>
                    <a:pt x="13930" y="8424"/>
                    <a:pt x="13930" y="8424"/>
                    <a:pt x="13930" y="8424"/>
                  </a:cubicBezTo>
                  <a:cubicBezTo>
                    <a:pt x="15496" y="11232"/>
                    <a:pt x="15496" y="11232"/>
                    <a:pt x="15496" y="11232"/>
                  </a:cubicBezTo>
                  <a:lnTo>
                    <a:pt x="11426" y="17496"/>
                  </a:lnTo>
                  <a:close/>
                  <a:moveTo>
                    <a:pt x="14087" y="8424"/>
                  </a:moveTo>
                  <a:cubicBezTo>
                    <a:pt x="18313" y="6048"/>
                    <a:pt x="18313" y="6048"/>
                    <a:pt x="18313" y="6048"/>
                  </a:cubicBezTo>
                  <a:cubicBezTo>
                    <a:pt x="18313" y="6264"/>
                    <a:pt x="18313" y="6696"/>
                    <a:pt x="18470" y="6696"/>
                  </a:cubicBezTo>
                  <a:cubicBezTo>
                    <a:pt x="15652" y="11016"/>
                    <a:pt x="15652" y="11016"/>
                    <a:pt x="15652" y="11016"/>
                  </a:cubicBezTo>
                  <a:lnTo>
                    <a:pt x="14087" y="8424"/>
                  </a:lnTo>
                  <a:close/>
                  <a:moveTo>
                    <a:pt x="18157" y="5616"/>
                  </a:moveTo>
                  <a:cubicBezTo>
                    <a:pt x="13930" y="7992"/>
                    <a:pt x="13930" y="7992"/>
                    <a:pt x="13930" y="7992"/>
                  </a:cubicBezTo>
                  <a:cubicBezTo>
                    <a:pt x="10487" y="2376"/>
                    <a:pt x="10487" y="2376"/>
                    <a:pt x="10487" y="2376"/>
                  </a:cubicBezTo>
                  <a:cubicBezTo>
                    <a:pt x="10643" y="2160"/>
                    <a:pt x="10643" y="1944"/>
                    <a:pt x="10643" y="1728"/>
                  </a:cubicBezTo>
                  <a:cubicBezTo>
                    <a:pt x="18157" y="5184"/>
                    <a:pt x="18157" y="5184"/>
                    <a:pt x="18157" y="5184"/>
                  </a:cubicBezTo>
                  <a:cubicBezTo>
                    <a:pt x="18157" y="5184"/>
                    <a:pt x="18157" y="5400"/>
                    <a:pt x="18157" y="5400"/>
                  </a:cubicBezTo>
                  <a:cubicBezTo>
                    <a:pt x="18157" y="5616"/>
                    <a:pt x="18157" y="5616"/>
                    <a:pt x="18157" y="5616"/>
                  </a:cubicBezTo>
                  <a:close/>
                  <a:moveTo>
                    <a:pt x="9235" y="2592"/>
                  </a:moveTo>
                  <a:cubicBezTo>
                    <a:pt x="9235" y="2592"/>
                    <a:pt x="9235" y="2592"/>
                    <a:pt x="9235" y="2592"/>
                  </a:cubicBezTo>
                  <a:cubicBezTo>
                    <a:pt x="7983" y="10584"/>
                    <a:pt x="7983" y="10584"/>
                    <a:pt x="7983" y="10584"/>
                  </a:cubicBezTo>
                  <a:cubicBezTo>
                    <a:pt x="7826" y="10368"/>
                    <a:pt x="7670" y="10368"/>
                    <a:pt x="7670" y="10368"/>
                  </a:cubicBezTo>
                  <a:cubicBezTo>
                    <a:pt x="7043" y="10368"/>
                    <a:pt x="6574" y="11016"/>
                    <a:pt x="6574" y="11880"/>
                  </a:cubicBezTo>
                  <a:cubicBezTo>
                    <a:pt x="6574" y="11880"/>
                    <a:pt x="6730" y="12096"/>
                    <a:pt x="6730" y="12096"/>
                  </a:cubicBezTo>
                  <a:cubicBezTo>
                    <a:pt x="1565" y="15120"/>
                    <a:pt x="1565" y="15120"/>
                    <a:pt x="1565" y="15120"/>
                  </a:cubicBezTo>
                  <a:cubicBezTo>
                    <a:pt x="1409" y="14904"/>
                    <a:pt x="1409" y="14904"/>
                    <a:pt x="1409" y="14904"/>
                  </a:cubicBezTo>
                  <a:lnTo>
                    <a:pt x="9235" y="2592"/>
                  </a:lnTo>
                  <a:close/>
                  <a:moveTo>
                    <a:pt x="1722" y="16200"/>
                  </a:moveTo>
                  <a:cubicBezTo>
                    <a:pt x="1722" y="16200"/>
                    <a:pt x="1722" y="15984"/>
                    <a:pt x="1722" y="15984"/>
                  </a:cubicBezTo>
                  <a:cubicBezTo>
                    <a:pt x="1722" y="15768"/>
                    <a:pt x="1722" y="15552"/>
                    <a:pt x="1722" y="15336"/>
                  </a:cubicBezTo>
                  <a:cubicBezTo>
                    <a:pt x="6730" y="12528"/>
                    <a:pt x="6730" y="12528"/>
                    <a:pt x="6730" y="12528"/>
                  </a:cubicBezTo>
                  <a:cubicBezTo>
                    <a:pt x="7043" y="12960"/>
                    <a:pt x="7200" y="13176"/>
                    <a:pt x="7670" y="13176"/>
                  </a:cubicBezTo>
                  <a:cubicBezTo>
                    <a:pt x="7826" y="13176"/>
                    <a:pt x="7983" y="12960"/>
                    <a:pt x="8139" y="12960"/>
                  </a:cubicBezTo>
                  <a:cubicBezTo>
                    <a:pt x="9548" y="17496"/>
                    <a:pt x="9548" y="17496"/>
                    <a:pt x="9548" y="17496"/>
                  </a:cubicBezTo>
                  <a:cubicBezTo>
                    <a:pt x="9235" y="17712"/>
                    <a:pt x="9078" y="18144"/>
                    <a:pt x="8922" y="18576"/>
                  </a:cubicBezTo>
                  <a:lnTo>
                    <a:pt x="1722" y="16200"/>
                  </a:lnTo>
                  <a:close/>
                  <a:moveTo>
                    <a:pt x="11896" y="18360"/>
                  </a:moveTo>
                  <a:cubicBezTo>
                    <a:pt x="11739" y="18144"/>
                    <a:pt x="11739" y="17928"/>
                    <a:pt x="11583" y="17712"/>
                  </a:cubicBezTo>
                  <a:cubicBezTo>
                    <a:pt x="15652" y="11448"/>
                    <a:pt x="15652" y="11448"/>
                    <a:pt x="15652" y="11448"/>
                  </a:cubicBezTo>
                  <a:cubicBezTo>
                    <a:pt x="17217" y="14256"/>
                    <a:pt x="17217" y="14256"/>
                    <a:pt x="17217" y="14256"/>
                  </a:cubicBezTo>
                  <a:cubicBezTo>
                    <a:pt x="17217" y="14256"/>
                    <a:pt x="17217" y="14472"/>
                    <a:pt x="17217" y="14688"/>
                  </a:cubicBezTo>
                  <a:cubicBezTo>
                    <a:pt x="17217" y="14904"/>
                    <a:pt x="17217" y="15120"/>
                    <a:pt x="17217" y="15336"/>
                  </a:cubicBezTo>
                  <a:lnTo>
                    <a:pt x="11896" y="18360"/>
                  </a:lnTo>
                  <a:close/>
                  <a:moveTo>
                    <a:pt x="18313" y="13608"/>
                  </a:moveTo>
                  <a:cubicBezTo>
                    <a:pt x="18157" y="13608"/>
                    <a:pt x="18157" y="13608"/>
                    <a:pt x="18000" y="13608"/>
                  </a:cubicBezTo>
                  <a:cubicBezTo>
                    <a:pt x="17843" y="13608"/>
                    <a:pt x="17530" y="13608"/>
                    <a:pt x="17374" y="13824"/>
                  </a:cubicBezTo>
                  <a:cubicBezTo>
                    <a:pt x="15809" y="11232"/>
                    <a:pt x="15809" y="11232"/>
                    <a:pt x="15809" y="11232"/>
                  </a:cubicBezTo>
                  <a:cubicBezTo>
                    <a:pt x="18626" y="7128"/>
                    <a:pt x="18626" y="7128"/>
                    <a:pt x="18626" y="7128"/>
                  </a:cubicBezTo>
                  <a:cubicBezTo>
                    <a:pt x="18783" y="7344"/>
                    <a:pt x="18939" y="7560"/>
                    <a:pt x="19252" y="7560"/>
                  </a:cubicBezTo>
                  <a:lnTo>
                    <a:pt x="18313" y="13608"/>
                  </a:lnTo>
                  <a:close/>
                  <a:moveTo>
                    <a:pt x="18313" y="13608"/>
                  </a:moveTo>
                  <a:cubicBezTo>
                    <a:pt x="18313" y="13608"/>
                    <a:pt x="18313" y="13608"/>
                    <a:pt x="18313" y="13608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333" name="Shape"/>
            <p:cNvSpPr/>
            <p:nvPr/>
          </p:nvSpPr>
          <p:spPr>
            <a:xfrm>
              <a:off x="234664" y="1314686"/>
              <a:ext cx="639312" cy="6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19315"/>
                  </a:moveTo>
                  <a:cubicBezTo>
                    <a:pt x="4725" y="19315"/>
                    <a:pt x="4725" y="19315"/>
                    <a:pt x="4725" y="19315"/>
                  </a:cubicBezTo>
                  <a:cubicBezTo>
                    <a:pt x="5400" y="19315"/>
                    <a:pt x="6075" y="18692"/>
                    <a:pt x="6075" y="18069"/>
                  </a:cubicBezTo>
                  <a:cubicBezTo>
                    <a:pt x="6075" y="8100"/>
                    <a:pt x="6075" y="8100"/>
                    <a:pt x="6075" y="8100"/>
                  </a:cubicBezTo>
                  <a:cubicBezTo>
                    <a:pt x="6075" y="7477"/>
                    <a:pt x="5400" y="6854"/>
                    <a:pt x="4725" y="6854"/>
                  </a:cubicBezTo>
                  <a:cubicBezTo>
                    <a:pt x="1800" y="6854"/>
                    <a:pt x="1800" y="6854"/>
                    <a:pt x="1800" y="6854"/>
                  </a:cubicBezTo>
                  <a:cubicBezTo>
                    <a:pt x="1125" y="6854"/>
                    <a:pt x="450" y="7477"/>
                    <a:pt x="450" y="8100"/>
                  </a:cubicBezTo>
                  <a:cubicBezTo>
                    <a:pt x="450" y="18069"/>
                    <a:pt x="450" y="18069"/>
                    <a:pt x="450" y="18069"/>
                  </a:cubicBezTo>
                  <a:cubicBezTo>
                    <a:pt x="450" y="18692"/>
                    <a:pt x="1125" y="19315"/>
                    <a:pt x="1800" y="19315"/>
                  </a:cubicBezTo>
                  <a:close/>
                  <a:moveTo>
                    <a:pt x="9450" y="19315"/>
                  </a:moveTo>
                  <a:cubicBezTo>
                    <a:pt x="12375" y="19315"/>
                    <a:pt x="12375" y="19315"/>
                    <a:pt x="12375" y="19315"/>
                  </a:cubicBezTo>
                  <a:cubicBezTo>
                    <a:pt x="13050" y="19315"/>
                    <a:pt x="13725" y="18692"/>
                    <a:pt x="13725" y="18069"/>
                  </a:cubicBezTo>
                  <a:cubicBezTo>
                    <a:pt x="13725" y="1246"/>
                    <a:pt x="13725" y="1246"/>
                    <a:pt x="13725" y="1246"/>
                  </a:cubicBezTo>
                  <a:cubicBezTo>
                    <a:pt x="13725" y="623"/>
                    <a:pt x="13050" y="0"/>
                    <a:pt x="12375" y="0"/>
                  </a:cubicBezTo>
                  <a:cubicBezTo>
                    <a:pt x="9450" y="0"/>
                    <a:pt x="9450" y="0"/>
                    <a:pt x="9450" y="0"/>
                  </a:cubicBezTo>
                  <a:cubicBezTo>
                    <a:pt x="8775" y="0"/>
                    <a:pt x="8100" y="623"/>
                    <a:pt x="8100" y="1246"/>
                  </a:cubicBezTo>
                  <a:cubicBezTo>
                    <a:pt x="8100" y="18069"/>
                    <a:pt x="8100" y="18069"/>
                    <a:pt x="8100" y="18069"/>
                  </a:cubicBezTo>
                  <a:cubicBezTo>
                    <a:pt x="8100" y="18692"/>
                    <a:pt x="8775" y="19315"/>
                    <a:pt x="9450" y="19315"/>
                  </a:cubicBezTo>
                  <a:close/>
                  <a:moveTo>
                    <a:pt x="17100" y="19315"/>
                  </a:moveTo>
                  <a:cubicBezTo>
                    <a:pt x="20025" y="19315"/>
                    <a:pt x="20025" y="19315"/>
                    <a:pt x="20025" y="19315"/>
                  </a:cubicBezTo>
                  <a:cubicBezTo>
                    <a:pt x="20700" y="19315"/>
                    <a:pt x="21375" y="18692"/>
                    <a:pt x="21375" y="18069"/>
                  </a:cubicBezTo>
                  <a:cubicBezTo>
                    <a:pt x="21375" y="4985"/>
                    <a:pt x="21375" y="4985"/>
                    <a:pt x="21375" y="4985"/>
                  </a:cubicBezTo>
                  <a:cubicBezTo>
                    <a:pt x="21375" y="4362"/>
                    <a:pt x="20700" y="3946"/>
                    <a:pt x="20025" y="3946"/>
                  </a:cubicBezTo>
                  <a:cubicBezTo>
                    <a:pt x="17100" y="3946"/>
                    <a:pt x="17100" y="3946"/>
                    <a:pt x="17100" y="3946"/>
                  </a:cubicBezTo>
                  <a:cubicBezTo>
                    <a:pt x="16425" y="3946"/>
                    <a:pt x="15975" y="4362"/>
                    <a:pt x="15975" y="4985"/>
                  </a:cubicBezTo>
                  <a:cubicBezTo>
                    <a:pt x="15975" y="18069"/>
                    <a:pt x="15975" y="18069"/>
                    <a:pt x="15975" y="18069"/>
                  </a:cubicBezTo>
                  <a:cubicBezTo>
                    <a:pt x="15975" y="18692"/>
                    <a:pt x="16425" y="19315"/>
                    <a:pt x="17100" y="19315"/>
                  </a:cubicBezTo>
                  <a:close/>
                  <a:moveTo>
                    <a:pt x="20925" y="20354"/>
                  </a:moveTo>
                  <a:cubicBezTo>
                    <a:pt x="450" y="20354"/>
                    <a:pt x="450" y="20354"/>
                    <a:pt x="450" y="20354"/>
                  </a:cubicBezTo>
                  <a:cubicBezTo>
                    <a:pt x="225" y="20354"/>
                    <a:pt x="0" y="20769"/>
                    <a:pt x="0" y="20977"/>
                  </a:cubicBezTo>
                  <a:cubicBezTo>
                    <a:pt x="0" y="21392"/>
                    <a:pt x="225" y="21600"/>
                    <a:pt x="450" y="21600"/>
                  </a:cubicBezTo>
                  <a:cubicBezTo>
                    <a:pt x="20925" y="21600"/>
                    <a:pt x="20925" y="21600"/>
                    <a:pt x="20925" y="21600"/>
                  </a:cubicBezTo>
                  <a:cubicBezTo>
                    <a:pt x="21375" y="21600"/>
                    <a:pt x="21600" y="21392"/>
                    <a:pt x="21600" y="20977"/>
                  </a:cubicBezTo>
                  <a:cubicBezTo>
                    <a:pt x="21600" y="20769"/>
                    <a:pt x="21375" y="20354"/>
                    <a:pt x="20925" y="2035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334" name="Shape"/>
            <p:cNvSpPr/>
            <p:nvPr/>
          </p:nvSpPr>
          <p:spPr>
            <a:xfrm>
              <a:off x="191031" y="211264"/>
              <a:ext cx="726580" cy="533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55" y="12409"/>
                  </a:moveTo>
                  <a:cubicBezTo>
                    <a:pt x="20692" y="12409"/>
                    <a:pt x="20692" y="12409"/>
                    <a:pt x="20692" y="12409"/>
                  </a:cubicBezTo>
                  <a:cubicBezTo>
                    <a:pt x="20692" y="5515"/>
                    <a:pt x="20692" y="5515"/>
                    <a:pt x="20692" y="5515"/>
                  </a:cubicBezTo>
                  <a:cubicBezTo>
                    <a:pt x="20692" y="5285"/>
                    <a:pt x="20329" y="5055"/>
                    <a:pt x="20148" y="5055"/>
                  </a:cubicBezTo>
                  <a:cubicBezTo>
                    <a:pt x="19785" y="5055"/>
                    <a:pt x="19785" y="5055"/>
                    <a:pt x="19785" y="5055"/>
                  </a:cubicBezTo>
                  <a:cubicBezTo>
                    <a:pt x="19785" y="2987"/>
                    <a:pt x="19785" y="2987"/>
                    <a:pt x="19785" y="2987"/>
                  </a:cubicBezTo>
                  <a:cubicBezTo>
                    <a:pt x="19785" y="2757"/>
                    <a:pt x="19422" y="2528"/>
                    <a:pt x="19240" y="2528"/>
                  </a:cubicBezTo>
                  <a:cubicBezTo>
                    <a:pt x="18514" y="2528"/>
                    <a:pt x="18514" y="2528"/>
                    <a:pt x="18514" y="2528"/>
                  </a:cubicBezTo>
                  <a:cubicBezTo>
                    <a:pt x="18514" y="460"/>
                    <a:pt x="18514" y="460"/>
                    <a:pt x="18514" y="460"/>
                  </a:cubicBezTo>
                  <a:cubicBezTo>
                    <a:pt x="18514" y="230"/>
                    <a:pt x="18333" y="0"/>
                    <a:pt x="18151" y="0"/>
                  </a:cubicBezTo>
                  <a:cubicBezTo>
                    <a:pt x="3449" y="0"/>
                    <a:pt x="3449" y="0"/>
                    <a:pt x="3449" y="0"/>
                  </a:cubicBezTo>
                  <a:cubicBezTo>
                    <a:pt x="3086" y="0"/>
                    <a:pt x="2904" y="230"/>
                    <a:pt x="2904" y="460"/>
                  </a:cubicBezTo>
                  <a:cubicBezTo>
                    <a:pt x="2904" y="2528"/>
                    <a:pt x="2904" y="2528"/>
                    <a:pt x="2904" y="2528"/>
                  </a:cubicBezTo>
                  <a:cubicBezTo>
                    <a:pt x="2360" y="2528"/>
                    <a:pt x="2360" y="2528"/>
                    <a:pt x="2360" y="2528"/>
                  </a:cubicBezTo>
                  <a:cubicBezTo>
                    <a:pt x="1997" y="2528"/>
                    <a:pt x="1815" y="2757"/>
                    <a:pt x="1815" y="2987"/>
                  </a:cubicBezTo>
                  <a:cubicBezTo>
                    <a:pt x="1815" y="5055"/>
                    <a:pt x="1815" y="5055"/>
                    <a:pt x="1815" y="5055"/>
                  </a:cubicBezTo>
                  <a:cubicBezTo>
                    <a:pt x="1452" y="5055"/>
                    <a:pt x="1452" y="5055"/>
                    <a:pt x="1452" y="5055"/>
                  </a:cubicBezTo>
                  <a:cubicBezTo>
                    <a:pt x="1089" y="5055"/>
                    <a:pt x="908" y="5285"/>
                    <a:pt x="908" y="5515"/>
                  </a:cubicBezTo>
                  <a:cubicBezTo>
                    <a:pt x="908" y="12409"/>
                    <a:pt x="908" y="12409"/>
                    <a:pt x="908" y="12409"/>
                  </a:cubicBezTo>
                  <a:cubicBezTo>
                    <a:pt x="363" y="12409"/>
                    <a:pt x="363" y="12409"/>
                    <a:pt x="363" y="12409"/>
                  </a:cubicBezTo>
                  <a:cubicBezTo>
                    <a:pt x="182" y="12409"/>
                    <a:pt x="0" y="12638"/>
                    <a:pt x="0" y="13098"/>
                  </a:cubicBezTo>
                  <a:cubicBezTo>
                    <a:pt x="0" y="21140"/>
                    <a:pt x="0" y="21140"/>
                    <a:pt x="0" y="21140"/>
                  </a:cubicBezTo>
                  <a:cubicBezTo>
                    <a:pt x="0" y="21370"/>
                    <a:pt x="182" y="21600"/>
                    <a:pt x="363" y="21600"/>
                  </a:cubicBezTo>
                  <a:cubicBezTo>
                    <a:pt x="21055" y="21600"/>
                    <a:pt x="21055" y="21600"/>
                    <a:pt x="21055" y="21600"/>
                  </a:cubicBezTo>
                  <a:cubicBezTo>
                    <a:pt x="21418" y="21600"/>
                    <a:pt x="21600" y="21370"/>
                    <a:pt x="21600" y="21140"/>
                  </a:cubicBezTo>
                  <a:cubicBezTo>
                    <a:pt x="21600" y="13098"/>
                    <a:pt x="21600" y="13098"/>
                    <a:pt x="21600" y="13098"/>
                  </a:cubicBezTo>
                  <a:cubicBezTo>
                    <a:pt x="21600" y="12638"/>
                    <a:pt x="21418" y="12409"/>
                    <a:pt x="21055" y="12409"/>
                  </a:cubicBezTo>
                  <a:close/>
                  <a:moveTo>
                    <a:pt x="3993" y="1149"/>
                  </a:moveTo>
                  <a:cubicBezTo>
                    <a:pt x="17607" y="1149"/>
                    <a:pt x="17607" y="1149"/>
                    <a:pt x="17607" y="1149"/>
                  </a:cubicBezTo>
                  <a:cubicBezTo>
                    <a:pt x="17607" y="2528"/>
                    <a:pt x="17607" y="2528"/>
                    <a:pt x="17607" y="2528"/>
                  </a:cubicBezTo>
                  <a:cubicBezTo>
                    <a:pt x="3993" y="2528"/>
                    <a:pt x="3993" y="2528"/>
                    <a:pt x="3993" y="2528"/>
                  </a:cubicBezTo>
                  <a:lnTo>
                    <a:pt x="3993" y="1149"/>
                  </a:lnTo>
                  <a:close/>
                  <a:moveTo>
                    <a:pt x="2723" y="3677"/>
                  </a:moveTo>
                  <a:cubicBezTo>
                    <a:pt x="18696" y="3677"/>
                    <a:pt x="18696" y="3677"/>
                    <a:pt x="18696" y="3677"/>
                  </a:cubicBezTo>
                  <a:cubicBezTo>
                    <a:pt x="18696" y="5055"/>
                    <a:pt x="18696" y="5055"/>
                    <a:pt x="18696" y="5055"/>
                  </a:cubicBezTo>
                  <a:cubicBezTo>
                    <a:pt x="2723" y="5055"/>
                    <a:pt x="2723" y="5055"/>
                    <a:pt x="2723" y="5055"/>
                  </a:cubicBezTo>
                  <a:lnTo>
                    <a:pt x="2723" y="3677"/>
                  </a:lnTo>
                  <a:close/>
                  <a:moveTo>
                    <a:pt x="1815" y="6204"/>
                  </a:moveTo>
                  <a:cubicBezTo>
                    <a:pt x="19603" y="6204"/>
                    <a:pt x="19603" y="6204"/>
                    <a:pt x="19603" y="6204"/>
                  </a:cubicBezTo>
                  <a:cubicBezTo>
                    <a:pt x="19603" y="12409"/>
                    <a:pt x="19603" y="12409"/>
                    <a:pt x="19603" y="12409"/>
                  </a:cubicBezTo>
                  <a:cubicBezTo>
                    <a:pt x="15610" y="12409"/>
                    <a:pt x="15610" y="12409"/>
                    <a:pt x="15610" y="12409"/>
                  </a:cubicBezTo>
                  <a:cubicBezTo>
                    <a:pt x="15429" y="12409"/>
                    <a:pt x="15247" y="12638"/>
                    <a:pt x="15247" y="12868"/>
                  </a:cubicBezTo>
                  <a:cubicBezTo>
                    <a:pt x="14703" y="15855"/>
                    <a:pt x="14703" y="15855"/>
                    <a:pt x="14703" y="15855"/>
                  </a:cubicBezTo>
                  <a:cubicBezTo>
                    <a:pt x="6716" y="15855"/>
                    <a:pt x="6716" y="15855"/>
                    <a:pt x="6716" y="15855"/>
                  </a:cubicBezTo>
                  <a:cubicBezTo>
                    <a:pt x="6353" y="12868"/>
                    <a:pt x="6353" y="12868"/>
                    <a:pt x="6353" y="12868"/>
                  </a:cubicBezTo>
                  <a:cubicBezTo>
                    <a:pt x="6171" y="12638"/>
                    <a:pt x="5990" y="12409"/>
                    <a:pt x="5808" y="12409"/>
                  </a:cubicBezTo>
                  <a:cubicBezTo>
                    <a:pt x="1815" y="12409"/>
                    <a:pt x="1815" y="12409"/>
                    <a:pt x="1815" y="12409"/>
                  </a:cubicBezTo>
                  <a:lnTo>
                    <a:pt x="1815" y="6204"/>
                  </a:lnTo>
                  <a:close/>
                  <a:moveTo>
                    <a:pt x="1815" y="6204"/>
                  </a:moveTo>
                  <a:cubicBezTo>
                    <a:pt x="1815" y="6204"/>
                    <a:pt x="1815" y="6204"/>
                    <a:pt x="1815" y="6204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2336" name="37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35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" grpId="1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8" name="bioinformatics_illustration_web.jpg" descr="bioinformatics_illustration_web.jpg"/>
          <p:cNvPicPr>
            <a:picLocks noChangeAspect="1"/>
          </p:cNvPicPr>
          <p:nvPr/>
        </p:nvPicPr>
        <p:blipFill>
          <a:blip r:embed="rId2">
            <a:alphaModFix amt="50148"/>
          </a:blip>
          <a:srcRect t="105" b="954"/>
          <a:stretch>
            <a:fillRect/>
          </a:stretch>
        </p:blipFill>
        <p:spPr>
          <a:xfrm rot="5400000">
            <a:off x="7152755" y="4469455"/>
            <a:ext cx="13733239" cy="4777262"/>
          </a:xfrm>
          <a:prstGeom prst="rect">
            <a:avLst/>
          </a:prstGeom>
          <a:ln w="12700">
            <a:miter lim="400000"/>
          </a:ln>
        </p:spPr>
      </p:pic>
      <p:sp>
        <p:nvSpPr>
          <p:cNvPr id="2339" name="Rectangle"/>
          <p:cNvSpPr/>
          <p:nvPr/>
        </p:nvSpPr>
        <p:spPr>
          <a:xfrm>
            <a:off x="15954173" y="-181273"/>
            <a:ext cx="8454415" cy="1392492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2343" name="Group"/>
          <p:cNvGrpSpPr/>
          <p:nvPr/>
        </p:nvGrpSpPr>
        <p:grpSpPr>
          <a:xfrm>
            <a:off x="1394494" y="1524000"/>
            <a:ext cx="9486170" cy="3475977"/>
            <a:chOff x="0" y="0"/>
            <a:chExt cx="9486169" cy="3475976"/>
          </a:xfrm>
        </p:grpSpPr>
        <p:sp>
          <p:nvSpPr>
            <p:cNvPr id="2340" name="WANT MO-R-E?"/>
            <p:cNvSpPr txBox="1"/>
            <p:nvPr/>
          </p:nvSpPr>
          <p:spPr>
            <a:xfrm>
              <a:off x="0" y="720813"/>
              <a:ext cx="9486170" cy="27551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WANT MO-R-E?</a:t>
              </a:r>
            </a:p>
          </p:txBody>
        </p:sp>
        <p:sp>
          <p:nvSpPr>
            <p:cNvPr id="2341" name="FROM EXCEL TO R"/>
            <p:cNvSpPr txBox="1"/>
            <p:nvPr/>
          </p:nvSpPr>
          <p:spPr>
            <a:xfrm>
              <a:off x="2127580" y="0"/>
              <a:ext cx="6471696" cy="4369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374556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2342" name="Line"/>
            <p:cNvSpPr/>
            <p:nvPr/>
          </p:nvSpPr>
          <p:spPr>
            <a:xfrm>
              <a:off x="111502" y="218268"/>
              <a:ext cx="1705287" cy="1"/>
            </a:xfrm>
            <a:prstGeom prst="line">
              <a:avLst/>
            </a:prstGeom>
            <a:noFill/>
            <a:ln w="88900" cap="flat">
              <a:solidFill>
                <a:srgbClr val="374556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344" name="Rectangle"/>
          <p:cNvSpPr/>
          <p:nvPr/>
        </p:nvSpPr>
        <p:spPr>
          <a:xfrm>
            <a:off x="1510893" y="4207301"/>
            <a:ext cx="21247914" cy="8625514"/>
          </a:xfrm>
          <a:prstGeom prst="rect">
            <a:avLst/>
          </a:prstGeom>
          <a:solidFill>
            <a:srgbClr val="FFFFFF"/>
          </a:solidFill>
          <a:ln w="50800">
            <a:solidFill>
              <a:srgbClr val="293441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45" name="The Section for Biostatistics offers a number statistics-oriented R courses:"/>
          <p:cNvSpPr txBox="1"/>
          <p:nvPr/>
        </p:nvSpPr>
        <p:spPr>
          <a:xfrm>
            <a:off x="2840057" y="4719566"/>
            <a:ext cx="7137575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Section for Biostatistics offers a number statistics-oriented R courses:</a:t>
            </a:r>
          </a:p>
        </p:txBody>
      </p:sp>
      <p:sp>
        <p:nvSpPr>
          <p:cNvPr id="2346" name="38"/>
          <p:cNvSpPr txBox="1"/>
          <p:nvPr/>
        </p:nvSpPr>
        <p:spPr>
          <a:xfrm>
            <a:off x="374649" y="13123145"/>
            <a:ext cx="59711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3</a:t>
            </a:r>
            <a:r>
              <a:rPr lang="da-DK"/>
              <a:t>6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347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88" y="6091203"/>
            <a:ext cx="8483601" cy="5257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8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5704" y="6199153"/>
            <a:ext cx="8420101" cy="5041901"/>
          </a:xfrm>
          <a:prstGeom prst="rect">
            <a:avLst/>
          </a:prstGeom>
          <a:ln w="12700">
            <a:miter lim="400000"/>
          </a:ln>
        </p:spPr>
      </p:pic>
      <p:sp>
        <p:nvSpPr>
          <p:cNvPr id="2349" name="https://publichealth.ku.dk/about-the-department/biostat/"/>
          <p:cNvSpPr txBox="1"/>
          <p:nvPr/>
        </p:nvSpPr>
        <p:spPr>
          <a:xfrm>
            <a:off x="12659238" y="4530076"/>
            <a:ext cx="889109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  <a:p>
            <a:pPr algn="r"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hlinkClick r:id="rId5"/>
              </a:rPr>
              <a:t>https://publichealth.ku.dk/about-the-department/biostat/</a:t>
            </a:r>
            <a:r>
              <a:rPr>
                <a:solidFill>
                  <a:srgbClr val="999999"/>
                </a:solidFill>
              </a:rPr>
              <a:t> 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350" name="* These are screenshots. Go to the website and scroll down to ‘Teaching’"/>
          <p:cNvSpPr txBox="1"/>
          <p:nvPr/>
        </p:nvSpPr>
        <p:spPr>
          <a:xfrm>
            <a:off x="2488690" y="11741730"/>
            <a:ext cx="1259091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* These are screenshots. Go to the website and scroll down to ‘Teaching’</a:t>
            </a:r>
            <a:r>
              <a:rPr>
                <a:solidFill>
                  <a:srgbClr val="000000"/>
                </a:solidFill>
              </a:rPr>
              <a:t> </a:t>
            </a:r>
            <a:r>
              <a:t> 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Rounded Rectangle"/>
          <p:cNvSpPr/>
          <p:nvPr/>
        </p:nvSpPr>
        <p:spPr>
          <a:xfrm>
            <a:off x="8094655" y="3899749"/>
            <a:ext cx="4065241" cy="2695576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53" name="Rectangle"/>
          <p:cNvSpPr/>
          <p:nvPr/>
        </p:nvSpPr>
        <p:spPr>
          <a:xfrm>
            <a:off x="-3409" y="-26176"/>
            <a:ext cx="7308701" cy="13768352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54" name="21"/>
          <p:cNvSpPr txBox="1"/>
          <p:nvPr/>
        </p:nvSpPr>
        <p:spPr>
          <a:xfrm>
            <a:off x="374649" y="12966700"/>
            <a:ext cx="665164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21</a:t>
            </a:r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55" name="lme4: https://cran.r-project.org/web/packages/lme4/vignettes/lmer.pdf…"/>
          <p:cNvSpPr txBox="1"/>
          <p:nvPr/>
        </p:nvSpPr>
        <p:spPr>
          <a:xfrm>
            <a:off x="12953723" y="4183891"/>
            <a:ext cx="5778501" cy="2298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spcBef>
                <a:spcPts val="1000"/>
              </a:spcBef>
              <a:defRPr sz="1800"/>
            </a:pPr>
            <a:r>
              <a:rPr b="1">
                <a:solidFill>
                  <a:srgbClr val="374556"/>
                </a:solidFill>
              </a:rPr>
              <a:t>lme4: </a:t>
            </a:r>
            <a:r>
              <a:rPr u="sng">
                <a:solidFill>
                  <a:srgbClr val="37455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https://cran.r-project.org/web/packages/lme4/vignettes/lmer.pdf</a:t>
            </a:r>
          </a:p>
          <a:p>
            <a:pPr>
              <a:spcBef>
                <a:spcPts val="1000"/>
              </a:spcBef>
              <a:defRPr sz="1800"/>
            </a:pPr>
            <a:r>
              <a:rPr u="sng">
                <a:solidFill>
                  <a:srgbClr val="37455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https://cran.microsoft.com/snapshot/2017-08-01/web/packages/sjPlot/vignettes/sjplmer.html</a:t>
            </a:r>
          </a:p>
          <a:p>
            <a:pPr>
              <a:defRPr sz="1800"/>
            </a:pPr>
            <a:r>
              <a:rPr b="1" err="1">
                <a:solidFill>
                  <a:srgbClr val="374556"/>
                </a:solidFill>
              </a:rPr>
              <a:t>glmmTMB</a:t>
            </a:r>
            <a:r>
              <a:rPr>
                <a:solidFill>
                  <a:srgbClr val="374556"/>
                </a:solidFill>
              </a:rPr>
              <a:t>: </a:t>
            </a:r>
            <a:r>
              <a:rPr u="sng">
                <a:solidFill>
                  <a:srgbClr val="37455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https://cran.r-project.org/web/packages/glmmTMB/index.html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356" name="Rounded Rectangle"/>
          <p:cNvSpPr/>
          <p:nvPr/>
        </p:nvSpPr>
        <p:spPr>
          <a:xfrm>
            <a:off x="8094655" y="541241"/>
            <a:ext cx="4065241" cy="2695576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57" name="Rounded Rectangle"/>
          <p:cNvSpPr/>
          <p:nvPr/>
        </p:nvSpPr>
        <p:spPr>
          <a:xfrm>
            <a:off x="8094655" y="7258258"/>
            <a:ext cx="4065241" cy="2695576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58" name="Rounded Rectangle"/>
          <p:cNvSpPr/>
          <p:nvPr/>
        </p:nvSpPr>
        <p:spPr>
          <a:xfrm>
            <a:off x="8094655" y="10616766"/>
            <a:ext cx="4065241" cy="2695576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359" name="survival-analysis-basics-survival-curves-1.png" descr="survival-analysis-basics-survival-curves-1.png"/>
          <p:cNvPicPr>
            <a:picLocks noChangeAspect="1"/>
          </p:cNvPicPr>
          <p:nvPr/>
        </p:nvPicPr>
        <p:blipFill>
          <a:blip r:embed="rId6"/>
          <a:srcRect l="13247" t="9011" b="32234"/>
          <a:stretch>
            <a:fillRect/>
          </a:stretch>
        </p:blipFill>
        <p:spPr>
          <a:xfrm>
            <a:off x="8372889" y="700983"/>
            <a:ext cx="3508616" cy="2376240"/>
          </a:xfrm>
          <a:prstGeom prst="rect">
            <a:avLst/>
          </a:prstGeom>
          <a:ln w="12700">
            <a:miter lim="400000"/>
          </a:ln>
        </p:spPr>
      </p:pic>
      <p:sp>
        <p:nvSpPr>
          <p:cNvPr id="2360" name="Epidemiological Analysis"/>
          <p:cNvSpPr txBox="1"/>
          <p:nvPr/>
        </p:nvSpPr>
        <p:spPr>
          <a:xfrm>
            <a:off x="12955941" y="6831279"/>
            <a:ext cx="4802067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Epidemiological Analysis</a:t>
            </a:r>
          </a:p>
        </p:txBody>
      </p:sp>
      <p:sp>
        <p:nvSpPr>
          <p:cNvPr id="2361" name="Mixed-Effects Models"/>
          <p:cNvSpPr txBox="1"/>
          <p:nvPr/>
        </p:nvSpPr>
        <p:spPr>
          <a:xfrm>
            <a:off x="12950887" y="3523029"/>
            <a:ext cx="5336839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Mixed-Effects Models</a:t>
            </a:r>
          </a:p>
        </p:txBody>
      </p:sp>
      <p:sp>
        <p:nvSpPr>
          <p:cNvPr id="2362" name="Elastic-Net Regression (R"/>
          <p:cNvSpPr txBox="1"/>
          <p:nvPr/>
        </p:nvSpPr>
        <p:spPr>
          <a:xfrm>
            <a:off x="12950731" y="10439400"/>
            <a:ext cx="4192241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Elastic-Net Regression (R</a:t>
            </a:r>
          </a:p>
        </p:txBody>
      </p:sp>
      <p:pic>
        <p:nvPicPr>
          <p:cNvPr id="2363" name="lass.png" descr="lass.png"/>
          <p:cNvPicPr>
            <a:picLocks/>
          </p:cNvPicPr>
          <p:nvPr/>
        </p:nvPicPr>
        <p:blipFill>
          <a:blip r:embed="rId7"/>
          <a:srcRect l="7245" t="76018" r="52956" b="12687"/>
          <a:stretch>
            <a:fillRect/>
          </a:stretch>
        </p:blipFill>
        <p:spPr>
          <a:xfrm>
            <a:off x="8330820" y="11973467"/>
            <a:ext cx="3592857" cy="1025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4" name="lass.png" descr="lass.png"/>
          <p:cNvPicPr>
            <a:picLocks/>
          </p:cNvPicPr>
          <p:nvPr/>
        </p:nvPicPr>
        <p:blipFill>
          <a:blip r:embed="rId7"/>
          <a:srcRect l="56980" t="76456" r="3388" b="12588"/>
          <a:stretch>
            <a:fillRect/>
          </a:stretch>
        </p:blipFill>
        <p:spPr>
          <a:xfrm>
            <a:off x="8334832" y="10802610"/>
            <a:ext cx="3584720" cy="1025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5" name="maxresdefault.jpg" descr="maxresdefault.jpg"/>
          <p:cNvPicPr>
            <a:picLocks noChangeAspect="1"/>
          </p:cNvPicPr>
          <p:nvPr/>
        </p:nvPicPr>
        <p:blipFill>
          <a:blip r:embed="rId8"/>
          <a:srcRect l="18656" r="16312" b="12905"/>
          <a:stretch>
            <a:fillRect/>
          </a:stretch>
        </p:blipFill>
        <p:spPr>
          <a:xfrm>
            <a:off x="8500683" y="4002590"/>
            <a:ext cx="3253082" cy="2450683"/>
          </a:xfrm>
          <a:prstGeom prst="rect">
            <a:avLst/>
          </a:prstGeom>
          <a:ln w="12700">
            <a:miter lim="400000"/>
          </a:ln>
        </p:spPr>
      </p:pic>
      <p:sp>
        <p:nvSpPr>
          <p:cNvPr id="2366" name="glmnet: https://cran.r-project.org/web/packages/glmnet/glmnet.pdf…"/>
          <p:cNvSpPr txBox="1"/>
          <p:nvPr/>
        </p:nvSpPr>
        <p:spPr>
          <a:xfrm>
            <a:off x="12953723" y="11068516"/>
            <a:ext cx="5778501" cy="2298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spcBef>
                <a:spcPts val="1000"/>
              </a:spcBef>
              <a:defRPr sz="1800"/>
            </a:pPr>
            <a:r>
              <a:rPr b="1" err="1">
                <a:solidFill>
                  <a:srgbClr val="374556"/>
                </a:solidFill>
              </a:rPr>
              <a:t>glmnet</a:t>
            </a:r>
            <a:r>
              <a:rPr b="1">
                <a:solidFill>
                  <a:srgbClr val="374556"/>
                </a:solidFill>
              </a:rPr>
              <a:t>:</a:t>
            </a:r>
            <a:r>
              <a:rPr>
                <a:solidFill>
                  <a:srgbClr val="374556"/>
                </a:solidFill>
              </a:rPr>
              <a:t> </a:t>
            </a:r>
            <a:r>
              <a:rPr u="sng">
                <a:solidFill>
                  <a:srgbClr val="374556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https://cran.r-project.org/web/packages/glmnet/glmnet.pdf</a:t>
            </a:r>
          </a:p>
          <a:p>
            <a:pPr>
              <a:spcBef>
                <a:spcPts val="1000"/>
              </a:spcBef>
              <a:defRPr sz="1800"/>
            </a:pPr>
            <a:r>
              <a:rPr b="1" err="1">
                <a:solidFill>
                  <a:srgbClr val="374556"/>
                </a:solidFill>
              </a:rPr>
              <a:t>elasticnet</a:t>
            </a:r>
            <a:r>
              <a:rPr b="1">
                <a:solidFill>
                  <a:srgbClr val="374556"/>
                </a:solidFill>
              </a:rPr>
              <a:t>: </a:t>
            </a:r>
            <a:r>
              <a:rPr u="sng">
                <a:solidFill>
                  <a:srgbClr val="374556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https://cran.r-project.org/web/packages/elasticnet/elasticnet.pdf</a:t>
            </a:r>
            <a:r>
              <a:rPr>
                <a:solidFill>
                  <a:srgbClr val="374556"/>
                </a:solidFill>
              </a:rPr>
              <a:t> </a:t>
            </a:r>
          </a:p>
          <a:p>
            <a:pPr>
              <a:spcBef>
                <a:spcPts val="1000"/>
              </a:spcBef>
              <a:defRPr sz="1800"/>
            </a:pPr>
            <a:r>
              <a:rPr u="sng">
                <a:solidFill>
                  <a:srgbClr val="374556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https://www.datacamp.com/community/tutorials/tutorial-ridge-lasso-elastic-net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367" name="Rectangle"/>
          <p:cNvSpPr/>
          <p:nvPr/>
        </p:nvSpPr>
        <p:spPr>
          <a:xfrm>
            <a:off x="19597037" y="0"/>
            <a:ext cx="4802067" cy="13768351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68" name="survival: https://rviews.rstudio.com/2017/09/25/survival-analysis-with-r/…"/>
          <p:cNvSpPr txBox="1"/>
          <p:nvPr/>
        </p:nvSpPr>
        <p:spPr>
          <a:xfrm>
            <a:off x="12953723" y="1189846"/>
            <a:ext cx="5778501" cy="1846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spcBef>
                <a:spcPts val="1000"/>
              </a:spcBef>
              <a:defRPr sz="1800"/>
            </a:pPr>
            <a:r>
              <a:rPr b="1">
                <a:solidFill>
                  <a:srgbClr val="374556"/>
                </a:solidFill>
              </a:rPr>
              <a:t>survival</a:t>
            </a:r>
            <a:r>
              <a:rPr>
                <a:solidFill>
                  <a:srgbClr val="374556"/>
                </a:solidFill>
              </a:rPr>
              <a:t>: </a:t>
            </a:r>
            <a:r>
              <a:rPr u="sng">
                <a:solidFill>
                  <a:srgbClr val="374556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https://rviews.rstudio.com/2017/09/25/survival-analysis-with-r/</a:t>
            </a:r>
          </a:p>
          <a:p>
            <a:pPr>
              <a:defRPr sz="1800"/>
            </a:pPr>
            <a:r>
              <a:rPr b="1">
                <a:solidFill>
                  <a:srgbClr val="374556"/>
                </a:solidFill>
              </a:rPr>
              <a:t>survminer:</a:t>
            </a:r>
            <a:r>
              <a:rPr>
                <a:solidFill>
                  <a:srgbClr val="374556"/>
                </a:solidFill>
              </a:rPr>
              <a:t> </a:t>
            </a:r>
            <a:r>
              <a:rPr u="sng">
                <a:solidFill>
                  <a:srgbClr val="374556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https://cran.r-project.org/web/packages/survminer/survminer.pdf</a:t>
            </a:r>
          </a:p>
          <a:p>
            <a:pPr>
              <a:defRPr sz="1800"/>
            </a:pPr>
            <a:r>
              <a:rPr>
                <a:solidFill>
                  <a:srgbClr val="374556"/>
                </a:solidFill>
              </a:rPr>
              <a:t>(</a:t>
            </a:r>
            <a:r>
              <a:rPr u="sng">
                <a:solidFill>
                  <a:srgbClr val="37455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https://rpkgs.datanovia.com/survminer/</a:t>
            </a:r>
            <a:r>
              <a:rPr>
                <a:solidFill>
                  <a:srgbClr val="374556"/>
                </a:solidFill>
              </a:rPr>
              <a:t> )</a:t>
            </a:r>
          </a:p>
        </p:txBody>
      </p:sp>
      <p:sp>
        <p:nvSpPr>
          <p:cNvPr id="2369" name="Survival Analysis"/>
          <p:cNvSpPr txBox="1"/>
          <p:nvPr/>
        </p:nvSpPr>
        <p:spPr>
          <a:xfrm>
            <a:off x="12960215" y="513210"/>
            <a:ext cx="3210296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Survival Analysis</a:t>
            </a:r>
          </a:p>
        </p:txBody>
      </p:sp>
      <p:grpSp>
        <p:nvGrpSpPr>
          <p:cNvPr id="2372" name="Group"/>
          <p:cNvGrpSpPr/>
          <p:nvPr/>
        </p:nvGrpSpPr>
        <p:grpSpPr>
          <a:xfrm>
            <a:off x="8389715" y="7706252"/>
            <a:ext cx="3479153" cy="1799589"/>
            <a:chOff x="0" y="0"/>
            <a:chExt cx="3479152" cy="1799588"/>
          </a:xfrm>
        </p:grpSpPr>
        <p:pic>
          <p:nvPicPr>
            <p:cNvPr id="2370" name="3776ac41-dd15-4aad-bef6-0a49d55bee36_figure2.gif" descr="3776ac41-dd15-4aad-bef6-0a49d55bee36_figure2.gif"/>
            <p:cNvPicPr>
              <a:picLocks noChangeAspect="1"/>
            </p:cNvPicPr>
            <p:nvPr/>
          </p:nvPicPr>
          <p:blipFill>
            <a:blip r:embed="rId15"/>
            <a:srcRect l="16564" t="5753" r="3971" b="17615"/>
            <a:stretch>
              <a:fillRect/>
            </a:stretch>
          </p:blipFill>
          <p:spPr>
            <a:xfrm>
              <a:off x="0" y="0"/>
              <a:ext cx="3475121" cy="1799589"/>
            </a:xfrm>
            <a:prstGeom prst="rect">
              <a:avLst/>
            </a:prstGeom>
            <a:ln w="3175" cap="flat">
              <a:solidFill>
                <a:srgbClr val="374556"/>
              </a:solidFill>
              <a:prstDash val="solid"/>
              <a:miter lim="400000"/>
            </a:ln>
            <a:effectLst/>
          </p:spPr>
        </p:pic>
        <p:sp>
          <p:nvSpPr>
            <p:cNvPr id="2371" name="Rectangle"/>
            <p:cNvSpPr/>
            <p:nvPr/>
          </p:nvSpPr>
          <p:spPr>
            <a:xfrm>
              <a:off x="1967940" y="28658"/>
              <a:ext cx="1511213" cy="79786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373" name="Epi: https://cran.r-project.org/web/packages/Epi/index.html…"/>
          <p:cNvSpPr txBox="1"/>
          <p:nvPr/>
        </p:nvSpPr>
        <p:spPr>
          <a:xfrm>
            <a:off x="12956701" y="7452981"/>
            <a:ext cx="5772544" cy="28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spcBef>
                <a:spcPts val="1000"/>
              </a:spcBef>
              <a:defRPr sz="1800"/>
            </a:pPr>
            <a:r>
              <a:rPr b="1">
                <a:solidFill>
                  <a:srgbClr val="374556"/>
                </a:solidFill>
              </a:rPr>
              <a:t>Epi:</a:t>
            </a:r>
            <a:r>
              <a:rPr>
                <a:solidFill>
                  <a:srgbClr val="374556"/>
                </a:solidFill>
              </a:rPr>
              <a:t> </a:t>
            </a:r>
            <a:r>
              <a:rPr u="sng">
                <a:solidFill>
                  <a:srgbClr val="374556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https://cran.r-project.org/web/packages/Epi/index.html</a:t>
            </a:r>
          </a:p>
          <a:p>
            <a:pPr>
              <a:spcBef>
                <a:spcPts val="1000"/>
              </a:spcBef>
              <a:defRPr sz="1800"/>
            </a:pPr>
            <a:r>
              <a:rPr b="1">
                <a:solidFill>
                  <a:srgbClr val="374556"/>
                </a:solidFill>
              </a:rPr>
              <a:t>pubh: </a:t>
            </a:r>
            <a:r>
              <a:rPr u="sng">
                <a:solidFill>
                  <a:srgbClr val="374556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https://rviews.rstudio.com/2020/03/05/covid-19-epidemiology-with-r/</a:t>
            </a:r>
            <a:r>
              <a:rPr>
                <a:solidFill>
                  <a:srgbClr val="374556"/>
                </a:solidFill>
              </a:rPr>
              <a:t> </a:t>
            </a:r>
          </a:p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https://cran.r-project.org/web/packages/incidence/vignettes/customize_plot.html</a:t>
            </a:r>
            <a:r>
              <a:rPr>
                <a:solidFill>
                  <a:srgbClr val="374556"/>
                </a:solidFill>
              </a:rPr>
              <a:t> </a:t>
            </a:r>
          </a:p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https://rviews.rstudio.com/2020/03/05/covid-19-epidemiology-with-r/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grpSp>
        <p:nvGrpSpPr>
          <p:cNvPr id="2377" name="Group"/>
          <p:cNvGrpSpPr/>
          <p:nvPr/>
        </p:nvGrpSpPr>
        <p:grpSpPr>
          <a:xfrm>
            <a:off x="-132525" y="6496572"/>
            <a:ext cx="7469087" cy="3333289"/>
            <a:chOff x="0" y="0"/>
            <a:chExt cx="7469085" cy="3333288"/>
          </a:xfrm>
        </p:grpSpPr>
        <p:sp>
          <p:nvSpPr>
            <p:cNvPr id="2374" name="STATISTICS in R"/>
            <p:cNvSpPr txBox="1"/>
            <p:nvPr/>
          </p:nvSpPr>
          <p:spPr>
            <a:xfrm>
              <a:off x="0" y="578124"/>
              <a:ext cx="7469086" cy="2755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STATISTICS in </a:t>
              </a:r>
              <a:r>
                <a:rPr b="1"/>
                <a:t>R</a:t>
              </a:r>
            </a:p>
          </p:txBody>
        </p:sp>
        <p:sp>
          <p:nvSpPr>
            <p:cNvPr id="2375" name="Line"/>
            <p:cNvSpPr/>
            <p:nvPr/>
          </p:nvSpPr>
          <p:spPr>
            <a:xfrm>
              <a:off x="1355907" y="217744"/>
              <a:ext cx="988298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6" name="TEASER"/>
            <p:cNvSpPr txBox="1"/>
            <p:nvPr/>
          </p:nvSpPr>
          <p:spPr>
            <a:xfrm>
              <a:off x="2551016" y="0"/>
              <a:ext cx="1778155" cy="4354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TEASER</a:t>
              </a:r>
            </a:p>
          </p:txBody>
        </p:sp>
      </p:grpSp>
      <p:sp>
        <p:nvSpPr>
          <p:cNvPr id="2378" name="39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3</a:t>
            </a:r>
            <a:r>
              <a:rPr lang="da-DK"/>
              <a:t>7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Rounded Rectangle"/>
          <p:cNvSpPr/>
          <p:nvPr/>
        </p:nvSpPr>
        <p:spPr>
          <a:xfrm>
            <a:off x="18496878" y="2345357"/>
            <a:ext cx="4459098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1" name="Rounded Rectangle"/>
          <p:cNvSpPr/>
          <p:nvPr/>
        </p:nvSpPr>
        <p:spPr>
          <a:xfrm>
            <a:off x="12814290" y="2345357"/>
            <a:ext cx="4459098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2" name="Rounded Rectangle"/>
          <p:cNvSpPr/>
          <p:nvPr/>
        </p:nvSpPr>
        <p:spPr>
          <a:xfrm>
            <a:off x="7135860" y="8720757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3" name="Rounded Rectangle"/>
          <p:cNvSpPr/>
          <p:nvPr/>
        </p:nvSpPr>
        <p:spPr>
          <a:xfrm>
            <a:off x="7141674" y="2345357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4" name="Rounded Rectangle"/>
          <p:cNvSpPr/>
          <p:nvPr/>
        </p:nvSpPr>
        <p:spPr>
          <a:xfrm>
            <a:off x="12814290" y="8720757"/>
            <a:ext cx="4459098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5" name="Rounded Rectangle"/>
          <p:cNvSpPr/>
          <p:nvPr/>
        </p:nvSpPr>
        <p:spPr>
          <a:xfrm>
            <a:off x="1462751" y="8720757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6" name="Rounded Rectangle"/>
          <p:cNvSpPr/>
          <p:nvPr/>
        </p:nvSpPr>
        <p:spPr>
          <a:xfrm>
            <a:off x="18496878" y="8720757"/>
            <a:ext cx="4459098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87" name="Rectangle"/>
          <p:cNvSpPr/>
          <p:nvPr/>
        </p:nvSpPr>
        <p:spPr>
          <a:xfrm>
            <a:off x="-53447" y="-14593"/>
            <a:ext cx="6116046" cy="6695681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81A489"/>
                </a:solidFill>
              </a:defRPr>
            </a:pPr>
            <a:endParaRPr/>
          </a:p>
        </p:txBody>
      </p:sp>
      <p:grpSp>
        <p:nvGrpSpPr>
          <p:cNvPr id="2391" name="Group"/>
          <p:cNvGrpSpPr/>
          <p:nvPr/>
        </p:nvGrpSpPr>
        <p:grpSpPr>
          <a:xfrm>
            <a:off x="404422" y="1981987"/>
            <a:ext cx="5391215" cy="1621830"/>
            <a:chOff x="0" y="0"/>
            <a:chExt cx="5391213" cy="1621828"/>
          </a:xfrm>
        </p:grpSpPr>
        <p:sp>
          <p:nvSpPr>
            <p:cNvPr id="2388" name="Machine Learning"/>
            <p:cNvSpPr txBox="1"/>
            <p:nvPr/>
          </p:nvSpPr>
          <p:spPr>
            <a:xfrm>
              <a:off x="0" y="414466"/>
              <a:ext cx="5391214" cy="12073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Machine Learning</a:t>
              </a:r>
            </a:p>
          </p:txBody>
        </p:sp>
        <p:sp>
          <p:nvSpPr>
            <p:cNvPr id="2389" name="TEASER"/>
            <p:cNvSpPr txBox="1"/>
            <p:nvPr/>
          </p:nvSpPr>
          <p:spPr>
            <a:xfrm>
              <a:off x="1194416" y="0"/>
              <a:ext cx="1778155" cy="4354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TEASER</a:t>
              </a:r>
            </a:p>
          </p:txBody>
        </p:sp>
        <p:sp>
          <p:nvSpPr>
            <p:cNvPr id="2390" name="Line"/>
            <p:cNvSpPr/>
            <p:nvPr/>
          </p:nvSpPr>
          <p:spPr>
            <a:xfrm>
              <a:off x="92169" y="217744"/>
              <a:ext cx="887417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392" name="Clustering"/>
          <p:cNvSpPr txBox="1"/>
          <p:nvPr/>
        </p:nvSpPr>
        <p:spPr>
          <a:xfrm>
            <a:off x="7775947" y="1507876"/>
            <a:ext cx="3210296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Clustering</a:t>
            </a:r>
          </a:p>
        </p:txBody>
      </p:sp>
      <p:sp>
        <p:nvSpPr>
          <p:cNvPr id="2393" name="https://statsandr.com/blog/clustering-analysis-k-means-and-hierarchical-clustering-by-hand-and-in-r/"/>
          <p:cNvSpPr txBox="1"/>
          <p:nvPr/>
        </p:nvSpPr>
        <p:spPr>
          <a:xfrm>
            <a:off x="7360852" y="5859174"/>
            <a:ext cx="4020741" cy="899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https://statsandr.com/blog/clustering-analysis-k-means-and-hierarchical-clustering-by-hand-and-in-r/</a:t>
            </a:r>
            <a:r>
              <a:rPr>
                <a:solidFill>
                  <a:srgbClr val="374556"/>
                </a:solidFill>
              </a:rPr>
              <a:t>  </a:t>
            </a:r>
          </a:p>
        </p:txBody>
      </p:sp>
      <p:sp>
        <p:nvSpPr>
          <p:cNvPr id="2394" name="Feature Selection: PCA"/>
          <p:cNvSpPr txBox="1"/>
          <p:nvPr/>
        </p:nvSpPr>
        <p:spPr>
          <a:xfrm>
            <a:off x="12845722" y="1507876"/>
            <a:ext cx="4396234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Feature Selection: PCA</a:t>
            </a:r>
          </a:p>
        </p:txBody>
      </p:sp>
      <p:sp>
        <p:nvSpPr>
          <p:cNvPr id="2395" name="Missing Data"/>
          <p:cNvSpPr txBox="1"/>
          <p:nvPr/>
        </p:nvSpPr>
        <p:spPr>
          <a:xfrm>
            <a:off x="18419126" y="1507876"/>
            <a:ext cx="4586098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Missing Data</a:t>
            </a:r>
          </a:p>
        </p:txBody>
      </p:sp>
      <p:sp>
        <p:nvSpPr>
          <p:cNvPr id="2396" name="https://bioconductor.org/packages/release/bioc/vignettes/PCAtools/inst/doc/PCAtools.html"/>
          <p:cNvSpPr txBox="1"/>
          <p:nvPr/>
        </p:nvSpPr>
        <p:spPr>
          <a:xfrm>
            <a:off x="13057888" y="5850121"/>
            <a:ext cx="4020741" cy="91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1800"/>
            </a:lvl1pPr>
          </a:lstStyle>
          <a:p>
            <a:r>
              <a:rPr>
                <a:solidFill>
                  <a:srgbClr val="37455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https://bioconductor.org/packages/release/bioc/vignettes/PCAtools/inst/doc/PCAtools.html</a:t>
            </a:r>
            <a:r>
              <a:rPr lang="en-US">
                <a:solidFill>
                  <a:srgbClr val="374556"/>
                </a:solidFill>
              </a:rPr>
              <a:t> </a:t>
            </a:r>
            <a:endParaRPr>
              <a:solidFill>
                <a:srgbClr val="374556"/>
              </a:solidFill>
            </a:endParaRPr>
          </a:p>
        </p:txBody>
      </p:sp>
      <p:sp>
        <p:nvSpPr>
          <p:cNvPr id="2397" name="Group"/>
          <p:cNvSpPr/>
          <p:nvPr/>
        </p:nvSpPr>
        <p:spPr>
          <a:xfrm>
            <a:off x="20558890" y="2915099"/>
            <a:ext cx="782936" cy="2303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98" name="https://amices.org/mice/…"/>
          <p:cNvSpPr txBox="1"/>
          <p:nvPr/>
        </p:nvSpPr>
        <p:spPr>
          <a:xfrm>
            <a:off x="18784321" y="5841069"/>
            <a:ext cx="4087092" cy="91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https://amices.org/mice/</a:t>
            </a:r>
          </a:p>
          <a:p>
            <a:pPr>
              <a:defRPr sz="1800"/>
            </a:pPr>
            <a:r>
              <a:rPr>
                <a:solidFill>
                  <a:srgbClr val="374556"/>
                </a:solidFill>
              </a:rPr>
              <a:t>https://</a:t>
            </a:r>
            <a:r>
              <a:rPr err="1">
                <a:solidFill>
                  <a:srgbClr val="374556"/>
                </a:solidFill>
              </a:rPr>
              <a:t>datascienceplus.com</a:t>
            </a:r>
            <a:r>
              <a:rPr>
                <a:solidFill>
                  <a:srgbClr val="374556"/>
                </a:solidFill>
              </a:rPr>
              <a:t>/imputing-missing-data-with-r-mice-package/</a:t>
            </a:r>
          </a:p>
        </p:txBody>
      </p:sp>
      <p:sp>
        <p:nvSpPr>
          <p:cNvPr id="2399" name="Random Forest"/>
          <p:cNvSpPr txBox="1"/>
          <p:nvPr/>
        </p:nvSpPr>
        <p:spPr>
          <a:xfrm>
            <a:off x="2087151" y="7815809"/>
            <a:ext cx="3210296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Random Forest</a:t>
            </a:r>
          </a:p>
        </p:txBody>
      </p:sp>
      <p:sp>
        <p:nvSpPr>
          <p:cNvPr id="2400" name="SVM"/>
          <p:cNvSpPr txBox="1"/>
          <p:nvPr/>
        </p:nvSpPr>
        <p:spPr>
          <a:xfrm>
            <a:off x="12790359" y="7815809"/>
            <a:ext cx="4586098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SVM</a:t>
            </a:r>
          </a:p>
        </p:txBody>
      </p:sp>
      <p:sp>
        <p:nvSpPr>
          <p:cNvPr id="2401" name="https://www.blopig.com/blog/2017/04/a-very-basic-introduction-to-random-forests-using-r/"/>
          <p:cNvSpPr txBox="1"/>
          <p:nvPr/>
        </p:nvSpPr>
        <p:spPr>
          <a:xfrm>
            <a:off x="1836891" y="12139923"/>
            <a:ext cx="3778712" cy="91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https://www.blopig.com/blog/2017/04/a-very-basic-introduction-to-random-forests-using-r/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402" name="Group"/>
          <p:cNvSpPr/>
          <p:nvPr/>
        </p:nvSpPr>
        <p:spPr>
          <a:xfrm>
            <a:off x="14867923" y="9143302"/>
            <a:ext cx="782936" cy="2303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03" name="https://cran.r-project.org/web/packages/e1071/vignettes/svmdoc.pdf"/>
          <p:cNvSpPr txBox="1"/>
          <p:nvPr/>
        </p:nvSpPr>
        <p:spPr>
          <a:xfrm>
            <a:off x="13040979" y="12171153"/>
            <a:ext cx="4523657" cy="728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1800"/>
            </a:lvl1pPr>
          </a:lstStyle>
          <a:p>
            <a:r>
              <a:rPr>
                <a:solidFill>
                  <a:srgbClr val="37455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https://cran.r-project.org/web/packages/e1071/vignettes/svmdoc.pdf</a:t>
            </a:r>
            <a:r>
              <a:rPr lang="en-US">
                <a:solidFill>
                  <a:srgbClr val="374556"/>
                </a:solidFill>
              </a:rPr>
              <a:t> </a:t>
            </a:r>
            <a:endParaRPr>
              <a:solidFill>
                <a:srgbClr val="374556"/>
              </a:solidFill>
            </a:endParaRPr>
          </a:p>
        </p:txBody>
      </p:sp>
      <p:sp>
        <p:nvSpPr>
          <p:cNvPr id="2404" name="kNN"/>
          <p:cNvSpPr txBox="1"/>
          <p:nvPr/>
        </p:nvSpPr>
        <p:spPr>
          <a:xfrm>
            <a:off x="7760261" y="7815809"/>
            <a:ext cx="3210296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kNN</a:t>
            </a:r>
          </a:p>
        </p:txBody>
      </p:sp>
      <p:sp>
        <p:nvSpPr>
          <p:cNvPr id="2405" name="Neural Networks"/>
          <p:cNvSpPr txBox="1"/>
          <p:nvPr/>
        </p:nvSpPr>
        <p:spPr>
          <a:xfrm>
            <a:off x="18433378" y="7815809"/>
            <a:ext cx="4586098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Neural Networks</a:t>
            </a:r>
          </a:p>
        </p:txBody>
      </p:sp>
      <p:sp>
        <p:nvSpPr>
          <p:cNvPr id="2406" name="https://www.edureka.co/blog/knn-algorithm-in-r/"/>
          <p:cNvSpPr txBox="1"/>
          <p:nvPr/>
        </p:nvSpPr>
        <p:spPr>
          <a:xfrm>
            <a:off x="7607052" y="12207846"/>
            <a:ext cx="4087092" cy="654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https://www.edureka.co/blog/knn-algorithm-in-r/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407" name="Group"/>
          <p:cNvSpPr/>
          <p:nvPr/>
        </p:nvSpPr>
        <p:spPr>
          <a:xfrm>
            <a:off x="20543063" y="9143302"/>
            <a:ext cx="782936" cy="2303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08" name="https://keras.rstudio.com/…"/>
          <p:cNvSpPr txBox="1"/>
          <p:nvPr/>
        </p:nvSpPr>
        <p:spPr>
          <a:xfrm>
            <a:off x="18911470" y="12106629"/>
            <a:ext cx="3601409" cy="728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https://keras.rstudio.com/</a:t>
            </a:r>
          </a:p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https://tensorflow.rstudio.com/</a:t>
            </a:r>
            <a:r>
              <a:rPr>
                <a:solidFill>
                  <a:srgbClr val="374556"/>
                </a:solidFill>
              </a:rPr>
              <a:t>  </a:t>
            </a:r>
          </a:p>
        </p:txBody>
      </p:sp>
      <p:pic>
        <p:nvPicPr>
          <p:cNvPr id="2409" name="McMOhuQ.png" descr="McMOhuQ.png"/>
          <p:cNvPicPr>
            <a:picLocks noChangeAspect="1"/>
          </p:cNvPicPr>
          <p:nvPr/>
        </p:nvPicPr>
        <p:blipFill>
          <a:blip r:embed="rId9"/>
          <a:srcRect l="6664" t="6821" r="20504" b="14901"/>
          <a:stretch>
            <a:fillRect/>
          </a:stretch>
        </p:blipFill>
        <p:spPr>
          <a:xfrm>
            <a:off x="18817496" y="9644477"/>
            <a:ext cx="4020797" cy="2075448"/>
          </a:xfrm>
          <a:prstGeom prst="rect">
            <a:avLst/>
          </a:prstGeom>
          <a:ln w="12700">
            <a:miter lim="400000"/>
          </a:ln>
        </p:spPr>
      </p:pic>
      <p:sp>
        <p:nvSpPr>
          <p:cNvPr id="2410" name="https://lgatto.github.io/IntroMachineLearningWithR/an-introduction-to-machine-learning-with-r.html"/>
          <p:cNvSpPr txBox="1"/>
          <p:nvPr/>
        </p:nvSpPr>
        <p:spPr>
          <a:xfrm>
            <a:off x="454546" y="3786415"/>
            <a:ext cx="4884627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Roboto-Medium"/>
                <a:ea typeface="Roboto-Medium"/>
                <a:cs typeface="Roboto-Medium"/>
                <a:sym typeface="Roboto-Medium"/>
              </a:defRPr>
            </a:pPr>
            <a:r>
              <a:rPr u="sng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https://lgatto.github.io/IntroMachineLearningWithR/an-introduction-to-machine-learning-with-r.html</a:t>
            </a:r>
            <a:r>
              <a:rPr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2411" name="Image" descr="Image"/>
          <p:cNvPicPr>
            <a:picLocks noChangeAspect="1"/>
          </p:cNvPicPr>
          <p:nvPr/>
        </p:nvPicPr>
        <p:blipFill>
          <a:blip r:embed="rId11"/>
          <a:srcRect l="10985" t="8412"/>
          <a:stretch>
            <a:fillRect/>
          </a:stretch>
        </p:blipFill>
        <p:spPr>
          <a:xfrm>
            <a:off x="7427575" y="3508066"/>
            <a:ext cx="2685320" cy="189352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2" name="Image" descr="Image"/>
          <p:cNvPicPr>
            <a:picLocks noChangeAspect="1"/>
          </p:cNvPicPr>
          <p:nvPr/>
        </p:nvPicPr>
        <p:blipFill>
          <a:blip r:embed="rId12"/>
          <a:srcRect l="5232" r="9680" b="8655"/>
          <a:stretch>
            <a:fillRect/>
          </a:stretch>
        </p:blipFill>
        <p:spPr>
          <a:xfrm>
            <a:off x="9358502" y="2662432"/>
            <a:ext cx="1888231" cy="1621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3" name="Image" descr="Image"/>
          <p:cNvPicPr>
            <a:picLocks noChangeAspect="1"/>
          </p:cNvPicPr>
          <p:nvPr/>
        </p:nvPicPr>
        <p:blipFill>
          <a:blip r:embed="rId13"/>
          <a:srcRect t="8213"/>
          <a:stretch>
            <a:fillRect/>
          </a:stretch>
        </p:blipFill>
        <p:spPr>
          <a:xfrm>
            <a:off x="12969175" y="2687932"/>
            <a:ext cx="4149268" cy="2560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4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0785" y="8977569"/>
            <a:ext cx="4020742" cy="2327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5" name="Image" descr="Image"/>
          <p:cNvPicPr>
            <a:picLocks noChangeAspect="1"/>
          </p:cNvPicPr>
          <p:nvPr/>
        </p:nvPicPr>
        <p:blipFill>
          <a:blip r:embed="rId15"/>
          <a:srcRect b="25417"/>
          <a:stretch>
            <a:fillRect/>
          </a:stretch>
        </p:blipFill>
        <p:spPr>
          <a:xfrm>
            <a:off x="18854880" y="3703329"/>
            <a:ext cx="3697597" cy="1503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6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752533" y="2668308"/>
            <a:ext cx="1055223" cy="12282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7" name="Image" descr="Imag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7550" y="9377757"/>
            <a:ext cx="4087092" cy="19317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8" name="Image" descr="Image"/>
          <p:cNvPicPr>
            <a:picLocks noChangeAspect="1"/>
          </p:cNvPicPr>
          <p:nvPr/>
        </p:nvPicPr>
        <p:blipFill>
          <a:blip r:embed="rId18"/>
          <a:srcRect l="12840" t="3444" b="13494"/>
          <a:stretch>
            <a:fillRect/>
          </a:stretch>
        </p:blipFill>
        <p:spPr>
          <a:xfrm>
            <a:off x="13639977" y="8878962"/>
            <a:ext cx="2685314" cy="2737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9" name="1*dr3pZsLJg28gKwq0MXp1Mg.png" descr="1*dr3pZsLJg28gKwq0MXp1Mg.png"/>
          <p:cNvPicPr>
            <a:picLocks noChangeAspect="1"/>
          </p:cNvPicPr>
          <p:nvPr/>
        </p:nvPicPr>
        <p:blipFill>
          <a:blip r:embed="rId19"/>
          <a:srcRect l="13307" t="6511" r="13307" b="5458"/>
          <a:stretch>
            <a:fillRect/>
          </a:stretch>
        </p:blipFill>
        <p:spPr>
          <a:xfrm>
            <a:off x="21266700" y="8960521"/>
            <a:ext cx="1202903" cy="811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0" name="keras-logo-2018-large-1200.png" descr="keras-logo-2018-large-120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231453" y="8968918"/>
            <a:ext cx="1345745" cy="390267"/>
          </a:xfrm>
          <a:prstGeom prst="rect">
            <a:avLst/>
          </a:prstGeom>
          <a:ln w="12700">
            <a:miter lim="400000"/>
          </a:ln>
        </p:spPr>
      </p:pic>
      <p:sp>
        <p:nvSpPr>
          <p:cNvPr id="2421" name="40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38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Rounded Rectangle"/>
          <p:cNvSpPr/>
          <p:nvPr/>
        </p:nvSpPr>
        <p:spPr>
          <a:xfrm>
            <a:off x="12641909" y="1960467"/>
            <a:ext cx="4459098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24" name="Rounded Rectangle"/>
          <p:cNvSpPr/>
          <p:nvPr/>
        </p:nvSpPr>
        <p:spPr>
          <a:xfrm>
            <a:off x="6856025" y="1960467"/>
            <a:ext cx="4459098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25" name="Rounded Rectangle"/>
          <p:cNvSpPr/>
          <p:nvPr/>
        </p:nvSpPr>
        <p:spPr>
          <a:xfrm>
            <a:off x="1078261" y="1960467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26" name="Rounded Rectangle"/>
          <p:cNvSpPr/>
          <p:nvPr/>
        </p:nvSpPr>
        <p:spPr>
          <a:xfrm>
            <a:off x="12634138" y="8212902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27" name="Rounded Rectangle"/>
          <p:cNvSpPr/>
          <p:nvPr/>
        </p:nvSpPr>
        <p:spPr>
          <a:xfrm>
            <a:off x="1083564" y="8212902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28" name="Rectangle"/>
          <p:cNvSpPr/>
          <p:nvPr/>
        </p:nvSpPr>
        <p:spPr>
          <a:xfrm>
            <a:off x="18264351" y="-14093"/>
            <a:ext cx="6256461" cy="13845859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81A489"/>
                </a:solidFill>
              </a:defRPr>
            </a:pPr>
            <a:endParaRPr/>
          </a:p>
        </p:txBody>
      </p:sp>
      <p:grpSp>
        <p:nvGrpSpPr>
          <p:cNvPr id="2432" name="Group"/>
          <p:cNvGrpSpPr/>
          <p:nvPr/>
        </p:nvGrpSpPr>
        <p:grpSpPr>
          <a:xfrm>
            <a:off x="19487551" y="6096307"/>
            <a:ext cx="3553554" cy="1523386"/>
            <a:chOff x="0" y="0"/>
            <a:chExt cx="3553553" cy="1523384"/>
          </a:xfrm>
        </p:grpSpPr>
        <p:sp>
          <p:nvSpPr>
            <p:cNvPr id="2429" name="Omics Data"/>
            <p:cNvSpPr txBox="1"/>
            <p:nvPr/>
          </p:nvSpPr>
          <p:spPr>
            <a:xfrm>
              <a:off x="0" y="447913"/>
              <a:ext cx="3553554" cy="10754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Omics Data</a:t>
              </a:r>
            </a:p>
          </p:txBody>
        </p:sp>
        <p:sp>
          <p:nvSpPr>
            <p:cNvPr id="2430" name="TEASER"/>
            <p:cNvSpPr txBox="1"/>
            <p:nvPr/>
          </p:nvSpPr>
          <p:spPr>
            <a:xfrm>
              <a:off x="1244188" y="0"/>
              <a:ext cx="1583911" cy="387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TEASER</a:t>
              </a:r>
            </a:p>
          </p:txBody>
        </p:sp>
        <p:sp>
          <p:nvSpPr>
            <p:cNvPr id="2431" name="Line"/>
            <p:cNvSpPr/>
            <p:nvPr/>
          </p:nvSpPr>
          <p:spPr>
            <a:xfrm>
              <a:off x="119621" y="193958"/>
              <a:ext cx="842473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433" name="GWAS - QC &amp;…"/>
          <p:cNvSpPr txBox="1"/>
          <p:nvPr/>
        </p:nvSpPr>
        <p:spPr>
          <a:xfrm>
            <a:off x="1295256" y="620404"/>
            <a:ext cx="3923507" cy="1228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 algn="ctr"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GWAS - QC &amp; </a:t>
            </a:r>
          </a:p>
          <a:p>
            <a: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Data Harmonization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434" name="EasyQC: https://www.uni-regensburg.de/medizin/epidemiologie-praeventivmedizin/genetische-epidemiologie/software/"/>
          <p:cNvSpPr txBox="1"/>
          <p:nvPr/>
        </p:nvSpPr>
        <p:spPr>
          <a:xfrm>
            <a:off x="1241564" y="5506564"/>
            <a:ext cx="4143097" cy="899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b="1" err="1">
                <a:solidFill>
                  <a:srgbClr val="374556"/>
                </a:solidFill>
              </a:rPr>
              <a:t>EasyQC</a:t>
            </a:r>
            <a:r>
              <a:rPr>
                <a:solidFill>
                  <a:srgbClr val="374556"/>
                </a:solidFill>
              </a:rPr>
              <a:t>: </a:t>
            </a:r>
            <a:r>
              <a:rPr u="sng">
                <a:solidFill>
                  <a:srgbClr val="37455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https://www.uni-regensburg.de/medizin/epidemiologie-praeventivmedizin/genetische-epidemiologie/software/</a:t>
            </a:r>
            <a:r>
              <a:rPr>
                <a:solidFill>
                  <a:srgbClr val="374556"/>
                </a:solidFill>
              </a:rPr>
              <a:t> </a:t>
            </a:r>
            <a:endParaRPr sz="1200">
              <a:solidFill>
                <a:srgbClr val="374556"/>
              </a:solidFill>
            </a:endParaRPr>
          </a:p>
        </p:txBody>
      </p:sp>
      <p:sp>
        <p:nvSpPr>
          <p:cNvPr id="2435" name="GWAS Data Management &amp; Plots"/>
          <p:cNvSpPr txBox="1"/>
          <p:nvPr/>
        </p:nvSpPr>
        <p:spPr>
          <a:xfrm>
            <a:off x="7201810" y="620404"/>
            <a:ext cx="3767527" cy="1228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GWAS Data Management &amp; Plots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436" name="More Plotting…"/>
          <p:cNvSpPr txBox="1"/>
          <p:nvPr/>
        </p:nvSpPr>
        <p:spPr>
          <a:xfrm>
            <a:off x="12793334" y="945291"/>
            <a:ext cx="4586098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More Plotting…</a:t>
            </a:r>
          </a:p>
        </p:txBody>
      </p:sp>
      <p:sp>
        <p:nvSpPr>
          <p:cNvPr id="2437" name="EasyStrata: https://www.uni-regensburg.de/medizin/epidemiologie-praeventivmedizin/genetische-epidemiologie/software/"/>
          <p:cNvSpPr txBox="1"/>
          <p:nvPr/>
        </p:nvSpPr>
        <p:spPr>
          <a:xfrm>
            <a:off x="6970486" y="5446675"/>
            <a:ext cx="4335041" cy="91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b="1" err="1">
                <a:solidFill>
                  <a:srgbClr val="374556"/>
                </a:solidFill>
              </a:rPr>
              <a:t>EasyStrata</a:t>
            </a:r>
            <a:r>
              <a:rPr>
                <a:solidFill>
                  <a:srgbClr val="374556"/>
                </a:solidFill>
              </a:rPr>
              <a:t>: </a:t>
            </a:r>
            <a:r>
              <a:rPr u="sng">
                <a:solidFill>
                  <a:srgbClr val="37455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https://www.uni-regensburg.de/medizin/epidemiologie-praeventivmedizin/genetische-epidemiologie/software/</a:t>
            </a:r>
            <a:r>
              <a:rPr>
                <a:solidFill>
                  <a:srgbClr val="374556"/>
                </a:solidFill>
              </a:rPr>
              <a:t> </a:t>
            </a:r>
            <a:endParaRPr sz="1200">
              <a:solidFill>
                <a:srgbClr val="374556"/>
              </a:solidFill>
            </a:endParaRPr>
          </a:p>
        </p:txBody>
      </p:sp>
      <p:sp>
        <p:nvSpPr>
          <p:cNvPr id="2438" name="Group"/>
          <p:cNvSpPr/>
          <p:nvPr/>
        </p:nvSpPr>
        <p:spPr>
          <a:xfrm>
            <a:off x="14413783" y="2437701"/>
            <a:ext cx="782936" cy="2303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39" name="Manhattan and QQ plots: https://cran.r-project.org/web/packages/qqman/vignettes/qqman.html"/>
          <p:cNvSpPr txBox="1"/>
          <p:nvPr/>
        </p:nvSpPr>
        <p:spPr>
          <a:xfrm>
            <a:off x="12963008" y="5446675"/>
            <a:ext cx="3767528" cy="91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b="1">
                <a:solidFill>
                  <a:srgbClr val="374556"/>
                </a:solidFill>
              </a:rPr>
              <a:t>Manhattan and QQ plots</a:t>
            </a:r>
            <a:r>
              <a:rPr>
                <a:solidFill>
                  <a:srgbClr val="374556"/>
                </a:solidFill>
              </a:rPr>
              <a:t>: </a:t>
            </a:r>
            <a:r>
              <a:rPr>
                <a:solidFill>
                  <a:srgbClr val="37455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https://cran.r-project.org/web/packages/qqman/vignettes/qqman.htm</a:t>
            </a:r>
            <a:r>
              <a:rPr lang="en-US">
                <a:solidFill>
                  <a:srgbClr val="374556"/>
                </a:solidFill>
              </a:rPr>
              <a:t> </a:t>
            </a:r>
            <a:r>
              <a:rPr>
                <a:solidFill>
                  <a:srgbClr val="374556"/>
                </a:solidFill>
              </a:rPr>
              <a:t>l</a:t>
            </a:r>
            <a:endParaRPr sz="1200">
              <a:solidFill>
                <a:srgbClr val="374556"/>
              </a:solidFill>
            </a:endParaRPr>
          </a:p>
        </p:txBody>
      </p:sp>
      <p:sp>
        <p:nvSpPr>
          <p:cNvPr id="2440" name="Gene Expression Analysis"/>
          <p:cNvSpPr txBox="1"/>
          <p:nvPr/>
        </p:nvSpPr>
        <p:spPr>
          <a:xfrm>
            <a:off x="576151" y="7372177"/>
            <a:ext cx="5361716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Gene Expression Analysis</a:t>
            </a:r>
            <a:endParaRPr sz="1200"/>
          </a:p>
        </p:txBody>
      </p:sp>
      <p:sp>
        <p:nvSpPr>
          <p:cNvPr id="2441" name="Single-Cell RNASeq"/>
          <p:cNvSpPr txBox="1"/>
          <p:nvPr/>
        </p:nvSpPr>
        <p:spPr>
          <a:xfrm>
            <a:off x="12578409" y="7372177"/>
            <a:ext cx="4586098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Single-Cell RNASeq </a:t>
            </a:r>
            <a:endParaRPr sz="1200"/>
          </a:p>
        </p:txBody>
      </p:sp>
      <p:sp>
        <p:nvSpPr>
          <p:cNvPr id="2442" name="DESeq2, limma, EdgeR, etc.: http://www.bioconductor.org/packages/release/BiocViews.html#___RNASeq"/>
          <p:cNvSpPr txBox="1"/>
          <p:nvPr/>
        </p:nvSpPr>
        <p:spPr>
          <a:xfrm>
            <a:off x="1367093" y="11720910"/>
            <a:ext cx="4011216" cy="91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b="1">
                <a:solidFill>
                  <a:srgbClr val="374556"/>
                </a:solidFill>
              </a:rPr>
              <a:t>DESeq2, </a:t>
            </a:r>
            <a:r>
              <a:rPr b="1" err="1">
                <a:solidFill>
                  <a:srgbClr val="374556"/>
                </a:solidFill>
              </a:rPr>
              <a:t>limma</a:t>
            </a:r>
            <a:r>
              <a:rPr b="1">
                <a:solidFill>
                  <a:srgbClr val="374556"/>
                </a:solidFill>
              </a:rPr>
              <a:t>, </a:t>
            </a:r>
            <a:r>
              <a:rPr b="1" err="1">
                <a:solidFill>
                  <a:srgbClr val="374556"/>
                </a:solidFill>
              </a:rPr>
              <a:t>EdgeR</a:t>
            </a:r>
            <a:r>
              <a:rPr b="1">
                <a:solidFill>
                  <a:srgbClr val="374556"/>
                </a:solidFill>
              </a:rPr>
              <a:t>, etc.: </a:t>
            </a:r>
            <a:r>
              <a:rPr u="sng">
                <a:solidFill>
                  <a:srgbClr val="37455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http://www.bioconductor.org/packages/release/BiocViews.html#___RNASeq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443" name="Group"/>
          <p:cNvSpPr/>
          <p:nvPr/>
        </p:nvSpPr>
        <p:spPr>
          <a:xfrm>
            <a:off x="14410723" y="8787702"/>
            <a:ext cx="782936" cy="2303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44" name="https://cran.r-project.org/web/packages/e1071/vignettes/svmdoc.pdf"/>
          <p:cNvSpPr txBox="1"/>
          <p:nvPr/>
        </p:nvSpPr>
        <p:spPr>
          <a:xfrm>
            <a:off x="12887907" y="11815640"/>
            <a:ext cx="4011216" cy="728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1800"/>
            </a:lvl1pPr>
          </a:lstStyle>
          <a:p>
            <a:r>
              <a:rPr>
                <a:solidFill>
                  <a:srgbClr val="37455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https://cran.r-project.org/web/packages/e1071/vignettes/svmdoc.pdf</a:t>
            </a:r>
            <a:r>
              <a:rPr lang="en-US">
                <a:solidFill>
                  <a:srgbClr val="374556"/>
                </a:solidFill>
              </a:rPr>
              <a:t> </a:t>
            </a:r>
            <a:endParaRPr>
              <a:solidFill>
                <a:srgbClr val="374556"/>
              </a:solidFill>
            </a:endParaRPr>
          </a:p>
        </p:txBody>
      </p:sp>
      <p:sp>
        <p:nvSpPr>
          <p:cNvPr id="2445" name="Proteomics Analysis"/>
          <p:cNvSpPr txBox="1"/>
          <p:nvPr/>
        </p:nvSpPr>
        <p:spPr>
          <a:xfrm>
            <a:off x="7126693" y="7372177"/>
            <a:ext cx="3917761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algn="ctr">
              <a:lnSpc>
                <a:spcPct val="140000"/>
              </a:lnSpc>
              <a:defRPr sz="2800" b="1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Proteomics Analysis</a:t>
            </a:r>
          </a:p>
        </p:txBody>
      </p:sp>
      <p:pic>
        <p:nvPicPr>
          <p:cNvPr id="2446" name="Image" descr="Image"/>
          <p:cNvPicPr>
            <a:picLocks noChangeAspect="1"/>
          </p:cNvPicPr>
          <p:nvPr/>
        </p:nvPicPr>
        <p:blipFill>
          <a:blip r:embed="rId7"/>
          <a:srcRect l="7006" b="6945"/>
          <a:stretch>
            <a:fillRect/>
          </a:stretch>
        </p:blipFill>
        <p:spPr>
          <a:xfrm>
            <a:off x="3243944" y="3282196"/>
            <a:ext cx="2066780" cy="17490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7" name="Image" descr="Image"/>
          <p:cNvPicPr>
            <a:picLocks noChangeAspect="1"/>
          </p:cNvPicPr>
          <p:nvPr/>
        </p:nvPicPr>
        <p:blipFill>
          <a:blip r:embed="rId8"/>
          <a:srcRect l="4165" r="492" b="12928"/>
          <a:stretch>
            <a:fillRect/>
          </a:stretch>
        </p:blipFill>
        <p:spPr>
          <a:xfrm>
            <a:off x="7525132" y="3558345"/>
            <a:ext cx="3160292" cy="1470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8" name="Image" descr="Image"/>
          <p:cNvPicPr>
            <a:picLocks noChangeAspect="1"/>
          </p:cNvPicPr>
          <p:nvPr/>
        </p:nvPicPr>
        <p:blipFill>
          <a:blip r:embed="rId9"/>
          <a:srcRect l="5978" r="2350" b="16499"/>
          <a:stretch>
            <a:fillRect/>
          </a:stretch>
        </p:blipFill>
        <p:spPr>
          <a:xfrm>
            <a:off x="7130836" y="2153326"/>
            <a:ext cx="3923433" cy="13785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9" name="Image" descr="Image"/>
          <p:cNvPicPr>
            <a:picLocks noChangeAspect="1"/>
          </p:cNvPicPr>
          <p:nvPr/>
        </p:nvPicPr>
        <p:blipFill>
          <a:blip r:embed="rId10"/>
          <a:srcRect l="8434" t="3797" r="2217" b="11985"/>
          <a:stretch>
            <a:fillRect/>
          </a:stretch>
        </p:blipFill>
        <p:spPr>
          <a:xfrm>
            <a:off x="14536458" y="3395306"/>
            <a:ext cx="2246735" cy="1497385"/>
          </a:xfrm>
          <a:prstGeom prst="rect">
            <a:avLst/>
          </a:prstGeom>
          <a:ln w="3175">
            <a:solidFill>
              <a:srgbClr val="293441"/>
            </a:solidFill>
            <a:miter lim="400000"/>
          </a:ln>
        </p:spPr>
      </p:pic>
      <p:pic>
        <p:nvPicPr>
          <p:cNvPr id="2450" name="Image" descr="Image"/>
          <p:cNvPicPr>
            <a:picLocks noChangeAspect="1"/>
          </p:cNvPicPr>
          <p:nvPr/>
        </p:nvPicPr>
        <p:blipFill>
          <a:blip r:embed="rId11"/>
          <a:srcRect l="8898" r="1199" b="11903"/>
          <a:stretch>
            <a:fillRect/>
          </a:stretch>
        </p:blipFill>
        <p:spPr>
          <a:xfrm>
            <a:off x="12863198" y="2160616"/>
            <a:ext cx="2260675" cy="1499221"/>
          </a:xfrm>
          <a:prstGeom prst="rect">
            <a:avLst/>
          </a:prstGeom>
          <a:ln w="3175">
            <a:solidFill>
              <a:srgbClr val="293441"/>
            </a:solidFill>
            <a:miter lim="400000"/>
          </a:ln>
        </p:spPr>
      </p:pic>
      <p:pic>
        <p:nvPicPr>
          <p:cNvPr id="2451" name="Image" descr="Image"/>
          <p:cNvPicPr>
            <a:picLocks noChangeAspect="1"/>
          </p:cNvPicPr>
          <p:nvPr/>
        </p:nvPicPr>
        <p:blipFill>
          <a:blip r:embed="rId12"/>
          <a:srcRect b="17708"/>
          <a:stretch>
            <a:fillRect/>
          </a:stretch>
        </p:blipFill>
        <p:spPr>
          <a:xfrm>
            <a:off x="1671694" y="8357672"/>
            <a:ext cx="3402082" cy="27253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2" name="Image" descr="Image"/>
          <p:cNvPicPr>
            <a:picLocks noChangeAspect="1"/>
          </p:cNvPicPr>
          <p:nvPr/>
        </p:nvPicPr>
        <p:blipFill>
          <a:blip r:embed="rId13"/>
          <a:srcRect b="7103"/>
          <a:stretch>
            <a:fillRect/>
          </a:stretch>
        </p:blipFill>
        <p:spPr>
          <a:xfrm>
            <a:off x="12839458" y="8473125"/>
            <a:ext cx="4064001" cy="27253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3" name="Image" descr="Image"/>
          <p:cNvPicPr>
            <a:picLocks noChangeAspect="1"/>
          </p:cNvPicPr>
          <p:nvPr/>
        </p:nvPicPr>
        <p:blipFill>
          <a:blip r:embed="rId14"/>
          <a:srcRect l="7079" b="6267"/>
          <a:stretch>
            <a:fillRect/>
          </a:stretch>
        </p:blipFill>
        <p:spPr>
          <a:xfrm>
            <a:off x="1255209" y="2208276"/>
            <a:ext cx="1947144" cy="1714185"/>
          </a:xfrm>
          <a:prstGeom prst="rect">
            <a:avLst/>
          </a:prstGeom>
          <a:ln w="12700">
            <a:miter lim="400000"/>
          </a:ln>
        </p:spPr>
      </p:pic>
      <p:sp>
        <p:nvSpPr>
          <p:cNvPr id="2454" name="Rounded Rectangle"/>
          <p:cNvSpPr/>
          <p:nvPr/>
        </p:nvSpPr>
        <p:spPr>
          <a:xfrm>
            <a:off x="6863042" y="8212902"/>
            <a:ext cx="4459097" cy="3245788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127000">
            <a:solidFill>
              <a:srgbClr val="374556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55" name="RforProteomics: http://www.bioconductor.org/packages/release/BiocViews.html#___Proteomics…"/>
          <p:cNvSpPr txBox="1"/>
          <p:nvPr/>
        </p:nvSpPr>
        <p:spPr>
          <a:xfrm>
            <a:off x="7230284" y="11720909"/>
            <a:ext cx="4292395" cy="91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b="1" err="1">
                <a:solidFill>
                  <a:srgbClr val="374556"/>
                </a:solidFill>
              </a:rPr>
              <a:t>RforProteomics</a:t>
            </a:r>
            <a:r>
              <a:rPr b="1">
                <a:solidFill>
                  <a:srgbClr val="374556"/>
                </a:solidFill>
              </a:rPr>
              <a:t>: </a:t>
            </a:r>
            <a:r>
              <a:rPr lang="en-US">
                <a:solidFill>
                  <a:srgbClr val="374556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https://www.bioconductor.org/packages/release/BiocViews.html#___Proteomics</a:t>
            </a:r>
            <a:r>
              <a:rPr lang="en-US">
                <a:solidFill>
                  <a:srgbClr val="374556"/>
                </a:solidFill>
              </a:rPr>
              <a:t> </a:t>
            </a:r>
            <a:endParaRPr>
              <a:solidFill>
                <a:srgbClr val="374556"/>
              </a:solidFill>
            </a:endParaRPr>
          </a:p>
        </p:txBody>
      </p:sp>
      <p:pic>
        <p:nvPicPr>
          <p:cNvPr id="2456" name="pmic8083-fig-0008-m.jpg" descr="pmic8083-fig-0008-m.jpg"/>
          <p:cNvPicPr>
            <a:picLocks noChangeAspect="1"/>
          </p:cNvPicPr>
          <p:nvPr/>
        </p:nvPicPr>
        <p:blipFill>
          <a:blip r:embed="rId16"/>
          <a:srcRect l="58455" t="4879" r="483" b="34764"/>
          <a:stretch>
            <a:fillRect/>
          </a:stretch>
        </p:blipFill>
        <p:spPr>
          <a:xfrm>
            <a:off x="8606077" y="9449791"/>
            <a:ext cx="2351472" cy="1713981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</p:pic>
      <p:pic>
        <p:nvPicPr>
          <p:cNvPr id="2457" name="pmic8083-fig-0008-m.jpg" descr="pmic8083-fig-0008-m.jpg"/>
          <p:cNvPicPr>
            <a:picLocks noChangeAspect="1"/>
          </p:cNvPicPr>
          <p:nvPr/>
        </p:nvPicPr>
        <p:blipFill>
          <a:blip r:embed="rId16"/>
          <a:srcRect l="3259" r="50052" b="6662"/>
          <a:stretch>
            <a:fillRect/>
          </a:stretch>
        </p:blipFill>
        <p:spPr>
          <a:xfrm>
            <a:off x="7130908" y="8515581"/>
            <a:ext cx="2066949" cy="2049089"/>
          </a:xfrm>
          <a:prstGeom prst="rect">
            <a:avLst/>
          </a:prstGeom>
          <a:ln w="12700">
            <a:miter lim="400000"/>
          </a:ln>
        </p:spPr>
      </p:pic>
      <p:sp>
        <p:nvSpPr>
          <p:cNvPr id="2458" name="http://www.bioconductor.org/packages/release/BiocViews.html"/>
          <p:cNvSpPr txBox="1"/>
          <p:nvPr/>
        </p:nvSpPr>
        <p:spPr>
          <a:xfrm>
            <a:off x="19547112" y="7642379"/>
            <a:ext cx="4149268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Roboto-Medium"/>
                <a:ea typeface="Roboto-Medium"/>
                <a:cs typeface="Roboto-Medium"/>
                <a:sym typeface="Roboto-Medium"/>
              </a:defRPr>
            </a:pPr>
            <a:r>
              <a:rPr u="sng">
                <a:solidFill>
                  <a:schemeClr val="bg1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http://www.bioconductor.org/packages/release/BiocViews.html</a:t>
            </a:r>
            <a:r>
              <a:rPr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459" name="41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39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Rectangle"/>
          <p:cNvSpPr/>
          <p:nvPr/>
        </p:nvSpPr>
        <p:spPr>
          <a:xfrm>
            <a:off x="-56280" y="-1"/>
            <a:ext cx="7490725" cy="13716001"/>
          </a:xfrm>
          <a:prstGeom prst="rect">
            <a:avLst/>
          </a:prstGeom>
          <a:gradFill>
            <a:gsLst>
              <a:gs pos="0">
                <a:srgbClr val="89C2EA"/>
              </a:gs>
              <a:gs pos="100000">
                <a:srgbClr val="293441"/>
              </a:gs>
            </a:gsLst>
            <a:lin ang="10442512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465" name="Group"/>
          <p:cNvGrpSpPr/>
          <p:nvPr/>
        </p:nvGrpSpPr>
        <p:grpSpPr>
          <a:xfrm>
            <a:off x="883938" y="5953005"/>
            <a:ext cx="5724585" cy="3481789"/>
            <a:chOff x="0" y="0"/>
            <a:chExt cx="5724583" cy="3481787"/>
          </a:xfrm>
        </p:grpSpPr>
        <p:sp>
          <p:nvSpPr>
            <p:cNvPr id="2462" name="COOL STUFF IN R"/>
            <p:cNvSpPr txBox="1"/>
            <p:nvPr/>
          </p:nvSpPr>
          <p:spPr>
            <a:xfrm>
              <a:off x="0" y="712243"/>
              <a:ext cx="5610288" cy="27695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COOL STUFF IN R</a:t>
              </a:r>
            </a:p>
          </p:txBody>
        </p:sp>
        <p:sp>
          <p:nvSpPr>
            <p:cNvPr id="2463" name="FROM EXCEL TO R"/>
            <p:cNvSpPr txBox="1"/>
            <p:nvPr/>
          </p:nvSpPr>
          <p:spPr>
            <a:xfrm>
              <a:off x="2138685" y="0"/>
              <a:ext cx="3585899" cy="4392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2464" name="Line"/>
            <p:cNvSpPr/>
            <p:nvPr/>
          </p:nvSpPr>
          <p:spPr>
            <a:xfrm>
              <a:off x="112084" y="181675"/>
              <a:ext cx="1714188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466" name="PLOTTING IN 3D"/>
          <p:cNvSpPr txBox="1"/>
          <p:nvPr/>
        </p:nvSpPr>
        <p:spPr>
          <a:xfrm>
            <a:off x="9087953" y="1260193"/>
            <a:ext cx="2980605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PLOTTING IN 3D</a:t>
            </a:r>
          </a:p>
        </p:txBody>
      </p:sp>
      <p:sp>
        <p:nvSpPr>
          <p:cNvPr id="2467" name="INTERACTIVE PLOTS"/>
          <p:cNvSpPr txBox="1"/>
          <p:nvPr/>
        </p:nvSpPr>
        <p:spPr>
          <a:xfrm>
            <a:off x="13854124" y="7780341"/>
            <a:ext cx="4343842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INTERACTIVE PLOTS</a:t>
            </a:r>
          </a:p>
        </p:txBody>
      </p:sp>
      <p:sp>
        <p:nvSpPr>
          <p:cNvPr id="2468" name="WEBPAGE WITH R SHINY"/>
          <p:cNvSpPr txBox="1"/>
          <p:nvPr/>
        </p:nvSpPr>
        <p:spPr>
          <a:xfrm>
            <a:off x="8270478" y="7780341"/>
            <a:ext cx="4586097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WEBPAGE WITH R SHINY</a:t>
            </a:r>
          </a:p>
        </p:txBody>
      </p:sp>
      <p:sp>
        <p:nvSpPr>
          <p:cNvPr id="2469" name="DEEP LEARNING"/>
          <p:cNvSpPr txBox="1"/>
          <p:nvPr/>
        </p:nvSpPr>
        <p:spPr>
          <a:xfrm>
            <a:off x="14159982" y="1260193"/>
            <a:ext cx="3311039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DEEP LEARNING</a:t>
            </a:r>
          </a:p>
        </p:txBody>
      </p:sp>
      <p:sp>
        <p:nvSpPr>
          <p:cNvPr id="2470" name="BAYESIAN STATISTICS"/>
          <p:cNvSpPr txBox="1"/>
          <p:nvPr/>
        </p:nvSpPr>
        <p:spPr>
          <a:xfrm>
            <a:off x="18868487" y="1260193"/>
            <a:ext cx="4343841" cy="578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BAYESIAN STATISTICS</a:t>
            </a:r>
          </a:p>
        </p:txBody>
      </p:sp>
      <p:sp>
        <p:nvSpPr>
          <p:cNvPr id="2471" name="Rectangle"/>
          <p:cNvSpPr/>
          <p:nvPr/>
        </p:nvSpPr>
        <p:spPr>
          <a:xfrm>
            <a:off x="8195603" y="2126288"/>
            <a:ext cx="4679796" cy="368244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2" name="Rectangle"/>
          <p:cNvSpPr/>
          <p:nvPr/>
        </p:nvSpPr>
        <p:spPr>
          <a:xfrm>
            <a:off x="13448056" y="2126288"/>
            <a:ext cx="4679796" cy="368244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3" name="Rectangle"/>
          <p:cNvSpPr/>
          <p:nvPr/>
        </p:nvSpPr>
        <p:spPr>
          <a:xfrm>
            <a:off x="18700509" y="2126288"/>
            <a:ext cx="4679796" cy="3682443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4" name="Rectangle"/>
          <p:cNvSpPr/>
          <p:nvPr/>
        </p:nvSpPr>
        <p:spPr>
          <a:xfrm>
            <a:off x="8195603" y="8613227"/>
            <a:ext cx="4679796" cy="3682444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5" name="Rectangle"/>
          <p:cNvSpPr/>
          <p:nvPr/>
        </p:nvSpPr>
        <p:spPr>
          <a:xfrm>
            <a:off x="13503152" y="8613227"/>
            <a:ext cx="4679796" cy="3682444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6" name="Rectangle"/>
          <p:cNvSpPr/>
          <p:nvPr/>
        </p:nvSpPr>
        <p:spPr>
          <a:xfrm>
            <a:off x="18755605" y="8613227"/>
            <a:ext cx="4679796" cy="3682444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77" name="Group"/>
          <p:cNvSpPr/>
          <p:nvPr/>
        </p:nvSpPr>
        <p:spPr>
          <a:xfrm>
            <a:off x="13597982" y="2245662"/>
            <a:ext cx="4406703" cy="34229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478" name="1*dr3pZsLJg28gKwq0MXp1Mg.png" descr="1*dr3pZsLJg28gKwq0MXp1Mg.png"/>
          <p:cNvPicPr>
            <a:picLocks noChangeAspect="1"/>
          </p:cNvPicPr>
          <p:nvPr/>
        </p:nvPicPr>
        <p:blipFill>
          <a:blip r:embed="rId2"/>
          <a:srcRect l="13307" t="6511" r="13307" b="5458"/>
          <a:stretch>
            <a:fillRect/>
          </a:stretch>
        </p:blipFill>
        <p:spPr>
          <a:xfrm>
            <a:off x="16360527" y="2439527"/>
            <a:ext cx="1202903" cy="811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9" name="keras-logo-2018-large-1200.png" descr="keras-logo-2018-large-1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080" y="2613024"/>
            <a:ext cx="1345745" cy="390267"/>
          </a:xfrm>
          <a:prstGeom prst="rect">
            <a:avLst/>
          </a:prstGeom>
          <a:ln w="12700">
            <a:miter lim="400000"/>
          </a:ln>
        </p:spPr>
      </p:pic>
      <p:sp>
        <p:nvSpPr>
          <p:cNvPr id="2480" name="Group"/>
          <p:cNvSpPr/>
          <p:nvPr/>
        </p:nvSpPr>
        <p:spPr>
          <a:xfrm>
            <a:off x="18840939" y="2245662"/>
            <a:ext cx="4397997" cy="3416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481" name="probabilistic-language-stan.jpg" descr="probabilistic-language-stan.jpg"/>
          <p:cNvPicPr>
            <a:picLocks noChangeAspect="1"/>
          </p:cNvPicPr>
          <p:nvPr/>
        </p:nvPicPr>
        <p:blipFill>
          <a:blip r:embed="rId4"/>
          <a:srcRect r="7342" b="22205"/>
          <a:stretch>
            <a:fillRect/>
          </a:stretch>
        </p:blipFill>
        <p:spPr>
          <a:xfrm>
            <a:off x="19222508" y="2450441"/>
            <a:ext cx="3564116" cy="30065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2" name="probabilistic-language-stan.jpg" descr="probabilistic-language-stan.jpg"/>
          <p:cNvPicPr>
            <a:picLocks noChangeAspect="1"/>
          </p:cNvPicPr>
          <p:nvPr/>
        </p:nvPicPr>
        <p:blipFill>
          <a:blip r:embed="rId4"/>
          <a:srcRect l="29625" t="82186" r="35235"/>
          <a:stretch>
            <a:fillRect/>
          </a:stretch>
        </p:blipFill>
        <p:spPr>
          <a:xfrm>
            <a:off x="21206052" y="4740842"/>
            <a:ext cx="1351608" cy="688448"/>
          </a:xfrm>
          <a:prstGeom prst="rect">
            <a:avLst/>
          </a:prstGeom>
          <a:ln w="12700">
            <a:miter lim="400000"/>
          </a:ln>
        </p:spPr>
      </p:pic>
      <p:sp>
        <p:nvSpPr>
          <p:cNvPr id="2483" name="Group"/>
          <p:cNvSpPr/>
          <p:nvPr/>
        </p:nvSpPr>
        <p:spPr>
          <a:xfrm>
            <a:off x="8336502" y="8746375"/>
            <a:ext cx="4397997" cy="3416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484" name="06_tabsets.png" descr="06_tabsets.png"/>
          <p:cNvPicPr>
            <a:picLocks noChangeAspect="1"/>
          </p:cNvPicPr>
          <p:nvPr/>
        </p:nvPicPr>
        <p:blipFill>
          <a:blip r:embed="rId5"/>
          <a:srcRect l="37210" t="7884" r="4598" b="10794"/>
          <a:stretch>
            <a:fillRect/>
          </a:stretch>
        </p:blipFill>
        <p:spPr>
          <a:xfrm>
            <a:off x="8552803" y="8873071"/>
            <a:ext cx="4050755" cy="3084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5" name="06_tabsets.png" descr="06_tabsets.png"/>
          <p:cNvPicPr>
            <a:picLocks noChangeAspect="1"/>
          </p:cNvPicPr>
          <p:nvPr/>
        </p:nvPicPr>
        <p:blipFill>
          <a:blip r:embed="rId5"/>
          <a:srcRect t="9339" r="66010" b="34610"/>
          <a:stretch>
            <a:fillRect/>
          </a:stretch>
        </p:blipFill>
        <p:spPr>
          <a:xfrm>
            <a:off x="11174582" y="8808286"/>
            <a:ext cx="1497725" cy="1345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6" name="flat,750x1000,075,f.u2.jpg" descr="flat,750x1000,075,f.u2.jpg"/>
          <p:cNvPicPr>
            <a:picLocks noChangeAspect="1"/>
          </p:cNvPicPr>
          <p:nvPr/>
        </p:nvPicPr>
        <p:blipFill>
          <a:blip r:embed="rId6"/>
          <a:srcRect t="8826" b="8826"/>
          <a:stretch>
            <a:fillRect/>
          </a:stretch>
        </p:blipFill>
        <p:spPr>
          <a:xfrm>
            <a:off x="9164858" y="9470247"/>
            <a:ext cx="1015729" cy="1026011"/>
          </a:xfrm>
          <a:prstGeom prst="rect">
            <a:avLst/>
          </a:prstGeom>
          <a:ln w="12700">
            <a:miter lim="400000"/>
          </a:ln>
        </p:spPr>
      </p:pic>
      <p:sp>
        <p:nvSpPr>
          <p:cNvPr id="2487" name="MAIL AND MESSAGES"/>
          <p:cNvSpPr txBox="1"/>
          <p:nvPr/>
        </p:nvSpPr>
        <p:spPr>
          <a:xfrm>
            <a:off x="19061065" y="7780341"/>
            <a:ext cx="4221276" cy="578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lnSpc>
                <a:spcPct val="140000"/>
              </a:lnSpc>
              <a:defRPr sz="28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MAIL AND MESSAGES</a:t>
            </a:r>
          </a:p>
        </p:txBody>
      </p:sp>
      <p:sp>
        <p:nvSpPr>
          <p:cNvPr id="2488" name="Group"/>
          <p:cNvSpPr/>
          <p:nvPr/>
        </p:nvSpPr>
        <p:spPr>
          <a:xfrm>
            <a:off x="18895011" y="8746375"/>
            <a:ext cx="4397996" cy="3416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489" name="Screenshot 2020-09-16 at 17.25.37 (2).png" descr="Screenshot 2020-09-16 at 17.25.37 (2).png"/>
          <p:cNvPicPr>
            <a:picLocks noChangeAspect="1"/>
          </p:cNvPicPr>
          <p:nvPr/>
        </p:nvPicPr>
        <p:blipFill>
          <a:blip r:embed="rId7"/>
          <a:srcRect l="23257" t="44568" r="45308" b="31615"/>
          <a:stretch>
            <a:fillRect/>
          </a:stretch>
        </p:blipFill>
        <p:spPr>
          <a:xfrm>
            <a:off x="19230643" y="10066399"/>
            <a:ext cx="3729845" cy="1766209"/>
          </a:xfrm>
          <a:prstGeom prst="rect">
            <a:avLst/>
          </a:prstGeom>
          <a:ln w="12700">
            <a:miter lim="400000"/>
          </a:ln>
        </p:spPr>
      </p:pic>
      <p:sp>
        <p:nvSpPr>
          <p:cNvPr id="2490" name="https://github.com/briandconnelly/pushoverr"/>
          <p:cNvSpPr txBox="1"/>
          <p:nvPr/>
        </p:nvSpPr>
        <p:spPr>
          <a:xfrm>
            <a:off x="18846213" y="12446747"/>
            <a:ext cx="4802806" cy="413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https://github.com/briandconnelly/pushoverr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pic>
        <p:nvPicPr>
          <p:cNvPr id="2491" name="07 Brands service pages-22_0.png" descr="07 Brands service pages-22_0.png"/>
          <p:cNvPicPr>
            <a:picLocks noChangeAspect="1"/>
          </p:cNvPicPr>
          <p:nvPr/>
        </p:nvPicPr>
        <p:blipFill>
          <a:blip r:embed="rId9"/>
          <a:srcRect t="25610" b="25610"/>
          <a:stretch>
            <a:fillRect/>
          </a:stretch>
        </p:blipFill>
        <p:spPr>
          <a:xfrm>
            <a:off x="19145442" y="9041150"/>
            <a:ext cx="3608624" cy="880119"/>
          </a:xfrm>
          <a:prstGeom prst="rect">
            <a:avLst/>
          </a:prstGeom>
          <a:ln w="12700">
            <a:miter lim="400000"/>
          </a:ln>
        </p:spPr>
      </p:pic>
      <p:sp>
        <p:nvSpPr>
          <p:cNvPr id="2492" name="https://mc-stan.org/users/interfaces/rstan"/>
          <p:cNvSpPr txBox="1"/>
          <p:nvPr/>
        </p:nvSpPr>
        <p:spPr>
          <a:xfrm>
            <a:off x="18833124" y="5951064"/>
            <a:ext cx="4470618" cy="413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https://mc-stan.org/users/interfaces/rstan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493" name="https://keras.rstudio.com/…"/>
          <p:cNvSpPr txBox="1"/>
          <p:nvPr/>
        </p:nvSpPr>
        <p:spPr>
          <a:xfrm>
            <a:off x="14149846" y="5799551"/>
            <a:ext cx="3386406" cy="716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 algn="ctr">
              <a:defRPr sz="1800"/>
            </a:pPr>
            <a:r>
              <a:rPr u="sng">
                <a:solidFill>
                  <a:srgbClr val="374556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https://keras.rstudio.com/</a:t>
            </a:r>
          </a:p>
          <a:p>
            <a:pPr algn="ctr">
              <a:defRPr sz="1800"/>
            </a:pPr>
            <a:r>
              <a:rPr u="sng">
                <a:solidFill>
                  <a:srgbClr val="374556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https://tensorflow.rstudio.com/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494" name="https://plotly-r.com/d-charts.html"/>
          <p:cNvSpPr txBox="1"/>
          <p:nvPr/>
        </p:nvSpPr>
        <p:spPr>
          <a:xfrm>
            <a:off x="8762822" y="5951064"/>
            <a:ext cx="3601409" cy="413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https://plotly-r.com/d-charts.html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495" name="Group"/>
          <p:cNvSpPr/>
          <p:nvPr/>
        </p:nvSpPr>
        <p:spPr>
          <a:xfrm>
            <a:off x="8322411" y="2245662"/>
            <a:ext cx="4397997" cy="3416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496" name="Screenshot 2020-09-16 at 17.48.06 (2).png" descr="Screenshot 2020-09-16 at 17.48.06 (2).png"/>
          <p:cNvPicPr>
            <a:picLocks noChangeAspect="1"/>
          </p:cNvPicPr>
          <p:nvPr/>
        </p:nvPicPr>
        <p:blipFill>
          <a:blip r:embed="rId14"/>
          <a:srcRect t="6587"/>
          <a:stretch>
            <a:fillRect/>
          </a:stretch>
        </p:blipFill>
        <p:spPr>
          <a:xfrm>
            <a:off x="8879551" y="2355997"/>
            <a:ext cx="3056171" cy="3250619"/>
          </a:xfrm>
          <a:prstGeom prst="rect">
            <a:avLst/>
          </a:prstGeom>
          <a:ln w="12700">
            <a:miter lim="400000"/>
          </a:ln>
        </p:spPr>
      </p:pic>
      <p:sp>
        <p:nvSpPr>
          <p:cNvPr id="2497" name="Group"/>
          <p:cNvSpPr/>
          <p:nvPr/>
        </p:nvSpPr>
        <p:spPr>
          <a:xfrm>
            <a:off x="13644052" y="8732601"/>
            <a:ext cx="4397997" cy="3416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498" name="view_follow.gif" descr="view_follow.gif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4176010" y="8870449"/>
            <a:ext cx="3278982" cy="327898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sp>
        <p:nvSpPr>
          <p:cNvPr id="2499" name="Group"/>
          <p:cNvSpPr/>
          <p:nvPr/>
        </p:nvSpPr>
        <p:spPr>
          <a:xfrm>
            <a:off x="17417502" y="8808466"/>
            <a:ext cx="291467" cy="32919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00" name="Group"/>
          <p:cNvSpPr/>
          <p:nvPr/>
        </p:nvSpPr>
        <p:spPr>
          <a:xfrm>
            <a:off x="13964415" y="8780918"/>
            <a:ext cx="404284" cy="32919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01" name="Group"/>
          <p:cNvSpPr/>
          <p:nvPr/>
        </p:nvSpPr>
        <p:spPr>
          <a:xfrm>
            <a:off x="13805053" y="11958490"/>
            <a:ext cx="4020896" cy="1890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02" name="Group"/>
          <p:cNvSpPr/>
          <p:nvPr/>
        </p:nvSpPr>
        <p:spPr>
          <a:xfrm>
            <a:off x="13832602" y="8774124"/>
            <a:ext cx="4020896" cy="2303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03" name="Group"/>
          <p:cNvSpPr/>
          <p:nvPr/>
        </p:nvSpPr>
        <p:spPr>
          <a:xfrm>
            <a:off x="10352298" y="9393655"/>
            <a:ext cx="782935" cy="2303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04" name="https://gganimate.com/articles/gganimate.html"/>
          <p:cNvSpPr txBox="1"/>
          <p:nvPr/>
        </p:nvSpPr>
        <p:spPr>
          <a:xfrm>
            <a:off x="13494146" y="12446747"/>
            <a:ext cx="5109613" cy="413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https://gganimate.com/articles/gganimate.html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sp>
        <p:nvSpPr>
          <p:cNvPr id="2505" name="https://shiny.rstudio.com/"/>
          <p:cNvSpPr txBox="1"/>
          <p:nvPr/>
        </p:nvSpPr>
        <p:spPr>
          <a:xfrm>
            <a:off x="9127757" y="12446747"/>
            <a:ext cx="2815489" cy="413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pPr>
              <a:defRPr sz="1800"/>
            </a:pPr>
            <a:r>
              <a:rPr u="sng">
                <a:solidFill>
                  <a:srgbClr val="374556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https://shiny.rstudio.com/</a:t>
            </a:r>
            <a:r>
              <a:rPr>
                <a:solidFill>
                  <a:srgbClr val="374556"/>
                </a:solidFill>
              </a:rPr>
              <a:t> </a:t>
            </a:r>
          </a:p>
        </p:txBody>
      </p:sp>
      <p:pic>
        <p:nvPicPr>
          <p:cNvPr id="2506" name="McMOhuQ.png" descr="McMOhuQ.png"/>
          <p:cNvPicPr>
            <a:picLocks noChangeAspect="1"/>
          </p:cNvPicPr>
          <p:nvPr/>
        </p:nvPicPr>
        <p:blipFill>
          <a:blip r:embed="rId18"/>
          <a:srcRect l="6664" t="6821" r="20504" b="14901"/>
          <a:stretch>
            <a:fillRect/>
          </a:stretch>
        </p:blipFill>
        <p:spPr>
          <a:xfrm>
            <a:off x="13847823" y="3256271"/>
            <a:ext cx="4020797" cy="2075448"/>
          </a:xfrm>
          <a:prstGeom prst="rect">
            <a:avLst/>
          </a:prstGeom>
          <a:ln w="12700">
            <a:miter lim="400000"/>
          </a:ln>
        </p:spPr>
      </p:pic>
      <p:sp>
        <p:nvSpPr>
          <p:cNvPr id="2507" name="42"/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4</a:t>
            </a:r>
            <a:r>
              <a:rPr lang="da-DK"/>
              <a:t>0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17A4-C4F7-045D-82CA-06025974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475885AD-48D0-4E85-93F5-3F6E86399250}"/>
              </a:ext>
            </a:extLst>
          </p:cNvPr>
          <p:cNvSpPr/>
          <p:nvPr/>
        </p:nvSpPr>
        <p:spPr>
          <a:xfrm>
            <a:off x="-36576" y="-68708"/>
            <a:ext cx="24407876" cy="3600555"/>
          </a:xfrm>
          <a:prstGeom prst="rect">
            <a:avLst/>
          </a:prstGeom>
          <a:gradFill>
            <a:gsLst>
              <a:gs pos="0">
                <a:srgbClr val="89C2EA"/>
              </a:gs>
              <a:gs pos="100000">
                <a:srgbClr val="293441"/>
              </a:gs>
            </a:gsLst>
            <a:lin ang="10442512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B06C644-CC6D-ABB5-078C-AC4D0ED88D15}"/>
              </a:ext>
            </a:extLst>
          </p:cNvPr>
          <p:cNvGrpSpPr>
            <a:grpSpLocks noChangeAspect="1"/>
          </p:cNvGrpSpPr>
          <p:nvPr/>
        </p:nvGrpSpPr>
        <p:grpSpPr>
          <a:xfrm>
            <a:off x="13456154" y="6553763"/>
            <a:ext cx="2118174" cy="4815301"/>
            <a:chOff x="5580993" y="1740239"/>
            <a:chExt cx="914400" cy="2078730"/>
          </a:xfrm>
          <a:solidFill>
            <a:srgbClr val="486279"/>
          </a:solidFill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AA79437-53BD-DA22-AEE2-10F56C2D06A6}"/>
                </a:ext>
              </a:extLst>
            </p:cNvPr>
            <p:cNvSpPr/>
            <p:nvPr/>
          </p:nvSpPr>
          <p:spPr>
            <a:xfrm>
              <a:off x="5580993" y="1745246"/>
              <a:ext cx="914400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5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5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2F3F871-1855-6BD8-CB83-F026023320A7}"/>
                </a:ext>
              </a:extLst>
            </p:cNvPr>
            <p:cNvSpPr/>
            <p:nvPr/>
          </p:nvSpPr>
          <p:spPr>
            <a:xfrm>
              <a:off x="5776088" y="1740239"/>
              <a:ext cx="529462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6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6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D335F91-9D79-B23B-5C15-8B58F036E3A9}"/>
                </a:ext>
              </a:extLst>
            </p:cNvPr>
            <p:cNvCxnSpPr>
              <a:cxnSpLocks/>
              <a:stCxn id="50" idx="0"/>
              <a:endCxn id="50" idx="8"/>
            </p:cNvCxnSpPr>
            <p:nvPr/>
          </p:nvCxnSpPr>
          <p:spPr>
            <a:xfrm>
              <a:off x="6038193" y="1745246"/>
              <a:ext cx="30" cy="1510370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F5FBC26-20BE-F193-EF96-FD81894989B1}"/>
                </a:ext>
              </a:extLst>
            </p:cNvPr>
            <p:cNvCxnSpPr>
              <a:cxnSpLocks/>
            </p:cNvCxnSpPr>
            <p:nvPr/>
          </p:nvCxnSpPr>
          <p:spPr>
            <a:xfrm>
              <a:off x="6046723" y="3207613"/>
              <a:ext cx="0" cy="611356"/>
            </a:xfrm>
            <a:prstGeom prst="line">
              <a:avLst/>
            </a:prstGeom>
            <a:grpFill/>
            <a:ln w="12700">
              <a:solidFill>
                <a:srgbClr val="4862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riangle 53">
              <a:extLst>
                <a:ext uri="{FF2B5EF4-FFF2-40B4-BE49-F238E27FC236}">
                  <a16:creationId xmlns:a16="http://schemas.microsoft.com/office/drawing/2014/main" id="{FE056F23-8970-DB08-9970-9ED6667D8913}"/>
                </a:ext>
              </a:extLst>
            </p:cNvPr>
            <p:cNvSpPr/>
            <p:nvPr/>
          </p:nvSpPr>
          <p:spPr>
            <a:xfrm flipV="1">
              <a:off x="6006773" y="3179560"/>
              <a:ext cx="64008" cy="45719"/>
            </a:xfrm>
            <a:prstGeom prst="triangle">
              <a:avLst/>
            </a:prstGeom>
            <a:grpFill/>
            <a:ln w="3175">
              <a:solidFill>
                <a:srgbClr val="4862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0EF5FE3F-D3E7-D8E1-5D64-520F23176A97}"/>
              </a:ext>
            </a:extLst>
          </p:cNvPr>
          <p:cNvSpPr/>
          <p:nvPr/>
        </p:nvSpPr>
        <p:spPr>
          <a:xfrm>
            <a:off x="3354354" y="10856279"/>
            <a:ext cx="5138272" cy="48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>
                <a:solidFill>
                  <a:srgbClr val="374556"/>
                </a:solidFill>
                <a:latin typeface="Helvetica" pitchFamily="2" charset="0"/>
                <a:ea typeface="Mona Sans SemiBold" pitchFamily="34" charset="-122"/>
                <a:cs typeface="Mona Sans SemiBold" pitchFamily="34" charset="-120"/>
              </a:rPr>
              <a:t>Research outputs</a:t>
            </a:r>
            <a:endParaRPr lang="en-US" b="1">
              <a:solidFill>
                <a:srgbClr val="374556"/>
              </a:solidFill>
              <a:latin typeface="Helvetica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C32C840-EA9A-6F1D-1CD6-4DA520B56003}"/>
              </a:ext>
            </a:extLst>
          </p:cNvPr>
          <p:cNvSpPr/>
          <p:nvPr/>
        </p:nvSpPr>
        <p:spPr>
          <a:xfrm>
            <a:off x="3354353" y="11503031"/>
            <a:ext cx="8866744" cy="1256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9000"/>
              </a:lnSpc>
            </a:pP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Visualizations, Reproducible reports, dashboards and apps, Data sharing /Hosting</a:t>
            </a:r>
            <a:endParaRPr lang="en-US" sz="3200">
              <a:solidFill>
                <a:srgbClr val="4C4C4C"/>
              </a:solidFill>
              <a:latin typeface="Helvetica"/>
              <a:ea typeface="Funnel Sans Medium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BD922BD-0C1D-DEA5-BBD4-423BBC526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6636" y="10913428"/>
            <a:ext cx="359205" cy="35920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1E768698-7976-1D2F-7F6B-151FD8C5AAEA}"/>
              </a:ext>
            </a:extLst>
          </p:cNvPr>
          <p:cNvSpPr/>
          <p:nvPr/>
        </p:nvSpPr>
        <p:spPr>
          <a:xfrm>
            <a:off x="3354354" y="8777189"/>
            <a:ext cx="7048514" cy="48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>
                <a:solidFill>
                  <a:srgbClr val="374556"/>
                </a:solidFill>
                <a:latin typeface="Helvetica" pitchFamily="2" charset="0"/>
                <a:ea typeface="Mona Sans SemiBold" pitchFamily="34" charset="-122"/>
                <a:cs typeface="Mona Sans SemiBold" pitchFamily="34" charset="-120"/>
              </a:rPr>
              <a:t>Data analysis &amp; bioinformatics</a:t>
            </a:r>
            <a:endParaRPr lang="en-US" b="1">
              <a:solidFill>
                <a:srgbClr val="374556"/>
              </a:solidFill>
              <a:latin typeface="Helvetica" pitchFamily="2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33DEFB2-D509-9E92-BC03-C4FDBB5197E3}"/>
              </a:ext>
            </a:extLst>
          </p:cNvPr>
          <p:cNvSpPr/>
          <p:nvPr/>
        </p:nvSpPr>
        <p:spPr>
          <a:xfrm>
            <a:off x="3354352" y="9423941"/>
            <a:ext cx="9788443" cy="1256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9000"/>
              </a:lnSpc>
            </a:pP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R analysis, omics, single-cell, clinical &amp; registry data Batch effects, normalization, missing data</a:t>
            </a:r>
            <a:endParaRPr lang="en-US" sz="3200">
              <a:solidFill>
                <a:srgbClr val="4C4C4C"/>
              </a:solidFill>
              <a:latin typeface="Helvetica"/>
              <a:ea typeface="Funnel Sans Medium"/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A7F6A536-AF1C-D11C-BF50-177A2FE15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6636" y="8834340"/>
            <a:ext cx="359205" cy="35920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5A35B9A1-6030-CCC9-8EE0-A85F4E608F57}"/>
              </a:ext>
            </a:extLst>
          </p:cNvPr>
          <p:cNvSpPr/>
          <p:nvPr/>
        </p:nvSpPr>
        <p:spPr>
          <a:xfrm>
            <a:off x="3354354" y="6072214"/>
            <a:ext cx="7837969" cy="48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>
                <a:solidFill>
                  <a:srgbClr val="374556"/>
                </a:solidFill>
                <a:latin typeface="Helvetica" pitchFamily="2" charset="0"/>
                <a:ea typeface="Mona Sans SemiBold" pitchFamily="34" charset="-122"/>
                <a:cs typeface="Mona Sans SemiBold" pitchFamily="34" charset="-120"/>
              </a:rPr>
              <a:t>Data, workflows, and infrastructure</a:t>
            </a:r>
            <a:endParaRPr lang="en-US" b="1">
              <a:solidFill>
                <a:srgbClr val="374556"/>
              </a:solidFill>
              <a:latin typeface="Helvetica" pitchFamily="2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D5C60AE-B57A-3598-B225-8A9093D98D5B}"/>
              </a:ext>
            </a:extLst>
          </p:cNvPr>
          <p:cNvSpPr/>
          <p:nvPr/>
        </p:nvSpPr>
        <p:spPr>
          <a:xfrm>
            <a:off x="3354353" y="6740458"/>
            <a:ext cx="9294644" cy="1298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9000"/>
              </a:lnSpc>
            </a:pP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Compliance (GDPR, </a:t>
            </a:r>
            <a:r>
              <a:rPr lang="en-US" sz="3200" i="1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Projects Like Mine</a:t>
            </a: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); </a:t>
            </a:r>
            <a:endParaRPr lang="en-US">
              <a:solidFill>
                <a:srgbClr val="4C4C4C"/>
              </a:solidFill>
              <a:latin typeface="Helvetica"/>
              <a:ea typeface="Funnel Sans Medium"/>
              <a:cs typeface="Calibri"/>
            </a:endParaRPr>
          </a:p>
          <a:p>
            <a:pPr>
              <a:lnSpc>
                <a:spcPct val="99000"/>
              </a:lnSpc>
            </a:pP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HPC &amp; Storage, </a:t>
            </a:r>
            <a:endParaRPr lang="en-US">
              <a:solidFill>
                <a:srgbClr val="4C4C4C"/>
              </a:solidFill>
              <a:latin typeface="Helvetica"/>
              <a:ea typeface="Funnel Sans Medium"/>
            </a:endParaRPr>
          </a:p>
          <a:p>
            <a:pPr>
              <a:lnSpc>
                <a:spcPct val="99000"/>
              </a:lnSpc>
            </a:pP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Reproducibility (Git, Dockers, FAIR, Pipelines)</a:t>
            </a:r>
            <a:endParaRPr lang="en-US" sz="3200">
              <a:solidFill>
                <a:srgbClr val="4C4C4C"/>
              </a:solidFill>
              <a:latin typeface="Helvetica" pitchFamily="2" charset="0"/>
            </a:endParaRPr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EEF859FE-BAED-70A6-3FAC-C7D018A8E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66636" y="6245030"/>
            <a:ext cx="359205" cy="359205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AF0EF43D-5E5C-7AB0-C25A-405F2A3F9E1C}"/>
              </a:ext>
            </a:extLst>
          </p:cNvPr>
          <p:cNvSpPr/>
          <p:nvPr/>
        </p:nvSpPr>
        <p:spPr>
          <a:xfrm>
            <a:off x="3354356" y="4295933"/>
            <a:ext cx="5520134" cy="48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>
                <a:solidFill>
                  <a:srgbClr val="374556"/>
                </a:solidFill>
                <a:latin typeface="Helvetica"/>
                <a:ea typeface="Mona Sans SemiBold"/>
                <a:cs typeface="Mona Sans SemiBold" pitchFamily="34" charset="-120"/>
              </a:rPr>
              <a:t>Experimental Design</a:t>
            </a:r>
            <a:endParaRPr lang="en-US" b="1">
              <a:solidFill>
                <a:srgbClr val="374556"/>
              </a:solidFill>
              <a:latin typeface="Helvetica"/>
              <a:ea typeface="Mona Sans SemiBold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025D1BE-52E3-539F-1FD6-5EE63C0F1382}"/>
              </a:ext>
            </a:extLst>
          </p:cNvPr>
          <p:cNvSpPr/>
          <p:nvPr/>
        </p:nvSpPr>
        <p:spPr>
          <a:xfrm>
            <a:off x="3354353" y="5002147"/>
            <a:ext cx="10088429" cy="837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9000"/>
              </a:lnSpc>
            </a:pPr>
            <a:r>
              <a:rPr lang="en-US" sz="3200">
                <a:solidFill>
                  <a:srgbClr val="4C4C4C"/>
                </a:solidFill>
                <a:latin typeface="Helvetica"/>
                <a:ea typeface="Funnel Sans Medium"/>
                <a:cs typeface="Funnel Sans Medium" pitchFamily="34" charset="-120"/>
              </a:rPr>
              <a:t>Randomization, confounders, power estimates</a:t>
            </a:r>
            <a:endParaRPr lang="en-US" sz="3200">
              <a:solidFill>
                <a:srgbClr val="4C4C4C"/>
              </a:solidFill>
              <a:latin typeface="Helvetica"/>
              <a:ea typeface="Funnel Sans Medium"/>
            </a:endParaRPr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87D8275A-0C67-28DA-9D95-D76D3A662F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6636" y="4381657"/>
            <a:ext cx="359205" cy="35920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C80DFFFB-3164-EFF7-C9ED-9255B28E59F9}"/>
              </a:ext>
            </a:extLst>
          </p:cNvPr>
          <p:cNvGrpSpPr/>
          <p:nvPr/>
        </p:nvGrpSpPr>
        <p:grpSpPr>
          <a:xfrm>
            <a:off x="15173957" y="5856630"/>
            <a:ext cx="2437130" cy="5512437"/>
            <a:chOff x="5580993" y="1740239"/>
            <a:chExt cx="914400" cy="206824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1BFE101-A404-E9EF-9654-707DC7083F47}"/>
                </a:ext>
              </a:extLst>
            </p:cNvPr>
            <p:cNvSpPr/>
            <p:nvPr/>
          </p:nvSpPr>
          <p:spPr>
            <a:xfrm>
              <a:off x="5580993" y="1745246"/>
              <a:ext cx="914400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5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5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D3638CB-7196-740A-BAE7-2EFE7EF82142}"/>
                </a:ext>
              </a:extLst>
            </p:cNvPr>
            <p:cNvSpPr/>
            <p:nvPr/>
          </p:nvSpPr>
          <p:spPr>
            <a:xfrm>
              <a:off x="5776088" y="1740239"/>
              <a:ext cx="529462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6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6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30A7B4-0674-CCDE-2A05-9124086BB9E1}"/>
                </a:ext>
              </a:extLst>
            </p:cNvPr>
            <p:cNvCxnSpPr>
              <a:cxnSpLocks/>
              <a:stCxn id="26" idx="0"/>
              <a:endCxn id="26" idx="8"/>
            </p:cNvCxnSpPr>
            <p:nvPr/>
          </p:nvCxnSpPr>
          <p:spPr>
            <a:xfrm>
              <a:off x="6038193" y="1745246"/>
              <a:ext cx="30" cy="151037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BDE685-1D51-CA51-38BC-9A7E8EC5D055}"/>
                </a:ext>
              </a:extLst>
            </p:cNvPr>
            <p:cNvCxnSpPr>
              <a:cxnSpLocks/>
            </p:cNvCxnSpPr>
            <p:nvPr/>
          </p:nvCxnSpPr>
          <p:spPr>
            <a:xfrm>
              <a:off x="6040583" y="3207614"/>
              <a:ext cx="6028" cy="600866"/>
            </a:xfrm>
            <a:prstGeom prst="line">
              <a:avLst/>
            </a:prstGeom>
            <a:ln w="1270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riangle 33">
              <a:extLst>
                <a:ext uri="{FF2B5EF4-FFF2-40B4-BE49-F238E27FC236}">
                  <a16:creationId xmlns:a16="http://schemas.microsoft.com/office/drawing/2014/main" id="{10206B5D-6656-AF87-2521-6155B96FFD40}"/>
                </a:ext>
              </a:extLst>
            </p:cNvPr>
            <p:cNvSpPr/>
            <p:nvPr/>
          </p:nvSpPr>
          <p:spPr>
            <a:xfrm flipV="1">
              <a:off x="6006773" y="3179560"/>
              <a:ext cx="64008" cy="45719"/>
            </a:xfrm>
            <a:prstGeom prst="triangle">
              <a:avLst/>
            </a:prstGeom>
            <a:ln w="3175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B12028-39AF-2C2F-3CD9-1DD6AF481E99}"/>
              </a:ext>
            </a:extLst>
          </p:cNvPr>
          <p:cNvGrpSpPr>
            <a:grpSpLocks noChangeAspect="1"/>
          </p:cNvGrpSpPr>
          <p:nvPr/>
        </p:nvGrpSpPr>
        <p:grpSpPr>
          <a:xfrm>
            <a:off x="17131008" y="5125729"/>
            <a:ext cx="2824227" cy="6354982"/>
            <a:chOff x="5580993" y="1740239"/>
            <a:chExt cx="914400" cy="2057549"/>
          </a:xfrm>
          <a:solidFill>
            <a:srgbClr val="85BDE3"/>
          </a:solidFill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0E4465F-240C-7DA6-CA92-ED3191807561}"/>
                </a:ext>
              </a:extLst>
            </p:cNvPr>
            <p:cNvSpPr/>
            <p:nvPr/>
          </p:nvSpPr>
          <p:spPr>
            <a:xfrm>
              <a:off x="5580993" y="1745246"/>
              <a:ext cx="914400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5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5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E4F568A-7588-57FC-2D36-1E280DD8C46B}"/>
                </a:ext>
              </a:extLst>
            </p:cNvPr>
            <p:cNvSpPr/>
            <p:nvPr/>
          </p:nvSpPr>
          <p:spPr>
            <a:xfrm>
              <a:off x="5776088" y="1740239"/>
              <a:ext cx="529462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6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6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E8E6CE6-D33E-E596-2B19-1BC4976FC55D}"/>
                </a:ext>
              </a:extLst>
            </p:cNvPr>
            <p:cNvCxnSpPr>
              <a:cxnSpLocks/>
              <a:stCxn id="38" idx="0"/>
              <a:endCxn id="38" idx="8"/>
            </p:cNvCxnSpPr>
            <p:nvPr/>
          </p:nvCxnSpPr>
          <p:spPr>
            <a:xfrm>
              <a:off x="6038193" y="1745246"/>
              <a:ext cx="30" cy="1510370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87D0A94-E2C7-0562-0187-6EEDAA124427}"/>
                </a:ext>
              </a:extLst>
            </p:cNvPr>
            <p:cNvCxnSpPr>
              <a:cxnSpLocks/>
            </p:cNvCxnSpPr>
            <p:nvPr/>
          </p:nvCxnSpPr>
          <p:spPr>
            <a:xfrm>
              <a:off x="6040251" y="3207614"/>
              <a:ext cx="1357" cy="590174"/>
            </a:xfrm>
            <a:prstGeom prst="line">
              <a:avLst/>
            </a:prstGeom>
            <a:grpFill/>
            <a:ln w="12700">
              <a:solidFill>
                <a:srgbClr val="85BD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F0819874-9811-2C6A-E2CD-F638AC20F895}"/>
                </a:ext>
              </a:extLst>
            </p:cNvPr>
            <p:cNvSpPr/>
            <p:nvPr/>
          </p:nvSpPr>
          <p:spPr>
            <a:xfrm flipV="1">
              <a:off x="6006773" y="3182300"/>
              <a:ext cx="64008" cy="45719"/>
            </a:xfrm>
            <a:prstGeom prst="triangle">
              <a:avLst/>
            </a:prstGeom>
            <a:grpFill/>
            <a:ln w="3175">
              <a:solidFill>
                <a:srgbClr val="85BD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2688E5-34A2-BC88-7B94-D7A2E412040A}"/>
              </a:ext>
            </a:extLst>
          </p:cNvPr>
          <p:cNvGrpSpPr>
            <a:grpSpLocks noChangeAspect="1"/>
          </p:cNvGrpSpPr>
          <p:nvPr/>
        </p:nvGrpSpPr>
        <p:grpSpPr>
          <a:xfrm>
            <a:off x="19115588" y="4363849"/>
            <a:ext cx="3168269" cy="7138323"/>
            <a:chOff x="5580993" y="1740239"/>
            <a:chExt cx="914400" cy="2060199"/>
          </a:xfrm>
          <a:solidFill>
            <a:srgbClr val="95B434"/>
          </a:solidFill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0441FD7-B891-7AB4-2710-5738DA448D0B}"/>
                </a:ext>
              </a:extLst>
            </p:cNvPr>
            <p:cNvSpPr/>
            <p:nvPr/>
          </p:nvSpPr>
          <p:spPr>
            <a:xfrm>
              <a:off x="5580993" y="1745246"/>
              <a:ext cx="914400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5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5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0A14D39-D621-694E-468D-EDFBE64C655D}"/>
                </a:ext>
              </a:extLst>
            </p:cNvPr>
            <p:cNvSpPr/>
            <p:nvPr/>
          </p:nvSpPr>
          <p:spPr>
            <a:xfrm>
              <a:off x="5776088" y="1740239"/>
              <a:ext cx="529462" cy="1510370"/>
            </a:xfrm>
            <a:custGeom>
              <a:avLst/>
              <a:gdLst>
                <a:gd name="csX0" fmla="*/ 457200 w 914400"/>
                <a:gd name="csY0" fmla="*/ 0 h 1510370"/>
                <a:gd name="csX1" fmla="*/ 914400 w 914400"/>
                <a:gd name="csY1" fmla="*/ 457200 h 1510370"/>
                <a:gd name="csX2" fmla="*/ 905112 w 914400"/>
                <a:gd name="csY2" fmla="*/ 549342 h 1510370"/>
                <a:gd name="csX3" fmla="*/ 890637 w 914400"/>
                <a:gd name="csY3" fmla="*/ 595970 h 1510370"/>
                <a:gd name="csX4" fmla="*/ 892051 w 914400"/>
                <a:gd name="csY4" fmla="*/ 595970 h 1510370"/>
                <a:gd name="csX5" fmla="*/ 887979 w 914400"/>
                <a:gd name="csY5" fmla="*/ 604533 h 1510370"/>
                <a:gd name="csX6" fmla="*/ 878471 w 914400"/>
                <a:gd name="csY6" fmla="*/ 635163 h 1510370"/>
                <a:gd name="csX7" fmla="*/ 837656 w 914400"/>
                <a:gd name="csY7" fmla="*/ 710359 h 1510370"/>
                <a:gd name="csX8" fmla="*/ 457230 w 914400"/>
                <a:gd name="csY8" fmla="*/ 1510370 h 1510370"/>
                <a:gd name="csX9" fmla="*/ 77236 w 914400"/>
                <a:gd name="csY9" fmla="*/ 711264 h 1510370"/>
                <a:gd name="csX10" fmla="*/ 35929 w 914400"/>
                <a:gd name="csY10" fmla="*/ 635163 h 1510370"/>
                <a:gd name="csX11" fmla="*/ 26306 w 914400"/>
                <a:gd name="csY11" fmla="*/ 604164 h 1510370"/>
                <a:gd name="csX12" fmla="*/ 22410 w 914400"/>
                <a:gd name="csY12" fmla="*/ 595970 h 1510370"/>
                <a:gd name="csX13" fmla="*/ 23763 w 914400"/>
                <a:gd name="csY13" fmla="*/ 595970 h 1510370"/>
                <a:gd name="csX14" fmla="*/ 9289 w 914400"/>
                <a:gd name="csY14" fmla="*/ 549342 h 1510370"/>
                <a:gd name="csX15" fmla="*/ 0 w 914400"/>
                <a:gd name="csY15" fmla="*/ 457200 h 1510370"/>
                <a:gd name="csX16" fmla="*/ 457200 w 914400"/>
                <a:gd name="csY16" fmla="*/ 0 h 1510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4400" h="1510370">
                  <a:moveTo>
                    <a:pt x="457200" y="0"/>
                  </a:moveTo>
                  <a:cubicBezTo>
                    <a:pt x="709705" y="0"/>
                    <a:pt x="914400" y="204695"/>
                    <a:pt x="914400" y="457200"/>
                  </a:cubicBezTo>
                  <a:cubicBezTo>
                    <a:pt x="914400" y="488763"/>
                    <a:pt x="911202" y="519579"/>
                    <a:pt x="905112" y="549342"/>
                  </a:cubicBezTo>
                  <a:lnTo>
                    <a:pt x="890637" y="595970"/>
                  </a:lnTo>
                  <a:lnTo>
                    <a:pt x="892051" y="595970"/>
                  </a:lnTo>
                  <a:lnTo>
                    <a:pt x="887979" y="604533"/>
                  </a:lnTo>
                  <a:lnTo>
                    <a:pt x="878471" y="635163"/>
                  </a:lnTo>
                  <a:lnTo>
                    <a:pt x="837656" y="710359"/>
                  </a:lnTo>
                  <a:lnTo>
                    <a:pt x="457230" y="1510370"/>
                  </a:lnTo>
                  <a:lnTo>
                    <a:pt x="77236" y="711264"/>
                  </a:lnTo>
                  <a:lnTo>
                    <a:pt x="35929" y="635163"/>
                  </a:lnTo>
                  <a:lnTo>
                    <a:pt x="26306" y="604164"/>
                  </a:lnTo>
                  <a:lnTo>
                    <a:pt x="22410" y="595970"/>
                  </a:lnTo>
                  <a:lnTo>
                    <a:pt x="23763" y="595970"/>
                  </a:lnTo>
                  <a:lnTo>
                    <a:pt x="9289" y="549342"/>
                  </a:lnTo>
                  <a:cubicBezTo>
                    <a:pt x="3199" y="519579"/>
                    <a:pt x="0" y="488763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595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152EC58-3A70-8E80-9B4C-77B4236C6868}"/>
                </a:ext>
              </a:extLst>
            </p:cNvPr>
            <p:cNvCxnSpPr>
              <a:cxnSpLocks/>
              <a:stCxn id="44" idx="0"/>
              <a:endCxn id="44" idx="8"/>
            </p:cNvCxnSpPr>
            <p:nvPr/>
          </p:nvCxnSpPr>
          <p:spPr>
            <a:xfrm>
              <a:off x="6038193" y="1745246"/>
              <a:ext cx="30" cy="1510370"/>
            </a:xfrm>
            <a:prstGeom prst="line">
              <a:avLst/>
            </a:prstGeom>
            <a:grpFill/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EAA8039-423B-B28A-8498-44A40B2952C2}"/>
                </a:ext>
              </a:extLst>
            </p:cNvPr>
            <p:cNvCxnSpPr>
              <a:cxnSpLocks/>
            </p:cNvCxnSpPr>
            <p:nvPr/>
          </p:nvCxnSpPr>
          <p:spPr>
            <a:xfrm>
              <a:off x="6040024" y="3207614"/>
              <a:ext cx="554" cy="592824"/>
            </a:xfrm>
            <a:prstGeom prst="line">
              <a:avLst/>
            </a:prstGeom>
            <a:grpFill/>
            <a:ln w="12700">
              <a:solidFill>
                <a:srgbClr val="95B4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riangle 47">
              <a:extLst>
                <a:ext uri="{FF2B5EF4-FFF2-40B4-BE49-F238E27FC236}">
                  <a16:creationId xmlns:a16="http://schemas.microsoft.com/office/drawing/2014/main" id="{1B5B0350-6496-4FE4-2123-50937E806FBE}"/>
                </a:ext>
              </a:extLst>
            </p:cNvPr>
            <p:cNvSpPr/>
            <p:nvPr/>
          </p:nvSpPr>
          <p:spPr>
            <a:xfrm flipV="1">
              <a:off x="6006773" y="3184444"/>
              <a:ext cx="64008" cy="45719"/>
            </a:xfrm>
            <a:prstGeom prst="triangle">
              <a:avLst/>
            </a:prstGeom>
            <a:grpFill/>
            <a:ln w="3175">
              <a:solidFill>
                <a:srgbClr val="95B4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47E3A38-C2A3-4AEC-B690-39E829C0796C}"/>
              </a:ext>
            </a:extLst>
          </p:cNvPr>
          <p:cNvGrpSpPr>
            <a:grpSpLocks noChangeAspect="1"/>
          </p:cNvGrpSpPr>
          <p:nvPr/>
        </p:nvGrpSpPr>
        <p:grpSpPr>
          <a:xfrm>
            <a:off x="14149600" y="11369065"/>
            <a:ext cx="731139" cy="731139"/>
            <a:chOff x="4809995" y="1070975"/>
            <a:chExt cx="914400" cy="9144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8C35A52-AA76-FA1A-0F82-C21C222A1B86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solidFill>
              <a:srgbClr val="4862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318F9A6-5E34-7764-965C-1993AA5BE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solidFill>
              <a:srgbClr val="4862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FF18762-7DA1-8069-2C0E-F3965A2DD961}"/>
              </a:ext>
            </a:extLst>
          </p:cNvPr>
          <p:cNvGrpSpPr>
            <a:grpSpLocks noChangeAspect="1"/>
          </p:cNvGrpSpPr>
          <p:nvPr/>
        </p:nvGrpSpPr>
        <p:grpSpPr>
          <a:xfrm>
            <a:off x="16042936" y="11369065"/>
            <a:ext cx="731139" cy="731139"/>
            <a:chOff x="4809995" y="1070975"/>
            <a:chExt cx="914400" cy="914400"/>
          </a:xfrm>
          <a:solidFill>
            <a:srgbClr val="4472C4"/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DD5B5D9-3F52-45BC-BDF8-89A20CE41E1D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410B8D6-432D-BBEF-97A8-17621FD820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6E5E6A0-A6B1-3B84-0310-8972B8D99FA0}"/>
              </a:ext>
            </a:extLst>
          </p:cNvPr>
          <p:cNvGrpSpPr>
            <a:grpSpLocks noChangeAspect="1"/>
          </p:cNvGrpSpPr>
          <p:nvPr/>
        </p:nvGrpSpPr>
        <p:grpSpPr>
          <a:xfrm>
            <a:off x="18179729" y="11423957"/>
            <a:ext cx="731139" cy="731139"/>
            <a:chOff x="4809995" y="1070975"/>
            <a:chExt cx="914400" cy="914400"/>
          </a:xfrm>
          <a:solidFill>
            <a:srgbClr val="85BDE3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C0B20D-B2D4-20CC-1C29-2328B954B5DF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C34570F-D2FC-5726-E3B2-C7F3A5B9B5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3975F5E-EC79-4E55-DECA-C455F8A7DE9B}"/>
              </a:ext>
            </a:extLst>
          </p:cNvPr>
          <p:cNvGrpSpPr>
            <a:grpSpLocks noChangeAspect="1"/>
          </p:cNvGrpSpPr>
          <p:nvPr/>
        </p:nvGrpSpPr>
        <p:grpSpPr>
          <a:xfrm>
            <a:off x="20334047" y="11445417"/>
            <a:ext cx="731139" cy="731139"/>
            <a:chOff x="4809995" y="1070975"/>
            <a:chExt cx="914400" cy="914400"/>
          </a:xfrm>
          <a:solidFill>
            <a:srgbClr val="95B434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7955842-A626-7CC6-533D-93DF990D0018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BEA6833-B684-9365-DE74-F783D75389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95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66D4A-06A2-C194-D1E2-D6788A150AE8}"/>
              </a:ext>
            </a:extLst>
          </p:cNvPr>
          <p:cNvGrpSpPr>
            <a:grpSpLocks noChangeAspect="1"/>
          </p:cNvGrpSpPr>
          <p:nvPr/>
        </p:nvGrpSpPr>
        <p:grpSpPr>
          <a:xfrm>
            <a:off x="2250972" y="4261070"/>
            <a:ext cx="731139" cy="731139"/>
            <a:chOff x="4809995" y="1070975"/>
            <a:chExt cx="914400" cy="9144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5AAAE75-5987-A86B-2F0D-B3CC6927DF4D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solidFill>
              <a:srgbClr val="4862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990F03B-AAC6-0D78-B22D-4932466212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solidFill>
              <a:srgbClr val="4862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ADED6F6-2DC1-EE9B-6686-7134DF4BEA68}"/>
              </a:ext>
            </a:extLst>
          </p:cNvPr>
          <p:cNvGrpSpPr>
            <a:grpSpLocks noChangeAspect="1"/>
          </p:cNvGrpSpPr>
          <p:nvPr/>
        </p:nvGrpSpPr>
        <p:grpSpPr>
          <a:xfrm>
            <a:off x="2236073" y="6104621"/>
            <a:ext cx="731139" cy="731139"/>
            <a:chOff x="4809995" y="1070975"/>
            <a:chExt cx="914400" cy="914400"/>
          </a:xfrm>
          <a:solidFill>
            <a:srgbClr val="4472C4"/>
          </a:solidFill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C1150D-6DFE-6718-4F78-A4A77B32843D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E8AA1E5-1D19-6ADD-00DA-D2D904FB75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4EBE2B-19F0-F4E8-4125-651CBC3A452C}"/>
              </a:ext>
            </a:extLst>
          </p:cNvPr>
          <p:cNvGrpSpPr>
            <a:grpSpLocks noChangeAspect="1"/>
          </p:cNvGrpSpPr>
          <p:nvPr/>
        </p:nvGrpSpPr>
        <p:grpSpPr>
          <a:xfrm>
            <a:off x="2268512" y="8774045"/>
            <a:ext cx="731139" cy="731139"/>
            <a:chOff x="4809995" y="1070975"/>
            <a:chExt cx="914400" cy="914400"/>
          </a:xfrm>
          <a:solidFill>
            <a:srgbClr val="85BDE3"/>
          </a:solidFill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F0D848D-7534-159F-4924-4276511FF7C8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B482A4D-816E-5655-29A5-F11D23E516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D9626DC-732F-12DB-3A7C-235BF2D03309}"/>
              </a:ext>
            </a:extLst>
          </p:cNvPr>
          <p:cNvGrpSpPr>
            <a:grpSpLocks noChangeAspect="1"/>
          </p:cNvGrpSpPr>
          <p:nvPr/>
        </p:nvGrpSpPr>
        <p:grpSpPr>
          <a:xfrm>
            <a:off x="2319670" y="10829041"/>
            <a:ext cx="731139" cy="731139"/>
            <a:chOff x="4809995" y="1070975"/>
            <a:chExt cx="914400" cy="914400"/>
          </a:xfrm>
          <a:solidFill>
            <a:srgbClr val="95B434"/>
          </a:solidFill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F4CEF63-A1C7-22DB-B8B9-F2FB558F7EE3}"/>
                </a:ext>
              </a:extLst>
            </p:cNvPr>
            <p:cNvSpPr/>
            <p:nvPr/>
          </p:nvSpPr>
          <p:spPr>
            <a:xfrm>
              <a:off x="4809995" y="1070975"/>
              <a:ext cx="914400" cy="914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25DA527-B8AF-6A41-3DFB-6F6BC9911E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0976" y="1141956"/>
              <a:ext cx="777240" cy="777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00">
                <a:solidFill>
                  <a:srgbClr val="374556"/>
                </a:solidFill>
              </a:endParaRPr>
            </a:p>
          </p:txBody>
        </p:sp>
      </p:grpSp>
      <p:grpSp>
        <p:nvGrpSpPr>
          <p:cNvPr id="19" name="Group">
            <a:extLst>
              <a:ext uri="{FF2B5EF4-FFF2-40B4-BE49-F238E27FC236}">
                <a16:creationId xmlns:a16="http://schemas.microsoft.com/office/drawing/2014/main" id="{0F0F1F99-DFD7-8162-BD93-CAC1F0D727AB}"/>
              </a:ext>
            </a:extLst>
          </p:cNvPr>
          <p:cNvGrpSpPr/>
          <p:nvPr/>
        </p:nvGrpSpPr>
        <p:grpSpPr>
          <a:xfrm>
            <a:off x="2175778" y="1057980"/>
            <a:ext cx="17319230" cy="3481791"/>
            <a:chOff x="-1" y="0"/>
            <a:chExt cx="17319224" cy="3481788"/>
          </a:xfrm>
        </p:grpSpPr>
        <p:sp>
          <p:nvSpPr>
            <p:cNvPr id="20" name="COOL STUFF IN R">
              <a:extLst>
                <a:ext uri="{FF2B5EF4-FFF2-40B4-BE49-F238E27FC236}">
                  <a16:creationId xmlns:a16="http://schemas.microsoft.com/office/drawing/2014/main" id="{A06F2E7C-9F95-D7DB-AAD3-8DA00BBCCB7C}"/>
                </a:ext>
              </a:extLst>
            </p:cNvPr>
            <p:cNvSpPr txBox="1"/>
            <p:nvPr/>
          </p:nvSpPr>
          <p:spPr>
            <a:xfrm>
              <a:off x="-1" y="712243"/>
              <a:ext cx="17319224" cy="27695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/>
                <a:t>FREE CONSULTATIONS - Drop by!!!​</a:t>
              </a:r>
            </a:p>
          </p:txBody>
        </p:sp>
        <p:sp>
          <p:nvSpPr>
            <p:cNvPr id="21" name="FROM EXCEL TO R">
              <a:extLst>
                <a:ext uri="{FF2B5EF4-FFF2-40B4-BE49-F238E27FC236}">
                  <a16:creationId xmlns:a16="http://schemas.microsoft.com/office/drawing/2014/main" id="{5B8CB6F2-BDE4-32F1-060E-85A703A3138E}"/>
                </a:ext>
              </a:extLst>
            </p:cNvPr>
            <p:cNvSpPr txBox="1"/>
            <p:nvPr/>
          </p:nvSpPr>
          <p:spPr>
            <a:xfrm>
              <a:off x="2138685" y="0"/>
              <a:ext cx="3585899" cy="4392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3353191D-E649-0249-DB0F-0972C91DD50F}"/>
                </a:ext>
              </a:extLst>
            </p:cNvPr>
            <p:cNvSpPr/>
            <p:nvPr/>
          </p:nvSpPr>
          <p:spPr>
            <a:xfrm>
              <a:off x="112084" y="181675"/>
              <a:ext cx="1714188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3" name="Rectangle">
            <a:extLst>
              <a:ext uri="{FF2B5EF4-FFF2-40B4-BE49-F238E27FC236}">
                <a16:creationId xmlns:a16="http://schemas.microsoft.com/office/drawing/2014/main" id="{56F0C285-62A5-2ED9-6388-722B5F964452}"/>
              </a:ext>
            </a:extLst>
          </p:cNvPr>
          <p:cNvSpPr/>
          <p:nvPr/>
        </p:nvSpPr>
        <p:spPr>
          <a:xfrm>
            <a:off x="13762532" y="982768"/>
            <a:ext cx="3763341" cy="3785664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047973-ACD6-99C9-2873-1769916D4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6732" y="1075414"/>
            <a:ext cx="3585900" cy="35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94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1E8E-4F57-71C8-D548-DEAE09DE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">
            <a:extLst>
              <a:ext uri="{FF2B5EF4-FFF2-40B4-BE49-F238E27FC236}">
                <a16:creationId xmlns:a16="http://schemas.microsoft.com/office/drawing/2014/main" id="{1582491D-A19E-8739-F043-4C2C68369235}"/>
              </a:ext>
            </a:extLst>
          </p:cNvPr>
          <p:cNvSpPr/>
          <p:nvPr/>
        </p:nvSpPr>
        <p:spPr>
          <a:xfrm>
            <a:off x="-36576" y="-68708"/>
            <a:ext cx="24407876" cy="3600555"/>
          </a:xfrm>
          <a:prstGeom prst="rect">
            <a:avLst/>
          </a:prstGeom>
          <a:gradFill>
            <a:gsLst>
              <a:gs pos="0">
                <a:srgbClr val="89C2EA"/>
              </a:gs>
              <a:gs pos="100000">
                <a:srgbClr val="293441"/>
              </a:gs>
            </a:gsLst>
            <a:lin ang="10442512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3" name="REPRODUCIBLE ANALYSIS">
            <a:extLst>
              <a:ext uri="{FF2B5EF4-FFF2-40B4-BE49-F238E27FC236}">
                <a16:creationId xmlns:a16="http://schemas.microsoft.com/office/drawing/2014/main" id="{3A807567-7ED2-1BEB-B625-D406409CA232}"/>
              </a:ext>
            </a:extLst>
          </p:cNvPr>
          <p:cNvSpPr txBox="1"/>
          <p:nvPr/>
        </p:nvSpPr>
        <p:spPr>
          <a:xfrm>
            <a:off x="2125926" y="4732574"/>
            <a:ext cx="5041070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REPRODUCIBLE ANALYSIS</a:t>
            </a:r>
          </a:p>
        </p:txBody>
      </p:sp>
      <p:sp>
        <p:nvSpPr>
          <p:cNvPr id="1304" name="24">
            <a:extLst>
              <a:ext uri="{FF2B5EF4-FFF2-40B4-BE49-F238E27FC236}">
                <a16:creationId xmlns:a16="http://schemas.microsoft.com/office/drawing/2014/main" id="{30BED855-6B75-37E7-0644-855A386115DE}"/>
              </a:ext>
            </a:extLst>
          </p:cNvPr>
          <p:cNvSpPr txBox="1"/>
          <p:nvPr/>
        </p:nvSpPr>
        <p:spPr>
          <a:xfrm>
            <a:off x="374649" y="13123145"/>
            <a:ext cx="6651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da-DK"/>
              <a:t>41</a:t>
            </a:r>
            <a:endParaRPr/>
          </a:p>
          <a:p>
            <a:pPr lvl="1">
              <a:defRPr sz="3000">
                <a:solidFill>
                  <a:srgbClr val="EBEBEB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56DF869-282B-F322-89BC-D685050AC449}"/>
              </a:ext>
            </a:extLst>
          </p:cNvPr>
          <p:cNvSpPr txBox="1"/>
          <p:nvPr/>
        </p:nvSpPr>
        <p:spPr>
          <a:xfrm>
            <a:off x="16219927" y="11159095"/>
            <a:ext cx="698068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a-DK" b="1">
                <a:solidFill>
                  <a:srgbClr val="374556"/>
                </a:solidFill>
                <a:latin typeface="Helvetica" pitchFamily="2" charset="0"/>
              </a:rPr>
              <a:t>Read more on </a:t>
            </a:r>
            <a:r>
              <a:rPr lang="da-DK" b="1" err="1">
                <a:solidFill>
                  <a:srgbClr val="374556"/>
                </a:solidFill>
                <a:latin typeface="Helvetica" pitchFamily="2" charset="0"/>
              </a:rPr>
              <a:t>HeaDS</a:t>
            </a:r>
            <a:r>
              <a:rPr lang="da-DK" b="1">
                <a:solidFill>
                  <a:srgbClr val="374556"/>
                </a:solidFill>
                <a:latin typeface="Helvetica" pitchFamily="2" charset="0"/>
              </a:rPr>
              <a:t> Website!</a:t>
            </a:r>
          </a:p>
          <a:p>
            <a:pPr algn="ctr"/>
            <a:r>
              <a:rPr lang="da-DK" sz="2400" b="1">
                <a:solidFill>
                  <a:srgbClr val="374556"/>
                </a:solidFill>
                <a:latin typeface="Helvetic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https://heads.ku.dk</a:t>
            </a:r>
            <a:r>
              <a:rPr lang="da-DK" sz="2400" b="1">
                <a:solidFill>
                  <a:srgbClr val="374556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5E776814-E97F-0B20-E8BE-0967ADA1FF8F}"/>
              </a:ext>
            </a:extLst>
          </p:cNvPr>
          <p:cNvSpPr txBox="1"/>
          <p:nvPr/>
        </p:nvSpPr>
        <p:spPr>
          <a:xfrm>
            <a:off x="16189969" y="9594973"/>
            <a:ext cx="72392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a-DK" b="1" err="1">
                <a:solidFill>
                  <a:srgbClr val="374556"/>
                </a:solidFill>
                <a:latin typeface="Helvetica" pitchFamily="2" charset="0"/>
              </a:rPr>
              <a:t>Follow</a:t>
            </a:r>
            <a:r>
              <a:rPr lang="da-DK" b="1">
                <a:solidFill>
                  <a:srgbClr val="374556"/>
                </a:solidFill>
                <a:latin typeface="Helvetica" pitchFamily="2" charset="0"/>
              </a:rPr>
              <a:t> </a:t>
            </a:r>
            <a:r>
              <a:rPr lang="da-DK" b="1" err="1">
                <a:solidFill>
                  <a:srgbClr val="374556"/>
                </a:solidFill>
                <a:latin typeface="Helvetica" pitchFamily="2" charset="0"/>
              </a:rPr>
              <a:t>HeaDS</a:t>
            </a:r>
            <a:r>
              <a:rPr lang="da-DK" b="1">
                <a:solidFill>
                  <a:srgbClr val="374556"/>
                </a:solidFill>
                <a:latin typeface="Helvetica" pitchFamily="2" charset="0"/>
              </a:rPr>
              <a:t> on LinkedIn!</a:t>
            </a:r>
          </a:p>
          <a:p>
            <a:pPr algn="ctr"/>
            <a:r>
              <a:rPr lang="da-DK" sz="2400" b="1">
                <a:solidFill>
                  <a:srgbClr val="374556"/>
                </a:solidFill>
                <a:latin typeface="Helvetica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https://www.linkedin.com/company/ucph-heads/</a:t>
            </a:r>
            <a:r>
              <a:rPr lang="da-DK" sz="2400" b="1">
                <a:solidFill>
                  <a:srgbClr val="374556"/>
                </a:solidFill>
                <a:latin typeface="Helvetica" pitchFamily="2" charset="0"/>
              </a:rPr>
              <a:t> </a:t>
            </a:r>
          </a:p>
        </p:txBody>
      </p:sp>
      <p:grpSp>
        <p:nvGrpSpPr>
          <p:cNvPr id="9" name="Group">
            <a:extLst>
              <a:ext uri="{FF2B5EF4-FFF2-40B4-BE49-F238E27FC236}">
                <a16:creationId xmlns:a16="http://schemas.microsoft.com/office/drawing/2014/main" id="{90C2FF68-8D64-5043-2BBC-58F28B91DCC3}"/>
              </a:ext>
            </a:extLst>
          </p:cNvPr>
          <p:cNvGrpSpPr/>
          <p:nvPr/>
        </p:nvGrpSpPr>
        <p:grpSpPr>
          <a:xfrm>
            <a:off x="2175778" y="1057980"/>
            <a:ext cx="17319230" cy="3481790"/>
            <a:chOff x="-1" y="0"/>
            <a:chExt cx="17319224" cy="3481788"/>
          </a:xfrm>
        </p:grpSpPr>
        <p:sp>
          <p:nvSpPr>
            <p:cNvPr id="10" name="COOL STUFF IN R">
              <a:extLst>
                <a:ext uri="{FF2B5EF4-FFF2-40B4-BE49-F238E27FC236}">
                  <a16:creationId xmlns:a16="http://schemas.microsoft.com/office/drawing/2014/main" id="{7A7DAC46-2E69-D8A6-79E4-DEEB52870B2E}"/>
                </a:ext>
              </a:extLst>
            </p:cNvPr>
            <p:cNvSpPr txBox="1"/>
            <p:nvPr/>
          </p:nvSpPr>
          <p:spPr>
            <a:xfrm>
              <a:off x="-1" y="712243"/>
              <a:ext cx="17319224" cy="27695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50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/>
                <a:t>EVENTS and CONFERENCES</a:t>
              </a:r>
              <a:endParaRPr/>
            </a:p>
          </p:txBody>
        </p:sp>
        <p:sp>
          <p:nvSpPr>
            <p:cNvPr id="11" name="FROM EXCEL TO R">
              <a:extLst>
                <a:ext uri="{FF2B5EF4-FFF2-40B4-BE49-F238E27FC236}">
                  <a16:creationId xmlns:a16="http://schemas.microsoft.com/office/drawing/2014/main" id="{C29FF4FA-E969-009C-1665-2B0D829BBECC}"/>
                </a:ext>
              </a:extLst>
            </p:cNvPr>
            <p:cNvSpPr txBox="1"/>
            <p:nvPr/>
          </p:nvSpPr>
          <p:spPr>
            <a:xfrm>
              <a:off x="2138685" y="0"/>
              <a:ext cx="3585899" cy="4392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2200" spc="412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FROM EXCEL TO R</a:t>
              </a:r>
            </a:p>
          </p:txBody>
        </p:sp>
        <p:sp>
          <p:nvSpPr>
            <p:cNvPr id="12" name="Line">
              <a:extLst>
                <a:ext uri="{FF2B5EF4-FFF2-40B4-BE49-F238E27FC236}">
                  <a16:creationId xmlns:a16="http://schemas.microsoft.com/office/drawing/2014/main" id="{7A26CF87-DEC7-2740-FF68-E337E2AF7CF2}"/>
                </a:ext>
              </a:extLst>
            </p:cNvPr>
            <p:cNvSpPr/>
            <p:nvPr/>
          </p:nvSpPr>
          <p:spPr>
            <a:xfrm>
              <a:off x="112084" y="181675"/>
              <a:ext cx="1714188" cy="1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C1969AD-CEC4-3328-3107-101BB8073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6363" y="3585087"/>
            <a:ext cx="5517750" cy="5435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AFECD2-1005-93CF-DFDE-7A0B7B24A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333" y="4274201"/>
            <a:ext cx="14391178" cy="81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3307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9" name="bioinformatics_illustration_web.jpg" descr="bioinformatics_illustration_web.jpg"/>
          <p:cNvPicPr>
            <a:picLocks noChangeAspect="1"/>
          </p:cNvPicPr>
          <p:nvPr/>
        </p:nvPicPr>
        <p:blipFill>
          <a:blip r:embed="rId2">
            <a:alphaModFix amt="50140"/>
          </a:blip>
          <a:srcRect t="105" r="2318" b="29361"/>
          <a:stretch>
            <a:fillRect/>
          </a:stretch>
        </p:blipFill>
        <p:spPr>
          <a:xfrm>
            <a:off x="-23545" y="10077522"/>
            <a:ext cx="14318437" cy="3635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0" name="bioinformatics_illustration_web.jpg" descr="bioinformatics_illustration_web.jpg"/>
          <p:cNvPicPr>
            <a:picLocks noChangeAspect="1"/>
          </p:cNvPicPr>
          <p:nvPr/>
        </p:nvPicPr>
        <p:blipFill>
          <a:blip r:embed="rId2">
            <a:alphaModFix amt="50156"/>
          </a:blip>
          <a:srcRect l="13368" t="28409" r="20249" b="954"/>
          <a:stretch>
            <a:fillRect/>
          </a:stretch>
        </p:blipFill>
        <p:spPr>
          <a:xfrm rot="10800000">
            <a:off x="14300739" y="9938753"/>
            <a:ext cx="10114545" cy="3784068"/>
          </a:xfrm>
          <a:prstGeom prst="rect">
            <a:avLst/>
          </a:prstGeom>
          <a:ln w="12700">
            <a:miter lim="400000"/>
          </a:ln>
        </p:spPr>
      </p:pic>
      <p:sp>
        <p:nvSpPr>
          <p:cNvPr id="2511" name="Rectangle"/>
          <p:cNvSpPr/>
          <p:nvPr/>
        </p:nvSpPr>
        <p:spPr>
          <a:xfrm flipH="1">
            <a:off x="-39750" y="-36577"/>
            <a:ext cx="24455034" cy="10574919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2" name="This keynote presentation was created by Thilde Terkelsen, Data Scientist, Center for Health Data Science, SUND, KU.…"/>
          <p:cNvSpPr txBox="1"/>
          <p:nvPr/>
        </p:nvSpPr>
        <p:spPr>
          <a:xfrm>
            <a:off x="15376457" y="12429894"/>
            <a:ext cx="8961441" cy="1118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 sz="22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This presentation was created by Center for Health Data</a:t>
            </a:r>
            <a:endParaRPr lang="en-US"/>
          </a:p>
          <a:p>
            <a:pPr lvl="1">
              <a:defRPr sz="22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Science, SUND, KU.</a:t>
            </a:r>
          </a:p>
          <a:p>
            <a:pPr lvl="1">
              <a:defRPr sz="22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For internal use at KU only, do not distribute commercially.</a:t>
            </a:r>
          </a:p>
        </p:txBody>
      </p:sp>
      <p:sp>
        <p:nvSpPr>
          <p:cNvPr id="2513" name="THANK YOU FOR LISTENING"/>
          <p:cNvSpPr txBox="1"/>
          <p:nvPr/>
        </p:nvSpPr>
        <p:spPr>
          <a:xfrm>
            <a:off x="8119202" y="1799094"/>
            <a:ext cx="9115029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THANK YOU FOR LISTENING</a:t>
            </a:r>
          </a:p>
        </p:txBody>
      </p:sp>
      <p:grpSp>
        <p:nvGrpSpPr>
          <p:cNvPr id="2521" name="Group"/>
          <p:cNvGrpSpPr/>
          <p:nvPr/>
        </p:nvGrpSpPr>
        <p:grpSpPr>
          <a:xfrm>
            <a:off x="7256081" y="3240039"/>
            <a:ext cx="10841271" cy="6260138"/>
            <a:chOff x="0" y="0"/>
            <a:chExt cx="10841270" cy="6260137"/>
          </a:xfrm>
        </p:grpSpPr>
        <p:grpSp>
          <p:nvGrpSpPr>
            <p:cNvPr id="2519" name="Group"/>
            <p:cNvGrpSpPr/>
            <p:nvPr/>
          </p:nvGrpSpPr>
          <p:grpSpPr>
            <a:xfrm>
              <a:off x="-1" y="0"/>
              <a:ext cx="10841272" cy="6260138"/>
              <a:chOff x="0" y="0"/>
              <a:chExt cx="10841270" cy="6260137"/>
            </a:xfrm>
          </p:grpSpPr>
          <p:sp>
            <p:nvSpPr>
              <p:cNvPr id="2514" name="Freeform 395"/>
              <p:cNvSpPr/>
              <p:nvPr/>
            </p:nvSpPr>
            <p:spPr>
              <a:xfrm>
                <a:off x="993976" y="0"/>
                <a:ext cx="8849467" cy="60740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4" y="21600"/>
                    </a:moveTo>
                    <a:cubicBezTo>
                      <a:pt x="316" y="21600"/>
                      <a:pt x="316" y="21600"/>
                      <a:pt x="316" y="21600"/>
                    </a:cubicBezTo>
                    <a:cubicBezTo>
                      <a:pt x="158" y="21600"/>
                      <a:pt x="0" y="21402"/>
                      <a:pt x="0" y="21137"/>
                    </a:cubicBezTo>
                    <a:cubicBezTo>
                      <a:pt x="0" y="1025"/>
                      <a:pt x="0" y="1025"/>
                      <a:pt x="0" y="1025"/>
                    </a:cubicBezTo>
                    <a:cubicBezTo>
                      <a:pt x="0" y="463"/>
                      <a:pt x="316" y="0"/>
                      <a:pt x="699" y="0"/>
                    </a:cubicBezTo>
                    <a:cubicBezTo>
                      <a:pt x="20901" y="0"/>
                      <a:pt x="20901" y="0"/>
                      <a:pt x="20901" y="0"/>
                    </a:cubicBezTo>
                    <a:cubicBezTo>
                      <a:pt x="21284" y="0"/>
                      <a:pt x="21600" y="463"/>
                      <a:pt x="21600" y="1025"/>
                    </a:cubicBezTo>
                    <a:cubicBezTo>
                      <a:pt x="21600" y="21137"/>
                      <a:pt x="21600" y="21137"/>
                      <a:pt x="21600" y="21137"/>
                    </a:cubicBezTo>
                    <a:cubicBezTo>
                      <a:pt x="21600" y="21402"/>
                      <a:pt x="21442" y="21600"/>
                      <a:pt x="21284" y="21600"/>
                    </a:cubicBezTo>
                    <a:close/>
                  </a:path>
                </a:pathLst>
              </a:custGeom>
              <a:solidFill>
                <a:srgbClr val="EBEB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2515" name="Freeform 396"/>
              <p:cNvSpPr/>
              <p:nvPr/>
            </p:nvSpPr>
            <p:spPr>
              <a:xfrm>
                <a:off x="993976" y="5814367"/>
                <a:ext cx="8849467" cy="259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10800"/>
                      <a:pt x="0" y="10800"/>
                      <a:pt x="0" y="10800"/>
                    </a:cubicBezTo>
                    <a:cubicBezTo>
                      <a:pt x="0" y="16971"/>
                      <a:pt x="158" y="21600"/>
                      <a:pt x="316" y="21600"/>
                    </a:cubicBezTo>
                    <a:cubicBezTo>
                      <a:pt x="21284" y="21600"/>
                      <a:pt x="21284" y="21600"/>
                      <a:pt x="21284" y="21600"/>
                    </a:cubicBezTo>
                    <a:cubicBezTo>
                      <a:pt x="21442" y="21600"/>
                      <a:pt x="21600" y="16971"/>
                      <a:pt x="21600" y="10800"/>
                    </a:cubicBezTo>
                    <a:cubicBezTo>
                      <a:pt x="21600" y="0"/>
                      <a:pt x="21600" y="0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2516" name="Rectangle 397"/>
              <p:cNvSpPr/>
              <p:nvPr/>
            </p:nvSpPr>
            <p:spPr>
              <a:xfrm>
                <a:off x="1348416" y="430261"/>
                <a:ext cx="8144438" cy="5139903"/>
              </a:xfrm>
              <a:prstGeom prst="rect">
                <a:avLst/>
              </a:prstGeom>
              <a:solidFill>
                <a:srgbClr val="37455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2517" name="Freeform 398"/>
              <p:cNvSpPr/>
              <p:nvPr/>
            </p:nvSpPr>
            <p:spPr>
              <a:xfrm>
                <a:off x="0" y="6101210"/>
                <a:ext cx="10841270" cy="1589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0"/>
                      <a:pt x="405" y="21600"/>
                      <a:pt x="2741" y="21600"/>
                    </a:cubicBezTo>
                    <a:cubicBezTo>
                      <a:pt x="5096" y="21600"/>
                      <a:pt x="16504" y="21600"/>
                      <a:pt x="18840" y="21600"/>
                    </a:cubicBezTo>
                    <a:cubicBezTo>
                      <a:pt x="21195" y="21600"/>
                      <a:pt x="21600" y="0"/>
                      <a:pt x="216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2518" name="Rectangle 399"/>
              <p:cNvSpPr/>
              <p:nvPr/>
            </p:nvSpPr>
            <p:spPr>
              <a:xfrm>
                <a:off x="0" y="6035313"/>
                <a:ext cx="10841271" cy="6589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</p:grpSp>
        <p:pic>
          <p:nvPicPr>
            <p:cNvPr id="2520" name="aqN005R_460s.jpg" descr="aqN005R_460s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3967" y="516777"/>
              <a:ext cx="6727402" cy="50455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0BA2-8C1D-4F5F-9E27-09258ABC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9" name="bioinformatics_illustration_web.jpg" descr="bioinformatics_illustration_web.jpg">
            <a:extLst>
              <a:ext uri="{FF2B5EF4-FFF2-40B4-BE49-F238E27FC236}">
                <a16:creationId xmlns:a16="http://schemas.microsoft.com/office/drawing/2014/main" id="{61F38A0B-A07E-3D8E-E5AE-0A548E4391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140"/>
          </a:blip>
          <a:srcRect t="105" r="2318" b="29361"/>
          <a:stretch>
            <a:fillRect/>
          </a:stretch>
        </p:blipFill>
        <p:spPr>
          <a:xfrm>
            <a:off x="-23545" y="10077522"/>
            <a:ext cx="14318437" cy="3635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0" name="bioinformatics_illustration_web.jpg" descr="bioinformatics_illustration_web.jpg">
            <a:extLst>
              <a:ext uri="{FF2B5EF4-FFF2-40B4-BE49-F238E27FC236}">
                <a16:creationId xmlns:a16="http://schemas.microsoft.com/office/drawing/2014/main" id="{8050D6E4-655E-8D29-CFA7-F9C2097BBF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156"/>
          </a:blip>
          <a:srcRect l="13368" t="28409" r="20249" b="954"/>
          <a:stretch>
            <a:fillRect/>
          </a:stretch>
        </p:blipFill>
        <p:spPr>
          <a:xfrm rot="10800000">
            <a:off x="14300739" y="9938753"/>
            <a:ext cx="10114545" cy="3784068"/>
          </a:xfrm>
          <a:prstGeom prst="rect">
            <a:avLst/>
          </a:prstGeom>
          <a:ln w="12700">
            <a:miter lim="400000"/>
          </a:ln>
        </p:spPr>
      </p:pic>
      <p:sp>
        <p:nvSpPr>
          <p:cNvPr id="2511" name="Rectangle">
            <a:extLst>
              <a:ext uri="{FF2B5EF4-FFF2-40B4-BE49-F238E27FC236}">
                <a16:creationId xmlns:a16="http://schemas.microsoft.com/office/drawing/2014/main" id="{C0CCF8A9-D394-ED83-5D4C-C190369EBD20}"/>
              </a:ext>
            </a:extLst>
          </p:cNvPr>
          <p:cNvSpPr/>
          <p:nvPr/>
        </p:nvSpPr>
        <p:spPr>
          <a:xfrm flipH="1">
            <a:off x="-431800" y="-254000"/>
            <a:ext cx="25730200" cy="10846965"/>
          </a:xfrm>
          <a:prstGeom prst="rect">
            <a:avLst/>
          </a:prstGeom>
          <a:solidFill>
            <a:srgbClr val="374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2" name="This keynote presentation was created by Thilde Terkelsen, Data Scientist, Center for Health Data Science, SUND, KU.…">
            <a:extLst>
              <a:ext uri="{FF2B5EF4-FFF2-40B4-BE49-F238E27FC236}">
                <a16:creationId xmlns:a16="http://schemas.microsoft.com/office/drawing/2014/main" id="{8DC6AD3D-9E98-216F-7F8E-3F188E0779F1}"/>
              </a:ext>
            </a:extLst>
          </p:cNvPr>
          <p:cNvSpPr txBox="1"/>
          <p:nvPr/>
        </p:nvSpPr>
        <p:spPr>
          <a:xfrm>
            <a:off x="15376457" y="12429894"/>
            <a:ext cx="8961441" cy="1118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 sz="22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This presentation was created by Center for Health Data</a:t>
            </a:r>
            <a:endParaRPr lang="en-US"/>
          </a:p>
          <a:p>
            <a:pPr lvl="1">
              <a:defRPr sz="22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Science, SUND, KU.</a:t>
            </a:r>
          </a:p>
          <a:p>
            <a:pPr lvl="1">
              <a:defRPr sz="2200">
                <a:solidFill>
                  <a:srgbClr val="37455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For internal use at KU only, do not distribute commercially.</a:t>
            </a:r>
          </a:p>
        </p:txBody>
      </p:sp>
      <p:sp>
        <p:nvSpPr>
          <p:cNvPr id="2513" name="THANK YOU FOR LISTENING">
            <a:extLst>
              <a:ext uri="{FF2B5EF4-FFF2-40B4-BE49-F238E27FC236}">
                <a16:creationId xmlns:a16="http://schemas.microsoft.com/office/drawing/2014/main" id="{A21A949E-D301-4E78-90C0-006C2E646CDD}"/>
              </a:ext>
            </a:extLst>
          </p:cNvPr>
          <p:cNvSpPr txBox="1"/>
          <p:nvPr/>
        </p:nvSpPr>
        <p:spPr>
          <a:xfrm>
            <a:off x="7628135" y="715778"/>
            <a:ext cx="9115029" cy="15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40000"/>
              </a:lnSpc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lang="en-US" sz="7200"/>
              <a:t>FEEDBACK FORM</a:t>
            </a:r>
            <a:endParaRPr sz="7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7CA84-D7B9-D5E9-DA06-84E70A7C9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0" y="2348360"/>
            <a:ext cx="8229600" cy="790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431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999999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0087AA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999999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87AA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999999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0087AA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999999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87AA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8284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999999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8C0C0DDBC9B742BC44458BFD432381" ma:contentTypeVersion="18" ma:contentTypeDescription="Create a new document." ma:contentTypeScope="" ma:versionID="64b236d4466a4cd3d07b896c6218f2f3">
  <xsd:schema xmlns:xsd="http://www.w3.org/2001/XMLSchema" xmlns:xs="http://www.w3.org/2001/XMLSchema" xmlns:p="http://schemas.microsoft.com/office/2006/metadata/properties" xmlns:ns2="b30be232-03ea-456c-8192-b7ea3ce3ddcd" xmlns:ns3="c12dc4f0-a365-46b3-9e07-9aae8de5ba6f" targetNamespace="http://schemas.microsoft.com/office/2006/metadata/properties" ma:root="true" ma:fieldsID="fdd8b8b214f96bd7c885e76e44ea203a" ns2:_="" ns3:_="">
    <xsd:import namespace="b30be232-03ea-456c-8192-b7ea3ce3ddcd"/>
    <xsd:import namespace="c12dc4f0-a365-46b3-9e07-9aae8de5ba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be232-03ea-456c-8192-b7ea3ce3dd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d5578fd-35c2-4d8f-a1bf-4043a6e4e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dc4f0-a365-46b3-9e07-9aae8de5ba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7dd815e-8d58-4377-b4d0-c0ea7a0d6e39}" ma:internalName="TaxCatchAll" ma:showField="CatchAllData" ma:web="c12dc4f0-a365-46b3-9e07-9aae8de5ba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2dc4f0-a365-46b3-9e07-9aae8de5ba6f" xsi:nil="true"/>
    <lcf76f155ced4ddcb4097134ff3c332f xmlns="b30be232-03ea-456c-8192-b7ea3ce3ddc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8FD18E-A08A-4C19-A254-AEA21D7D6337}">
  <ds:schemaRefs>
    <ds:schemaRef ds:uri="b30be232-03ea-456c-8192-b7ea3ce3ddcd"/>
    <ds:schemaRef ds:uri="c12dc4f0-a365-46b3-9e07-9aae8de5ba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54FE8FD-E333-4910-B6BD-868798BD5F09}">
  <ds:schemaRefs>
    <ds:schemaRef ds:uri="b30be232-03ea-456c-8192-b7ea3ce3ddcd"/>
    <ds:schemaRef ds:uri="c12dc4f0-a365-46b3-9e07-9aae8de5ba6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4246F28-C227-43DA-B511-2329C19CC5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4444</Words>
  <Application>Microsoft Macintosh PowerPoint</Application>
  <PresentationFormat>Custom</PresentationFormat>
  <Paragraphs>845</Paragraphs>
  <Slides>49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Courier</vt:lpstr>
      <vt:lpstr>Courier New</vt:lpstr>
      <vt:lpstr>Helvetica</vt:lpstr>
      <vt:lpstr>Lucida Grande</vt:lpstr>
      <vt:lpstr>Roboto-Medium</vt:lpstr>
      <vt:lpstr>Times Roman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Diana Andrejeva</cp:lastModifiedBy>
  <cp:revision>2</cp:revision>
  <dcterms:modified xsi:type="dcterms:W3CDTF">2026-09-28T10:30:56Z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0x010100338C0C0DDBC9B742BC44458BFD432381</vt:lpwstr>
  </property>
  <property fmtid="{D5CDD505-2E9C-101B-9397-08002B2CF9AE}" pid="3" name="MediaServiceImageTags">
    <vt:lpwstr/>
  </property>
</Properties>
</file>